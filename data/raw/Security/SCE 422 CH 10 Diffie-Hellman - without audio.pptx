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7" r:id="rId2"/>
    <p:sldId id="288" r:id="rId3"/>
    <p:sldId id="296" r:id="rId4"/>
    <p:sldId id="297" r:id="rId5"/>
    <p:sldId id="298" r:id="rId6"/>
    <p:sldId id="261" r:id="rId7"/>
    <p:sldId id="289" r:id="rId8"/>
    <p:sldId id="262" r:id="rId9"/>
    <p:sldId id="290" r:id="rId10"/>
    <p:sldId id="299" r:id="rId11"/>
    <p:sldId id="286" r:id="rId12"/>
    <p:sldId id="300" r:id="rId13"/>
    <p:sldId id="287" r:id="rId14"/>
    <p:sldId id="268" r:id="rId15"/>
    <p:sldId id="275" r:id="rId16"/>
    <p:sldId id="276" r:id="rId17"/>
    <p:sldId id="277" r:id="rId18"/>
    <p:sldId id="291" r:id="rId19"/>
    <p:sldId id="282"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930" autoAdjust="0"/>
  </p:normalViewPr>
  <p:slideViewPr>
    <p:cSldViewPr>
      <p:cViewPr varScale="1">
        <p:scale>
          <a:sx n="74" d="100"/>
          <a:sy n="74" d="100"/>
        </p:scale>
        <p:origin x="1642"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0CE86AE-EC82-464B-A65B-2ED9402FB305}" type="datetimeFigureOut">
              <a:rPr lang="en-US" smtClean="0"/>
              <a:pPr/>
              <a:t>11/25/2024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CBE7ACA-E511-4FF8-98FC-6C5E4EE5699B}" type="slidenum">
              <a:rPr lang="en-US" smtClean="0"/>
              <a:pPr/>
              <a:t>‹#›</a:t>
            </a:fld>
            <a:endParaRPr lang="en-US"/>
          </a:p>
        </p:txBody>
      </p:sp>
    </p:spTree>
    <p:extLst>
      <p:ext uri="{BB962C8B-B14F-4D97-AF65-F5344CB8AC3E}">
        <p14:creationId xmlns:p14="http://schemas.microsoft.com/office/powerpoint/2010/main" val="9934055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p:spPr>
        <p:txBody>
          <a:bodyPr/>
          <a:lstStyle/>
          <a:p>
            <a:fld id="{F157DBC6-9B6F-4DA7-BA62-E209EE6890B5}" type="slidenum">
              <a:rPr lang="en-AU"/>
              <a:pPr/>
              <a:t>1</a:t>
            </a:fld>
            <a:endParaRPr lang="en-AU"/>
          </a:p>
        </p:txBody>
      </p:sp>
      <p:sp>
        <p:nvSpPr>
          <p:cNvPr id="31747" name="Rectangle 2"/>
          <p:cNvSpPr>
            <a:spLocks noGrp="1" noRot="1" noChangeAspect="1" noChangeArrowheads="1" noTextEdit="1"/>
          </p:cNvSpPr>
          <p:nvPr>
            <p:ph type="sldImg"/>
          </p:nvPr>
        </p:nvSpPr>
        <p:spPr>
          <a:solidFill>
            <a:srgbClr val="FFFFFF"/>
          </a:solidFill>
          <a:ln/>
        </p:spPr>
      </p:sp>
      <p:sp>
        <p:nvSpPr>
          <p:cNvPr id="31748" name="Rectangle 3"/>
          <p:cNvSpPr>
            <a:spLocks noGrp="1" noChangeArrowheads="1"/>
          </p:cNvSpPr>
          <p:nvPr>
            <p:ph type="body" idx="1"/>
          </p:nvPr>
        </p:nvSpPr>
        <p:spPr>
          <a:noFill/>
          <a:ln/>
        </p:spPr>
        <p:txBody>
          <a:bodyPr/>
          <a:lstStyle/>
          <a:p>
            <a:pPr eaLnBrk="1" hangingPunct="1"/>
            <a:r>
              <a:rPr lang="en-US" dirty="0">
                <a:latin typeface="Arial" pitchFamily="34" charset="0"/>
                <a:ea typeface="ＭＳ Ｐゴシック" pitchFamily="-107" charset="-128"/>
              </a:rPr>
              <a:t>Lecture slides by Lawrie Brown for “Cryptography and Network Security”, 5/e, by William Stallings, Chapter 10 – “</a:t>
            </a:r>
            <a:r>
              <a:rPr lang="en-AU" dirty="0">
                <a:latin typeface="Arial" pitchFamily="34" charset="0"/>
                <a:ea typeface="ＭＳ Ｐゴシック" pitchFamily="-107" charset="-128"/>
              </a:rPr>
              <a:t>Other Public Key Cryptosystems</a:t>
            </a:r>
            <a:r>
              <a:rPr lang="en-US" dirty="0">
                <a:latin typeface="Arial" pitchFamily="34" charset="0"/>
                <a:ea typeface="ＭＳ Ｐゴシック" pitchFamily="-107" charset="-128"/>
              </a:rPr>
              <a:t>”.</a:t>
            </a:r>
            <a:endParaRPr lang="en-AU" dirty="0">
              <a:latin typeface="Arial" pitchFamily="34" charset="0"/>
              <a:ea typeface="ＭＳ Ｐゴシック" pitchFamily="-107" charset="-128"/>
            </a:endParaRPr>
          </a:p>
          <a:p>
            <a:pPr eaLnBrk="1" hangingPunct="1"/>
            <a:endParaRPr lang="en-US" dirty="0">
              <a:latin typeface="Arial" pitchFamily="34" charset="0"/>
              <a:ea typeface="ＭＳ Ｐゴシック" pitchFamily="-107" charset="-128"/>
            </a:endParaRPr>
          </a:p>
        </p:txBody>
      </p:sp>
    </p:spTree>
    <p:extLst>
      <p:ext uri="{BB962C8B-B14F-4D97-AF65-F5344CB8AC3E}">
        <p14:creationId xmlns:p14="http://schemas.microsoft.com/office/powerpoint/2010/main" val="24351388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p:spPr>
        <p:txBody>
          <a:bodyPr/>
          <a:lstStyle/>
          <a:p>
            <a:fld id="{A6F3F715-01D8-564F-8DAD-71A9371F59BE}" type="slidenum">
              <a:rPr lang="en-AU">
                <a:latin typeface="Arial" pitchFamily="-84" charset="0"/>
              </a:rPr>
              <a:pPr/>
              <a:t>2</a:t>
            </a:fld>
            <a:endParaRPr lang="en-AU" dirty="0">
              <a:latin typeface="Arial" pitchFamily="-84" charset="0"/>
            </a:endParaRPr>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p:spPr>
        <p:txBody>
          <a:bodyPr>
            <a:normAutofit fontScale="92500" lnSpcReduction="20000"/>
          </a:bodyPr>
          <a:lstStyle/>
          <a:p>
            <a:r>
              <a:rPr lang="en-US" sz="1200" kern="1200" baseline="0" dirty="0">
                <a:solidFill>
                  <a:schemeClr val="tx1"/>
                </a:solidFill>
                <a:latin typeface="Arial" charset="0"/>
                <a:ea typeface="ＭＳ Ｐゴシック" charset="-128"/>
                <a:cs typeface="ＭＳ Ｐゴシック" charset="-128"/>
              </a:rPr>
              <a:t> The first published public-key algorithm appeared in the seminal paper by Diffie</a:t>
            </a:r>
          </a:p>
          <a:p>
            <a:r>
              <a:rPr lang="en-US" sz="1200" kern="1200" baseline="0" dirty="0">
                <a:solidFill>
                  <a:schemeClr val="tx1"/>
                </a:solidFill>
                <a:latin typeface="Arial" charset="0"/>
                <a:ea typeface="ＭＳ Ｐゴシック" charset="-128"/>
                <a:cs typeface="ＭＳ Ｐゴシック" charset="-128"/>
              </a:rPr>
              <a:t>and Hellman that defined public-key cryptography [DIFF76b] and is generally</a:t>
            </a:r>
          </a:p>
          <a:p>
            <a:r>
              <a:rPr lang="en-US" sz="1200" kern="1200" baseline="0" dirty="0">
                <a:solidFill>
                  <a:schemeClr val="tx1"/>
                </a:solidFill>
                <a:latin typeface="Arial" charset="0"/>
                <a:ea typeface="ＭＳ Ｐゴシック" charset="-128"/>
                <a:cs typeface="ＭＳ Ｐゴシック" charset="-128"/>
              </a:rPr>
              <a:t>referred to as Diffie-Hellman key exchange.  A number of commercial products</a:t>
            </a:r>
          </a:p>
          <a:p>
            <a:r>
              <a:rPr lang="en-US" sz="1200" kern="1200" baseline="0" dirty="0">
                <a:solidFill>
                  <a:schemeClr val="tx1"/>
                </a:solidFill>
                <a:latin typeface="Arial" charset="0"/>
                <a:ea typeface="ＭＳ Ｐゴシック" charset="-128"/>
                <a:cs typeface="ＭＳ Ｐゴシック" charset="-128"/>
              </a:rPr>
              <a:t>employ this key exchange technique.</a:t>
            </a:r>
          </a:p>
          <a:p>
            <a:endParaRPr lang="en-US" sz="1200" kern="1200" baseline="0" dirty="0">
              <a:solidFill>
                <a:schemeClr val="tx1"/>
              </a:solidFill>
              <a:latin typeface="Arial" charset="0"/>
              <a:ea typeface="ＭＳ Ｐゴシック" charset="-128"/>
              <a:cs typeface="ＭＳ Ｐゴシック" charset="-128"/>
            </a:endParaRPr>
          </a:p>
          <a:p>
            <a:r>
              <a:rPr lang="en-US" sz="1200" kern="1200" baseline="0" dirty="0">
                <a:solidFill>
                  <a:schemeClr val="tx1"/>
                </a:solidFill>
                <a:latin typeface="Arial" charset="0"/>
                <a:ea typeface="ＭＳ Ｐゴシック" charset="-128"/>
                <a:cs typeface="ＭＳ Ｐゴシック" charset="-128"/>
              </a:rPr>
              <a:t>The purpose of the algorithm is to enable two users to securely exchange a</a:t>
            </a:r>
          </a:p>
          <a:p>
            <a:r>
              <a:rPr lang="en-US" sz="1200" kern="1200" baseline="0" dirty="0">
                <a:solidFill>
                  <a:schemeClr val="tx1"/>
                </a:solidFill>
                <a:latin typeface="Arial" charset="0"/>
                <a:ea typeface="ＭＳ Ｐゴシック" charset="-128"/>
                <a:cs typeface="ＭＳ Ｐゴシック" charset="-128"/>
              </a:rPr>
              <a:t>key that can then be used for subsequent symmetric encryption of messages. The</a:t>
            </a:r>
          </a:p>
          <a:p>
            <a:r>
              <a:rPr lang="en-US" sz="1200" kern="1200" baseline="0" dirty="0">
                <a:solidFill>
                  <a:schemeClr val="tx1"/>
                </a:solidFill>
                <a:latin typeface="Arial" charset="0"/>
                <a:ea typeface="ＭＳ Ｐゴシック" charset="-128"/>
                <a:cs typeface="ＭＳ Ｐゴシック" charset="-128"/>
              </a:rPr>
              <a:t>algorithm itself is limited to the exchange of secret values.</a:t>
            </a:r>
          </a:p>
          <a:p>
            <a:endParaRPr lang="en-US" sz="1200" kern="1200" baseline="0" dirty="0">
              <a:solidFill>
                <a:schemeClr val="tx1"/>
              </a:solidFill>
              <a:latin typeface="Arial" charset="0"/>
              <a:ea typeface="ＭＳ Ｐゴシック" charset="-128"/>
              <a:cs typeface="ＭＳ Ｐゴシック" charset="-128"/>
            </a:endParaRPr>
          </a:p>
          <a:p>
            <a:r>
              <a:rPr lang="en-US" sz="1200" b="0" kern="1200" baseline="0" dirty="0">
                <a:solidFill>
                  <a:schemeClr val="tx1"/>
                </a:solidFill>
                <a:latin typeface="Arial" charset="0"/>
                <a:ea typeface="ＭＳ Ｐゴシック" charset="-128"/>
                <a:cs typeface="ＭＳ Ｐゴシック" charset="-128"/>
              </a:rPr>
              <a:t>The Diffie-Hellman algorithm depends for its effectiveness on the difficulty of</a:t>
            </a:r>
          </a:p>
          <a:p>
            <a:r>
              <a:rPr lang="en-US" sz="1200" b="0" kern="1200" baseline="0" dirty="0">
                <a:solidFill>
                  <a:schemeClr val="tx1"/>
                </a:solidFill>
                <a:latin typeface="Arial" charset="0"/>
                <a:ea typeface="ＭＳ Ｐゴシック" charset="-128"/>
                <a:cs typeface="ＭＳ Ｐゴシック" charset="-128"/>
              </a:rPr>
              <a:t>computing discrete logarithms. Briefly, we can define the discrete logarithm in the</a:t>
            </a:r>
          </a:p>
          <a:p>
            <a:r>
              <a:rPr lang="en-US" sz="1200" b="0" kern="1200" baseline="0" dirty="0">
                <a:solidFill>
                  <a:schemeClr val="tx1"/>
                </a:solidFill>
                <a:latin typeface="Arial" charset="0"/>
                <a:ea typeface="ＭＳ Ｐゴシック" charset="-128"/>
                <a:cs typeface="ＭＳ Ｐゴシック" charset="-128"/>
              </a:rPr>
              <a:t>following way. Recall from Chapter 8 that a primitive root of a prime number </a:t>
            </a:r>
            <a:r>
              <a:rPr lang="en-US" sz="1200" b="0" i="1" kern="1200" baseline="0" dirty="0">
                <a:solidFill>
                  <a:schemeClr val="tx1"/>
                </a:solidFill>
                <a:latin typeface="Arial" charset="0"/>
                <a:ea typeface="ＭＳ Ｐゴシック" charset="-128"/>
                <a:cs typeface="ＭＳ Ｐゴシック" charset="-128"/>
              </a:rPr>
              <a:t>p</a:t>
            </a:r>
            <a:r>
              <a:rPr lang="en-US" sz="1200" b="0" kern="1200" baseline="0" dirty="0">
                <a:solidFill>
                  <a:schemeClr val="tx1"/>
                </a:solidFill>
                <a:latin typeface="Arial" charset="0"/>
                <a:ea typeface="ＭＳ Ｐゴシック" charset="-128"/>
                <a:cs typeface="ＭＳ Ｐゴシック" charset="-128"/>
              </a:rPr>
              <a:t> is</a:t>
            </a:r>
          </a:p>
          <a:p>
            <a:r>
              <a:rPr lang="en-US" sz="1200" b="0" kern="1200" baseline="0" dirty="0">
                <a:solidFill>
                  <a:schemeClr val="tx1"/>
                </a:solidFill>
                <a:latin typeface="Arial" charset="0"/>
                <a:ea typeface="ＭＳ Ｐゴシック" charset="-128"/>
                <a:cs typeface="ＭＳ Ｐゴシック" charset="-128"/>
              </a:rPr>
              <a:t>one whose powers modulo </a:t>
            </a:r>
            <a:r>
              <a:rPr lang="en-US" sz="1200" b="0" i="1" kern="1200" baseline="0" dirty="0">
                <a:solidFill>
                  <a:schemeClr val="tx1"/>
                </a:solidFill>
                <a:latin typeface="Arial" charset="0"/>
                <a:ea typeface="ＭＳ Ｐゴシック" charset="-128"/>
                <a:cs typeface="ＭＳ Ｐゴシック" charset="-128"/>
              </a:rPr>
              <a:t>p </a:t>
            </a:r>
            <a:r>
              <a:rPr lang="en-US" sz="1200" b="0" kern="1200" baseline="0" dirty="0">
                <a:solidFill>
                  <a:schemeClr val="tx1"/>
                </a:solidFill>
                <a:latin typeface="Arial" charset="0"/>
                <a:ea typeface="ＭＳ Ｐゴシック" charset="-128"/>
                <a:cs typeface="ＭＳ Ｐゴシック" charset="-128"/>
              </a:rPr>
              <a:t>generate all the integers from 1 to </a:t>
            </a:r>
            <a:r>
              <a:rPr lang="en-US" sz="1200" b="0" i="1" kern="1200" baseline="0" dirty="0">
                <a:solidFill>
                  <a:schemeClr val="tx1"/>
                </a:solidFill>
                <a:latin typeface="Arial" charset="0"/>
                <a:ea typeface="ＭＳ Ｐゴシック" charset="-128"/>
                <a:cs typeface="ＭＳ Ｐゴシック" charset="-128"/>
              </a:rPr>
              <a:t>p </a:t>
            </a:r>
            <a:r>
              <a:rPr lang="en-US" sz="1200" b="0" kern="1200" baseline="0" dirty="0">
                <a:solidFill>
                  <a:schemeClr val="tx1"/>
                </a:solidFill>
                <a:latin typeface="Arial" charset="0"/>
                <a:ea typeface="ＭＳ Ｐゴシック" charset="-128"/>
                <a:cs typeface="ＭＳ Ｐゴシック" charset="-128"/>
              </a:rPr>
              <a:t>-  1. That is, if </a:t>
            </a:r>
            <a:r>
              <a:rPr lang="en-US" sz="1200" b="0" i="1" kern="1200" baseline="0" dirty="0">
                <a:solidFill>
                  <a:schemeClr val="tx1"/>
                </a:solidFill>
                <a:latin typeface="Arial" charset="0"/>
                <a:ea typeface="ＭＳ Ｐゴシック" charset="-128"/>
                <a:cs typeface="ＭＳ Ｐゴシック" charset="-128"/>
              </a:rPr>
              <a:t>a</a:t>
            </a:r>
          </a:p>
          <a:p>
            <a:r>
              <a:rPr lang="en-US" sz="1200" b="0" kern="1200" baseline="0" dirty="0">
                <a:solidFill>
                  <a:schemeClr val="tx1"/>
                </a:solidFill>
                <a:latin typeface="Arial" charset="0"/>
                <a:ea typeface="ＭＳ Ｐゴシック" charset="-128"/>
                <a:cs typeface="ＭＳ Ｐゴシック" charset="-128"/>
              </a:rPr>
              <a:t> is a primitive root of the prime number </a:t>
            </a:r>
            <a:r>
              <a:rPr lang="en-US" sz="1200" b="0" i="1" kern="1200" baseline="0" dirty="0">
                <a:solidFill>
                  <a:schemeClr val="tx1"/>
                </a:solidFill>
                <a:latin typeface="Arial" charset="0"/>
                <a:ea typeface="ＭＳ Ｐゴシック" charset="-128"/>
                <a:cs typeface="ＭＳ Ｐゴシック" charset="-128"/>
              </a:rPr>
              <a:t>p</a:t>
            </a:r>
            <a:r>
              <a:rPr lang="en-US" sz="1200" b="0" kern="1200" baseline="0" dirty="0">
                <a:solidFill>
                  <a:schemeClr val="tx1"/>
                </a:solidFill>
                <a:latin typeface="Arial" charset="0"/>
                <a:ea typeface="ＭＳ Ｐゴシック" charset="-128"/>
                <a:cs typeface="ＭＳ Ｐゴシック" charset="-128"/>
              </a:rPr>
              <a:t> , then the numbers</a:t>
            </a:r>
          </a:p>
          <a:p>
            <a:endParaRPr lang="en-US" sz="1200" b="0" kern="1200" baseline="0" dirty="0">
              <a:solidFill>
                <a:schemeClr val="tx1"/>
              </a:solidFill>
              <a:latin typeface="Arial" charset="0"/>
              <a:ea typeface="ＭＳ Ｐゴシック" charset="-128"/>
              <a:cs typeface="ＭＳ Ｐゴシック" charset="-128"/>
            </a:endParaRPr>
          </a:p>
          <a:p>
            <a:r>
              <a:rPr lang="en-US" sz="1200" b="0" i="1" kern="1200" baseline="0" dirty="0">
                <a:solidFill>
                  <a:schemeClr val="tx1"/>
                </a:solidFill>
                <a:latin typeface="Arial" charset="0"/>
                <a:ea typeface="ＭＳ Ｐゴシック" charset="-128"/>
                <a:cs typeface="ＭＳ Ｐゴシック" charset="-128"/>
              </a:rPr>
              <a:t>a</a:t>
            </a:r>
            <a:r>
              <a:rPr lang="en-US" sz="1200" b="0" kern="1200" baseline="0" dirty="0">
                <a:solidFill>
                  <a:schemeClr val="tx1"/>
                </a:solidFill>
                <a:latin typeface="Arial" charset="0"/>
                <a:ea typeface="ＭＳ Ｐゴシック" charset="-128"/>
                <a:cs typeface="ＭＳ Ｐゴシック" charset="-128"/>
              </a:rPr>
              <a:t>  mod </a:t>
            </a:r>
            <a:r>
              <a:rPr lang="en-US" sz="1200" b="0" i="1" kern="1200" baseline="0" dirty="0">
                <a:solidFill>
                  <a:schemeClr val="tx1"/>
                </a:solidFill>
                <a:latin typeface="Arial" charset="0"/>
                <a:ea typeface="ＭＳ Ｐゴシック" charset="-128"/>
                <a:cs typeface="ＭＳ Ｐゴシック" charset="-128"/>
              </a:rPr>
              <a:t>p , a</a:t>
            </a:r>
            <a:r>
              <a:rPr lang="en-US" sz="1200" b="0" i="1" kern="1200" baseline="30000" dirty="0">
                <a:solidFill>
                  <a:schemeClr val="tx1"/>
                </a:solidFill>
                <a:latin typeface="Arial" charset="0"/>
                <a:ea typeface="ＭＳ Ｐゴシック" charset="-128"/>
                <a:cs typeface="ＭＳ Ｐゴシック" charset="-128"/>
              </a:rPr>
              <a:t>2</a:t>
            </a:r>
            <a:r>
              <a:rPr lang="en-US" sz="1200" b="0" i="1" kern="1200" baseline="0" dirty="0">
                <a:solidFill>
                  <a:schemeClr val="tx1"/>
                </a:solidFill>
                <a:latin typeface="Arial" charset="0"/>
                <a:ea typeface="ＭＳ Ｐゴシック" charset="-128"/>
                <a:cs typeface="ＭＳ Ｐゴシック" charset="-128"/>
              </a:rPr>
              <a:t>  </a:t>
            </a:r>
            <a:r>
              <a:rPr lang="en-US" sz="1200" b="0" kern="1200" baseline="0" dirty="0">
                <a:solidFill>
                  <a:schemeClr val="tx1"/>
                </a:solidFill>
                <a:latin typeface="Arial" charset="0"/>
                <a:ea typeface="ＭＳ Ｐゴシック" charset="-128"/>
                <a:cs typeface="ＭＳ Ｐゴシック" charset="-128"/>
              </a:rPr>
              <a:t>mod </a:t>
            </a:r>
            <a:r>
              <a:rPr lang="en-US" sz="1200" b="0" i="1" kern="1200" baseline="0" dirty="0">
                <a:solidFill>
                  <a:schemeClr val="tx1"/>
                </a:solidFill>
                <a:latin typeface="Arial" charset="0"/>
                <a:ea typeface="ＭＳ Ｐゴシック" charset="-128"/>
                <a:cs typeface="ＭＳ Ｐゴシック" charset="-128"/>
              </a:rPr>
              <a:t>p</a:t>
            </a:r>
            <a:r>
              <a:rPr lang="en-US" sz="1200" b="0" kern="1200" baseline="0" dirty="0">
                <a:solidFill>
                  <a:schemeClr val="tx1"/>
                </a:solidFill>
                <a:latin typeface="Arial" charset="0"/>
                <a:ea typeface="ＭＳ Ｐゴシック" charset="-128"/>
                <a:cs typeface="ＭＳ Ｐゴシック" charset="-128"/>
              </a:rPr>
              <a:t> , . . .  , </a:t>
            </a:r>
            <a:r>
              <a:rPr lang="en-US" sz="1200" b="0" i="1" kern="1200" baseline="0" dirty="0">
                <a:solidFill>
                  <a:schemeClr val="tx1"/>
                </a:solidFill>
                <a:latin typeface="Arial" charset="0"/>
                <a:ea typeface="ＭＳ Ｐゴシック" charset="-128"/>
                <a:cs typeface="ＭＳ Ｐゴシック" charset="-128"/>
              </a:rPr>
              <a:t>a</a:t>
            </a:r>
            <a:r>
              <a:rPr lang="en-US" sz="1200" b="0" i="1" kern="1200" baseline="30000" dirty="0">
                <a:solidFill>
                  <a:schemeClr val="tx1"/>
                </a:solidFill>
                <a:latin typeface="Arial" charset="0"/>
                <a:ea typeface="ＭＳ Ｐゴシック" charset="-128"/>
                <a:cs typeface="ＭＳ Ｐゴシック" charset="-128"/>
              </a:rPr>
              <a:t>p-1  </a:t>
            </a:r>
            <a:r>
              <a:rPr lang="en-US" sz="1200" b="0" kern="1200" baseline="0" dirty="0">
                <a:solidFill>
                  <a:schemeClr val="tx1"/>
                </a:solidFill>
                <a:latin typeface="Arial" charset="0"/>
                <a:ea typeface="ＭＳ Ｐゴシック" charset="-128"/>
                <a:cs typeface="ＭＳ Ｐゴシック" charset="-128"/>
              </a:rPr>
              <a:t>mod </a:t>
            </a:r>
            <a:r>
              <a:rPr lang="en-US" sz="1200" b="0" i="1" kern="1200" baseline="0" dirty="0">
                <a:solidFill>
                  <a:schemeClr val="tx1"/>
                </a:solidFill>
                <a:latin typeface="Arial" charset="0"/>
                <a:ea typeface="ＭＳ Ｐゴシック" charset="-128"/>
                <a:cs typeface="ＭＳ Ｐゴシック" charset="-128"/>
              </a:rPr>
              <a:t>p</a:t>
            </a:r>
          </a:p>
          <a:p>
            <a:endParaRPr lang="en-US" sz="1200" b="0" kern="1200" baseline="0" dirty="0">
              <a:solidFill>
                <a:schemeClr val="tx1"/>
              </a:solidFill>
              <a:latin typeface="Arial" charset="0"/>
              <a:ea typeface="ＭＳ Ｐゴシック" charset="-128"/>
              <a:cs typeface="ＭＳ Ｐゴシック" charset="-128"/>
            </a:endParaRPr>
          </a:p>
          <a:p>
            <a:r>
              <a:rPr lang="en-US" sz="1200" b="0" kern="1200" baseline="0" dirty="0">
                <a:solidFill>
                  <a:schemeClr val="tx1"/>
                </a:solidFill>
                <a:latin typeface="Arial" charset="0"/>
                <a:ea typeface="ＭＳ Ｐゴシック" charset="-128"/>
                <a:cs typeface="ＭＳ Ｐゴシック" charset="-128"/>
              </a:rPr>
              <a:t> are distinct and consist of the integers from 1 through </a:t>
            </a:r>
            <a:r>
              <a:rPr lang="en-US" sz="1200" b="0" i="1" kern="1200" baseline="0" dirty="0">
                <a:solidFill>
                  <a:schemeClr val="tx1"/>
                </a:solidFill>
                <a:latin typeface="Arial" charset="0"/>
                <a:ea typeface="ＭＳ Ｐゴシック" charset="-128"/>
                <a:cs typeface="ＭＳ Ｐゴシック" charset="-128"/>
              </a:rPr>
              <a:t>p -  1 </a:t>
            </a:r>
            <a:r>
              <a:rPr lang="en-US" sz="1200" b="0" kern="1200" baseline="0" dirty="0">
                <a:solidFill>
                  <a:schemeClr val="tx1"/>
                </a:solidFill>
                <a:latin typeface="Arial" charset="0"/>
                <a:ea typeface="ＭＳ Ｐゴシック" charset="-128"/>
                <a:cs typeface="ＭＳ Ｐゴシック" charset="-128"/>
              </a:rPr>
              <a:t>in some permutation.</a:t>
            </a:r>
          </a:p>
          <a:p>
            <a:endParaRPr lang="en-US" sz="1200" b="0" kern="1200" baseline="0" dirty="0">
              <a:solidFill>
                <a:schemeClr val="tx1"/>
              </a:solidFill>
              <a:latin typeface="Arial" charset="0"/>
              <a:ea typeface="ＭＳ Ｐゴシック" charset="-128"/>
              <a:cs typeface="ＭＳ Ｐゴシック" charset="-128"/>
            </a:endParaRPr>
          </a:p>
          <a:p>
            <a:r>
              <a:rPr lang="en-US" sz="1200" b="0" kern="1200" baseline="0" dirty="0">
                <a:solidFill>
                  <a:schemeClr val="tx1"/>
                </a:solidFill>
                <a:latin typeface="Arial" charset="0"/>
                <a:ea typeface="ＭＳ Ｐゴシック" charset="-128"/>
                <a:cs typeface="ＭＳ Ｐゴシック" charset="-128"/>
              </a:rPr>
              <a:t>For any integer </a:t>
            </a:r>
            <a:r>
              <a:rPr lang="en-US" sz="1200" b="0" i="1" kern="1200" baseline="0" dirty="0">
                <a:solidFill>
                  <a:schemeClr val="tx1"/>
                </a:solidFill>
                <a:latin typeface="Arial" charset="0"/>
                <a:ea typeface="ＭＳ Ｐゴシック" charset="-128"/>
                <a:cs typeface="ＭＳ Ｐゴシック" charset="-128"/>
              </a:rPr>
              <a:t>b</a:t>
            </a:r>
            <a:r>
              <a:rPr lang="en-US" sz="1200" b="0" kern="1200" baseline="0" dirty="0">
                <a:solidFill>
                  <a:schemeClr val="tx1"/>
                </a:solidFill>
                <a:latin typeface="Arial" charset="0"/>
                <a:ea typeface="ＭＳ Ｐゴシック" charset="-128"/>
                <a:cs typeface="ＭＳ Ｐゴシック" charset="-128"/>
              </a:rPr>
              <a:t>  and a primitive root </a:t>
            </a:r>
            <a:r>
              <a:rPr lang="en-US" sz="1200" b="0" i="1" kern="1200" baseline="0" dirty="0">
                <a:solidFill>
                  <a:schemeClr val="tx1"/>
                </a:solidFill>
                <a:latin typeface="Arial" charset="0"/>
                <a:ea typeface="ＭＳ Ｐゴシック" charset="-128"/>
                <a:cs typeface="ＭＳ Ｐゴシック" charset="-128"/>
              </a:rPr>
              <a:t>a </a:t>
            </a:r>
            <a:r>
              <a:rPr lang="en-US" sz="1200" b="0" kern="1200" baseline="0" dirty="0">
                <a:solidFill>
                  <a:schemeClr val="tx1"/>
                </a:solidFill>
                <a:latin typeface="Arial" charset="0"/>
                <a:ea typeface="ＭＳ Ｐゴシック" charset="-128"/>
                <a:cs typeface="ＭＳ Ｐゴシック" charset="-128"/>
              </a:rPr>
              <a:t>of prime number </a:t>
            </a:r>
            <a:r>
              <a:rPr lang="en-US" sz="1200" b="0" i="1" kern="1200" baseline="0" dirty="0">
                <a:solidFill>
                  <a:schemeClr val="tx1"/>
                </a:solidFill>
                <a:latin typeface="Arial" charset="0"/>
                <a:ea typeface="ＭＳ Ｐゴシック" charset="-128"/>
                <a:cs typeface="ＭＳ Ｐゴシック" charset="-128"/>
              </a:rPr>
              <a:t>p </a:t>
            </a:r>
            <a:r>
              <a:rPr lang="en-US" sz="1200" b="0" kern="1200" baseline="0" dirty="0">
                <a:solidFill>
                  <a:schemeClr val="tx1"/>
                </a:solidFill>
                <a:latin typeface="Arial" charset="0"/>
                <a:ea typeface="ＭＳ Ｐゴシック" charset="-128"/>
                <a:cs typeface="ＭＳ Ｐゴシック" charset="-128"/>
              </a:rPr>
              <a:t>, we can find a</a:t>
            </a:r>
          </a:p>
          <a:p>
            <a:r>
              <a:rPr lang="en-US" sz="1200" b="0" kern="1200" baseline="0" dirty="0">
                <a:solidFill>
                  <a:schemeClr val="tx1"/>
                </a:solidFill>
                <a:latin typeface="Arial" charset="0"/>
                <a:ea typeface="ＭＳ Ｐゴシック" charset="-128"/>
                <a:cs typeface="ＭＳ Ｐゴシック" charset="-128"/>
              </a:rPr>
              <a:t>unique exponent</a:t>
            </a:r>
            <a:r>
              <a:rPr lang="en-US" sz="1200" b="0" i="1" kern="1200" baseline="0" dirty="0">
                <a:solidFill>
                  <a:schemeClr val="tx1"/>
                </a:solidFill>
                <a:latin typeface="Arial" charset="0"/>
                <a:ea typeface="ＭＳ Ｐゴシック" charset="-128"/>
                <a:cs typeface="ＭＳ Ｐゴシック" charset="-128"/>
              </a:rPr>
              <a:t> i </a:t>
            </a:r>
            <a:r>
              <a:rPr lang="en-US" sz="1200" b="0" kern="1200" baseline="0" dirty="0">
                <a:solidFill>
                  <a:schemeClr val="tx1"/>
                </a:solidFill>
                <a:latin typeface="Arial" charset="0"/>
                <a:ea typeface="ＭＳ Ｐゴシック" charset="-128"/>
                <a:cs typeface="ＭＳ Ｐゴシック" charset="-128"/>
              </a:rPr>
              <a:t>such that</a:t>
            </a:r>
          </a:p>
          <a:p>
            <a:endParaRPr lang="en-US" sz="1200" b="0" kern="1200" baseline="0" dirty="0">
              <a:solidFill>
                <a:schemeClr val="tx1"/>
              </a:solidFill>
              <a:latin typeface="Arial" charset="0"/>
              <a:ea typeface="ＭＳ Ｐゴシック" charset="-128"/>
              <a:cs typeface="ＭＳ Ｐゴシック" charset="-128"/>
            </a:endParaRPr>
          </a:p>
          <a:p>
            <a:r>
              <a:rPr lang="en-US" sz="1200" b="0" i="1" kern="1200" baseline="0" dirty="0">
                <a:solidFill>
                  <a:schemeClr val="tx1"/>
                </a:solidFill>
                <a:latin typeface="Arial" charset="0"/>
                <a:ea typeface="ＭＳ Ｐゴシック" charset="-128"/>
                <a:cs typeface="ＭＳ Ｐゴシック" charset="-128"/>
              </a:rPr>
              <a:t>b = a</a:t>
            </a:r>
            <a:r>
              <a:rPr lang="en-US" sz="1200" b="0" i="1" kern="1200" baseline="30000" dirty="0">
                <a:solidFill>
                  <a:schemeClr val="tx1"/>
                </a:solidFill>
                <a:latin typeface="Arial" charset="0"/>
                <a:ea typeface="ＭＳ Ｐゴシック" charset="-128"/>
                <a:cs typeface="ＭＳ Ｐゴシック" charset="-128"/>
              </a:rPr>
              <a:t>i</a:t>
            </a:r>
            <a:r>
              <a:rPr lang="en-US" sz="1200" b="0" i="1" kern="1200" baseline="0" dirty="0">
                <a:solidFill>
                  <a:schemeClr val="tx1"/>
                </a:solidFill>
                <a:latin typeface="Arial" charset="0"/>
                <a:ea typeface="ＭＳ Ｐゴシック" charset="-128"/>
                <a:cs typeface="ＭＳ Ｐゴシック" charset="-128"/>
              </a:rPr>
              <a:t>  </a:t>
            </a:r>
            <a:r>
              <a:rPr lang="en-US" sz="1200" b="0" kern="1200" baseline="0" dirty="0">
                <a:solidFill>
                  <a:schemeClr val="tx1"/>
                </a:solidFill>
                <a:latin typeface="Arial" charset="0"/>
                <a:ea typeface="ＭＳ Ｐゴシック" charset="-128"/>
                <a:cs typeface="ＭＳ Ｐゴシック" charset="-128"/>
              </a:rPr>
              <a:t>(mod </a:t>
            </a:r>
            <a:r>
              <a:rPr lang="en-US" sz="1200" b="0" i="1" kern="1200" baseline="0" dirty="0">
                <a:solidFill>
                  <a:schemeClr val="tx1"/>
                </a:solidFill>
                <a:latin typeface="Arial" charset="0"/>
                <a:ea typeface="ＭＳ Ｐゴシック" charset="-128"/>
                <a:cs typeface="ＭＳ Ｐゴシック" charset="-128"/>
              </a:rPr>
              <a:t>p</a:t>
            </a:r>
            <a:r>
              <a:rPr lang="en-US" sz="1200" b="0" kern="1200" baseline="0" dirty="0">
                <a:solidFill>
                  <a:schemeClr val="tx1"/>
                </a:solidFill>
                <a:latin typeface="Arial" charset="0"/>
                <a:ea typeface="ＭＳ Ｐゴシック" charset="-128"/>
                <a:cs typeface="ＭＳ Ｐゴシック" charset="-128"/>
              </a:rPr>
              <a:t> ) where </a:t>
            </a:r>
            <a:r>
              <a:rPr lang="en-US" sz="1200" b="0" i="1" kern="1200" baseline="0" dirty="0">
                <a:solidFill>
                  <a:schemeClr val="tx1"/>
                </a:solidFill>
                <a:latin typeface="Arial" charset="0"/>
                <a:ea typeface="ＭＳ Ｐゴシック" charset="-128"/>
                <a:cs typeface="ＭＳ Ｐゴシック" charset="-128"/>
              </a:rPr>
              <a:t>0 ≤  i ≤ (p -  1)</a:t>
            </a:r>
          </a:p>
          <a:p>
            <a:endParaRPr lang="en-US" sz="1200" b="0" kern="1200" baseline="0" dirty="0">
              <a:solidFill>
                <a:schemeClr val="tx1"/>
              </a:solidFill>
              <a:latin typeface="Arial" charset="0"/>
              <a:ea typeface="ＭＳ Ｐゴシック" charset="-128"/>
              <a:cs typeface="ＭＳ Ｐゴシック" charset="-128"/>
            </a:endParaRPr>
          </a:p>
          <a:p>
            <a:r>
              <a:rPr lang="en-US" sz="1200" b="0" kern="1200" baseline="0" dirty="0">
                <a:solidFill>
                  <a:schemeClr val="tx1"/>
                </a:solidFill>
                <a:latin typeface="Arial" charset="0"/>
                <a:ea typeface="ＭＳ Ｐゴシック" charset="-128"/>
                <a:cs typeface="ＭＳ Ｐゴシック" charset="-128"/>
              </a:rPr>
              <a:t>The exponent </a:t>
            </a:r>
            <a:r>
              <a:rPr lang="en-US" sz="1200" b="0" i="1" kern="1200" baseline="0" dirty="0">
                <a:solidFill>
                  <a:schemeClr val="tx1"/>
                </a:solidFill>
                <a:latin typeface="Arial" charset="0"/>
                <a:ea typeface="ＭＳ Ｐゴシック" charset="-128"/>
                <a:cs typeface="ＭＳ Ｐゴシック" charset="-128"/>
              </a:rPr>
              <a:t>i</a:t>
            </a:r>
            <a:r>
              <a:rPr lang="en-US" sz="1200" b="0" kern="1200" baseline="0" dirty="0">
                <a:solidFill>
                  <a:schemeClr val="tx1"/>
                </a:solidFill>
                <a:latin typeface="Arial" charset="0"/>
                <a:ea typeface="ＭＳ Ｐゴシック" charset="-128"/>
                <a:cs typeface="ＭＳ Ｐゴシック" charset="-128"/>
              </a:rPr>
              <a:t>  is referred to as the discrete logarithm  of </a:t>
            </a:r>
            <a:r>
              <a:rPr lang="en-US" sz="1200" b="0" i="1" kern="1200" baseline="0" dirty="0">
                <a:solidFill>
                  <a:schemeClr val="tx1"/>
                </a:solidFill>
                <a:latin typeface="Arial" charset="0"/>
                <a:ea typeface="ＭＳ Ｐゴシック" charset="-128"/>
                <a:cs typeface="ＭＳ Ｐゴシック" charset="-128"/>
              </a:rPr>
              <a:t>b</a:t>
            </a:r>
            <a:r>
              <a:rPr lang="en-US" sz="1200" b="0" kern="1200" baseline="0" dirty="0">
                <a:solidFill>
                  <a:schemeClr val="tx1"/>
                </a:solidFill>
                <a:latin typeface="Arial" charset="0"/>
                <a:ea typeface="ＭＳ Ｐゴシック" charset="-128"/>
                <a:cs typeface="ＭＳ Ｐゴシック" charset="-128"/>
              </a:rPr>
              <a:t>  for the base </a:t>
            </a:r>
            <a:r>
              <a:rPr lang="en-US" sz="1200" b="0" i="1" kern="1200" baseline="0" dirty="0">
                <a:solidFill>
                  <a:schemeClr val="tx1"/>
                </a:solidFill>
                <a:latin typeface="Arial" charset="0"/>
                <a:ea typeface="ＭＳ Ｐゴシック" charset="-128"/>
                <a:cs typeface="ＭＳ Ｐゴシック" charset="-128"/>
              </a:rPr>
              <a:t>a</a:t>
            </a:r>
            <a:r>
              <a:rPr lang="en-US" sz="1200" b="0" kern="1200" baseline="0" dirty="0">
                <a:solidFill>
                  <a:schemeClr val="tx1"/>
                </a:solidFill>
                <a:latin typeface="Arial" charset="0"/>
                <a:ea typeface="ＭＳ Ｐゴシック" charset="-128"/>
                <a:cs typeface="ＭＳ Ｐゴシック" charset="-128"/>
              </a:rPr>
              <a:t> , mod </a:t>
            </a:r>
            <a:r>
              <a:rPr lang="en-US" sz="1200" b="0" i="1" kern="1200" baseline="0" dirty="0">
                <a:solidFill>
                  <a:schemeClr val="tx1"/>
                </a:solidFill>
                <a:latin typeface="Arial" charset="0"/>
                <a:ea typeface="ＭＳ Ｐゴシック" charset="-128"/>
                <a:cs typeface="ＭＳ Ｐゴシック" charset="-128"/>
              </a:rPr>
              <a:t>p</a:t>
            </a:r>
            <a:r>
              <a:rPr lang="en-US" sz="1200" b="0" kern="1200" baseline="0" dirty="0">
                <a:solidFill>
                  <a:schemeClr val="tx1"/>
                </a:solidFill>
                <a:latin typeface="Arial" charset="0"/>
                <a:ea typeface="ＭＳ Ｐゴシック" charset="-128"/>
                <a:cs typeface="ＭＳ Ｐゴシック" charset="-128"/>
              </a:rPr>
              <a:t> .</a:t>
            </a:r>
          </a:p>
          <a:p>
            <a:r>
              <a:rPr lang="en-US" sz="1200" b="0" kern="1200" baseline="0" dirty="0">
                <a:solidFill>
                  <a:schemeClr val="tx1"/>
                </a:solidFill>
                <a:latin typeface="Arial" charset="0"/>
                <a:ea typeface="ＭＳ Ｐゴシック" charset="-128"/>
                <a:cs typeface="ＭＳ Ｐゴシック" charset="-128"/>
              </a:rPr>
              <a:t>We express this value as dlog</a:t>
            </a:r>
            <a:r>
              <a:rPr lang="en-US" sz="1200" b="0" kern="1200" baseline="-25000" dirty="0">
                <a:solidFill>
                  <a:schemeClr val="tx1"/>
                </a:solidFill>
                <a:latin typeface="Arial" charset="0"/>
                <a:ea typeface="ＭＳ Ｐゴシック" charset="-128"/>
                <a:cs typeface="ＭＳ Ｐゴシック" charset="-128"/>
              </a:rPr>
              <a:t>a,p </a:t>
            </a:r>
            <a:r>
              <a:rPr lang="en-US" sz="1200" b="0" kern="1200" baseline="0" dirty="0">
                <a:solidFill>
                  <a:schemeClr val="tx1"/>
                </a:solidFill>
                <a:latin typeface="Arial" charset="0"/>
                <a:ea typeface="ＭＳ Ｐゴシック" charset="-128"/>
                <a:cs typeface="ＭＳ Ｐゴシック" charset="-128"/>
              </a:rPr>
              <a:t>(</a:t>
            </a:r>
            <a:r>
              <a:rPr lang="en-US" sz="1200" b="0" i="1" kern="1200" baseline="0" dirty="0">
                <a:solidFill>
                  <a:schemeClr val="tx1"/>
                </a:solidFill>
                <a:latin typeface="Arial" charset="0"/>
                <a:ea typeface="ＭＳ Ｐゴシック" charset="-128"/>
                <a:cs typeface="ＭＳ Ｐゴシック" charset="-128"/>
              </a:rPr>
              <a:t>b</a:t>
            </a:r>
            <a:r>
              <a:rPr lang="en-US" sz="1200" b="0" kern="1200" baseline="0" dirty="0">
                <a:solidFill>
                  <a:schemeClr val="tx1"/>
                </a:solidFill>
                <a:latin typeface="Arial" charset="0"/>
                <a:ea typeface="ＭＳ Ｐゴシック" charset="-128"/>
                <a:cs typeface="ＭＳ Ｐゴシック" charset="-128"/>
              </a:rPr>
              <a:t> ). See Chapter 8 for an extended discussion of</a:t>
            </a:r>
          </a:p>
          <a:p>
            <a:r>
              <a:rPr lang="en-US" sz="1200" b="0" kern="1200" baseline="0" dirty="0">
                <a:solidFill>
                  <a:schemeClr val="tx1"/>
                </a:solidFill>
                <a:latin typeface="Arial" charset="0"/>
                <a:ea typeface="ＭＳ Ｐゴシック" charset="-128"/>
                <a:cs typeface="ＭＳ Ｐゴシック" charset="-128"/>
              </a:rPr>
              <a:t>discrete logarithms.</a:t>
            </a:r>
            <a:endParaRPr lang="en-AU" b="0" dirty="0">
              <a:latin typeface="Arial" pitchFamily="-84" charset="0"/>
              <a:ea typeface="Arial" pitchFamily="-84" charset="0"/>
              <a:cs typeface="Arial" pitchFamily="-84" charset="0"/>
            </a:endParaRPr>
          </a:p>
        </p:txBody>
      </p:sp>
    </p:spTree>
    <p:extLst>
      <p:ext uri="{BB962C8B-B14F-4D97-AF65-F5344CB8AC3E}">
        <p14:creationId xmlns:p14="http://schemas.microsoft.com/office/powerpoint/2010/main" val="39112380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p:spPr>
        <p:txBody>
          <a:bodyPr/>
          <a:lstStyle/>
          <a:p>
            <a:fld id="{A6F3F715-01D8-564F-8DAD-71A9371F59BE}" type="slidenum">
              <a:rPr lang="en-AU">
                <a:latin typeface="Arial" pitchFamily="-84" charset="0"/>
              </a:rPr>
              <a:pPr/>
              <a:t>3</a:t>
            </a:fld>
            <a:endParaRPr lang="en-AU" dirty="0">
              <a:latin typeface="Arial" pitchFamily="-84" charset="0"/>
            </a:endParaRPr>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p:spPr>
        <p:txBody>
          <a:bodyPr>
            <a:normAutofit fontScale="92500" lnSpcReduction="20000"/>
          </a:bodyPr>
          <a:lstStyle/>
          <a:p>
            <a:r>
              <a:rPr lang="en-US" sz="1200" kern="1200" baseline="0" dirty="0">
                <a:solidFill>
                  <a:schemeClr val="tx1"/>
                </a:solidFill>
                <a:latin typeface="Arial" charset="0"/>
                <a:ea typeface="ＭＳ Ｐゴシック" charset="-128"/>
                <a:cs typeface="ＭＳ Ｐゴシック" charset="-128"/>
              </a:rPr>
              <a:t> The first published public-key algorithm appeared in the seminal paper by Diffie</a:t>
            </a:r>
          </a:p>
          <a:p>
            <a:r>
              <a:rPr lang="en-US" sz="1200" kern="1200" baseline="0" dirty="0">
                <a:solidFill>
                  <a:schemeClr val="tx1"/>
                </a:solidFill>
                <a:latin typeface="Arial" charset="0"/>
                <a:ea typeface="ＭＳ Ｐゴシック" charset="-128"/>
                <a:cs typeface="ＭＳ Ｐゴシック" charset="-128"/>
              </a:rPr>
              <a:t>and Hellman that defined public-key cryptography [DIFF76b] and is generally</a:t>
            </a:r>
          </a:p>
          <a:p>
            <a:r>
              <a:rPr lang="en-US" sz="1200" kern="1200" baseline="0" dirty="0">
                <a:solidFill>
                  <a:schemeClr val="tx1"/>
                </a:solidFill>
                <a:latin typeface="Arial" charset="0"/>
                <a:ea typeface="ＭＳ Ｐゴシック" charset="-128"/>
                <a:cs typeface="ＭＳ Ｐゴシック" charset="-128"/>
              </a:rPr>
              <a:t>referred to as Diffie-Hellman key exchange.  A number of commercial products</a:t>
            </a:r>
          </a:p>
          <a:p>
            <a:r>
              <a:rPr lang="en-US" sz="1200" kern="1200" baseline="0" dirty="0">
                <a:solidFill>
                  <a:schemeClr val="tx1"/>
                </a:solidFill>
                <a:latin typeface="Arial" charset="0"/>
                <a:ea typeface="ＭＳ Ｐゴシック" charset="-128"/>
                <a:cs typeface="ＭＳ Ｐゴシック" charset="-128"/>
              </a:rPr>
              <a:t>employ this key exchange technique.</a:t>
            </a:r>
          </a:p>
          <a:p>
            <a:endParaRPr lang="en-US" sz="1200" kern="1200" baseline="0" dirty="0">
              <a:solidFill>
                <a:schemeClr val="tx1"/>
              </a:solidFill>
              <a:latin typeface="Arial" charset="0"/>
              <a:ea typeface="ＭＳ Ｐゴシック" charset="-128"/>
              <a:cs typeface="ＭＳ Ｐゴシック" charset="-128"/>
            </a:endParaRPr>
          </a:p>
          <a:p>
            <a:r>
              <a:rPr lang="en-US" sz="1200" kern="1200" baseline="0" dirty="0">
                <a:solidFill>
                  <a:schemeClr val="tx1"/>
                </a:solidFill>
                <a:latin typeface="Arial" charset="0"/>
                <a:ea typeface="ＭＳ Ｐゴシック" charset="-128"/>
                <a:cs typeface="ＭＳ Ｐゴシック" charset="-128"/>
              </a:rPr>
              <a:t>The purpose of the algorithm is to enable two users to securely exchange a</a:t>
            </a:r>
          </a:p>
          <a:p>
            <a:r>
              <a:rPr lang="en-US" sz="1200" kern="1200" baseline="0" dirty="0">
                <a:solidFill>
                  <a:schemeClr val="tx1"/>
                </a:solidFill>
                <a:latin typeface="Arial" charset="0"/>
                <a:ea typeface="ＭＳ Ｐゴシック" charset="-128"/>
                <a:cs typeface="ＭＳ Ｐゴシック" charset="-128"/>
              </a:rPr>
              <a:t>key that can then be used for subsequent symmetric encryption of messages. The</a:t>
            </a:r>
          </a:p>
          <a:p>
            <a:r>
              <a:rPr lang="en-US" sz="1200" kern="1200" baseline="0" dirty="0">
                <a:solidFill>
                  <a:schemeClr val="tx1"/>
                </a:solidFill>
                <a:latin typeface="Arial" charset="0"/>
                <a:ea typeface="ＭＳ Ｐゴシック" charset="-128"/>
                <a:cs typeface="ＭＳ Ｐゴシック" charset="-128"/>
              </a:rPr>
              <a:t>algorithm itself is limited to the exchange of secret values.</a:t>
            </a:r>
          </a:p>
          <a:p>
            <a:endParaRPr lang="en-US" sz="1200" kern="1200" baseline="0" dirty="0">
              <a:solidFill>
                <a:schemeClr val="tx1"/>
              </a:solidFill>
              <a:latin typeface="Arial" charset="0"/>
              <a:ea typeface="ＭＳ Ｐゴシック" charset="-128"/>
              <a:cs typeface="ＭＳ Ｐゴシック" charset="-128"/>
            </a:endParaRPr>
          </a:p>
          <a:p>
            <a:r>
              <a:rPr lang="en-US" sz="1200" b="0" kern="1200" baseline="0" dirty="0">
                <a:solidFill>
                  <a:schemeClr val="tx1"/>
                </a:solidFill>
                <a:latin typeface="Arial" charset="0"/>
                <a:ea typeface="ＭＳ Ｐゴシック" charset="-128"/>
                <a:cs typeface="ＭＳ Ｐゴシック" charset="-128"/>
              </a:rPr>
              <a:t>The Diffie-Hellman algorithm depends for its effectiveness on the difficulty of</a:t>
            </a:r>
          </a:p>
          <a:p>
            <a:r>
              <a:rPr lang="en-US" sz="1200" b="0" kern="1200" baseline="0" dirty="0">
                <a:solidFill>
                  <a:schemeClr val="tx1"/>
                </a:solidFill>
                <a:latin typeface="Arial" charset="0"/>
                <a:ea typeface="ＭＳ Ｐゴシック" charset="-128"/>
                <a:cs typeface="ＭＳ Ｐゴシック" charset="-128"/>
              </a:rPr>
              <a:t>computing discrete logarithms. Briefly, we can define the discrete logarithm in the</a:t>
            </a:r>
          </a:p>
          <a:p>
            <a:r>
              <a:rPr lang="en-US" sz="1200" b="0" kern="1200" baseline="0" dirty="0">
                <a:solidFill>
                  <a:schemeClr val="tx1"/>
                </a:solidFill>
                <a:latin typeface="Arial" charset="0"/>
                <a:ea typeface="ＭＳ Ｐゴシック" charset="-128"/>
                <a:cs typeface="ＭＳ Ｐゴシック" charset="-128"/>
              </a:rPr>
              <a:t>following way. Recall from Chapter 8 that a primitive root of a prime number </a:t>
            </a:r>
            <a:r>
              <a:rPr lang="en-US" sz="1200" b="0" i="1" kern="1200" baseline="0" dirty="0">
                <a:solidFill>
                  <a:schemeClr val="tx1"/>
                </a:solidFill>
                <a:latin typeface="Arial" charset="0"/>
                <a:ea typeface="ＭＳ Ｐゴシック" charset="-128"/>
                <a:cs typeface="ＭＳ Ｐゴシック" charset="-128"/>
              </a:rPr>
              <a:t>p</a:t>
            </a:r>
            <a:r>
              <a:rPr lang="en-US" sz="1200" b="0" kern="1200" baseline="0" dirty="0">
                <a:solidFill>
                  <a:schemeClr val="tx1"/>
                </a:solidFill>
                <a:latin typeface="Arial" charset="0"/>
                <a:ea typeface="ＭＳ Ｐゴシック" charset="-128"/>
                <a:cs typeface="ＭＳ Ｐゴシック" charset="-128"/>
              </a:rPr>
              <a:t> is</a:t>
            </a:r>
          </a:p>
          <a:p>
            <a:r>
              <a:rPr lang="en-US" sz="1200" b="0" kern="1200" baseline="0" dirty="0">
                <a:solidFill>
                  <a:schemeClr val="tx1"/>
                </a:solidFill>
                <a:latin typeface="Arial" charset="0"/>
                <a:ea typeface="ＭＳ Ｐゴシック" charset="-128"/>
                <a:cs typeface="ＭＳ Ｐゴシック" charset="-128"/>
              </a:rPr>
              <a:t>one whose powers modulo </a:t>
            </a:r>
            <a:r>
              <a:rPr lang="en-US" sz="1200" b="0" i="1" kern="1200" baseline="0" dirty="0">
                <a:solidFill>
                  <a:schemeClr val="tx1"/>
                </a:solidFill>
                <a:latin typeface="Arial" charset="0"/>
                <a:ea typeface="ＭＳ Ｐゴシック" charset="-128"/>
                <a:cs typeface="ＭＳ Ｐゴシック" charset="-128"/>
              </a:rPr>
              <a:t>p </a:t>
            </a:r>
            <a:r>
              <a:rPr lang="en-US" sz="1200" b="0" kern="1200" baseline="0" dirty="0">
                <a:solidFill>
                  <a:schemeClr val="tx1"/>
                </a:solidFill>
                <a:latin typeface="Arial" charset="0"/>
                <a:ea typeface="ＭＳ Ｐゴシック" charset="-128"/>
                <a:cs typeface="ＭＳ Ｐゴシック" charset="-128"/>
              </a:rPr>
              <a:t>generate all the integers from 1 to </a:t>
            </a:r>
            <a:r>
              <a:rPr lang="en-US" sz="1200" b="0" i="1" kern="1200" baseline="0" dirty="0">
                <a:solidFill>
                  <a:schemeClr val="tx1"/>
                </a:solidFill>
                <a:latin typeface="Arial" charset="0"/>
                <a:ea typeface="ＭＳ Ｐゴシック" charset="-128"/>
                <a:cs typeface="ＭＳ Ｐゴシック" charset="-128"/>
              </a:rPr>
              <a:t>p </a:t>
            </a:r>
            <a:r>
              <a:rPr lang="en-US" sz="1200" b="0" kern="1200" baseline="0" dirty="0">
                <a:solidFill>
                  <a:schemeClr val="tx1"/>
                </a:solidFill>
                <a:latin typeface="Arial" charset="0"/>
                <a:ea typeface="ＭＳ Ｐゴシック" charset="-128"/>
                <a:cs typeface="ＭＳ Ｐゴシック" charset="-128"/>
              </a:rPr>
              <a:t>-  1. That is, if </a:t>
            </a:r>
            <a:r>
              <a:rPr lang="en-US" sz="1200" b="0" i="1" kern="1200" baseline="0" dirty="0">
                <a:solidFill>
                  <a:schemeClr val="tx1"/>
                </a:solidFill>
                <a:latin typeface="Arial" charset="0"/>
                <a:ea typeface="ＭＳ Ｐゴシック" charset="-128"/>
                <a:cs typeface="ＭＳ Ｐゴシック" charset="-128"/>
              </a:rPr>
              <a:t>a</a:t>
            </a:r>
          </a:p>
          <a:p>
            <a:r>
              <a:rPr lang="en-US" sz="1200" b="0" kern="1200" baseline="0" dirty="0">
                <a:solidFill>
                  <a:schemeClr val="tx1"/>
                </a:solidFill>
                <a:latin typeface="Arial" charset="0"/>
                <a:ea typeface="ＭＳ Ｐゴシック" charset="-128"/>
                <a:cs typeface="ＭＳ Ｐゴシック" charset="-128"/>
              </a:rPr>
              <a:t> is a primitive root of the prime number </a:t>
            </a:r>
            <a:r>
              <a:rPr lang="en-US" sz="1200" b="0" i="1" kern="1200" baseline="0" dirty="0">
                <a:solidFill>
                  <a:schemeClr val="tx1"/>
                </a:solidFill>
                <a:latin typeface="Arial" charset="0"/>
                <a:ea typeface="ＭＳ Ｐゴシック" charset="-128"/>
                <a:cs typeface="ＭＳ Ｐゴシック" charset="-128"/>
              </a:rPr>
              <a:t>p</a:t>
            </a:r>
            <a:r>
              <a:rPr lang="en-US" sz="1200" b="0" kern="1200" baseline="0" dirty="0">
                <a:solidFill>
                  <a:schemeClr val="tx1"/>
                </a:solidFill>
                <a:latin typeface="Arial" charset="0"/>
                <a:ea typeface="ＭＳ Ｐゴシック" charset="-128"/>
                <a:cs typeface="ＭＳ Ｐゴシック" charset="-128"/>
              </a:rPr>
              <a:t> , then the numbers</a:t>
            </a:r>
          </a:p>
          <a:p>
            <a:endParaRPr lang="en-US" sz="1200" b="0" kern="1200" baseline="0" dirty="0">
              <a:solidFill>
                <a:schemeClr val="tx1"/>
              </a:solidFill>
              <a:latin typeface="Arial" charset="0"/>
              <a:ea typeface="ＭＳ Ｐゴシック" charset="-128"/>
              <a:cs typeface="ＭＳ Ｐゴシック" charset="-128"/>
            </a:endParaRPr>
          </a:p>
          <a:p>
            <a:r>
              <a:rPr lang="en-US" sz="1200" b="0" i="1" kern="1200" baseline="0" dirty="0">
                <a:solidFill>
                  <a:schemeClr val="tx1"/>
                </a:solidFill>
                <a:latin typeface="Arial" charset="0"/>
                <a:ea typeface="ＭＳ Ｐゴシック" charset="-128"/>
                <a:cs typeface="ＭＳ Ｐゴシック" charset="-128"/>
              </a:rPr>
              <a:t>a</a:t>
            </a:r>
            <a:r>
              <a:rPr lang="en-US" sz="1200" b="0" kern="1200" baseline="0" dirty="0">
                <a:solidFill>
                  <a:schemeClr val="tx1"/>
                </a:solidFill>
                <a:latin typeface="Arial" charset="0"/>
                <a:ea typeface="ＭＳ Ｐゴシック" charset="-128"/>
                <a:cs typeface="ＭＳ Ｐゴシック" charset="-128"/>
              </a:rPr>
              <a:t>  mod </a:t>
            </a:r>
            <a:r>
              <a:rPr lang="en-US" sz="1200" b="0" i="1" kern="1200" baseline="0" dirty="0">
                <a:solidFill>
                  <a:schemeClr val="tx1"/>
                </a:solidFill>
                <a:latin typeface="Arial" charset="0"/>
                <a:ea typeface="ＭＳ Ｐゴシック" charset="-128"/>
                <a:cs typeface="ＭＳ Ｐゴシック" charset="-128"/>
              </a:rPr>
              <a:t>p , a</a:t>
            </a:r>
            <a:r>
              <a:rPr lang="en-US" sz="1200" b="0" i="1" kern="1200" baseline="30000" dirty="0">
                <a:solidFill>
                  <a:schemeClr val="tx1"/>
                </a:solidFill>
                <a:latin typeface="Arial" charset="0"/>
                <a:ea typeface="ＭＳ Ｐゴシック" charset="-128"/>
                <a:cs typeface="ＭＳ Ｐゴシック" charset="-128"/>
              </a:rPr>
              <a:t>2</a:t>
            </a:r>
            <a:r>
              <a:rPr lang="en-US" sz="1200" b="0" i="1" kern="1200" baseline="0" dirty="0">
                <a:solidFill>
                  <a:schemeClr val="tx1"/>
                </a:solidFill>
                <a:latin typeface="Arial" charset="0"/>
                <a:ea typeface="ＭＳ Ｐゴシック" charset="-128"/>
                <a:cs typeface="ＭＳ Ｐゴシック" charset="-128"/>
              </a:rPr>
              <a:t>  </a:t>
            </a:r>
            <a:r>
              <a:rPr lang="en-US" sz="1200" b="0" kern="1200" baseline="0" dirty="0">
                <a:solidFill>
                  <a:schemeClr val="tx1"/>
                </a:solidFill>
                <a:latin typeface="Arial" charset="0"/>
                <a:ea typeface="ＭＳ Ｐゴシック" charset="-128"/>
                <a:cs typeface="ＭＳ Ｐゴシック" charset="-128"/>
              </a:rPr>
              <a:t>mod </a:t>
            </a:r>
            <a:r>
              <a:rPr lang="en-US" sz="1200" b="0" i="1" kern="1200" baseline="0" dirty="0">
                <a:solidFill>
                  <a:schemeClr val="tx1"/>
                </a:solidFill>
                <a:latin typeface="Arial" charset="0"/>
                <a:ea typeface="ＭＳ Ｐゴシック" charset="-128"/>
                <a:cs typeface="ＭＳ Ｐゴシック" charset="-128"/>
              </a:rPr>
              <a:t>p</a:t>
            </a:r>
            <a:r>
              <a:rPr lang="en-US" sz="1200" b="0" kern="1200" baseline="0" dirty="0">
                <a:solidFill>
                  <a:schemeClr val="tx1"/>
                </a:solidFill>
                <a:latin typeface="Arial" charset="0"/>
                <a:ea typeface="ＭＳ Ｐゴシック" charset="-128"/>
                <a:cs typeface="ＭＳ Ｐゴシック" charset="-128"/>
              </a:rPr>
              <a:t> , . . .  , </a:t>
            </a:r>
            <a:r>
              <a:rPr lang="en-US" sz="1200" b="0" i="1" kern="1200" baseline="0" dirty="0">
                <a:solidFill>
                  <a:schemeClr val="tx1"/>
                </a:solidFill>
                <a:latin typeface="Arial" charset="0"/>
                <a:ea typeface="ＭＳ Ｐゴシック" charset="-128"/>
                <a:cs typeface="ＭＳ Ｐゴシック" charset="-128"/>
              </a:rPr>
              <a:t>a</a:t>
            </a:r>
            <a:r>
              <a:rPr lang="en-US" sz="1200" b="0" i="1" kern="1200" baseline="30000" dirty="0">
                <a:solidFill>
                  <a:schemeClr val="tx1"/>
                </a:solidFill>
                <a:latin typeface="Arial" charset="0"/>
                <a:ea typeface="ＭＳ Ｐゴシック" charset="-128"/>
                <a:cs typeface="ＭＳ Ｐゴシック" charset="-128"/>
              </a:rPr>
              <a:t>p-1  </a:t>
            </a:r>
            <a:r>
              <a:rPr lang="en-US" sz="1200" b="0" kern="1200" baseline="0" dirty="0">
                <a:solidFill>
                  <a:schemeClr val="tx1"/>
                </a:solidFill>
                <a:latin typeface="Arial" charset="0"/>
                <a:ea typeface="ＭＳ Ｐゴシック" charset="-128"/>
                <a:cs typeface="ＭＳ Ｐゴシック" charset="-128"/>
              </a:rPr>
              <a:t>mod </a:t>
            </a:r>
            <a:r>
              <a:rPr lang="en-US" sz="1200" b="0" i="1" kern="1200" baseline="0" dirty="0">
                <a:solidFill>
                  <a:schemeClr val="tx1"/>
                </a:solidFill>
                <a:latin typeface="Arial" charset="0"/>
                <a:ea typeface="ＭＳ Ｐゴシック" charset="-128"/>
                <a:cs typeface="ＭＳ Ｐゴシック" charset="-128"/>
              </a:rPr>
              <a:t>p</a:t>
            </a:r>
          </a:p>
          <a:p>
            <a:endParaRPr lang="en-US" sz="1200" b="0" kern="1200" baseline="0" dirty="0">
              <a:solidFill>
                <a:schemeClr val="tx1"/>
              </a:solidFill>
              <a:latin typeface="Arial" charset="0"/>
              <a:ea typeface="ＭＳ Ｐゴシック" charset="-128"/>
              <a:cs typeface="ＭＳ Ｐゴシック" charset="-128"/>
            </a:endParaRPr>
          </a:p>
          <a:p>
            <a:r>
              <a:rPr lang="en-US" sz="1200" b="0" kern="1200" baseline="0" dirty="0">
                <a:solidFill>
                  <a:schemeClr val="tx1"/>
                </a:solidFill>
                <a:latin typeface="Arial" charset="0"/>
                <a:ea typeface="ＭＳ Ｐゴシック" charset="-128"/>
                <a:cs typeface="ＭＳ Ｐゴシック" charset="-128"/>
              </a:rPr>
              <a:t> are distinct and consist of the integers from 1 through </a:t>
            </a:r>
            <a:r>
              <a:rPr lang="en-US" sz="1200" b="0" i="1" kern="1200" baseline="0" dirty="0">
                <a:solidFill>
                  <a:schemeClr val="tx1"/>
                </a:solidFill>
                <a:latin typeface="Arial" charset="0"/>
                <a:ea typeface="ＭＳ Ｐゴシック" charset="-128"/>
                <a:cs typeface="ＭＳ Ｐゴシック" charset="-128"/>
              </a:rPr>
              <a:t>p -  1 </a:t>
            </a:r>
            <a:r>
              <a:rPr lang="en-US" sz="1200" b="0" kern="1200" baseline="0" dirty="0">
                <a:solidFill>
                  <a:schemeClr val="tx1"/>
                </a:solidFill>
                <a:latin typeface="Arial" charset="0"/>
                <a:ea typeface="ＭＳ Ｐゴシック" charset="-128"/>
                <a:cs typeface="ＭＳ Ｐゴシック" charset="-128"/>
              </a:rPr>
              <a:t>in some permutation.</a:t>
            </a:r>
          </a:p>
          <a:p>
            <a:endParaRPr lang="en-US" sz="1200" b="0" kern="1200" baseline="0" dirty="0">
              <a:solidFill>
                <a:schemeClr val="tx1"/>
              </a:solidFill>
              <a:latin typeface="Arial" charset="0"/>
              <a:ea typeface="ＭＳ Ｐゴシック" charset="-128"/>
              <a:cs typeface="ＭＳ Ｐゴシック" charset="-128"/>
            </a:endParaRPr>
          </a:p>
          <a:p>
            <a:r>
              <a:rPr lang="en-US" sz="1200" b="0" kern="1200" baseline="0" dirty="0">
                <a:solidFill>
                  <a:schemeClr val="tx1"/>
                </a:solidFill>
                <a:latin typeface="Arial" charset="0"/>
                <a:ea typeface="ＭＳ Ｐゴシック" charset="-128"/>
                <a:cs typeface="ＭＳ Ｐゴシック" charset="-128"/>
              </a:rPr>
              <a:t>For any integer </a:t>
            </a:r>
            <a:r>
              <a:rPr lang="en-US" sz="1200" b="0" i="1" kern="1200" baseline="0" dirty="0">
                <a:solidFill>
                  <a:schemeClr val="tx1"/>
                </a:solidFill>
                <a:latin typeface="Arial" charset="0"/>
                <a:ea typeface="ＭＳ Ｐゴシック" charset="-128"/>
                <a:cs typeface="ＭＳ Ｐゴシック" charset="-128"/>
              </a:rPr>
              <a:t>b</a:t>
            </a:r>
            <a:r>
              <a:rPr lang="en-US" sz="1200" b="0" kern="1200" baseline="0" dirty="0">
                <a:solidFill>
                  <a:schemeClr val="tx1"/>
                </a:solidFill>
                <a:latin typeface="Arial" charset="0"/>
                <a:ea typeface="ＭＳ Ｐゴシック" charset="-128"/>
                <a:cs typeface="ＭＳ Ｐゴシック" charset="-128"/>
              </a:rPr>
              <a:t>  and a primitive root </a:t>
            </a:r>
            <a:r>
              <a:rPr lang="en-US" sz="1200" b="0" i="1" kern="1200" baseline="0" dirty="0">
                <a:solidFill>
                  <a:schemeClr val="tx1"/>
                </a:solidFill>
                <a:latin typeface="Arial" charset="0"/>
                <a:ea typeface="ＭＳ Ｐゴシック" charset="-128"/>
                <a:cs typeface="ＭＳ Ｐゴシック" charset="-128"/>
              </a:rPr>
              <a:t>a </a:t>
            </a:r>
            <a:r>
              <a:rPr lang="en-US" sz="1200" b="0" kern="1200" baseline="0" dirty="0">
                <a:solidFill>
                  <a:schemeClr val="tx1"/>
                </a:solidFill>
                <a:latin typeface="Arial" charset="0"/>
                <a:ea typeface="ＭＳ Ｐゴシック" charset="-128"/>
                <a:cs typeface="ＭＳ Ｐゴシック" charset="-128"/>
              </a:rPr>
              <a:t>of prime number </a:t>
            </a:r>
            <a:r>
              <a:rPr lang="en-US" sz="1200" b="0" i="1" kern="1200" baseline="0" dirty="0">
                <a:solidFill>
                  <a:schemeClr val="tx1"/>
                </a:solidFill>
                <a:latin typeface="Arial" charset="0"/>
                <a:ea typeface="ＭＳ Ｐゴシック" charset="-128"/>
                <a:cs typeface="ＭＳ Ｐゴシック" charset="-128"/>
              </a:rPr>
              <a:t>p </a:t>
            </a:r>
            <a:r>
              <a:rPr lang="en-US" sz="1200" b="0" kern="1200" baseline="0" dirty="0">
                <a:solidFill>
                  <a:schemeClr val="tx1"/>
                </a:solidFill>
                <a:latin typeface="Arial" charset="0"/>
                <a:ea typeface="ＭＳ Ｐゴシック" charset="-128"/>
                <a:cs typeface="ＭＳ Ｐゴシック" charset="-128"/>
              </a:rPr>
              <a:t>, we can find a</a:t>
            </a:r>
          </a:p>
          <a:p>
            <a:r>
              <a:rPr lang="en-US" sz="1200" b="0" kern="1200" baseline="0" dirty="0">
                <a:solidFill>
                  <a:schemeClr val="tx1"/>
                </a:solidFill>
                <a:latin typeface="Arial" charset="0"/>
                <a:ea typeface="ＭＳ Ｐゴシック" charset="-128"/>
                <a:cs typeface="ＭＳ Ｐゴシック" charset="-128"/>
              </a:rPr>
              <a:t>unique exponent</a:t>
            </a:r>
            <a:r>
              <a:rPr lang="en-US" sz="1200" b="0" i="1" kern="1200" baseline="0" dirty="0">
                <a:solidFill>
                  <a:schemeClr val="tx1"/>
                </a:solidFill>
                <a:latin typeface="Arial" charset="0"/>
                <a:ea typeface="ＭＳ Ｐゴシック" charset="-128"/>
                <a:cs typeface="ＭＳ Ｐゴシック" charset="-128"/>
              </a:rPr>
              <a:t> i </a:t>
            </a:r>
            <a:r>
              <a:rPr lang="en-US" sz="1200" b="0" kern="1200" baseline="0" dirty="0">
                <a:solidFill>
                  <a:schemeClr val="tx1"/>
                </a:solidFill>
                <a:latin typeface="Arial" charset="0"/>
                <a:ea typeface="ＭＳ Ｐゴシック" charset="-128"/>
                <a:cs typeface="ＭＳ Ｐゴシック" charset="-128"/>
              </a:rPr>
              <a:t>such that</a:t>
            </a:r>
          </a:p>
          <a:p>
            <a:endParaRPr lang="en-US" sz="1200" b="0" kern="1200" baseline="0" dirty="0">
              <a:solidFill>
                <a:schemeClr val="tx1"/>
              </a:solidFill>
              <a:latin typeface="Arial" charset="0"/>
              <a:ea typeface="ＭＳ Ｐゴシック" charset="-128"/>
              <a:cs typeface="ＭＳ Ｐゴシック" charset="-128"/>
            </a:endParaRPr>
          </a:p>
          <a:p>
            <a:r>
              <a:rPr lang="en-US" sz="1200" b="0" i="1" kern="1200" baseline="0" dirty="0">
                <a:solidFill>
                  <a:schemeClr val="tx1"/>
                </a:solidFill>
                <a:latin typeface="Arial" charset="0"/>
                <a:ea typeface="ＭＳ Ｐゴシック" charset="-128"/>
                <a:cs typeface="ＭＳ Ｐゴシック" charset="-128"/>
              </a:rPr>
              <a:t>b = a</a:t>
            </a:r>
            <a:r>
              <a:rPr lang="en-US" sz="1200" b="0" i="1" kern="1200" baseline="30000" dirty="0">
                <a:solidFill>
                  <a:schemeClr val="tx1"/>
                </a:solidFill>
                <a:latin typeface="Arial" charset="0"/>
                <a:ea typeface="ＭＳ Ｐゴシック" charset="-128"/>
                <a:cs typeface="ＭＳ Ｐゴシック" charset="-128"/>
              </a:rPr>
              <a:t>i</a:t>
            </a:r>
            <a:r>
              <a:rPr lang="en-US" sz="1200" b="0" i="1" kern="1200" baseline="0" dirty="0">
                <a:solidFill>
                  <a:schemeClr val="tx1"/>
                </a:solidFill>
                <a:latin typeface="Arial" charset="0"/>
                <a:ea typeface="ＭＳ Ｐゴシック" charset="-128"/>
                <a:cs typeface="ＭＳ Ｐゴシック" charset="-128"/>
              </a:rPr>
              <a:t>  </a:t>
            </a:r>
            <a:r>
              <a:rPr lang="en-US" sz="1200" b="0" kern="1200" baseline="0" dirty="0">
                <a:solidFill>
                  <a:schemeClr val="tx1"/>
                </a:solidFill>
                <a:latin typeface="Arial" charset="0"/>
                <a:ea typeface="ＭＳ Ｐゴシック" charset="-128"/>
                <a:cs typeface="ＭＳ Ｐゴシック" charset="-128"/>
              </a:rPr>
              <a:t>(mod </a:t>
            </a:r>
            <a:r>
              <a:rPr lang="en-US" sz="1200" b="0" i="1" kern="1200" baseline="0" dirty="0">
                <a:solidFill>
                  <a:schemeClr val="tx1"/>
                </a:solidFill>
                <a:latin typeface="Arial" charset="0"/>
                <a:ea typeface="ＭＳ Ｐゴシック" charset="-128"/>
                <a:cs typeface="ＭＳ Ｐゴシック" charset="-128"/>
              </a:rPr>
              <a:t>p</a:t>
            </a:r>
            <a:r>
              <a:rPr lang="en-US" sz="1200" b="0" kern="1200" baseline="0" dirty="0">
                <a:solidFill>
                  <a:schemeClr val="tx1"/>
                </a:solidFill>
                <a:latin typeface="Arial" charset="0"/>
                <a:ea typeface="ＭＳ Ｐゴシック" charset="-128"/>
                <a:cs typeface="ＭＳ Ｐゴシック" charset="-128"/>
              </a:rPr>
              <a:t> ) where </a:t>
            </a:r>
            <a:r>
              <a:rPr lang="en-US" sz="1200" b="0" i="1" kern="1200" baseline="0" dirty="0">
                <a:solidFill>
                  <a:schemeClr val="tx1"/>
                </a:solidFill>
                <a:latin typeface="Arial" charset="0"/>
                <a:ea typeface="ＭＳ Ｐゴシック" charset="-128"/>
                <a:cs typeface="ＭＳ Ｐゴシック" charset="-128"/>
              </a:rPr>
              <a:t>0 ≤  i ≤ (p -  1)</a:t>
            </a:r>
          </a:p>
          <a:p>
            <a:endParaRPr lang="en-US" sz="1200" b="0" kern="1200" baseline="0" dirty="0">
              <a:solidFill>
                <a:schemeClr val="tx1"/>
              </a:solidFill>
              <a:latin typeface="Arial" charset="0"/>
              <a:ea typeface="ＭＳ Ｐゴシック" charset="-128"/>
              <a:cs typeface="ＭＳ Ｐゴシック" charset="-128"/>
            </a:endParaRPr>
          </a:p>
          <a:p>
            <a:r>
              <a:rPr lang="en-US" sz="1200" b="0" kern="1200" baseline="0" dirty="0">
                <a:solidFill>
                  <a:schemeClr val="tx1"/>
                </a:solidFill>
                <a:latin typeface="Arial" charset="0"/>
                <a:ea typeface="ＭＳ Ｐゴシック" charset="-128"/>
                <a:cs typeface="ＭＳ Ｐゴシック" charset="-128"/>
              </a:rPr>
              <a:t>The exponent </a:t>
            </a:r>
            <a:r>
              <a:rPr lang="en-US" sz="1200" b="0" i="1" kern="1200" baseline="0" dirty="0">
                <a:solidFill>
                  <a:schemeClr val="tx1"/>
                </a:solidFill>
                <a:latin typeface="Arial" charset="0"/>
                <a:ea typeface="ＭＳ Ｐゴシック" charset="-128"/>
                <a:cs typeface="ＭＳ Ｐゴシック" charset="-128"/>
              </a:rPr>
              <a:t>i</a:t>
            </a:r>
            <a:r>
              <a:rPr lang="en-US" sz="1200" b="0" kern="1200" baseline="0" dirty="0">
                <a:solidFill>
                  <a:schemeClr val="tx1"/>
                </a:solidFill>
                <a:latin typeface="Arial" charset="0"/>
                <a:ea typeface="ＭＳ Ｐゴシック" charset="-128"/>
                <a:cs typeface="ＭＳ Ｐゴシック" charset="-128"/>
              </a:rPr>
              <a:t>  is referred to as the discrete logarithm  of </a:t>
            </a:r>
            <a:r>
              <a:rPr lang="en-US" sz="1200" b="0" i="1" kern="1200" baseline="0" dirty="0">
                <a:solidFill>
                  <a:schemeClr val="tx1"/>
                </a:solidFill>
                <a:latin typeface="Arial" charset="0"/>
                <a:ea typeface="ＭＳ Ｐゴシック" charset="-128"/>
                <a:cs typeface="ＭＳ Ｐゴシック" charset="-128"/>
              </a:rPr>
              <a:t>b</a:t>
            </a:r>
            <a:r>
              <a:rPr lang="en-US" sz="1200" b="0" kern="1200" baseline="0" dirty="0">
                <a:solidFill>
                  <a:schemeClr val="tx1"/>
                </a:solidFill>
                <a:latin typeface="Arial" charset="0"/>
                <a:ea typeface="ＭＳ Ｐゴシック" charset="-128"/>
                <a:cs typeface="ＭＳ Ｐゴシック" charset="-128"/>
              </a:rPr>
              <a:t>  for the base </a:t>
            </a:r>
            <a:r>
              <a:rPr lang="en-US" sz="1200" b="0" i="1" kern="1200" baseline="0" dirty="0">
                <a:solidFill>
                  <a:schemeClr val="tx1"/>
                </a:solidFill>
                <a:latin typeface="Arial" charset="0"/>
                <a:ea typeface="ＭＳ Ｐゴシック" charset="-128"/>
                <a:cs typeface="ＭＳ Ｐゴシック" charset="-128"/>
              </a:rPr>
              <a:t>a</a:t>
            </a:r>
            <a:r>
              <a:rPr lang="en-US" sz="1200" b="0" kern="1200" baseline="0" dirty="0">
                <a:solidFill>
                  <a:schemeClr val="tx1"/>
                </a:solidFill>
                <a:latin typeface="Arial" charset="0"/>
                <a:ea typeface="ＭＳ Ｐゴシック" charset="-128"/>
                <a:cs typeface="ＭＳ Ｐゴシック" charset="-128"/>
              </a:rPr>
              <a:t> , mod </a:t>
            </a:r>
            <a:r>
              <a:rPr lang="en-US" sz="1200" b="0" i="1" kern="1200" baseline="0" dirty="0">
                <a:solidFill>
                  <a:schemeClr val="tx1"/>
                </a:solidFill>
                <a:latin typeface="Arial" charset="0"/>
                <a:ea typeface="ＭＳ Ｐゴシック" charset="-128"/>
                <a:cs typeface="ＭＳ Ｐゴシック" charset="-128"/>
              </a:rPr>
              <a:t>p</a:t>
            </a:r>
            <a:r>
              <a:rPr lang="en-US" sz="1200" b="0" kern="1200" baseline="0" dirty="0">
                <a:solidFill>
                  <a:schemeClr val="tx1"/>
                </a:solidFill>
                <a:latin typeface="Arial" charset="0"/>
                <a:ea typeface="ＭＳ Ｐゴシック" charset="-128"/>
                <a:cs typeface="ＭＳ Ｐゴシック" charset="-128"/>
              </a:rPr>
              <a:t> .</a:t>
            </a:r>
          </a:p>
          <a:p>
            <a:r>
              <a:rPr lang="en-US" sz="1200" b="0" kern="1200" baseline="0" dirty="0">
                <a:solidFill>
                  <a:schemeClr val="tx1"/>
                </a:solidFill>
                <a:latin typeface="Arial" charset="0"/>
                <a:ea typeface="ＭＳ Ｐゴシック" charset="-128"/>
                <a:cs typeface="ＭＳ Ｐゴシック" charset="-128"/>
              </a:rPr>
              <a:t>We express this value as dlog</a:t>
            </a:r>
            <a:r>
              <a:rPr lang="en-US" sz="1200" b="0" kern="1200" baseline="-25000" dirty="0">
                <a:solidFill>
                  <a:schemeClr val="tx1"/>
                </a:solidFill>
                <a:latin typeface="Arial" charset="0"/>
                <a:ea typeface="ＭＳ Ｐゴシック" charset="-128"/>
                <a:cs typeface="ＭＳ Ｐゴシック" charset="-128"/>
              </a:rPr>
              <a:t>a,p </a:t>
            </a:r>
            <a:r>
              <a:rPr lang="en-US" sz="1200" b="0" kern="1200" baseline="0" dirty="0">
                <a:solidFill>
                  <a:schemeClr val="tx1"/>
                </a:solidFill>
                <a:latin typeface="Arial" charset="0"/>
                <a:ea typeface="ＭＳ Ｐゴシック" charset="-128"/>
                <a:cs typeface="ＭＳ Ｐゴシック" charset="-128"/>
              </a:rPr>
              <a:t>(</a:t>
            </a:r>
            <a:r>
              <a:rPr lang="en-US" sz="1200" b="0" i="1" kern="1200" baseline="0" dirty="0">
                <a:solidFill>
                  <a:schemeClr val="tx1"/>
                </a:solidFill>
                <a:latin typeface="Arial" charset="0"/>
                <a:ea typeface="ＭＳ Ｐゴシック" charset="-128"/>
                <a:cs typeface="ＭＳ Ｐゴシック" charset="-128"/>
              </a:rPr>
              <a:t>b</a:t>
            </a:r>
            <a:r>
              <a:rPr lang="en-US" sz="1200" b="0" kern="1200" baseline="0" dirty="0">
                <a:solidFill>
                  <a:schemeClr val="tx1"/>
                </a:solidFill>
                <a:latin typeface="Arial" charset="0"/>
                <a:ea typeface="ＭＳ Ｐゴシック" charset="-128"/>
                <a:cs typeface="ＭＳ Ｐゴシック" charset="-128"/>
              </a:rPr>
              <a:t> ). See Chapter 8 for an extended discussion of</a:t>
            </a:r>
          </a:p>
          <a:p>
            <a:r>
              <a:rPr lang="en-US" sz="1200" b="0" kern="1200" baseline="0" dirty="0">
                <a:solidFill>
                  <a:schemeClr val="tx1"/>
                </a:solidFill>
                <a:latin typeface="Arial" charset="0"/>
                <a:ea typeface="ＭＳ Ｐゴシック" charset="-128"/>
                <a:cs typeface="ＭＳ Ｐゴシック" charset="-128"/>
              </a:rPr>
              <a:t>discrete logarithms.</a:t>
            </a:r>
            <a:endParaRPr lang="en-AU" b="0" dirty="0">
              <a:latin typeface="Arial" pitchFamily="-84" charset="0"/>
              <a:ea typeface="Arial" pitchFamily="-84" charset="0"/>
              <a:cs typeface="Arial" pitchFamily="-84" charset="0"/>
            </a:endParaRPr>
          </a:p>
        </p:txBody>
      </p:sp>
    </p:spTree>
    <p:extLst>
      <p:ext uri="{BB962C8B-B14F-4D97-AF65-F5344CB8AC3E}">
        <p14:creationId xmlns:p14="http://schemas.microsoft.com/office/powerpoint/2010/main" val="8894486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p:spPr>
        <p:txBody>
          <a:bodyPr/>
          <a:lstStyle/>
          <a:p>
            <a:fld id="{A6F3F715-01D8-564F-8DAD-71A9371F59BE}" type="slidenum">
              <a:rPr lang="en-AU">
                <a:latin typeface="Arial" pitchFamily="-84" charset="0"/>
              </a:rPr>
              <a:pPr/>
              <a:t>4</a:t>
            </a:fld>
            <a:endParaRPr lang="en-AU" dirty="0">
              <a:latin typeface="Arial" pitchFamily="-84" charset="0"/>
            </a:endParaRPr>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p:spPr>
        <p:txBody>
          <a:bodyPr>
            <a:normAutofit fontScale="92500" lnSpcReduction="20000"/>
          </a:bodyPr>
          <a:lstStyle/>
          <a:p>
            <a:r>
              <a:rPr lang="en-US" sz="1200" kern="1200" baseline="0" dirty="0">
                <a:solidFill>
                  <a:schemeClr val="tx1"/>
                </a:solidFill>
                <a:latin typeface="Arial" charset="0"/>
                <a:ea typeface="ＭＳ Ｐゴシック" charset="-128"/>
                <a:cs typeface="ＭＳ Ｐゴシック" charset="-128"/>
              </a:rPr>
              <a:t> The first published public-key algorithm appeared in the seminal paper by Diffie</a:t>
            </a:r>
          </a:p>
          <a:p>
            <a:r>
              <a:rPr lang="en-US" sz="1200" kern="1200" baseline="0" dirty="0">
                <a:solidFill>
                  <a:schemeClr val="tx1"/>
                </a:solidFill>
                <a:latin typeface="Arial" charset="0"/>
                <a:ea typeface="ＭＳ Ｐゴシック" charset="-128"/>
                <a:cs typeface="ＭＳ Ｐゴシック" charset="-128"/>
              </a:rPr>
              <a:t>and Hellman that defined public-key cryptography [DIFF76b] and is generally</a:t>
            </a:r>
          </a:p>
          <a:p>
            <a:r>
              <a:rPr lang="en-US" sz="1200" kern="1200" baseline="0" dirty="0">
                <a:solidFill>
                  <a:schemeClr val="tx1"/>
                </a:solidFill>
                <a:latin typeface="Arial" charset="0"/>
                <a:ea typeface="ＭＳ Ｐゴシック" charset="-128"/>
                <a:cs typeface="ＭＳ Ｐゴシック" charset="-128"/>
              </a:rPr>
              <a:t>referred to as Diffie-Hellman key exchange.  A number of commercial products</a:t>
            </a:r>
          </a:p>
          <a:p>
            <a:r>
              <a:rPr lang="en-US" sz="1200" kern="1200" baseline="0" dirty="0">
                <a:solidFill>
                  <a:schemeClr val="tx1"/>
                </a:solidFill>
                <a:latin typeface="Arial" charset="0"/>
                <a:ea typeface="ＭＳ Ｐゴシック" charset="-128"/>
                <a:cs typeface="ＭＳ Ｐゴシック" charset="-128"/>
              </a:rPr>
              <a:t>employ this key exchange technique.</a:t>
            </a:r>
          </a:p>
          <a:p>
            <a:endParaRPr lang="en-US" sz="1200" kern="1200" baseline="0" dirty="0">
              <a:solidFill>
                <a:schemeClr val="tx1"/>
              </a:solidFill>
              <a:latin typeface="Arial" charset="0"/>
              <a:ea typeface="ＭＳ Ｐゴシック" charset="-128"/>
              <a:cs typeface="ＭＳ Ｐゴシック" charset="-128"/>
            </a:endParaRPr>
          </a:p>
          <a:p>
            <a:r>
              <a:rPr lang="en-US" sz="1200" kern="1200" baseline="0" dirty="0">
                <a:solidFill>
                  <a:schemeClr val="tx1"/>
                </a:solidFill>
                <a:latin typeface="Arial" charset="0"/>
                <a:ea typeface="ＭＳ Ｐゴシック" charset="-128"/>
                <a:cs typeface="ＭＳ Ｐゴシック" charset="-128"/>
              </a:rPr>
              <a:t>The purpose of the algorithm is to enable two users to securely exchange a</a:t>
            </a:r>
          </a:p>
          <a:p>
            <a:r>
              <a:rPr lang="en-US" sz="1200" kern="1200" baseline="0" dirty="0">
                <a:solidFill>
                  <a:schemeClr val="tx1"/>
                </a:solidFill>
                <a:latin typeface="Arial" charset="0"/>
                <a:ea typeface="ＭＳ Ｐゴシック" charset="-128"/>
                <a:cs typeface="ＭＳ Ｐゴシック" charset="-128"/>
              </a:rPr>
              <a:t>key that can then be used for subsequent symmetric encryption of messages. The</a:t>
            </a:r>
          </a:p>
          <a:p>
            <a:r>
              <a:rPr lang="en-US" sz="1200" kern="1200" baseline="0" dirty="0">
                <a:solidFill>
                  <a:schemeClr val="tx1"/>
                </a:solidFill>
                <a:latin typeface="Arial" charset="0"/>
                <a:ea typeface="ＭＳ Ｐゴシック" charset="-128"/>
                <a:cs typeface="ＭＳ Ｐゴシック" charset="-128"/>
              </a:rPr>
              <a:t>algorithm itself is limited to the exchange of secret values.</a:t>
            </a:r>
          </a:p>
          <a:p>
            <a:endParaRPr lang="en-US" sz="1200" kern="1200" baseline="0" dirty="0">
              <a:solidFill>
                <a:schemeClr val="tx1"/>
              </a:solidFill>
              <a:latin typeface="Arial" charset="0"/>
              <a:ea typeface="ＭＳ Ｐゴシック" charset="-128"/>
              <a:cs typeface="ＭＳ Ｐゴシック" charset="-128"/>
            </a:endParaRPr>
          </a:p>
          <a:p>
            <a:r>
              <a:rPr lang="en-US" sz="1200" b="0" kern="1200" baseline="0" dirty="0">
                <a:solidFill>
                  <a:schemeClr val="tx1"/>
                </a:solidFill>
                <a:latin typeface="Arial" charset="0"/>
                <a:ea typeface="ＭＳ Ｐゴシック" charset="-128"/>
                <a:cs typeface="ＭＳ Ｐゴシック" charset="-128"/>
              </a:rPr>
              <a:t>The Diffie-Hellman algorithm depends for its effectiveness on the difficulty of</a:t>
            </a:r>
          </a:p>
          <a:p>
            <a:r>
              <a:rPr lang="en-US" sz="1200" b="0" kern="1200" baseline="0" dirty="0">
                <a:solidFill>
                  <a:schemeClr val="tx1"/>
                </a:solidFill>
                <a:latin typeface="Arial" charset="0"/>
                <a:ea typeface="ＭＳ Ｐゴシック" charset="-128"/>
                <a:cs typeface="ＭＳ Ｐゴシック" charset="-128"/>
              </a:rPr>
              <a:t>computing discrete logarithms. Briefly, we can define the discrete logarithm in the</a:t>
            </a:r>
          </a:p>
          <a:p>
            <a:r>
              <a:rPr lang="en-US" sz="1200" b="0" kern="1200" baseline="0" dirty="0">
                <a:solidFill>
                  <a:schemeClr val="tx1"/>
                </a:solidFill>
                <a:latin typeface="Arial" charset="0"/>
                <a:ea typeface="ＭＳ Ｐゴシック" charset="-128"/>
                <a:cs typeface="ＭＳ Ｐゴシック" charset="-128"/>
              </a:rPr>
              <a:t>following way. Recall from Chapter 8 that a primitive root of a prime number </a:t>
            </a:r>
            <a:r>
              <a:rPr lang="en-US" sz="1200" b="0" i="1" kern="1200" baseline="0" dirty="0">
                <a:solidFill>
                  <a:schemeClr val="tx1"/>
                </a:solidFill>
                <a:latin typeface="Arial" charset="0"/>
                <a:ea typeface="ＭＳ Ｐゴシック" charset="-128"/>
                <a:cs typeface="ＭＳ Ｐゴシック" charset="-128"/>
              </a:rPr>
              <a:t>p</a:t>
            </a:r>
            <a:r>
              <a:rPr lang="en-US" sz="1200" b="0" kern="1200" baseline="0" dirty="0">
                <a:solidFill>
                  <a:schemeClr val="tx1"/>
                </a:solidFill>
                <a:latin typeface="Arial" charset="0"/>
                <a:ea typeface="ＭＳ Ｐゴシック" charset="-128"/>
                <a:cs typeface="ＭＳ Ｐゴシック" charset="-128"/>
              </a:rPr>
              <a:t> is</a:t>
            </a:r>
          </a:p>
          <a:p>
            <a:r>
              <a:rPr lang="en-US" sz="1200" b="0" kern="1200" baseline="0" dirty="0">
                <a:solidFill>
                  <a:schemeClr val="tx1"/>
                </a:solidFill>
                <a:latin typeface="Arial" charset="0"/>
                <a:ea typeface="ＭＳ Ｐゴシック" charset="-128"/>
                <a:cs typeface="ＭＳ Ｐゴシック" charset="-128"/>
              </a:rPr>
              <a:t>one whose powers modulo </a:t>
            </a:r>
            <a:r>
              <a:rPr lang="en-US" sz="1200" b="0" i="1" kern="1200" baseline="0" dirty="0">
                <a:solidFill>
                  <a:schemeClr val="tx1"/>
                </a:solidFill>
                <a:latin typeface="Arial" charset="0"/>
                <a:ea typeface="ＭＳ Ｐゴシック" charset="-128"/>
                <a:cs typeface="ＭＳ Ｐゴシック" charset="-128"/>
              </a:rPr>
              <a:t>p </a:t>
            </a:r>
            <a:r>
              <a:rPr lang="en-US" sz="1200" b="0" kern="1200" baseline="0" dirty="0">
                <a:solidFill>
                  <a:schemeClr val="tx1"/>
                </a:solidFill>
                <a:latin typeface="Arial" charset="0"/>
                <a:ea typeface="ＭＳ Ｐゴシック" charset="-128"/>
                <a:cs typeface="ＭＳ Ｐゴシック" charset="-128"/>
              </a:rPr>
              <a:t>generate all the integers from 1 to </a:t>
            </a:r>
            <a:r>
              <a:rPr lang="en-US" sz="1200" b="0" i="1" kern="1200" baseline="0" dirty="0">
                <a:solidFill>
                  <a:schemeClr val="tx1"/>
                </a:solidFill>
                <a:latin typeface="Arial" charset="0"/>
                <a:ea typeface="ＭＳ Ｐゴシック" charset="-128"/>
                <a:cs typeface="ＭＳ Ｐゴシック" charset="-128"/>
              </a:rPr>
              <a:t>p </a:t>
            </a:r>
            <a:r>
              <a:rPr lang="en-US" sz="1200" b="0" kern="1200" baseline="0" dirty="0">
                <a:solidFill>
                  <a:schemeClr val="tx1"/>
                </a:solidFill>
                <a:latin typeface="Arial" charset="0"/>
                <a:ea typeface="ＭＳ Ｐゴシック" charset="-128"/>
                <a:cs typeface="ＭＳ Ｐゴシック" charset="-128"/>
              </a:rPr>
              <a:t>-  1. That is, if </a:t>
            </a:r>
            <a:r>
              <a:rPr lang="en-US" sz="1200" b="0" i="1" kern="1200" baseline="0" dirty="0">
                <a:solidFill>
                  <a:schemeClr val="tx1"/>
                </a:solidFill>
                <a:latin typeface="Arial" charset="0"/>
                <a:ea typeface="ＭＳ Ｐゴシック" charset="-128"/>
                <a:cs typeface="ＭＳ Ｐゴシック" charset="-128"/>
              </a:rPr>
              <a:t>a</a:t>
            </a:r>
          </a:p>
          <a:p>
            <a:r>
              <a:rPr lang="en-US" sz="1200" b="0" kern="1200" baseline="0" dirty="0">
                <a:solidFill>
                  <a:schemeClr val="tx1"/>
                </a:solidFill>
                <a:latin typeface="Arial" charset="0"/>
                <a:ea typeface="ＭＳ Ｐゴシック" charset="-128"/>
                <a:cs typeface="ＭＳ Ｐゴシック" charset="-128"/>
              </a:rPr>
              <a:t> is a primitive root of the prime number </a:t>
            </a:r>
            <a:r>
              <a:rPr lang="en-US" sz="1200" b="0" i="1" kern="1200" baseline="0" dirty="0">
                <a:solidFill>
                  <a:schemeClr val="tx1"/>
                </a:solidFill>
                <a:latin typeface="Arial" charset="0"/>
                <a:ea typeface="ＭＳ Ｐゴシック" charset="-128"/>
                <a:cs typeface="ＭＳ Ｐゴシック" charset="-128"/>
              </a:rPr>
              <a:t>p</a:t>
            </a:r>
            <a:r>
              <a:rPr lang="en-US" sz="1200" b="0" kern="1200" baseline="0" dirty="0">
                <a:solidFill>
                  <a:schemeClr val="tx1"/>
                </a:solidFill>
                <a:latin typeface="Arial" charset="0"/>
                <a:ea typeface="ＭＳ Ｐゴシック" charset="-128"/>
                <a:cs typeface="ＭＳ Ｐゴシック" charset="-128"/>
              </a:rPr>
              <a:t> , then the numbers</a:t>
            </a:r>
          </a:p>
          <a:p>
            <a:endParaRPr lang="en-US" sz="1200" b="0" kern="1200" baseline="0" dirty="0">
              <a:solidFill>
                <a:schemeClr val="tx1"/>
              </a:solidFill>
              <a:latin typeface="Arial" charset="0"/>
              <a:ea typeface="ＭＳ Ｐゴシック" charset="-128"/>
              <a:cs typeface="ＭＳ Ｐゴシック" charset="-128"/>
            </a:endParaRPr>
          </a:p>
          <a:p>
            <a:r>
              <a:rPr lang="en-US" sz="1200" b="0" i="1" kern="1200" baseline="0" dirty="0">
                <a:solidFill>
                  <a:schemeClr val="tx1"/>
                </a:solidFill>
                <a:latin typeface="Arial" charset="0"/>
                <a:ea typeface="ＭＳ Ｐゴシック" charset="-128"/>
                <a:cs typeface="ＭＳ Ｐゴシック" charset="-128"/>
              </a:rPr>
              <a:t>a</a:t>
            </a:r>
            <a:r>
              <a:rPr lang="en-US" sz="1200" b="0" kern="1200" baseline="0" dirty="0">
                <a:solidFill>
                  <a:schemeClr val="tx1"/>
                </a:solidFill>
                <a:latin typeface="Arial" charset="0"/>
                <a:ea typeface="ＭＳ Ｐゴシック" charset="-128"/>
                <a:cs typeface="ＭＳ Ｐゴシック" charset="-128"/>
              </a:rPr>
              <a:t>  mod </a:t>
            </a:r>
            <a:r>
              <a:rPr lang="en-US" sz="1200" b="0" i="1" kern="1200" baseline="0" dirty="0">
                <a:solidFill>
                  <a:schemeClr val="tx1"/>
                </a:solidFill>
                <a:latin typeface="Arial" charset="0"/>
                <a:ea typeface="ＭＳ Ｐゴシック" charset="-128"/>
                <a:cs typeface="ＭＳ Ｐゴシック" charset="-128"/>
              </a:rPr>
              <a:t>p , a</a:t>
            </a:r>
            <a:r>
              <a:rPr lang="en-US" sz="1200" b="0" i="1" kern="1200" baseline="30000" dirty="0">
                <a:solidFill>
                  <a:schemeClr val="tx1"/>
                </a:solidFill>
                <a:latin typeface="Arial" charset="0"/>
                <a:ea typeface="ＭＳ Ｐゴシック" charset="-128"/>
                <a:cs typeface="ＭＳ Ｐゴシック" charset="-128"/>
              </a:rPr>
              <a:t>2</a:t>
            </a:r>
            <a:r>
              <a:rPr lang="en-US" sz="1200" b="0" i="1" kern="1200" baseline="0" dirty="0">
                <a:solidFill>
                  <a:schemeClr val="tx1"/>
                </a:solidFill>
                <a:latin typeface="Arial" charset="0"/>
                <a:ea typeface="ＭＳ Ｐゴシック" charset="-128"/>
                <a:cs typeface="ＭＳ Ｐゴシック" charset="-128"/>
              </a:rPr>
              <a:t>  </a:t>
            </a:r>
            <a:r>
              <a:rPr lang="en-US" sz="1200" b="0" kern="1200" baseline="0" dirty="0">
                <a:solidFill>
                  <a:schemeClr val="tx1"/>
                </a:solidFill>
                <a:latin typeface="Arial" charset="0"/>
                <a:ea typeface="ＭＳ Ｐゴシック" charset="-128"/>
                <a:cs typeface="ＭＳ Ｐゴシック" charset="-128"/>
              </a:rPr>
              <a:t>mod </a:t>
            </a:r>
            <a:r>
              <a:rPr lang="en-US" sz="1200" b="0" i="1" kern="1200" baseline="0" dirty="0">
                <a:solidFill>
                  <a:schemeClr val="tx1"/>
                </a:solidFill>
                <a:latin typeface="Arial" charset="0"/>
                <a:ea typeface="ＭＳ Ｐゴシック" charset="-128"/>
                <a:cs typeface="ＭＳ Ｐゴシック" charset="-128"/>
              </a:rPr>
              <a:t>p</a:t>
            </a:r>
            <a:r>
              <a:rPr lang="en-US" sz="1200" b="0" kern="1200" baseline="0" dirty="0">
                <a:solidFill>
                  <a:schemeClr val="tx1"/>
                </a:solidFill>
                <a:latin typeface="Arial" charset="0"/>
                <a:ea typeface="ＭＳ Ｐゴシック" charset="-128"/>
                <a:cs typeface="ＭＳ Ｐゴシック" charset="-128"/>
              </a:rPr>
              <a:t> , . . .  , </a:t>
            </a:r>
            <a:r>
              <a:rPr lang="en-US" sz="1200" b="0" i="1" kern="1200" baseline="0" dirty="0">
                <a:solidFill>
                  <a:schemeClr val="tx1"/>
                </a:solidFill>
                <a:latin typeface="Arial" charset="0"/>
                <a:ea typeface="ＭＳ Ｐゴシック" charset="-128"/>
                <a:cs typeface="ＭＳ Ｐゴシック" charset="-128"/>
              </a:rPr>
              <a:t>a</a:t>
            </a:r>
            <a:r>
              <a:rPr lang="en-US" sz="1200" b="0" i="1" kern="1200" baseline="30000" dirty="0">
                <a:solidFill>
                  <a:schemeClr val="tx1"/>
                </a:solidFill>
                <a:latin typeface="Arial" charset="0"/>
                <a:ea typeface="ＭＳ Ｐゴシック" charset="-128"/>
                <a:cs typeface="ＭＳ Ｐゴシック" charset="-128"/>
              </a:rPr>
              <a:t>p-1  </a:t>
            </a:r>
            <a:r>
              <a:rPr lang="en-US" sz="1200" b="0" kern="1200" baseline="0" dirty="0">
                <a:solidFill>
                  <a:schemeClr val="tx1"/>
                </a:solidFill>
                <a:latin typeface="Arial" charset="0"/>
                <a:ea typeface="ＭＳ Ｐゴシック" charset="-128"/>
                <a:cs typeface="ＭＳ Ｐゴシック" charset="-128"/>
              </a:rPr>
              <a:t>mod </a:t>
            </a:r>
            <a:r>
              <a:rPr lang="en-US" sz="1200" b="0" i="1" kern="1200" baseline="0" dirty="0">
                <a:solidFill>
                  <a:schemeClr val="tx1"/>
                </a:solidFill>
                <a:latin typeface="Arial" charset="0"/>
                <a:ea typeface="ＭＳ Ｐゴシック" charset="-128"/>
                <a:cs typeface="ＭＳ Ｐゴシック" charset="-128"/>
              </a:rPr>
              <a:t>p</a:t>
            </a:r>
          </a:p>
          <a:p>
            <a:endParaRPr lang="en-US" sz="1200" b="0" kern="1200" baseline="0" dirty="0">
              <a:solidFill>
                <a:schemeClr val="tx1"/>
              </a:solidFill>
              <a:latin typeface="Arial" charset="0"/>
              <a:ea typeface="ＭＳ Ｐゴシック" charset="-128"/>
              <a:cs typeface="ＭＳ Ｐゴシック" charset="-128"/>
            </a:endParaRPr>
          </a:p>
          <a:p>
            <a:r>
              <a:rPr lang="en-US" sz="1200" b="0" kern="1200" baseline="0" dirty="0">
                <a:solidFill>
                  <a:schemeClr val="tx1"/>
                </a:solidFill>
                <a:latin typeface="Arial" charset="0"/>
                <a:ea typeface="ＭＳ Ｐゴシック" charset="-128"/>
                <a:cs typeface="ＭＳ Ｐゴシック" charset="-128"/>
              </a:rPr>
              <a:t> are distinct and consist of the integers from 1 through </a:t>
            </a:r>
            <a:r>
              <a:rPr lang="en-US" sz="1200" b="0" i="1" kern="1200" baseline="0" dirty="0">
                <a:solidFill>
                  <a:schemeClr val="tx1"/>
                </a:solidFill>
                <a:latin typeface="Arial" charset="0"/>
                <a:ea typeface="ＭＳ Ｐゴシック" charset="-128"/>
                <a:cs typeface="ＭＳ Ｐゴシック" charset="-128"/>
              </a:rPr>
              <a:t>p -  1 </a:t>
            </a:r>
            <a:r>
              <a:rPr lang="en-US" sz="1200" b="0" kern="1200" baseline="0" dirty="0">
                <a:solidFill>
                  <a:schemeClr val="tx1"/>
                </a:solidFill>
                <a:latin typeface="Arial" charset="0"/>
                <a:ea typeface="ＭＳ Ｐゴシック" charset="-128"/>
                <a:cs typeface="ＭＳ Ｐゴシック" charset="-128"/>
              </a:rPr>
              <a:t>in some permutation.</a:t>
            </a:r>
          </a:p>
          <a:p>
            <a:endParaRPr lang="en-US" sz="1200" b="0" kern="1200" baseline="0" dirty="0">
              <a:solidFill>
                <a:schemeClr val="tx1"/>
              </a:solidFill>
              <a:latin typeface="Arial" charset="0"/>
              <a:ea typeface="ＭＳ Ｐゴシック" charset="-128"/>
              <a:cs typeface="ＭＳ Ｐゴシック" charset="-128"/>
            </a:endParaRPr>
          </a:p>
          <a:p>
            <a:r>
              <a:rPr lang="en-US" sz="1200" b="0" kern="1200" baseline="0" dirty="0">
                <a:solidFill>
                  <a:schemeClr val="tx1"/>
                </a:solidFill>
                <a:latin typeface="Arial" charset="0"/>
                <a:ea typeface="ＭＳ Ｐゴシック" charset="-128"/>
                <a:cs typeface="ＭＳ Ｐゴシック" charset="-128"/>
              </a:rPr>
              <a:t>For any integer </a:t>
            </a:r>
            <a:r>
              <a:rPr lang="en-US" sz="1200" b="0" i="1" kern="1200" baseline="0" dirty="0">
                <a:solidFill>
                  <a:schemeClr val="tx1"/>
                </a:solidFill>
                <a:latin typeface="Arial" charset="0"/>
                <a:ea typeface="ＭＳ Ｐゴシック" charset="-128"/>
                <a:cs typeface="ＭＳ Ｐゴシック" charset="-128"/>
              </a:rPr>
              <a:t>b</a:t>
            </a:r>
            <a:r>
              <a:rPr lang="en-US" sz="1200" b="0" kern="1200" baseline="0" dirty="0">
                <a:solidFill>
                  <a:schemeClr val="tx1"/>
                </a:solidFill>
                <a:latin typeface="Arial" charset="0"/>
                <a:ea typeface="ＭＳ Ｐゴシック" charset="-128"/>
                <a:cs typeface="ＭＳ Ｐゴシック" charset="-128"/>
              </a:rPr>
              <a:t>  and a primitive root </a:t>
            </a:r>
            <a:r>
              <a:rPr lang="en-US" sz="1200" b="0" i="1" kern="1200" baseline="0" dirty="0">
                <a:solidFill>
                  <a:schemeClr val="tx1"/>
                </a:solidFill>
                <a:latin typeface="Arial" charset="0"/>
                <a:ea typeface="ＭＳ Ｐゴシック" charset="-128"/>
                <a:cs typeface="ＭＳ Ｐゴシック" charset="-128"/>
              </a:rPr>
              <a:t>a </a:t>
            </a:r>
            <a:r>
              <a:rPr lang="en-US" sz="1200" b="0" kern="1200" baseline="0" dirty="0">
                <a:solidFill>
                  <a:schemeClr val="tx1"/>
                </a:solidFill>
                <a:latin typeface="Arial" charset="0"/>
                <a:ea typeface="ＭＳ Ｐゴシック" charset="-128"/>
                <a:cs typeface="ＭＳ Ｐゴシック" charset="-128"/>
              </a:rPr>
              <a:t>of prime number </a:t>
            </a:r>
            <a:r>
              <a:rPr lang="en-US" sz="1200" b="0" i="1" kern="1200" baseline="0" dirty="0">
                <a:solidFill>
                  <a:schemeClr val="tx1"/>
                </a:solidFill>
                <a:latin typeface="Arial" charset="0"/>
                <a:ea typeface="ＭＳ Ｐゴシック" charset="-128"/>
                <a:cs typeface="ＭＳ Ｐゴシック" charset="-128"/>
              </a:rPr>
              <a:t>p </a:t>
            </a:r>
            <a:r>
              <a:rPr lang="en-US" sz="1200" b="0" kern="1200" baseline="0" dirty="0">
                <a:solidFill>
                  <a:schemeClr val="tx1"/>
                </a:solidFill>
                <a:latin typeface="Arial" charset="0"/>
                <a:ea typeface="ＭＳ Ｐゴシック" charset="-128"/>
                <a:cs typeface="ＭＳ Ｐゴシック" charset="-128"/>
              </a:rPr>
              <a:t>, we can find a</a:t>
            </a:r>
          </a:p>
          <a:p>
            <a:r>
              <a:rPr lang="en-US" sz="1200" b="0" kern="1200" baseline="0" dirty="0">
                <a:solidFill>
                  <a:schemeClr val="tx1"/>
                </a:solidFill>
                <a:latin typeface="Arial" charset="0"/>
                <a:ea typeface="ＭＳ Ｐゴシック" charset="-128"/>
                <a:cs typeface="ＭＳ Ｐゴシック" charset="-128"/>
              </a:rPr>
              <a:t>unique exponent</a:t>
            </a:r>
            <a:r>
              <a:rPr lang="en-US" sz="1200" b="0" i="1" kern="1200" baseline="0" dirty="0">
                <a:solidFill>
                  <a:schemeClr val="tx1"/>
                </a:solidFill>
                <a:latin typeface="Arial" charset="0"/>
                <a:ea typeface="ＭＳ Ｐゴシック" charset="-128"/>
                <a:cs typeface="ＭＳ Ｐゴシック" charset="-128"/>
              </a:rPr>
              <a:t> i </a:t>
            </a:r>
            <a:r>
              <a:rPr lang="en-US" sz="1200" b="0" kern="1200" baseline="0" dirty="0">
                <a:solidFill>
                  <a:schemeClr val="tx1"/>
                </a:solidFill>
                <a:latin typeface="Arial" charset="0"/>
                <a:ea typeface="ＭＳ Ｐゴシック" charset="-128"/>
                <a:cs typeface="ＭＳ Ｐゴシック" charset="-128"/>
              </a:rPr>
              <a:t>such that</a:t>
            </a:r>
          </a:p>
          <a:p>
            <a:endParaRPr lang="en-US" sz="1200" b="0" kern="1200" baseline="0" dirty="0">
              <a:solidFill>
                <a:schemeClr val="tx1"/>
              </a:solidFill>
              <a:latin typeface="Arial" charset="0"/>
              <a:ea typeface="ＭＳ Ｐゴシック" charset="-128"/>
              <a:cs typeface="ＭＳ Ｐゴシック" charset="-128"/>
            </a:endParaRPr>
          </a:p>
          <a:p>
            <a:r>
              <a:rPr lang="en-US" sz="1200" b="0" i="1" kern="1200" baseline="0" dirty="0">
                <a:solidFill>
                  <a:schemeClr val="tx1"/>
                </a:solidFill>
                <a:latin typeface="Arial" charset="0"/>
                <a:ea typeface="ＭＳ Ｐゴシック" charset="-128"/>
                <a:cs typeface="ＭＳ Ｐゴシック" charset="-128"/>
              </a:rPr>
              <a:t>b = a</a:t>
            </a:r>
            <a:r>
              <a:rPr lang="en-US" sz="1200" b="0" i="1" kern="1200" baseline="30000" dirty="0">
                <a:solidFill>
                  <a:schemeClr val="tx1"/>
                </a:solidFill>
                <a:latin typeface="Arial" charset="0"/>
                <a:ea typeface="ＭＳ Ｐゴシック" charset="-128"/>
                <a:cs typeface="ＭＳ Ｐゴシック" charset="-128"/>
              </a:rPr>
              <a:t>i</a:t>
            </a:r>
            <a:r>
              <a:rPr lang="en-US" sz="1200" b="0" i="1" kern="1200" baseline="0" dirty="0">
                <a:solidFill>
                  <a:schemeClr val="tx1"/>
                </a:solidFill>
                <a:latin typeface="Arial" charset="0"/>
                <a:ea typeface="ＭＳ Ｐゴシック" charset="-128"/>
                <a:cs typeface="ＭＳ Ｐゴシック" charset="-128"/>
              </a:rPr>
              <a:t>  </a:t>
            </a:r>
            <a:r>
              <a:rPr lang="en-US" sz="1200" b="0" kern="1200" baseline="0" dirty="0">
                <a:solidFill>
                  <a:schemeClr val="tx1"/>
                </a:solidFill>
                <a:latin typeface="Arial" charset="0"/>
                <a:ea typeface="ＭＳ Ｐゴシック" charset="-128"/>
                <a:cs typeface="ＭＳ Ｐゴシック" charset="-128"/>
              </a:rPr>
              <a:t>(mod </a:t>
            </a:r>
            <a:r>
              <a:rPr lang="en-US" sz="1200" b="0" i="1" kern="1200" baseline="0" dirty="0">
                <a:solidFill>
                  <a:schemeClr val="tx1"/>
                </a:solidFill>
                <a:latin typeface="Arial" charset="0"/>
                <a:ea typeface="ＭＳ Ｐゴシック" charset="-128"/>
                <a:cs typeface="ＭＳ Ｐゴシック" charset="-128"/>
              </a:rPr>
              <a:t>p</a:t>
            </a:r>
            <a:r>
              <a:rPr lang="en-US" sz="1200" b="0" kern="1200" baseline="0" dirty="0">
                <a:solidFill>
                  <a:schemeClr val="tx1"/>
                </a:solidFill>
                <a:latin typeface="Arial" charset="0"/>
                <a:ea typeface="ＭＳ Ｐゴシック" charset="-128"/>
                <a:cs typeface="ＭＳ Ｐゴシック" charset="-128"/>
              </a:rPr>
              <a:t> ) where </a:t>
            </a:r>
            <a:r>
              <a:rPr lang="en-US" sz="1200" b="0" i="1" kern="1200" baseline="0" dirty="0">
                <a:solidFill>
                  <a:schemeClr val="tx1"/>
                </a:solidFill>
                <a:latin typeface="Arial" charset="0"/>
                <a:ea typeface="ＭＳ Ｐゴシック" charset="-128"/>
                <a:cs typeface="ＭＳ Ｐゴシック" charset="-128"/>
              </a:rPr>
              <a:t>0 ≤  i ≤ (p -  1)</a:t>
            </a:r>
          </a:p>
          <a:p>
            <a:endParaRPr lang="en-US" sz="1200" b="0" kern="1200" baseline="0" dirty="0">
              <a:solidFill>
                <a:schemeClr val="tx1"/>
              </a:solidFill>
              <a:latin typeface="Arial" charset="0"/>
              <a:ea typeface="ＭＳ Ｐゴシック" charset="-128"/>
              <a:cs typeface="ＭＳ Ｐゴシック" charset="-128"/>
            </a:endParaRPr>
          </a:p>
          <a:p>
            <a:r>
              <a:rPr lang="en-US" sz="1200" b="0" kern="1200" baseline="0" dirty="0">
                <a:solidFill>
                  <a:schemeClr val="tx1"/>
                </a:solidFill>
                <a:latin typeface="Arial" charset="0"/>
                <a:ea typeface="ＭＳ Ｐゴシック" charset="-128"/>
                <a:cs typeface="ＭＳ Ｐゴシック" charset="-128"/>
              </a:rPr>
              <a:t>The exponent </a:t>
            </a:r>
            <a:r>
              <a:rPr lang="en-US" sz="1200" b="0" i="1" kern="1200" baseline="0" dirty="0">
                <a:solidFill>
                  <a:schemeClr val="tx1"/>
                </a:solidFill>
                <a:latin typeface="Arial" charset="0"/>
                <a:ea typeface="ＭＳ Ｐゴシック" charset="-128"/>
                <a:cs typeface="ＭＳ Ｐゴシック" charset="-128"/>
              </a:rPr>
              <a:t>i</a:t>
            </a:r>
            <a:r>
              <a:rPr lang="en-US" sz="1200" b="0" kern="1200" baseline="0" dirty="0">
                <a:solidFill>
                  <a:schemeClr val="tx1"/>
                </a:solidFill>
                <a:latin typeface="Arial" charset="0"/>
                <a:ea typeface="ＭＳ Ｐゴシック" charset="-128"/>
                <a:cs typeface="ＭＳ Ｐゴシック" charset="-128"/>
              </a:rPr>
              <a:t>  is referred to as the discrete logarithm  of </a:t>
            </a:r>
            <a:r>
              <a:rPr lang="en-US" sz="1200" b="0" i="1" kern="1200" baseline="0" dirty="0">
                <a:solidFill>
                  <a:schemeClr val="tx1"/>
                </a:solidFill>
                <a:latin typeface="Arial" charset="0"/>
                <a:ea typeface="ＭＳ Ｐゴシック" charset="-128"/>
                <a:cs typeface="ＭＳ Ｐゴシック" charset="-128"/>
              </a:rPr>
              <a:t>b</a:t>
            </a:r>
            <a:r>
              <a:rPr lang="en-US" sz="1200" b="0" kern="1200" baseline="0" dirty="0">
                <a:solidFill>
                  <a:schemeClr val="tx1"/>
                </a:solidFill>
                <a:latin typeface="Arial" charset="0"/>
                <a:ea typeface="ＭＳ Ｐゴシック" charset="-128"/>
                <a:cs typeface="ＭＳ Ｐゴシック" charset="-128"/>
              </a:rPr>
              <a:t>  for the base </a:t>
            </a:r>
            <a:r>
              <a:rPr lang="en-US" sz="1200" b="0" i="1" kern="1200" baseline="0" dirty="0">
                <a:solidFill>
                  <a:schemeClr val="tx1"/>
                </a:solidFill>
                <a:latin typeface="Arial" charset="0"/>
                <a:ea typeface="ＭＳ Ｐゴシック" charset="-128"/>
                <a:cs typeface="ＭＳ Ｐゴシック" charset="-128"/>
              </a:rPr>
              <a:t>a</a:t>
            </a:r>
            <a:r>
              <a:rPr lang="en-US" sz="1200" b="0" kern="1200" baseline="0" dirty="0">
                <a:solidFill>
                  <a:schemeClr val="tx1"/>
                </a:solidFill>
                <a:latin typeface="Arial" charset="0"/>
                <a:ea typeface="ＭＳ Ｐゴシック" charset="-128"/>
                <a:cs typeface="ＭＳ Ｐゴシック" charset="-128"/>
              </a:rPr>
              <a:t> , mod </a:t>
            </a:r>
            <a:r>
              <a:rPr lang="en-US" sz="1200" b="0" i="1" kern="1200" baseline="0" dirty="0">
                <a:solidFill>
                  <a:schemeClr val="tx1"/>
                </a:solidFill>
                <a:latin typeface="Arial" charset="0"/>
                <a:ea typeface="ＭＳ Ｐゴシック" charset="-128"/>
                <a:cs typeface="ＭＳ Ｐゴシック" charset="-128"/>
              </a:rPr>
              <a:t>p</a:t>
            </a:r>
            <a:r>
              <a:rPr lang="en-US" sz="1200" b="0" kern="1200" baseline="0" dirty="0">
                <a:solidFill>
                  <a:schemeClr val="tx1"/>
                </a:solidFill>
                <a:latin typeface="Arial" charset="0"/>
                <a:ea typeface="ＭＳ Ｐゴシック" charset="-128"/>
                <a:cs typeface="ＭＳ Ｐゴシック" charset="-128"/>
              </a:rPr>
              <a:t> .</a:t>
            </a:r>
          </a:p>
          <a:p>
            <a:r>
              <a:rPr lang="en-US" sz="1200" b="0" kern="1200" baseline="0" dirty="0">
                <a:solidFill>
                  <a:schemeClr val="tx1"/>
                </a:solidFill>
                <a:latin typeface="Arial" charset="0"/>
                <a:ea typeface="ＭＳ Ｐゴシック" charset="-128"/>
                <a:cs typeface="ＭＳ Ｐゴシック" charset="-128"/>
              </a:rPr>
              <a:t>We express this value as dlog</a:t>
            </a:r>
            <a:r>
              <a:rPr lang="en-US" sz="1200" b="0" kern="1200" baseline="-25000" dirty="0">
                <a:solidFill>
                  <a:schemeClr val="tx1"/>
                </a:solidFill>
                <a:latin typeface="Arial" charset="0"/>
                <a:ea typeface="ＭＳ Ｐゴシック" charset="-128"/>
                <a:cs typeface="ＭＳ Ｐゴシック" charset="-128"/>
              </a:rPr>
              <a:t>a,p </a:t>
            </a:r>
            <a:r>
              <a:rPr lang="en-US" sz="1200" b="0" kern="1200" baseline="0" dirty="0">
                <a:solidFill>
                  <a:schemeClr val="tx1"/>
                </a:solidFill>
                <a:latin typeface="Arial" charset="0"/>
                <a:ea typeface="ＭＳ Ｐゴシック" charset="-128"/>
                <a:cs typeface="ＭＳ Ｐゴシック" charset="-128"/>
              </a:rPr>
              <a:t>(</a:t>
            </a:r>
            <a:r>
              <a:rPr lang="en-US" sz="1200" b="0" i="1" kern="1200" baseline="0" dirty="0">
                <a:solidFill>
                  <a:schemeClr val="tx1"/>
                </a:solidFill>
                <a:latin typeface="Arial" charset="0"/>
                <a:ea typeface="ＭＳ Ｐゴシック" charset="-128"/>
                <a:cs typeface="ＭＳ Ｐゴシック" charset="-128"/>
              </a:rPr>
              <a:t>b</a:t>
            </a:r>
            <a:r>
              <a:rPr lang="en-US" sz="1200" b="0" kern="1200" baseline="0" dirty="0">
                <a:solidFill>
                  <a:schemeClr val="tx1"/>
                </a:solidFill>
                <a:latin typeface="Arial" charset="0"/>
                <a:ea typeface="ＭＳ Ｐゴシック" charset="-128"/>
                <a:cs typeface="ＭＳ Ｐゴシック" charset="-128"/>
              </a:rPr>
              <a:t> ). See Chapter 8 for an extended discussion of</a:t>
            </a:r>
          </a:p>
          <a:p>
            <a:r>
              <a:rPr lang="en-US" sz="1200" b="0" kern="1200" baseline="0" dirty="0">
                <a:solidFill>
                  <a:schemeClr val="tx1"/>
                </a:solidFill>
                <a:latin typeface="Arial" charset="0"/>
                <a:ea typeface="ＭＳ Ｐゴシック" charset="-128"/>
                <a:cs typeface="ＭＳ Ｐゴシック" charset="-128"/>
              </a:rPr>
              <a:t>discrete logarithms.</a:t>
            </a:r>
            <a:endParaRPr lang="en-AU" b="0" dirty="0">
              <a:latin typeface="Arial" pitchFamily="-84" charset="0"/>
              <a:ea typeface="Arial" pitchFamily="-84" charset="0"/>
              <a:cs typeface="Arial" pitchFamily="-84" charset="0"/>
            </a:endParaRPr>
          </a:p>
        </p:txBody>
      </p:sp>
    </p:spTree>
    <p:extLst>
      <p:ext uri="{BB962C8B-B14F-4D97-AF65-F5344CB8AC3E}">
        <p14:creationId xmlns:p14="http://schemas.microsoft.com/office/powerpoint/2010/main" val="3228454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p:spPr>
        <p:txBody>
          <a:bodyPr/>
          <a:lstStyle/>
          <a:p>
            <a:fld id="{A6F3F715-01D8-564F-8DAD-71A9371F59BE}" type="slidenum">
              <a:rPr lang="en-AU">
                <a:latin typeface="Arial" pitchFamily="-84" charset="0"/>
              </a:rPr>
              <a:pPr/>
              <a:t>5</a:t>
            </a:fld>
            <a:endParaRPr lang="en-AU" dirty="0">
              <a:latin typeface="Arial" pitchFamily="-84" charset="0"/>
            </a:endParaRPr>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p:spPr>
        <p:txBody>
          <a:bodyPr>
            <a:normAutofit fontScale="92500" lnSpcReduction="20000"/>
          </a:bodyPr>
          <a:lstStyle/>
          <a:p>
            <a:r>
              <a:rPr lang="en-US" sz="1200" kern="1200" baseline="0" dirty="0">
                <a:solidFill>
                  <a:schemeClr val="tx1"/>
                </a:solidFill>
                <a:latin typeface="Arial" charset="0"/>
                <a:ea typeface="ＭＳ Ｐゴシック" charset="-128"/>
                <a:cs typeface="ＭＳ Ｐゴシック" charset="-128"/>
              </a:rPr>
              <a:t> The first published public-key algorithm appeared in the seminal paper by Diffie</a:t>
            </a:r>
          </a:p>
          <a:p>
            <a:r>
              <a:rPr lang="en-US" sz="1200" kern="1200" baseline="0" dirty="0">
                <a:solidFill>
                  <a:schemeClr val="tx1"/>
                </a:solidFill>
                <a:latin typeface="Arial" charset="0"/>
                <a:ea typeface="ＭＳ Ｐゴシック" charset="-128"/>
                <a:cs typeface="ＭＳ Ｐゴシック" charset="-128"/>
              </a:rPr>
              <a:t>and Hellman that defined public-key cryptography [DIFF76b] and is generally</a:t>
            </a:r>
          </a:p>
          <a:p>
            <a:r>
              <a:rPr lang="en-US" sz="1200" kern="1200" baseline="0" dirty="0">
                <a:solidFill>
                  <a:schemeClr val="tx1"/>
                </a:solidFill>
                <a:latin typeface="Arial" charset="0"/>
                <a:ea typeface="ＭＳ Ｐゴシック" charset="-128"/>
                <a:cs typeface="ＭＳ Ｐゴシック" charset="-128"/>
              </a:rPr>
              <a:t>referred to as Diffie-Hellman key exchange.  A number of commercial products</a:t>
            </a:r>
          </a:p>
          <a:p>
            <a:r>
              <a:rPr lang="en-US" sz="1200" kern="1200" baseline="0" dirty="0">
                <a:solidFill>
                  <a:schemeClr val="tx1"/>
                </a:solidFill>
                <a:latin typeface="Arial" charset="0"/>
                <a:ea typeface="ＭＳ Ｐゴシック" charset="-128"/>
                <a:cs typeface="ＭＳ Ｐゴシック" charset="-128"/>
              </a:rPr>
              <a:t>employ this key exchange technique.</a:t>
            </a:r>
          </a:p>
          <a:p>
            <a:endParaRPr lang="en-US" sz="1200" kern="1200" baseline="0" dirty="0">
              <a:solidFill>
                <a:schemeClr val="tx1"/>
              </a:solidFill>
              <a:latin typeface="Arial" charset="0"/>
              <a:ea typeface="ＭＳ Ｐゴシック" charset="-128"/>
              <a:cs typeface="ＭＳ Ｐゴシック" charset="-128"/>
            </a:endParaRPr>
          </a:p>
          <a:p>
            <a:r>
              <a:rPr lang="en-US" sz="1200" kern="1200" baseline="0" dirty="0">
                <a:solidFill>
                  <a:schemeClr val="tx1"/>
                </a:solidFill>
                <a:latin typeface="Arial" charset="0"/>
                <a:ea typeface="ＭＳ Ｐゴシック" charset="-128"/>
                <a:cs typeface="ＭＳ Ｐゴシック" charset="-128"/>
              </a:rPr>
              <a:t>The purpose of the algorithm is to enable two users to securely exchange a</a:t>
            </a:r>
          </a:p>
          <a:p>
            <a:r>
              <a:rPr lang="en-US" sz="1200" kern="1200" baseline="0" dirty="0">
                <a:solidFill>
                  <a:schemeClr val="tx1"/>
                </a:solidFill>
                <a:latin typeface="Arial" charset="0"/>
                <a:ea typeface="ＭＳ Ｐゴシック" charset="-128"/>
                <a:cs typeface="ＭＳ Ｐゴシック" charset="-128"/>
              </a:rPr>
              <a:t>key that can then be used for subsequent symmetric encryption of messages. The</a:t>
            </a:r>
          </a:p>
          <a:p>
            <a:r>
              <a:rPr lang="en-US" sz="1200" kern="1200" baseline="0" dirty="0">
                <a:solidFill>
                  <a:schemeClr val="tx1"/>
                </a:solidFill>
                <a:latin typeface="Arial" charset="0"/>
                <a:ea typeface="ＭＳ Ｐゴシック" charset="-128"/>
                <a:cs typeface="ＭＳ Ｐゴシック" charset="-128"/>
              </a:rPr>
              <a:t>algorithm itself is limited to the exchange of secret values.</a:t>
            </a:r>
          </a:p>
          <a:p>
            <a:endParaRPr lang="en-US" sz="1200" kern="1200" baseline="0" dirty="0">
              <a:solidFill>
                <a:schemeClr val="tx1"/>
              </a:solidFill>
              <a:latin typeface="Arial" charset="0"/>
              <a:ea typeface="ＭＳ Ｐゴシック" charset="-128"/>
              <a:cs typeface="ＭＳ Ｐゴシック" charset="-128"/>
            </a:endParaRPr>
          </a:p>
          <a:p>
            <a:r>
              <a:rPr lang="en-US" sz="1200" b="0" kern="1200" baseline="0" dirty="0">
                <a:solidFill>
                  <a:schemeClr val="tx1"/>
                </a:solidFill>
                <a:latin typeface="Arial" charset="0"/>
                <a:ea typeface="ＭＳ Ｐゴシック" charset="-128"/>
                <a:cs typeface="ＭＳ Ｐゴシック" charset="-128"/>
              </a:rPr>
              <a:t>The Diffie-Hellman algorithm depends for its effectiveness on the difficulty of</a:t>
            </a:r>
          </a:p>
          <a:p>
            <a:r>
              <a:rPr lang="en-US" sz="1200" b="0" kern="1200" baseline="0" dirty="0">
                <a:solidFill>
                  <a:schemeClr val="tx1"/>
                </a:solidFill>
                <a:latin typeface="Arial" charset="0"/>
                <a:ea typeface="ＭＳ Ｐゴシック" charset="-128"/>
                <a:cs typeface="ＭＳ Ｐゴシック" charset="-128"/>
              </a:rPr>
              <a:t>computing discrete logarithms. Briefly, we can define the discrete logarithm in the</a:t>
            </a:r>
          </a:p>
          <a:p>
            <a:r>
              <a:rPr lang="en-US" sz="1200" b="0" kern="1200" baseline="0" dirty="0">
                <a:solidFill>
                  <a:schemeClr val="tx1"/>
                </a:solidFill>
                <a:latin typeface="Arial" charset="0"/>
                <a:ea typeface="ＭＳ Ｐゴシック" charset="-128"/>
                <a:cs typeface="ＭＳ Ｐゴシック" charset="-128"/>
              </a:rPr>
              <a:t>following way. Recall from Chapter 8 that a primitive root of a prime number </a:t>
            </a:r>
            <a:r>
              <a:rPr lang="en-US" sz="1200" b="0" i="1" kern="1200" baseline="0" dirty="0">
                <a:solidFill>
                  <a:schemeClr val="tx1"/>
                </a:solidFill>
                <a:latin typeface="Arial" charset="0"/>
                <a:ea typeface="ＭＳ Ｐゴシック" charset="-128"/>
                <a:cs typeface="ＭＳ Ｐゴシック" charset="-128"/>
              </a:rPr>
              <a:t>p</a:t>
            </a:r>
            <a:r>
              <a:rPr lang="en-US" sz="1200" b="0" kern="1200" baseline="0" dirty="0">
                <a:solidFill>
                  <a:schemeClr val="tx1"/>
                </a:solidFill>
                <a:latin typeface="Arial" charset="0"/>
                <a:ea typeface="ＭＳ Ｐゴシック" charset="-128"/>
                <a:cs typeface="ＭＳ Ｐゴシック" charset="-128"/>
              </a:rPr>
              <a:t> is</a:t>
            </a:r>
          </a:p>
          <a:p>
            <a:r>
              <a:rPr lang="en-US" sz="1200" b="0" kern="1200" baseline="0" dirty="0">
                <a:solidFill>
                  <a:schemeClr val="tx1"/>
                </a:solidFill>
                <a:latin typeface="Arial" charset="0"/>
                <a:ea typeface="ＭＳ Ｐゴシック" charset="-128"/>
                <a:cs typeface="ＭＳ Ｐゴシック" charset="-128"/>
              </a:rPr>
              <a:t>one whose powers modulo </a:t>
            </a:r>
            <a:r>
              <a:rPr lang="en-US" sz="1200" b="0" i="1" kern="1200" baseline="0" dirty="0">
                <a:solidFill>
                  <a:schemeClr val="tx1"/>
                </a:solidFill>
                <a:latin typeface="Arial" charset="0"/>
                <a:ea typeface="ＭＳ Ｐゴシック" charset="-128"/>
                <a:cs typeface="ＭＳ Ｐゴシック" charset="-128"/>
              </a:rPr>
              <a:t>p </a:t>
            </a:r>
            <a:r>
              <a:rPr lang="en-US" sz="1200" b="0" kern="1200" baseline="0" dirty="0">
                <a:solidFill>
                  <a:schemeClr val="tx1"/>
                </a:solidFill>
                <a:latin typeface="Arial" charset="0"/>
                <a:ea typeface="ＭＳ Ｐゴシック" charset="-128"/>
                <a:cs typeface="ＭＳ Ｐゴシック" charset="-128"/>
              </a:rPr>
              <a:t>generate all the integers from 1 to </a:t>
            </a:r>
            <a:r>
              <a:rPr lang="en-US" sz="1200" b="0" i="1" kern="1200" baseline="0" dirty="0">
                <a:solidFill>
                  <a:schemeClr val="tx1"/>
                </a:solidFill>
                <a:latin typeface="Arial" charset="0"/>
                <a:ea typeface="ＭＳ Ｐゴシック" charset="-128"/>
                <a:cs typeface="ＭＳ Ｐゴシック" charset="-128"/>
              </a:rPr>
              <a:t>p </a:t>
            </a:r>
            <a:r>
              <a:rPr lang="en-US" sz="1200" b="0" kern="1200" baseline="0" dirty="0">
                <a:solidFill>
                  <a:schemeClr val="tx1"/>
                </a:solidFill>
                <a:latin typeface="Arial" charset="0"/>
                <a:ea typeface="ＭＳ Ｐゴシック" charset="-128"/>
                <a:cs typeface="ＭＳ Ｐゴシック" charset="-128"/>
              </a:rPr>
              <a:t>-  1. That is, if </a:t>
            </a:r>
            <a:r>
              <a:rPr lang="en-US" sz="1200" b="0" i="1" kern="1200" baseline="0" dirty="0">
                <a:solidFill>
                  <a:schemeClr val="tx1"/>
                </a:solidFill>
                <a:latin typeface="Arial" charset="0"/>
                <a:ea typeface="ＭＳ Ｐゴシック" charset="-128"/>
                <a:cs typeface="ＭＳ Ｐゴシック" charset="-128"/>
              </a:rPr>
              <a:t>a</a:t>
            </a:r>
          </a:p>
          <a:p>
            <a:r>
              <a:rPr lang="en-US" sz="1200" b="0" kern="1200" baseline="0" dirty="0">
                <a:solidFill>
                  <a:schemeClr val="tx1"/>
                </a:solidFill>
                <a:latin typeface="Arial" charset="0"/>
                <a:ea typeface="ＭＳ Ｐゴシック" charset="-128"/>
                <a:cs typeface="ＭＳ Ｐゴシック" charset="-128"/>
              </a:rPr>
              <a:t> is a primitive root of the prime number </a:t>
            </a:r>
            <a:r>
              <a:rPr lang="en-US" sz="1200" b="0" i="1" kern="1200" baseline="0" dirty="0">
                <a:solidFill>
                  <a:schemeClr val="tx1"/>
                </a:solidFill>
                <a:latin typeface="Arial" charset="0"/>
                <a:ea typeface="ＭＳ Ｐゴシック" charset="-128"/>
                <a:cs typeface="ＭＳ Ｐゴシック" charset="-128"/>
              </a:rPr>
              <a:t>p</a:t>
            </a:r>
            <a:r>
              <a:rPr lang="en-US" sz="1200" b="0" kern="1200" baseline="0" dirty="0">
                <a:solidFill>
                  <a:schemeClr val="tx1"/>
                </a:solidFill>
                <a:latin typeface="Arial" charset="0"/>
                <a:ea typeface="ＭＳ Ｐゴシック" charset="-128"/>
                <a:cs typeface="ＭＳ Ｐゴシック" charset="-128"/>
              </a:rPr>
              <a:t> , then the numbers</a:t>
            </a:r>
          </a:p>
          <a:p>
            <a:endParaRPr lang="en-US" sz="1200" b="0" kern="1200" baseline="0" dirty="0">
              <a:solidFill>
                <a:schemeClr val="tx1"/>
              </a:solidFill>
              <a:latin typeface="Arial" charset="0"/>
              <a:ea typeface="ＭＳ Ｐゴシック" charset="-128"/>
              <a:cs typeface="ＭＳ Ｐゴシック" charset="-128"/>
            </a:endParaRPr>
          </a:p>
          <a:p>
            <a:r>
              <a:rPr lang="en-US" sz="1200" b="0" i="1" kern="1200" baseline="0" dirty="0">
                <a:solidFill>
                  <a:schemeClr val="tx1"/>
                </a:solidFill>
                <a:latin typeface="Arial" charset="0"/>
                <a:ea typeface="ＭＳ Ｐゴシック" charset="-128"/>
                <a:cs typeface="ＭＳ Ｐゴシック" charset="-128"/>
              </a:rPr>
              <a:t>a</a:t>
            </a:r>
            <a:r>
              <a:rPr lang="en-US" sz="1200" b="0" kern="1200" baseline="0" dirty="0">
                <a:solidFill>
                  <a:schemeClr val="tx1"/>
                </a:solidFill>
                <a:latin typeface="Arial" charset="0"/>
                <a:ea typeface="ＭＳ Ｐゴシック" charset="-128"/>
                <a:cs typeface="ＭＳ Ｐゴシック" charset="-128"/>
              </a:rPr>
              <a:t>  mod </a:t>
            </a:r>
            <a:r>
              <a:rPr lang="en-US" sz="1200" b="0" i="1" kern="1200" baseline="0" dirty="0">
                <a:solidFill>
                  <a:schemeClr val="tx1"/>
                </a:solidFill>
                <a:latin typeface="Arial" charset="0"/>
                <a:ea typeface="ＭＳ Ｐゴシック" charset="-128"/>
                <a:cs typeface="ＭＳ Ｐゴシック" charset="-128"/>
              </a:rPr>
              <a:t>p , a</a:t>
            </a:r>
            <a:r>
              <a:rPr lang="en-US" sz="1200" b="0" i="1" kern="1200" baseline="30000" dirty="0">
                <a:solidFill>
                  <a:schemeClr val="tx1"/>
                </a:solidFill>
                <a:latin typeface="Arial" charset="0"/>
                <a:ea typeface="ＭＳ Ｐゴシック" charset="-128"/>
                <a:cs typeface="ＭＳ Ｐゴシック" charset="-128"/>
              </a:rPr>
              <a:t>2</a:t>
            </a:r>
            <a:r>
              <a:rPr lang="en-US" sz="1200" b="0" i="1" kern="1200" baseline="0" dirty="0">
                <a:solidFill>
                  <a:schemeClr val="tx1"/>
                </a:solidFill>
                <a:latin typeface="Arial" charset="0"/>
                <a:ea typeface="ＭＳ Ｐゴシック" charset="-128"/>
                <a:cs typeface="ＭＳ Ｐゴシック" charset="-128"/>
              </a:rPr>
              <a:t>  </a:t>
            </a:r>
            <a:r>
              <a:rPr lang="en-US" sz="1200" b="0" kern="1200" baseline="0" dirty="0">
                <a:solidFill>
                  <a:schemeClr val="tx1"/>
                </a:solidFill>
                <a:latin typeface="Arial" charset="0"/>
                <a:ea typeface="ＭＳ Ｐゴシック" charset="-128"/>
                <a:cs typeface="ＭＳ Ｐゴシック" charset="-128"/>
              </a:rPr>
              <a:t>mod </a:t>
            </a:r>
            <a:r>
              <a:rPr lang="en-US" sz="1200" b="0" i="1" kern="1200" baseline="0" dirty="0">
                <a:solidFill>
                  <a:schemeClr val="tx1"/>
                </a:solidFill>
                <a:latin typeface="Arial" charset="0"/>
                <a:ea typeface="ＭＳ Ｐゴシック" charset="-128"/>
                <a:cs typeface="ＭＳ Ｐゴシック" charset="-128"/>
              </a:rPr>
              <a:t>p</a:t>
            </a:r>
            <a:r>
              <a:rPr lang="en-US" sz="1200" b="0" kern="1200" baseline="0" dirty="0">
                <a:solidFill>
                  <a:schemeClr val="tx1"/>
                </a:solidFill>
                <a:latin typeface="Arial" charset="0"/>
                <a:ea typeface="ＭＳ Ｐゴシック" charset="-128"/>
                <a:cs typeface="ＭＳ Ｐゴシック" charset="-128"/>
              </a:rPr>
              <a:t> , . . .  , </a:t>
            </a:r>
            <a:r>
              <a:rPr lang="en-US" sz="1200" b="0" i="1" kern="1200" baseline="0" dirty="0">
                <a:solidFill>
                  <a:schemeClr val="tx1"/>
                </a:solidFill>
                <a:latin typeface="Arial" charset="0"/>
                <a:ea typeface="ＭＳ Ｐゴシック" charset="-128"/>
                <a:cs typeface="ＭＳ Ｐゴシック" charset="-128"/>
              </a:rPr>
              <a:t>a</a:t>
            </a:r>
            <a:r>
              <a:rPr lang="en-US" sz="1200" b="0" i="1" kern="1200" baseline="30000" dirty="0">
                <a:solidFill>
                  <a:schemeClr val="tx1"/>
                </a:solidFill>
                <a:latin typeface="Arial" charset="0"/>
                <a:ea typeface="ＭＳ Ｐゴシック" charset="-128"/>
                <a:cs typeface="ＭＳ Ｐゴシック" charset="-128"/>
              </a:rPr>
              <a:t>p-1  </a:t>
            </a:r>
            <a:r>
              <a:rPr lang="en-US" sz="1200" b="0" kern="1200" baseline="0" dirty="0">
                <a:solidFill>
                  <a:schemeClr val="tx1"/>
                </a:solidFill>
                <a:latin typeface="Arial" charset="0"/>
                <a:ea typeface="ＭＳ Ｐゴシック" charset="-128"/>
                <a:cs typeface="ＭＳ Ｐゴシック" charset="-128"/>
              </a:rPr>
              <a:t>mod </a:t>
            </a:r>
            <a:r>
              <a:rPr lang="en-US" sz="1200" b="0" i="1" kern="1200" baseline="0" dirty="0">
                <a:solidFill>
                  <a:schemeClr val="tx1"/>
                </a:solidFill>
                <a:latin typeface="Arial" charset="0"/>
                <a:ea typeface="ＭＳ Ｐゴシック" charset="-128"/>
                <a:cs typeface="ＭＳ Ｐゴシック" charset="-128"/>
              </a:rPr>
              <a:t>p</a:t>
            </a:r>
          </a:p>
          <a:p>
            <a:endParaRPr lang="en-US" sz="1200" b="0" kern="1200" baseline="0" dirty="0">
              <a:solidFill>
                <a:schemeClr val="tx1"/>
              </a:solidFill>
              <a:latin typeface="Arial" charset="0"/>
              <a:ea typeface="ＭＳ Ｐゴシック" charset="-128"/>
              <a:cs typeface="ＭＳ Ｐゴシック" charset="-128"/>
            </a:endParaRPr>
          </a:p>
          <a:p>
            <a:r>
              <a:rPr lang="en-US" sz="1200" b="0" kern="1200" baseline="0" dirty="0">
                <a:solidFill>
                  <a:schemeClr val="tx1"/>
                </a:solidFill>
                <a:latin typeface="Arial" charset="0"/>
                <a:ea typeface="ＭＳ Ｐゴシック" charset="-128"/>
                <a:cs typeface="ＭＳ Ｐゴシック" charset="-128"/>
              </a:rPr>
              <a:t> are distinct and consist of the integers from 1 through </a:t>
            </a:r>
            <a:r>
              <a:rPr lang="en-US" sz="1200" b="0" i="1" kern="1200" baseline="0" dirty="0">
                <a:solidFill>
                  <a:schemeClr val="tx1"/>
                </a:solidFill>
                <a:latin typeface="Arial" charset="0"/>
                <a:ea typeface="ＭＳ Ｐゴシック" charset="-128"/>
                <a:cs typeface="ＭＳ Ｐゴシック" charset="-128"/>
              </a:rPr>
              <a:t>p -  1 </a:t>
            </a:r>
            <a:r>
              <a:rPr lang="en-US" sz="1200" b="0" kern="1200" baseline="0" dirty="0">
                <a:solidFill>
                  <a:schemeClr val="tx1"/>
                </a:solidFill>
                <a:latin typeface="Arial" charset="0"/>
                <a:ea typeface="ＭＳ Ｐゴシック" charset="-128"/>
                <a:cs typeface="ＭＳ Ｐゴシック" charset="-128"/>
              </a:rPr>
              <a:t>in some permutation.</a:t>
            </a:r>
          </a:p>
          <a:p>
            <a:endParaRPr lang="en-US" sz="1200" b="0" kern="1200" baseline="0" dirty="0">
              <a:solidFill>
                <a:schemeClr val="tx1"/>
              </a:solidFill>
              <a:latin typeface="Arial" charset="0"/>
              <a:ea typeface="ＭＳ Ｐゴシック" charset="-128"/>
              <a:cs typeface="ＭＳ Ｐゴシック" charset="-128"/>
            </a:endParaRPr>
          </a:p>
          <a:p>
            <a:r>
              <a:rPr lang="en-US" sz="1200" b="0" kern="1200" baseline="0" dirty="0">
                <a:solidFill>
                  <a:schemeClr val="tx1"/>
                </a:solidFill>
                <a:latin typeface="Arial" charset="0"/>
                <a:ea typeface="ＭＳ Ｐゴシック" charset="-128"/>
                <a:cs typeface="ＭＳ Ｐゴシック" charset="-128"/>
              </a:rPr>
              <a:t>For any integer </a:t>
            </a:r>
            <a:r>
              <a:rPr lang="en-US" sz="1200" b="0" i="1" kern="1200" baseline="0" dirty="0">
                <a:solidFill>
                  <a:schemeClr val="tx1"/>
                </a:solidFill>
                <a:latin typeface="Arial" charset="0"/>
                <a:ea typeface="ＭＳ Ｐゴシック" charset="-128"/>
                <a:cs typeface="ＭＳ Ｐゴシック" charset="-128"/>
              </a:rPr>
              <a:t>b</a:t>
            </a:r>
            <a:r>
              <a:rPr lang="en-US" sz="1200" b="0" kern="1200" baseline="0" dirty="0">
                <a:solidFill>
                  <a:schemeClr val="tx1"/>
                </a:solidFill>
                <a:latin typeface="Arial" charset="0"/>
                <a:ea typeface="ＭＳ Ｐゴシック" charset="-128"/>
                <a:cs typeface="ＭＳ Ｐゴシック" charset="-128"/>
              </a:rPr>
              <a:t>  and a primitive root </a:t>
            </a:r>
            <a:r>
              <a:rPr lang="en-US" sz="1200" b="0" i="1" kern="1200" baseline="0" dirty="0">
                <a:solidFill>
                  <a:schemeClr val="tx1"/>
                </a:solidFill>
                <a:latin typeface="Arial" charset="0"/>
                <a:ea typeface="ＭＳ Ｐゴシック" charset="-128"/>
                <a:cs typeface="ＭＳ Ｐゴシック" charset="-128"/>
              </a:rPr>
              <a:t>a </a:t>
            </a:r>
            <a:r>
              <a:rPr lang="en-US" sz="1200" b="0" kern="1200" baseline="0" dirty="0">
                <a:solidFill>
                  <a:schemeClr val="tx1"/>
                </a:solidFill>
                <a:latin typeface="Arial" charset="0"/>
                <a:ea typeface="ＭＳ Ｐゴシック" charset="-128"/>
                <a:cs typeface="ＭＳ Ｐゴシック" charset="-128"/>
              </a:rPr>
              <a:t>of prime number </a:t>
            </a:r>
            <a:r>
              <a:rPr lang="en-US" sz="1200" b="0" i="1" kern="1200" baseline="0" dirty="0">
                <a:solidFill>
                  <a:schemeClr val="tx1"/>
                </a:solidFill>
                <a:latin typeface="Arial" charset="0"/>
                <a:ea typeface="ＭＳ Ｐゴシック" charset="-128"/>
                <a:cs typeface="ＭＳ Ｐゴシック" charset="-128"/>
              </a:rPr>
              <a:t>p </a:t>
            </a:r>
            <a:r>
              <a:rPr lang="en-US" sz="1200" b="0" kern="1200" baseline="0" dirty="0">
                <a:solidFill>
                  <a:schemeClr val="tx1"/>
                </a:solidFill>
                <a:latin typeface="Arial" charset="0"/>
                <a:ea typeface="ＭＳ Ｐゴシック" charset="-128"/>
                <a:cs typeface="ＭＳ Ｐゴシック" charset="-128"/>
              </a:rPr>
              <a:t>, we can find a</a:t>
            </a:r>
          </a:p>
          <a:p>
            <a:r>
              <a:rPr lang="en-US" sz="1200" b="0" kern="1200" baseline="0" dirty="0">
                <a:solidFill>
                  <a:schemeClr val="tx1"/>
                </a:solidFill>
                <a:latin typeface="Arial" charset="0"/>
                <a:ea typeface="ＭＳ Ｐゴシック" charset="-128"/>
                <a:cs typeface="ＭＳ Ｐゴシック" charset="-128"/>
              </a:rPr>
              <a:t>unique exponent</a:t>
            </a:r>
            <a:r>
              <a:rPr lang="en-US" sz="1200" b="0" i="1" kern="1200" baseline="0" dirty="0">
                <a:solidFill>
                  <a:schemeClr val="tx1"/>
                </a:solidFill>
                <a:latin typeface="Arial" charset="0"/>
                <a:ea typeface="ＭＳ Ｐゴシック" charset="-128"/>
                <a:cs typeface="ＭＳ Ｐゴシック" charset="-128"/>
              </a:rPr>
              <a:t> i </a:t>
            </a:r>
            <a:r>
              <a:rPr lang="en-US" sz="1200" b="0" kern="1200" baseline="0" dirty="0">
                <a:solidFill>
                  <a:schemeClr val="tx1"/>
                </a:solidFill>
                <a:latin typeface="Arial" charset="0"/>
                <a:ea typeface="ＭＳ Ｐゴシック" charset="-128"/>
                <a:cs typeface="ＭＳ Ｐゴシック" charset="-128"/>
              </a:rPr>
              <a:t>such that</a:t>
            </a:r>
          </a:p>
          <a:p>
            <a:endParaRPr lang="en-US" sz="1200" b="0" kern="1200" baseline="0" dirty="0">
              <a:solidFill>
                <a:schemeClr val="tx1"/>
              </a:solidFill>
              <a:latin typeface="Arial" charset="0"/>
              <a:ea typeface="ＭＳ Ｐゴシック" charset="-128"/>
              <a:cs typeface="ＭＳ Ｐゴシック" charset="-128"/>
            </a:endParaRPr>
          </a:p>
          <a:p>
            <a:r>
              <a:rPr lang="en-US" sz="1200" b="0" i="1" kern="1200" baseline="0" dirty="0">
                <a:solidFill>
                  <a:schemeClr val="tx1"/>
                </a:solidFill>
                <a:latin typeface="Arial" charset="0"/>
                <a:ea typeface="ＭＳ Ｐゴシック" charset="-128"/>
                <a:cs typeface="ＭＳ Ｐゴシック" charset="-128"/>
              </a:rPr>
              <a:t>b = a</a:t>
            </a:r>
            <a:r>
              <a:rPr lang="en-US" sz="1200" b="0" i="1" kern="1200" baseline="30000" dirty="0">
                <a:solidFill>
                  <a:schemeClr val="tx1"/>
                </a:solidFill>
                <a:latin typeface="Arial" charset="0"/>
                <a:ea typeface="ＭＳ Ｐゴシック" charset="-128"/>
                <a:cs typeface="ＭＳ Ｐゴシック" charset="-128"/>
              </a:rPr>
              <a:t>i</a:t>
            </a:r>
            <a:r>
              <a:rPr lang="en-US" sz="1200" b="0" i="1" kern="1200" baseline="0" dirty="0">
                <a:solidFill>
                  <a:schemeClr val="tx1"/>
                </a:solidFill>
                <a:latin typeface="Arial" charset="0"/>
                <a:ea typeface="ＭＳ Ｐゴシック" charset="-128"/>
                <a:cs typeface="ＭＳ Ｐゴシック" charset="-128"/>
              </a:rPr>
              <a:t>  </a:t>
            </a:r>
            <a:r>
              <a:rPr lang="en-US" sz="1200" b="0" kern="1200" baseline="0" dirty="0">
                <a:solidFill>
                  <a:schemeClr val="tx1"/>
                </a:solidFill>
                <a:latin typeface="Arial" charset="0"/>
                <a:ea typeface="ＭＳ Ｐゴシック" charset="-128"/>
                <a:cs typeface="ＭＳ Ｐゴシック" charset="-128"/>
              </a:rPr>
              <a:t>(mod </a:t>
            </a:r>
            <a:r>
              <a:rPr lang="en-US" sz="1200" b="0" i="1" kern="1200" baseline="0" dirty="0">
                <a:solidFill>
                  <a:schemeClr val="tx1"/>
                </a:solidFill>
                <a:latin typeface="Arial" charset="0"/>
                <a:ea typeface="ＭＳ Ｐゴシック" charset="-128"/>
                <a:cs typeface="ＭＳ Ｐゴシック" charset="-128"/>
              </a:rPr>
              <a:t>p</a:t>
            </a:r>
            <a:r>
              <a:rPr lang="en-US" sz="1200" b="0" kern="1200" baseline="0" dirty="0">
                <a:solidFill>
                  <a:schemeClr val="tx1"/>
                </a:solidFill>
                <a:latin typeface="Arial" charset="0"/>
                <a:ea typeface="ＭＳ Ｐゴシック" charset="-128"/>
                <a:cs typeface="ＭＳ Ｐゴシック" charset="-128"/>
              </a:rPr>
              <a:t> ) where </a:t>
            </a:r>
            <a:r>
              <a:rPr lang="en-US" sz="1200" b="0" i="1" kern="1200" baseline="0" dirty="0">
                <a:solidFill>
                  <a:schemeClr val="tx1"/>
                </a:solidFill>
                <a:latin typeface="Arial" charset="0"/>
                <a:ea typeface="ＭＳ Ｐゴシック" charset="-128"/>
                <a:cs typeface="ＭＳ Ｐゴシック" charset="-128"/>
              </a:rPr>
              <a:t>0 ≤  i ≤ (p -  1)</a:t>
            </a:r>
          </a:p>
          <a:p>
            <a:endParaRPr lang="en-US" sz="1200" b="0" kern="1200" baseline="0" dirty="0">
              <a:solidFill>
                <a:schemeClr val="tx1"/>
              </a:solidFill>
              <a:latin typeface="Arial" charset="0"/>
              <a:ea typeface="ＭＳ Ｐゴシック" charset="-128"/>
              <a:cs typeface="ＭＳ Ｐゴシック" charset="-128"/>
            </a:endParaRPr>
          </a:p>
          <a:p>
            <a:r>
              <a:rPr lang="en-US" sz="1200" b="0" kern="1200" baseline="0" dirty="0">
                <a:solidFill>
                  <a:schemeClr val="tx1"/>
                </a:solidFill>
                <a:latin typeface="Arial" charset="0"/>
                <a:ea typeface="ＭＳ Ｐゴシック" charset="-128"/>
                <a:cs typeface="ＭＳ Ｐゴシック" charset="-128"/>
              </a:rPr>
              <a:t>The exponent </a:t>
            </a:r>
            <a:r>
              <a:rPr lang="en-US" sz="1200" b="0" i="1" kern="1200" baseline="0" dirty="0">
                <a:solidFill>
                  <a:schemeClr val="tx1"/>
                </a:solidFill>
                <a:latin typeface="Arial" charset="0"/>
                <a:ea typeface="ＭＳ Ｐゴシック" charset="-128"/>
                <a:cs typeface="ＭＳ Ｐゴシック" charset="-128"/>
              </a:rPr>
              <a:t>i</a:t>
            </a:r>
            <a:r>
              <a:rPr lang="en-US" sz="1200" b="0" kern="1200" baseline="0" dirty="0">
                <a:solidFill>
                  <a:schemeClr val="tx1"/>
                </a:solidFill>
                <a:latin typeface="Arial" charset="0"/>
                <a:ea typeface="ＭＳ Ｐゴシック" charset="-128"/>
                <a:cs typeface="ＭＳ Ｐゴシック" charset="-128"/>
              </a:rPr>
              <a:t>  is referred to as the discrete logarithm  of </a:t>
            </a:r>
            <a:r>
              <a:rPr lang="en-US" sz="1200" b="0" i="1" kern="1200" baseline="0" dirty="0">
                <a:solidFill>
                  <a:schemeClr val="tx1"/>
                </a:solidFill>
                <a:latin typeface="Arial" charset="0"/>
                <a:ea typeface="ＭＳ Ｐゴシック" charset="-128"/>
                <a:cs typeface="ＭＳ Ｐゴシック" charset="-128"/>
              </a:rPr>
              <a:t>b</a:t>
            </a:r>
            <a:r>
              <a:rPr lang="en-US" sz="1200" b="0" kern="1200" baseline="0" dirty="0">
                <a:solidFill>
                  <a:schemeClr val="tx1"/>
                </a:solidFill>
                <a:latin typeface="Arial" charset="0"/>
                <a:ea typeface="ＭＳ Ｐゴシック" charset="-128"/>
                <a:cs typeface="ＭＳ Ｐゴシック" charset="-128"/>
              </a:rPr>
              <a:t>  for the base </a:t>
            </a:r>
            <a:r>
              <a:rPr lang="en-US" sz="1200" b="0" i="1" kern="1200" baseline="0" dirty="0">
                <a:solidFill>
                  <a:schemeClr val="tx1"/>
                </a:solidFill>
                <a:latin typeface="Arial" charset="0"/>
                <a:ea typeface="ＭＳ Ｐゴシック" charset="-128"/>
                <a:cs typeface="ＭＳ Ｐゴシック" charset="-128"/>
              </a:rPr>
              <a:t>a</a:t>
            </a:r>
            <a:r>
              <a:rPr lang="en-US" sz="1200" b="0" kern="1200" baseline="0" dirty="0">
                <a:solidFill>
                  <a:schemeClr val="tx1"/>
                </a:solidFill>
                <a:latin typeface="Arial" charset="0"/>
                <a:ea typeface="ＭＳ Ｐゴシック" charset="-128"/>
                <a:cs typeface="ＭＳ Ｐゴシック" charset="-128"/>
              </a:rPr>
              <a:t> , mod </a:t>
            </a:r>
            <a:r>
              <a:rPr lang="en-US" sz="1200" b="0" i="1" kern="1200" baseline="0" dirty="0">
                <a:solidFill>
                  <a:schemeClr val="tx1"/>
                </a:solidFill>
                <a:latin typeface="Arial" charset="0"/>
                <a:ea typeface="ＭＳ Ｐゴシック" charset="-128"/>
                <a:cs typeface="ＭＳ Ｐゴシック" charset="-128"/>
              </a:rPr>
              <a:t>p</a:t>
            </a:r>
            <a:r>
              <a:rPr lang="en-US" sz="1200" b="0" kern="1200" baseline="0" dirty="0">
                <a:solidFill>
                  <a:schemeClr val="tx1"/>
                </a:solidFill>
                <a:latin typeface="Arial" charset="0"/>
                <a:ea typeface="ＭＳ Ｐゴシック" charset="-128"/>
                <a:cs typeface="ＭＳ Ｐゴシック" charset="-128"/>
              </a:rPr>
              <a:t> .</a:t>
            </a:r>
          </a:p>
          <a:p>
            <a:r>
              <a:rPr lang="en-US" sz="1200" b="0" kern="1200" baseline="0" dirty="0">
                <a:solidFill>
                  <a:schemeClr val="tx1"/>
                </a:solidFill>
                <a:latin typeface="Arial" charset="0"/>
                <a:ea typeface="ＭＳ Ｐゴシック" charset="-128"/>
                <a:cs typeface="ＭＳ Ｐゴシック" charset="-128"/>
              </a:rPr>
              <a:t>We express this value as dlog</a:t>
            </a:r>
            <a:r>
              <a:rPr lang="en-US" sz="1200" b="0" kern="1200" baseline="-25000" dirty="0">
                <a:solidFill>
                  <a:schemeClr val="tx1"/>
                </a:solidFill>
                <a:latin typeface="Arial" charset="0"/>
                <a:ea typeface="ＭＳ Ｐゴシック" charset="-128"/>
                <a:cs typeface="ＭＳ Ｐゴシック" charset="-128"/>
              </a:rPr>
              <a:t>a,p </a:t>
            </a:r>
            <a:r>
              <a:rPr lang="en-US" sz="1200" b="0" kern="1200" baseline="0" dirty="0">
                <a:solidFill>
                  <a:schemeClr val="tx1"/>
                </a:solidFill>
                <a:latin typeface="Arial" charset="0"/>
                <a:ea typeface="ＭＳ Ｐゴシック" charset="-128"/>
                <a:cs typeface="ＭＳ Ｐゴシック" charset="-128"/>
              </a:rPr>
              <a:t>(</a:t>
            </a:r>
            <a:r>
              <a:rPr lang="en-US" sz="1200" b="0" i="1" kern="1200" baseline="0" dirty="0">
                <a:solidFill>
                  <a:schemeClr val="tx1"/>
                </a:solidFill>
                <a:latin typeface="Arial" charset="0"/>
                <a:ea typeface="ＭＳ Ｐゴシック" charset="-128"/>
                <a:cs typeface="ＭＳ Ｐゴシック" charset="-128"/>
              </a:rPr>
              <a:t>b</a:t>
            </a:r>
            <a:r>
              <a:rPr lang="en-US" sz="1200" b="0" kern="1200" baseline="0" dirty="0">
                <a:solidFill>
                  <a:schemeClr val="tx1"/>
                </a:solidFill>
                <a:latin typeface="Arial" charset="0"/>
                <a:ea typeface="ＭＳ Ｐゴシック" charset="-128"/>
                <a:cs typeface="ＭＳ Ｐゴシック" charset="-128"/>
              </a:rPr>
              <a:t> ). See Chapter 8 for an extended discussion of</a:t>
            </a:r>
          </a:p>
          <a:p>
            <a:r>
              <a:rPr lang="en-US" sz="1200" b="0" kern="1200" baseline="0" dirty="0">
                <a:solidFill>
                  <a:schemeClr val="tx1"/>
                </a:solidFill>
                <a:latin typeface="Arial" charset="0"/>
                <a:ea typeface="ＭＳ Ｐゴシック" charset="-128"/>
                <a:cs typeface="ＭＳ Ｐゴシック" charset="-128"/>
              </a:rPr>
              <a:t>discrete logarithms.</a:t>
            </a:r>
            <a:endParaRPr lang="en-AU" b="0" dirty="0">
              <a:latin typeface="Arial" pitchFamily="-84" charset="0"/>
              <a:ea typeface="Arial" pitchFamily="-84" charset="0"/>
              <a:cs typeface="Arial" pitchFamily="-84" charset="0"/>
            </a:endParaRPr>
          </a:p>
        </p:txBody>
      </p:sp>
    </p:spTree>
    <p:extLst>
      <p:ext uri="{BB962C8B-B14F-4D97-AF65-F5344CB8AC3E}">
        <p14:creationId xmlns:p14="http://schemas.microsoft.com/office/powerpoint/2010/main" val="36074490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p:spPr>
        <p:txBody>
          <a:bodyPr/>
          <a:lstStyle/>
          <a:p>
            <a:fld id="{E62ED335-3719-4517-9116-26F0A36C47A7}" type="slidenum">
              <a:rPr lang="en-AU"/>
              <a:pPr/>
              <a:t>6</a:t>
            </a:fld>
            <a:endParaRPr lang="en-AU"/>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a:ln/>
        </p:spPr>
        <p:txBody>
          <a:bodyPr/>
          <a:lstStyle/>
          <a:p>
            <a:pPr eaLnBrk="1" hangingPunct="1"/>
            <a:r>
              <a:rPr lang="en-AU">
                <a:latin typeface="Arial" pitchFamily="34" charset="0"/>
                <a:ea typeface="ＭＳ Ｐゴシック" pitchFamily="-107" charset="-128"/>
              </a:rPr>
              <a:t>The actual key exchange for either party consists of raising the others "public key' to power of their private key. The resulting number (or as much of as is necessary) is used as the key for a block cipher or other private key scheme. For an attacker to obtain the same value they need at least one of the secret numbers, which means solving a discrete log, which is computationally infeasible given large enough numbers. Note that if Alice and Bob subsequently communicate, they will have the </a:t>
            </a:r>
            <a:r>
              <a:rPr lang="en-AU" b="1">
                <a:latin typeface="Arial" pitchFamily="34" charset="0"/>
                <a:ea typeface="ＭＳ Ｐゴシック" pitchFamily="-107" charset="-128"/>
              </a:rPr>
              <a:t>same</a:t>
            </a:r>
            <a:r>
              <a:rPr lang="en-AU">
                <a:latin typeface="Arial" pitchFamily="34" charset="0"/>
                <a:ea typeface="ＭＳ Ｐゴシック" pitchFamily="-107" charset="-128"/>
              </a:rPr>
              <a:t> key as before, unless they choose new public-keys.</a:t>
            </a:r>
          </a:p>
        </p:txBody>
      </p:sp>
    </p:spTree>
    <p:extLst>
      <p:ext uri="{BB962C8B-B14F-4D97-AF65-F5344CB8AC3E}">
        <p14:creationId xmlns:p14="http://schemas.microsoft.com/office/powerpoint/2010/main" val="19637499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Arial" charset="0"/>
                <a:ea typeface="ＭＳ Ｐゴシック" charset="-128"/>
                <a:cs typeface="ＭＳ Ｐゴシック" charset="-128"/>
              </a:rPr>
              <a:t> Figure 10.1 summarizes the Diffie-Hellman key exchange algorithm. For this</a:t>
            </a:r>
          </a:p>
          <a:p>
            <a:r>
              <a:rPr lang="en-US" sz="1200" kern="1200" baseline="0" dirty="0">
                <a:solidFill>
                  <a:schemeClr val="tx1"/>
                </a:solidFill>
                <a:latin typeface="Arial" charset="0"/>
                <a:ea typeface="ＭＳ Ｐゴシック" charset="-128"/>
                <a:cs typeface="ＭＳ Ｐゴシック" charset="-128"/>
              </a:rPr>
              <a:t>scheme, there are two publicly known numbers: a prime number </a:t>
            </a:r>
            <a:r>
              <a:rPr lang="en-US" sz="1200" i="1" kern="1200" baseline="0" dirty="0">
                <a:solidFill>
                  <a:schemeClr val="tx1"/>
                </a:solidFill>
                <a:latin typeface="Arial" charset="0"/>
                <a:ea typeface="ＭＳ Ｐゴシック" charset="-128"/>
                <a:cs typeface="ＭＳ Ｐゴシック" charset="-128"/>
              </a:rPr>
              <a:t>q </a:t>
            </a:r>
            <a:r>
              <a:rPr lang="en-US" sz="1200" kern="1200" baseline="0" dirty="0">
                <a:solidFill>
                  <a:schemeClr val="tx1"/>
                </a:solidFill>
                <a:latin typeface="Arial" charset="0"/>
                <a:ea typeface="ＭＳ Ｐゴシック" charset="-128"/>
                <a:cs typeface="ＭＳ Ｐゴシック" charset="-128"/>
              </a:rPr>
              <a:t> and an integer </a:t>
            </a:r>
            <a:r>
              <a:rPr lang="en-US" sz="1200" i="1" kern="1200" baseline="0" dirty="0">
                <a:solidFill>
                  <a:schemeClr val="tx1"/>
                </a:solidFill>
                <a:latin typeface="Arial" charset="0"/>
                <a:ea typeface="ＭＳ Ｐゴシック" charset="-128"/>
                <a:cs typeface="ＭＳ Ｐゴシック" charset="-128"/>
              </a:rPr>
              <a:t>a</a:t>
            </a:r>
          </a:p>
          <a:p>
            <a:r>
              <a:rPr lang="en-US" sz="1200" kern="1200" baseline="0" dirty="0">
                <a:solidFill>
                  <a:schemeClr val="tx1"/>
                </a:solidFill>
                <a:latin typeface="Arial" charset="0"/>
                <a:ea typeface="ＭＳ Ｐゴシック" charset="-128"/>
                <a:cs typeface="ＭＳ Ｐゴシック" charset="-128"/>
              </a:rPr>
              <a:t> that is a primitive root of </a:t>
            </a:r>
            <a:r>
              <a:rPr lang="en-US" sz="1200" i="1" kern="1200" baseline="0" dirty="0">
                <a:solidFill>
                  <a:schemeClr val="tx1"/>
                </a:solidFill>
                <a:latin typeface="Arial" charset="0"/>
                <a:ea typeface="ＭＳ Ｐゴシック" charset="-128"/>
                <a:cs typeface="ＭＳ Ｐゴシック" charset="-128"/>
              </a:rPr>
              <a:t>q</a:t>
            </a:r>
            <a:r>
              <a:rPr lang="en-US" sz="1200" kern="1200" baseline="0" dirty="0">
                <a:solidFill>
                  <a:schemeClr val="tx1"/>
                </a:solidFill>
                <a:latin typeface="Arial" charset="0"/>
                <a:ea typeface="ＭＳ Ｐゴシック" charset="-128"/>
                <a:cs typeface="ＭＳ Ｐゴシック" charset="-128"/>
              </a:rPr>
              <a:t> . </a:t>
            </a:r>
            <a:endParaRPr lang="en-US" dirty="0"/>
          </a:p>
        </p:txBody>
      </p:sp>
      <p:sp>
        <p:nvSpPr>
          <p:cNvPr id="4" name="Slide Number Placeholder 3"/>
          <p:cNvSpPr>
            <a:spLocks noGrp="1"/>
          </p:cNvSpPr>
          <p:nvPr>
            <p:ph type="sldNum" sz="quarter" idx="10"/>
          </p:nvPr>
        </p:nvSpPr>
        <p:spPr/>
        <p:txBody>
          <a:bodyPr/>
          <a:lstStyle/>
          <a:p>
            <a:pPr>
              <a:defRPr/>
            </a:pPr>
            <a:fld id="{6C914AB1-A579-2F42-995D-A924F462C005}" type="slidenum">
              <a:rPr lang="en-AU" smtClean="0"/>
              <a:pPr>
                <a:defRPr/>
              </a:pPr>
              <a:t>7</a:t>
            </a:fld>
            <a:endParaRPr lang="en-AU" dirty="0"/>
          </a:p>
        </p:txBody>
      </p:sp>
    </p:spTree>
    <p:extLst>
      <p:ext uri="{BB962C8B-B14F-4D97-AF65-F5344CB8AC3E}">
        <p14:creationId xmlns:p14="http://schemas.microsoft.com/office/powerpoint/2010/main" val="30671249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p:spPr>
        <p:txBody>
          <a:bodyPr/>
          <a:lstStyle/>
          <a:p>
            <a:fld id="{CA7CBDB5-8275-4DAC-A2A2-4EF8D29205A9}" type="slidenum">
              <a:rPr lang="en-AU"/>
              <a:pPr/>
              <a:t>8</a:t>
            </a:fld>
            <a:endParaRPr lang="en-AU"/>
          </a:p>
        </p:txBody>
      </p:sp>
      <p:sp>
        <p:nvSpPr>
          <p:cNvPr id="37891" name="Rectangle 1026"/>
          <p:cNvSpPr>
            <a:spLocks noGrp="1" noRot="1" noChangeAspect="1" noChangeArrowheads="1" noTextEdit="1"/>
          </p:cNvSpPr>
          <p:nvPr>
            <p:ph type="sldImg"/>
          </p:nvPr>
        </p:nvSpPr>
        <p:spPr>
          <a:ln/>
        </p:spPr>
      </p:sp>
      <p:sp>
        <p:nvSpPr>
          <p:cNvPr id="37892" name="Rectangle 1027"/>
          <p:cNvSpPr>
            <a:spLocks noGrp="1" noChangeArrowheads="1"/>
          </p:cNvSpPr>
          <p:nvPr>
            <p:ph type="body" idx="1"/>
          </p:nvPr>
        </p:nvSpPr>
        <p:spPr>
          <a:noFill/>
          <a:ln/>
        </p:spPr>
        <p:txBody>
          <a:bodyPr/>
          <a:lstStyle/>
          <a:p>
            <a:pPr eaLnBrk="1" hangingPunct="1"/>
            <a:r>
              <a:rPr lang="en-US">
                <a:latin typeface="Arial" pitchFamily="34" charset="0"/>
                <a:ea typeface="ＭＳ Ｐゴシック" pitchFamily="-107" charset="-128"/>
                <a:cs typeface="Arial" pitchFamily="34" charset="0"/>
              </a:rPr>
              <a:t>Here is an example of Diffie-Hellman from the text using prime q=353, showing how each computes its public key, and then how after they exchange public keys, each can compute the common secret key.I n this simple example, it would be possible by brute force to determine the secret key 160. In particular, an attacker E can determine the common key by discovering a solution to the equation 3</a:t>
            </a:r>
            <a:r>
              <a:rPr lang="en-US" i="1" baseline="30000">
                <a:latin typeface="Arial" pitchFamily="34" charset="0"/>
                <a:ea typeface="ＭＳ Ｐゴシック" pitchFamily="-107" charset="-128"/>
                <a:cs typeface="Arial" pitchFamily="34" charset="0"/>
              </a:rPr>
              <a:t>a</a:t>
            </a:r>
            <a:r>
              <a:rPr lang="en-US">
                <a:latin typeface="Arial" pitchFamily="34" charset="0"/>
                <a:ea typeface="ＭＳ Ｐゴシック" pitchFamily="-107" charset="-128"/>
                <a:cs typeface="Arial" pitchFamily="34" charset="0"/>
              </a:rPr>
              <a:t> mod 353 = 40 or the equation 3</a:t>
            </a:r>
            <a:r>
              <a:rPr lang="en-US" i="1" baseline="30000">
                <a:latin typeface="Arial" pitchFamily="34" charset="0"/>
                <a:ea typeface="ＭＳ Ｐゴシック" pitchFamily="-107" charset="-128"/>
                <a:cs typeface="Arial" pitchFamily="34" charset="0"/>
              </a:rPr>
              <a:t>b</a:t>
            </a:r>
            <a:r>
              <a:rPr lang="en-US">
                <a:latin typeface="Arial" pitchFamily="34" charset="0"/>
                <a:ea typeface="ＭＳ Ｐゴシック" pitchFamily="-107" charset="-128"/>
                <a:cs typeface="Arial" pitchFamily="34" charset="0"/>
              </a:rPr>
              <a:t> mod 353 = 248. The brute-force approach is to calculate powers of 3 modulo 353, stopping when the result equals either 40 or 248. The desired answer is reached with the exponent value of 97, which provides 3</a:t>
            </a:r>
            <a:r>
              <a:rPr lang="en-US" baseline="30000">
                <a:latin typeface="Arial" pitchFamily="34" charset="0"/>
                <a:ea typeface="ＭＳ Ｐゴシック" pitchFamily="-107" charset="-128"/>
                <a:cs typeface="Arial" pitchFamily="34" charset="0"/>
              </a:rPr>
              <a:t>97</a:t>
            </a:r>
            <a:r>
              <a:rPr lang="en-US">
                <a:latin typeface="Arial" pitchFamily="34" charset="0"/>
                <a:ea typeface="ＭＳ Ｐゴシック" pitchFamily="-107" charset="-128"/>
                <a:cs typeface="Arial" pitchFamily="34" charset="0"/>
              </a:rPr>
              <a:t> mod 353 = 40.  With larger numbers, the problem becomes impractical. </a:t>
            </a:r>
          </a:p>
        </p:txBody>
      </p:sp>
    </p:spTree>
    <p:extLst>
      <p:ext uri="{BB962C8B-B14F-4D97-AF65-F5344CB8AC3E}">
        <p14:creationId xmlns:p14="http://schemas.microsoft.com/office/powerpoint/2010/main" val="17199466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p>
            <a:fld id="{500A6822-6F76-464F-8448-071F9DB1E704}" type="slidenum">
              <a:rPr lang="en-AU">
                <a:latin typeface="Arial" pitchFamily="-84" charset="0"/>
              </a:rPr>
              <a:pPr/>
              <a:t>9</a:t>
            </a:fld>
            <a:endParaRPr lang="en-AU" dirty="0">
              <a:latin typeface="Arial" pitchFamily="-84" charset="0"/>
            </a:endParaRPr>
          </a:p>
        </p:txBody>
      </p:sp>
      <p:sp>
        <p:nvSpPr>
          <p:cNvPr id="29699" name="Rectangle 1026"/>
          <p:cNvSpPr>
            <a:spLocks noGrp="1" noRot="1" noChangeAspect="1" noChangeArrowheads="1"/>
          </p:cNvSpPr>
          <p:nvPr>
            <p:ph type="sldImg"/>
          </p:nvPr>
        </p:nvSpPr>
        <p:spPr>
          <a:solidFill>
            <a:srgbClr val="FFFFFF"/>
          </a:solidFill>
          <a:ln/>
        </p:spPr>
      </p:sp>
      <p:sp>
        <p:nvSpPr>
          <p:cNvPr id="29700" name="Rectangle 1027"/>
          <p:cNvSpPr>
            <a:spLocks noGrp="1" noChangeArrowheads="1"/>
          </p:cNvSpPr>
          <p:nvPr>
            <p:ph type="body" idx="1"/>
          </p:nvPr>
        </p:nvSpPr>
        <p:spPr>
          <a:noFill/>
          <a:ln/>
        </p:spPr>
        <p:txBody>
          <a:bodyPr/>
          <a:lstStyle/>
          <a:p>
            <a:pPr eaLnBrk="1" hangingPunct="1"/>
            <a:r>
              <a:rPr lang="en-US" dirty="0">
                <a:latin typeface="Arial" pitchFamily="-84" charset="0"/>
                <a:ea typeface="ＭＳ Ｐゴシック" pitchFamily="-84" charset="-128"/>
                <a:cs typeface="ＭＳ Ｐゴシック" pitchFamily="-84" charset="-128"/>
              </a:rPr>
              <a:t>Now consider a simple protocol that makes use of the Diffie-Hellman calculation. Suppose that user A wishes to set up a connection with user B and use a secret key to encrypt messages on that connection. User A can generate a one-time private key </a:t>
            </a:r>
            <a:r>
              <a:rPr lang="en-US" i="1" dirty="0">
                <a:latin typeface="Arial" pitchFamily="-84" charset="0"/>
                <a:ea typeface="ＭＳ Ｐゴシック" pitchFamily="-84" charset="-128"/>
                <a:cs typeface="ＭＳ Ｐゴシック" pitchFamily="-84" charset="-128"/>
              </a:rPr>
              <a:t>X</a:t>
            </a:r>
            <a:r>
              <a:rPr lang="en-US" i="1" baseline="-25000" dirty="0">
                <a:latin typeface="Arial" pitchFamily="-84" charset="0"/>
                <a:ea typeface="ＭＳ Ｐゴシック" pitchFamily="-84" charset="-128"/>
                <a:cs typeface="ＭＳ Ｐゴシック" pitchFamily="-84" charset="-128"/>
              </a:rPr>
              <a:t>A</a:t>
            </a:r>
            <a:r>
              <a:rPr lang="en-US" i="1" dirty="0">
                <a:latin typeface="Arial" pitchFamily="-84" charset="0"/>
                <a:ea typeface="ＭＳ Ｐゴシック" pitchFamily="-84" charset="-128"/>
                <a:cs typeface="ＭＳ Ｐゴシック" pitchFamily="-84" charset="-128"/>
              </a:rPr>
              <a:t>, </a:t>
            </a:r>
            <a:r>
              <a:rPr lang="en-US" dirty="0">
                <a:latin typeface="Arial" pitchFamily="-84" charset="0"/>
                <a:ea typeface="ＭＳ Ｐゴシック" pitchFamily="-84" charset="-128"/>
                <a:cs typeface="ＭＳ Ｐゴシック" pitchFamily="-84" charset="-128"/>
              </a:rPr>
              <a:t>calculate </a:t>
            </a:r>
            <a:r>
              <a:rPr lang="en-US" i="1" dirty="0">
                <a:latin typeface="Arial" pitchFamily="-84" charset="0"/>
                <a:ea typeface="ＭＳ Ｐゴシック" pitchFamily="-84" charset="-128"/>
                <a:cs typeface="ＭＳ Ｐゴシック" pitchFamily="-84" charset="-128"/>
              </a:rPr>
              <a:t>Y</a:t>
            </a:r>
            <a:r>
              <a:rPr lang="en-US" i="1" baseline="-25000" dirty="0">
                <a:latin typeface="Arial" pitchFamily="-84" charset="0"/>
                <a:ea typeface="ＭＳ Ｐゴシック" pitchFamily="-84" charset="-128"/>
                <a:cs typeface="ＭＳ Ｐゴシック" pitchFamily="-84" charset="-128"/>
              </a:rPr>
              <a:t>A</a:t>
            </a:r>
            <a:r>
              <a:rPr lang="en-US" i="1" dirty="0">
                <a:latin typeface="Arial" pitchFamily="-84" charset="0"/>
                <a:ea typeface="ＭＳ Ｐゴシック" pitchFamily="-84" charset="-128"/>
                <a:cs typeface="ＭＳ Ｐゴシック" pitchFamily="-84" charset="-128"/>
              </a:rPr>
              <a:t>, </a:t>
            </a:r>
            <a:r>
              <a:rPr lang="en-US" dirty="0">
                <a:latin typeface="Arial" pitchFamily="-84" charset="0"/>
                <a:ea typeface="ＭＳ Ｐゴシック" pitchFamily="-84" charset="-128"/>
                <a:cs typeface="ＭＳ Ｐゴシック" pitchFamily="-84" charset="-128"/>
              </a:rPr>
              <a:t>and send that to user </a:t>
            </a:r>
            <a:r>
              <a:rPr lang="en-US" i="1" dirty="0">
                <a:latin typeface="Arial" pitchFamily="-84" charset="0"/>
                <a:ea typeface="ＭＳ Ｐゴシック" pitchFamily="-84" charset="-128"/>
                <a:cs typeface="ＭＳ Ｐゴシック" pitchFamily="-84" charset="-128"/>
              </a:rPr>
              <a:t>B. </a:t>
            </a:r>
            <a:r>
              <a:rPr lang="en-US" dirty="0">
                <a:latin typeface="Arial" pitchFamily="-84" charset="0"/>
                <a:ea typeface="ＭＳ Ｐゴシック" pitchFamily="-84" charset="-128"/>
                <a:cs typeface="ＭＳ Ｐゴシック" pitchFamily="-84" charset="-128"/>
              </a:rPr>
              <a:t>User </a:t>
            </a:r>
            <a:r>
              <a:rPr lang="en-US" i="1" dirty="0">
                <a:latin typeface="Arial" pitchFamily="-84" charset="0"/>
                <a:ea typeface="ＭＳ Ｐゴシック" pitchFamily="-84" charset="-128"/>
                <a:cs typeface="ＭＳ Ｐゴシック" pitchFamily="-84" charset="-128"/>
              </a:rPr>
              <a:t>B </a:t>
            </a:r>
            <a:r>
              <a:rPr lang="en-US" dirty="0">
                <a:latin typeface="Arial" pitchFamily="-84" charset="0"/>
                <a:ea typeface="ＭＳ Ｐゴシック" pitchFamily="-84" charset="-128"/>
                <a:cs typeface="ＭＳ Ｐゴシック" pitchFamily="-84" charset="-128"/>
              </a:rPr>
              <a:t>responds by generating a private value </a:t>
            </a:r>
            <a:r>
              <a:rPr lang="en-US" i="1" dirty="0">
                <a:latin typeface="Arial" pitchFamily="-84" charset="0"/>
                <a:ea typeface="ＭＳ Ｐゴシック" pitchFamily="-84" charset="-128"/>
                <a:cs typeface="ＭＳ Ｐゴシック" pitchFamily="-84" charset="-128"/>
              </a:rPr>
              <a:t>X</a:t>
            </a:r>
            <a:r>
              <a:rPr lang="en-US" i="1" baseline="-25000" dirty="0">
                <a:latin typeface="Arial" pitchFamily="-84" charset="0"/>
                <a:ea typeface="ＭＳ Ｐゴシック" pitchFamily="-84" charset="-128"/>
                <a:cs typeface="ＭＳ Ｐゴシック" pitchFamily="-84" charset="-128"/>
              </a:rPr>
              <a:t>B</a:t>
            </a:r>
            <a:r>
              <a:rPr lang="en-US" i="1" dirty="0">
                <a:latin typeface="Arial" pitchFamily="-84" charset="0"/>
                <a:ea typeface="ＭＳ Ｐゴシック" pitchFamily="-84" charset="-128"/>
                <a:cs typeface="ＭＳ Ｐゴシック" pitchFamily="-84" charset="-128"/>
              </a:rPr>
              <a:t>, </a:t>
            </a:r>
            <a:r>
              <a:rPr lang="en-US" dirty="0">
                <a:latin typeface="Arial" pitchFamily="-84" charset="0"/>
                <a:ea typeface="ＭＳ Ｐゴシック" pitchFamily="-84" charset="-128"/>
                <a:cs typeface="ＭＳ Ｐゴシック" pitchFamily="-84" charset="-128"/>
              </a:rPr>
              <a:t>calculating </a:t>
            </a:r>
            <a:r>
              <a:rPr lang="en-US" i="1" dirty="0">
                <a:latin typeface="Arial" pitchFamily="-84" charset="0"/>
                <a:ea typeface="ＭＳ Ｐゴシック" pitchFamily="-84" charset="-128"/>
                <a:cs typeface="ＭＳ Ｐゴシック" pitchFamily="-84" charset="-128"/>
              </a:rPr>
              <a:t>Y</a:t>
            </a:r>
            <a:r>
              <a:rPr lang="en-US" i="1" baseline="-25000" dirty="0">
                <a:latin typeface="Arial" pitchFamily="-84" charset="0"/>
                <a:ea typeface="ＭＳ Ｐゴシック" pitchFamily="-84" charset="-128"/>
                <a:cs typeface="ＭＳ Ｐゴシック" pitchFamily="-84" charset="-128"/>
              </a:rPr>
              <a:t>B</a:t>
            </a:r>
            <a:r>
              <a:rPr lang="en-US" i="1" dirty="0">
                <a:latin typeface="Arial" pitchFamily="-84" charset="0"/>
                <a:ea typeface="ＭＳ Ｐゴシック" pitchFamily="-84" charset="-128"/>
                <a:cs typeface="ＭＳ Ｐゴシック" pitchFamily="-84" charset="-128"/>
              </a:rPr>
              <a:t>, </a:t>
            </a:r>
            <a:r>
              <a:rPr lang="en-US" dirty="0">
                <a:latin typeface="Arial" pitchFamily="-84" charset="0"/>
                <a:ea typeface="ＭＳ Ｐゴシック" pitchFamily="-84" charset="-128"/>
                <a:cs typeface="ＭＳ Ｐゴシック" pitchFamily="-84" charset="-128"/>
              </a:rPr>
              <a:t>and sending </a:t>
            </a:r>
            <a:r>
              <a:rPr lang="en-US" i="1" dirty="0">
                <a:latin typeface="Arial" pitchFamily="-84" charset="0"/>
                <a:ea typeface="ＭＳ Ｐゴシック" pitchFamily="-84" charset="-128"/>
                <a:cs typeface="ＭＳ Ｐゴシック" pitchFamily="-84" charset="-128"/>
              </a:rPr>
              <a:t>Y</a:t>
            </a:r>
            <a:r>
              <a:rPr lang="en-US" i="1" baseline="-25000" dirty="0">
                <a:latin typeface="Arial" pitchFamily="-84" charset="0"/>
                <a:ea typeface="ＭＳ Ｐゴシック" pitchFamily="-84" charset="-128"/>
                <a:cs typeface="ＭＳ Ｐゴシック" pitchFamily="-84" charset="-128"/>
              </a:rPr>
              <a:t>B</a:t>
            </a:r>
            <a:r>
              <a:rPr lang="en-US" i="1" dirty="0">
                <a:latin typeface="Arial" pitchFamily="-84" charset="0"/>
                <a:ea typeface="ＭＳ Ｐゴシック" pitchFamily="-84" charset="-128"/>
                <a:cs typeface="ＭＳ Ｐゴシック" pitchFamily="-84" charset="-128"/>
              </a:rPr>
              <a:t> </a:t>
            </a:r>
            <a:r>
              <a:rPr lang="en-US" dirty="0">
                <a:latin typeface="Arial" pitchFamily="-84" charset="0"/>
                <a:ea typeface="ＭＳ Ｐゴシック" pitchFamily="-84" charset="-128"/>
                <a:cs typeface="ＭＳ Ｐゴシック" pitchFamily="-84" charset="-128"/>
              </a:rPr>
              <a:t>to user </a:t>
            </a:r>
            <a:r>
              <a:rPr lang="en-US" i="1" dirty="0">
                <a:latin typeface="Arial" pitchFamily="-84" charset="0"/>
                <a:ea typeface="ＭＳ Ｐゴシック" pitchFamily="-84" charset="-128"/>
                <a:cs typeface="ＭＳ Ｐゴシック" pitchFamily="-84" charset="-128"/>
              </a:rPr>
              <a:t>A. </a:t>
            </a:r>
            <a:r>
              <a:rPr lang="en-US" dirty="0">
                <a:latin typeface="Arial" pitchFamily="-84" charset="0"/>
                <a:ea typeface="ＭＳ Ｐゴシック" pitchFamily="-84" charset="-128"/>
                <a:cs typeface="ＭＳ Ｐゴシック" pitchFamily="-84" charset="-128"/>
              </a:rPr>
              <a:t>Both users can now calculate the key. The necessary public values </a:t>
            </a:r>
            <a:r>
              <a:rPr lang="en-US" i="1" dirty="0">
                <a:latin typeface="Arial" pitchFamily="-84" charset="0"/>
                <a:ea typeface="ＭＳ Ｐゴシック" pitchFamily="-84" charset="-128"/>
                <a:cs typeface="ＭＳ Ｐゴシック" pitchFamily="-84" charset="-128"/>
              </a:rPr>
              <a:t>q </a:t>
            </a:r>
            <a:r>
              <a:rPr lang="en-US" dirty="0">
                <a:latin typeface="Arial" pitchFamily="-84" charset="0"/>
                <a:ea typeface="ＭＳ Ｐゴシック" pitchFamily="-84" charset="-128"/>
                <a:cs typeface="ＭＳ Ｐゴシック" pitchFamily="-84" charset="-128"/>
              </a:rPr>
              <a:t>and </a:t>
            </a:r>
            <a:r>
              <a:rPr lang="en-US" i="1" dirty="0">
                <a:latin typeface="Arial" pitchFamily="-84" charset="0"/>
                <a:ea typeface="ＭＳ Ｐゴシック" pitchFamily="-84" charset="-128"/>
                <a:cs typeface="ＭＳ Ｐゴシック" pitchFamily="-84" charset="-128"/>
              </a:rPr>
              <a:t>a </a:t>
            </a:r>
            <a:r>
              <a:rPr lang="en-US" dirty="0">
                <a:latin typeface="Arial" pitchFamily="-84" charset="0"/>
                <a:ea typeface="ＭＳ Ｐゴシック" pitchFamily="-84" charset="-128"/>
                <a:cs typeface="ＭＳ Ｐゴシック" pitchFamily="-84" charset="-128"/>
              </a:rPr>
              <a:t>would need to be known ahead of time. Alternatively, user </a:t>
            </a:r>
            <a:r>
              <a:rPr lang="en-US" i="1" dirty="0">
                <a:latin typeface="Arial" pitchFamily="-84" charset="0"/>
                <a:ea typeface="ＭＳ Ｐゴシック" pitchFamily="-84" charset="-128"/>
                <a:cs typeface="ＭＳ Ｐゴシック" pitchFamily="-84" charset="-128"/>
              </a:rPr>
              <a:t>A </a:t>
            </a:r>
            <a:r>
              <a:rPr lang="en-US" dirty="0">
                <a:latin typeface="Arial" pitchFamily="-84" charset="0"/>
                <a:ea typeface="ＭＳ Ｐゴシック" pitchFamily="-84" charset="-128"/>
                <a:cs typeface="ＭＳ Ｐゴシック" pitchFamily="-84" charset="-128"/>
              </a:rPr>
              <a:t>could pick values for </a:t>
            </a:r>
            <a:r>
              <a:rPr lang="en-US" i="1" dirty="0">
                <a:latin typeface="Arial" pitchFamily="-84" charset="0"/>
                <a:ea typeface="ＭＳ Ｐゴシック" pitchFamily="-84" charset="-128"/>
                <a:cs typeface="ＭＳ Ｐゴシック" pitchFamily="-84" charset="-128"/>
              </a:rPr>
              <a:t>q </a:t>
            </a:r>
            <a:r>
              <a:rPr lang="en-US" dirty="0">
                <a:latin typeface="Arial" pitchFamily="-84" charset="0"/>
                <a:ea typeface="ＭＳ Ｐゴシック" pitchFamily="-84" charset="-128"/>
                <a:cs typeface="ＭＳ Ｐゴシック" pitchFamily="-84" charset="-128"/>
              </a:rPr>
              <a:t>and </a:t>
            </a:r>
            <a:r>
              <a:rPr lang="en-US" i="1" dirty="0">
                <a:latin typeface="Arial" pitchFamily="-84" charset="0"/>
                <a:ea typeface="ＭＳ Ｐゴシック" pitchFamily="-84" charset="-128"/>
                <a:cs typeface="ＭＳ Ｐゴシック" pitchFamily="-84" charset="-128"/>
              </a:rPr>
              <a:t>a </a:t>
            </a:r>
            <a:r>
              <a:rPr lang="en-US" dirty="0">
                <a:latin typeface="Arial" pitchFamily="-84" charset="0"/>
                <a:ea typeface="ＭＳ Ｐゴシック" pitchFamily="-84" charset="-128"/>
                <a:cs typeface="ＭＳ Ｐゴシック" pitchFamily="-84" charset="-128"/>
              </a:rPr>
              <a:t>and include those in the first message. </a:t>
            </a:r>
          </a:p>
        </p:txBody>
      </p:sp>
    </p:spTree>
    <p:extLst>
      <p:ext uri="{BB962C8B-B14F-4D97-AF65-F5344CB8AC3E}">
        <p14:creationId xmlns:p14="http://schemas.microsoft.com/office/powerpoint/2010/main" val="140803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p>
            <a:fld id="{500A6822-6F76-464F-8448-071F9DB1E704}" type="slidenum">
              <a:rPr lang="en-AU">
                <a:latin typeface="Arial" pitchFamily="-84" charset="0"/>
              </a:rPr>
              <a:pPr/>
              <a:t>10</a:t>
            </a:fld>
            <a:endParaRPr lang="en-AU" dirty="0">
              <a:latin typeface="Arial" pitchFamily="-84" charset="0"/>
            </a:endParaRPr>
          </a:p>
        </p:txBody>
      </p:sp>
      <p:sp>
        <p:nvSpPr>
          <p:cNvPr id="29699" name="Rectangle 1026"/>
          <p:cNvSpPr>
            <a:spLocks noGrp="1" noRot="1" noChangeAspect="1" noChangeArrowheads="1"/>
          </p:cNvSpPr>
          <p:nvPr>
            <p:ph type="sldImg"/>
          </p:nvPr>
        </p:nvSpPr>
        <p:spPr>
          <a:solidFill>
            <a:srgbClr val="FFFFFF"/>
          </a:solidFill>
          <a:ln/>
        </p:spPr>
      </p:sp>
      <p:sp>
        <p:nvSpPr>
          <p:cNvPr id="29700" name="Rectangle 1027"/>
          <p:cNvSpPr>
            <a:spLocks noGrp="1" noChangeArrowheads="1"/>
          </p:cNvSpPr>
          <p:nvPr>
            <p:ph type="body" idx="1"/>
          </p:nvPr>
        </p:nvSpPr>
        <p:spPr>
          <a:noFill/>
          <a:ln/>
        </p:spPr>
        <p:txBody>
          <a:bodyPr/>
          <a:lstStyle/>
          <a:p>
            <a:pPr eaLnBrk="1" hangingPunct="1"/>
            <a:r>
              <a:rPr lang="en-US" dirty="0">
                <a:latin typeface="Arial" pitchFamily="-84" charset="0"/>
                <a:ea typeface="ＭＳ Ｐゴシック" pitchFamily="-84" charset="-128"/>
                <a:cs typeface="ＭＳ Ｐゴシック" pitchFamily="-84" charset="-128"/>
              </a:rPr>
              <a:t>Now consider a simple protocol that makes use of the Diffie-Hellman calculation. Suppose that user A wishes to set up a connection with user B and use a secret key to encrypt messages on that connection. User A can generate a one-time private key </a:t>
            </a:r>
            <a:r>
              <a:rPr lang="en-US" i="1" dirty="0">
                <a:latin typeface="Arial" pitchFamily="-84" charset="0"/>
                <a:ea typeface="ＭＳ Ｐゴシック" pitchFamily="-84" charset="-128"/>
                <a:cs typeface="ＭＳ Ｐゴシック" pitchFamily="-84" charset="-128"/>
              </a:rPr>
              <a:t>X</a:t>
            </a:r>
            <a:r>
              <a:rPr lang="en-US" i="1" baseline="-25000" dirty="0">
                <a:latin typeface="Arial" pitchFamily="-84" charset="0"/>
                <a:ea typeface="ＭＳ Ｐゴシック" pitchFamily="-84" charset="-128"/>
                <a:cs typeface="ＭＳ Ｐゴシック" pitchFamily="-84" charset="-128"/>
              </a:rPr>
              <a:t>A</a:t>
            </a:r>
            <a:r>
              <a:rPr lang="en-US" i="1" dirty="0">
                <a:latin typeface="Arial" pitchFamily="-84" charset="0"/>
                <a:ea typeface="ＭＳ Ｐゴシック" pitchFamily="-84" charset="-128"/>
                <a:cs typeface="ＭＳ Ｐゴシック" pitchFamily="-84" charset="-128"/>
              </a:rPr>
              <a:t>, </a:t>
            </a:r>
            <a:r>
              <a:rPr lang="en-US" dirty="0">
                <a:latin typeface="Arial" pitchFamily="-84" charset="0"/>
                <a:ea typeface="ＭＳ Ｐゴシック" pitchFamily="-84" charset="-128"/>
                <a:cs typeface="ＭＳ Ｐゴシック" pitchFamily="-84" charset="-128"/>
              </a:rPr>
              <a:t>calculate </a:t>
            </a:r>
            <a:r>
              <a:rPr lang="en-US" i="1" dirty="0">
                <a:latin typeface="Arial" pitchFamily="-84" charset="0"/>
                <a:ea typeface="ＭＳ Ｐゴシック" pitchFamily="-84" charset="-128"/>
                <a:cs typeface="ＭＳ Ｐゴシック" pitchFamily="-84" charset="-128"/>
              </a:rPr>
              <a:t>Y</a:t>
            </a:r>
            <a:r>
              <a:rPr lang="en-US" i="1" baseline="-25000" dirty="0">
                <a:latin typeface="Arial" pitchFamily="-84" charset="0"/>
                <a:ea typeface="ＭＳ Ｐゴシック" pitchFamily="-84" charset="-128"/>
                <a:cs typeface="ＭＳ Ｐゴシック" pitchFamily="-84" charset="-128"/>
              </a:rPr>
              <a:t>A</a:t>
            </a:r>
            <a:r>
              <a:rPr lang="en-US" i="1" dirty="0">
                <a:latin typeface="Arial" pitchFamily="-84" charset="0"/>
                <a:ea typeface="ＭＳ Ｐゴシック" pitchFamily="-84" charset="-128"/>
                <a:cs typeface="ＭＳ Ｐゴシック" pitchFamily="-84" charset="-128"/>
              </a:rPr>
              <a:t>, </a:t>
            </a:r>
            <a:r>
              <a:rPr lang="en-US" dirty="0">
                <a:latin typeface="Arial" pitchFamily="-84" charset="0"/>
                <a:ea typeface="ＭＳ Ｐゴシック" pitchFamily="-84" charset="-128"/>
                <a:cs typeface="ＭＳ Ｐゴシック" pitchFamily="-84" charset="-128"/>
              </a:rPr>
              <a:t>and send that to user </a:t>
            </a:r>
            <a:r>
              <a:rPr lang="en-US" i="1" dirty="0">
                <a:latin typeface="Arial" pitchFamily="-84" charset="0"/>
                <a:ea typeface="ＭＳ Ｐゴシック" pitchFamily="-84" charset="-128"/>
                <a:cs typeface="ＭＳ Ｐゴシック" pitchFamily="-84" charset="-128"/>
              </a:rPr>
              <a:t>B. </a:t>
            </a:r>
            <a:r>
              <a:rPr lang="en-US" dirty="0">
                <a:latin typeface="Arial" pitchFamily="-84" charset="0"/>
                <a:ea typeface="ＭＳ Ｐゴシック" pitchFamily="-84" charset="-128"/>
                <a:cs typeface="ＭＳ Ｐゴシック" pitchFamily="-84" charset="-128"/>
              </a:rPr>
              <a:t>User </a:t>
            </a:r>
            <a:r>
              <a:rPr lang="en-US" i="1" dirty="0">
                <a:latin typeface="Arial" pitchFamily="-84" charset="0"/>
                <a:ea typeface="ＭＳ Ｐゴシック" pitchFamily="-84" charset="-128"/>
                <a:cs typeface="ＭＳ Ｐゴシック" pitchFamily="-84" charset="-128"/>
              </a:rPr>
              <a:t>B </a:t>
            </a:r>
            <a:r>
              <a:rPr lang="en-US" dirty="0">
                <a:latin typeface="Arial" pitchFamily="-84" charset="0"/>
                <a:ea typeface="ＭＳ Ｐゴシック" pitchFamily="-84" charset="-128"/>
                <a:cs typeface="ＭＳ Ｐゴシック" pitchFamily="-84" charset="-128"/>
              </a:rPr>
              <a:t>responds by generating a private value </a:t>
            </a:r>
            <a:r>
              <a:rPr lang="en-US" i="1" dirty="0">
                <a:latin typeface="Arial" pitchFamily="-84" charset="0"/>
                <a:ea typeface="ＭＳ Ｐゴシック" pitchFamily="-84" charset="-128"/>
                <a:cs typeface="ＭＳ Ｐゴシック" pitchFamily="-84" charset="-128"/>
              </a:rPr>
              <a:t>X</a:t>
            </a:r>
            <a:r>
              <a:rPr lang="en-US" i="1" baseline="-25000" dirty="0">
                <a:latin typeface="Arial" pitchFamily="-84" charset="0"/>
                <a:ea typeface="ＭＳ Ｐゴシック" pitchFamily="-84" charset="-128"/>
                <a:cs typeface="ＭＳ Ｐゴシック" pitchFamily="-84" charset="-128"/>
              </a:rPr>
              <a:t>B</a:t>
            </a:r>
            <a:r>
              <a:rPr lang="en-US" i="1" dirty="0">
                <a:latin typeface="Arial" pitchFamily="-84" charset="0"/>
                <a:ea typeface="ＭＳ Ｐゴシック" pitchFamily="-84" charset="-128"/>
                <a:cs typeface="ＭＳ Ｐゴシック" pitchFamily="-84" charset="-128"/>
              </a:rPr>
              <a:t>, </a:t>
            </a:r>
            <a:r>
              <a:rPr lang="en-US" dirty="0">
                <a:latin typeface="Arial" pitchFamily="-84" charset="0"/>
                <a:ea typeface="ＭＳ Ｐゴシック" pitchFamily="-84" charset="-128"/>
                <a:cs typeface="ＭＳ Ｐゴシック" pitchFamily="-84" charset="-128"/>
              </a:rPr>
              <a:t>calculating </a:t>
            </a:r>
            <a:r>
              <a:rPr lang="en-US" i="1" dirty="0">
                <a:latin typeface="Arial" pitchFamily="-84" charset="0"/>
                <a:ea typeface="ＭＳ Ｐゴシック" pitchFamily="-84" charset="-128"/>
                <a:cs typeface="ＭＳ Ｐゴシック" pitchFamily="-84" charset="-128"/>
              </a:rPr>
              <a:t>Y</a:t>
            </a:r>
            <a:r>
              <a:rPr lang="en-US" i="1" baseline="-25000" dirty="0">
                <a:latin typeface="Arial" pitchFamily="-84" charset="0"/>
                <a:ea typeface="ＭＳ Ｐゴシック" pitchFamily="-84" charset="-128"/>
                <a:cs typeface="ＭＳ Ｐゴシック" pitchFamily="-84" charset="-128"/>
              </a:rPr>
              <a:t>B</a:t>
            </a:r>
            <a:r>
              <a:rPr lang="en-US" i="1" dirty="0">
                <a:latin typeface="Arial" pitchFamily="-84" charset="0"/>
                <a:ea typeface="ＭＳ Ｐゴシック" pitchFamily="-84" charset="-128"/>
                <a:cs typeface="ＭＳ Ｐゴシック" pitchFamily="-84" charset="-128"/>
              </a:rPr>
              <a:t>, </a:t>
            </a:r>
            <a:r>
              <a:rPr lang="en-US" dirty="0">
                <a:latin typeface="Arial" pitchFamily="-84" charset="0"/>
                <a:ea typeface="ＭＳ Ｐゴシック" pitchFamily="-84" charset="-128"/>
                <a:cs typeface="ＭＳ Ｐゴシック" pitchFamily="-84" charset="-128"/>
              </a:rPr>
              <a:t>and sending </a:t>
            </a:r>
            <a:r>
              <a:rPr lang="en-US" i="1" dirty="0">
                <a:latin typeface="Arial" pitchFamily="-84" charset="0"/>
                <a:ea typeface="ＭＳ Ｐゴシック" pitchFamily="-84" charset="-128"/>
                <a:cs typeface="ＭＳ Ｐゴシック" pitchFamily="-84" charset="-128"/>
              </a:rPr>
              <a:t>Y</a:t>
            </a:r>
            <a:r>
              <a:rPr lang="en-US" i="1" baseline="-25000" dirty="0">
                <a:latin typeface="Arial" pitchFamily="-84" charset="0"/>
                <a:ea typeface="ＭＳ Ｐゴシック" pitchFamily="-84" charset="-128"/>
                <a:cs typeface="ＭＳ Ｐゴシック" pitchFamily="-84" charset="-128"/>
              </a:rPr>
              <a:t>B</a:t>
            </a:r>
            <a:r>
              <a:rPr lang="en-US" i="1" dirty="0">
                <a:latin typeface="Arial" pitchFamily="-84" charset="0"/>
                <a:ea typeface="ＭＳ Ｐゴシック" pitchFamily="-84" charset="-128"/>
                <a:cs typeface="ＭＳ Ｐゴシック" pitchFamily="-84" charset="-128"/>
              </a:rPr>
              <a:t> </a:t>
            </a:r>
            <a:r>
              <a:rPr lang="en-US" dirty="0">
                <a:latin typeface="Arial" pitchFamily="-84" charset="0"/>
                <a:ea typeface="ＭＳ Ｐゴシック" pitchFamily="-84" charset="-128"/>
                <a:cs typeface="ＭＳ Ｐゴシック" pitchFamily="-84" charset="-128"/>
              </a:rPr>
              <a:t>to user </a:t>
            </a:r>
            <a:r>
              <a:rPr lang="en-US" i="1" dirty="0">
                <a:latin typeface="Arial" pitchFamily="-84" charset="0"/>
                <a:ea typeface="ＭＳ Ｐゴシック" pitchFamily="-84" charset="-128"/>
                <a:cs typeface="ＭＳ Ｐゴシック" pitchFamily="-84" charset="-128"/>
              </a:rPr>
              <a:t>A. </a:t>
            </a:r>
            <a:r>
              <a:rPr lang="en-US" dirty="0">
                <a:latin typeface="Arial" pitchFamily="-84" charset="0"/>
                <a:ea typeface="ＭＳ Ｐゴシック" pitchFamily="-84" charset="-128"/>
                <a:cs typeface="ＭＳ Ｐゴシック" pitchFamily="-84" charset="-128"/>
              </a:rPr>
              <a:t>Both users can now calculate the key. The necessary public values </a:t>
            </a:r>
            <a:r>
              <a:rPr lang="en-US" i="1" dirty="0">
                <a:latin typeface="Arial" pitchFamily="-84" charset="0"/>
                <a:ea typeface="ＭＳ Ｐゴシック" pitchFamily="-84" charset="-128"/>
                <a:cs typeface="ＭＳ Ｐゴシック" pitchFamily="-84" charset="-128"/>
              </a:rPr>
              <a:t>q </a:t>
            </a:r>
            <a:r>
              <a:rPr lang="en-US" dirty="0">
                <a:latin typeface="Arial" pitchFamily="-84" charset="0"/>
                <a:ea typeface="ＭＳ Ｐゴシック" pitchFamily="-84" charset="-128"/>
                <a:cs typeface="ＭＳ Ｐゴシック" pitchFamily="-84" charset="-128"/>
              </a:rPr>
              <a:t>and </a:t>
            </a:r>
            <a:r>
              <a:rPr lang="en-US" i="1" dirty="0">
                <a:latin typeface="Arial" pitchFamily="-84" charset="0"/>
                <a:ea typeface="ＭＳ Ｐゴシック" pitchFamily="-84" charset="-128"/>
                <a:cs typeface="ＭＳ Ｐゴシック" pitchFamily="-84" charset="-128"/>
              </a:rPr>
              <a:t>a </a:t>
            </a:r>
            <a:r>
              <a:rPr lang="en-US" dirty="0">
                <a:latin typeface="Arial" pitchFamily="-84" charset="0"/>
                <a:ea typeface="ＭＳ Ｐゴシック" pitchFamily="-84" charset="-128"/>
                <a:cs typeface="ＭＳ Ｐゴシック" pitchFamily="-84" charset="-128"/>
              </a:rPr>
              <a:t>would need to be known ahead of time. Alternatively, user </a:t>
            </a:r>
            <a:r>
              <a:rPr lang="en-US" i="1" dirty="0">
                <a:latin typeface="Arial" pitchFamily="-84" charset="0"/>
                <a:ea typeface="ＭＳ Ｐゴシック" pitchFamily="-84" charset="-128"/>
                <a:cs typeface="ＭＳ Ｐゴシック" pitchFamily="-84" charset="-128"/>
              </a:rPr>
              <a:t>A </a:t>
            </a:r>
            <a:r>
              <a:rPr lang="en-US" dirty="0">
                <a:latin typeface="Arial" pitchFamily="-84" charset="0"/>
                <a:ea typeface="ＭＳ Ｐゴシック" pitchFamily="-84" charset="-128"/>
                <a:cs typeface="ＭＳ Ｐゴシック" pitchFamily="-84" charset="-128"/>
              </a:rPr>
              <a:t>could pick values for </a:t>
            </a:r>
            <a:r>
              <a:rPr lang="en-US" i="1" dirty="0">
                <a:latin typeface="Arial" pitchFamily="-84" charset="0"/>
                <a:ea typeface="ＭＳ Ｐゴシック" pitchFamily="-84" charset="-128"/>
                <a:cs typeface="ＭＳ Ｐゴシック" pitchFamily="-84" charset="-128"/>
              </a:rPr>
              <a:t>q </a:t>
            </a:r>
            <a:r>
              <a:rPr lang="en-US" dirty="0">
                <a:latin typeface="Arial" pitchFamily="-84" charset="0"/>
                <a:ea typeface="ＭＳ Ｐゴシック" pitchFamily="-84" charset="-128"/>
                <a:cs typeface="ＭＳ Ｐゴシック" pitchFamily="-84" charset="-128"/>
              </a:rPr>
              <a:t>and </a:t>
            </a:r>
            <a:r>
              <a:rPr lang="en-US" i="1" dirty="0">
                <a:latin typeface="Arial" pitchFamily="-84" charset="0"/>
                <a:ea typeface="ＭＳ Ｐゴシック" pitchFamily="-84" charset="-128"/>
                <a:cs typeface="ＭＳ Ｐゴシック" pitchFamily="-84" charset="-128"/>
              </a:rPr>
              <a:t>a </a:t>
            </a:r>
            <a:r>
              <a:rPr lang="en-US" dirty="0">
                <a:latin typeface="Arial" pitchFamily="-84" charset="0"/>
                <a:ea typeface="ＭＳ Ｐゴシック" pitchFamily="-84" charset="-128"/>
                <a:cs typeface="ＭＳ Ｐゴシック" pitchFamily="-84" charset="-128"/>
              </a:rPr>
              <a:t>and include those in the first message. </a:t>
            </a:r>
          </a:p>
        </p:txBody>
      </p:sp>
    </p:spTree>
    <p:extLst>
      <p:ext uri="{BB962C8B-B14F-4D97-AF65-F5344CB8AC3E}">
        <p14:creationId xmlns:p14="http://schemas.microsoft.com/office/powerpoint/2010/main" val="8228431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p:cNvSpPr>
          <p:nvPr>
            <p:ph type="sldImg"/>
          </p:nvPr>
        </p:nvSpPr>
        <p:spPr>
          <a:ln/>
        </p:spPr>
      </p:sp>
      <p:sp>
        <p:nvSpPr>
          <p:cNvPr id="31747" name="Notes Placeholder 2"/>
          <p:cNvSpPr>
            <a:spLocks noGrp="1"/>
          </p:cNvSpPr>
          <p:nvPr>
            <p:ph type="body" idx="1"/>
          </p:nvPr>
        </p:nvSpPr>
        <p:spPr>
          <a:xfrm>
            <a:off x="685800" y="4343400"/>
            <a:ext cx="5486400" cy="4341813"/>
          </a:xfrm>
          <a:noFill/>
          <a:ln/>
        </p:spPr>
        <p:txBody>
          <a:bodyPr>
            <a:normAutofit lnSpcReduction="10000"/>
          </a:bodyPr>
          <a:lstStyle/>
          <a:p>
            <a:r>
              <a:rPr lang="en-US" sz="1200" kern="1200" baseline="0" dirty="0">
                <a:solidFill>
                  <a:schemeClr val="tx1"/>
                </a:solidFill>
                <a:latin typeface="Arial" charset="0"/>
                <a:ea typeface="ＭＳ Ｐゴシック" charset="-128"/>
                <a:cs typeface="ＭＳ Ｐゴシック" charset="-128"/>
              </a:rPr>
              <a:t>The protocol depicted in Figure 10.1 is insecure against a man-in-the-middle attack.</a:t>
            </a:r>
          </a:p>
          <a:p>
            <a:r>
              <a:rPr lang="en-US" sz="1200" kern="1200" baseline="0" dirty="0">
                <a:solidFill>
                  <a:schemeClr val="tx1"/>
                </a:solidFill>
                <a:latin typeface="Arial" charset="0"/>
                <a:ea typeface="ＭＳ Ｐゴシック" charset="-128"/>
                <a:cs typeface="ＭＳ Ｐゴシック" charset="-128"/>
              </a:rPr>
              <a:t>Suppose Alice and Bob wish to exchange keys, and Darth is the adversary. The</a:t>
            </a:r>
          </a:p>
          <a:p>
            <a:r>
              <a:rPr lang="en-US" sz="1200" kern="1200" baseline="0" dirty="0">
                <a:solidFill>
                  <a:schemeClr val="tx1"/>
                </a:solidFill>
                <a:latin typeface="Arial" charset="0"/>
                <a:ea typeface="ＭＳ Ｐゴシック" charset="-128"/>
                <a:cs typeface="ＭＳ Ｐゴシック" charset="-128"/>
              </a:rPr>
              <a:t>attack proceeds as follows (Figure 10.2).</a:t>
            </a:r>
          </a:p>
          <a:p>
            <a:endParaRPr lang="en-US" sz="1100" dirty="0">
              <a:latin typeface="Arial" pitchFamily="-84" charset="0"/>
              <a:ea typeface="ＭＳ Ｐゴシック" pitchFamily="-84" charset="-128"/>
              <a:cs typeface="ＭＳ Ｐゴシック" pitchFamily="-84" charset="-128"/>
            </a:endParaRPr>
          </a:p>
          <a:p>
            <a:pPr eaLnBrk="1" hangingPunct="1">
              <a:lnSpc>
                <a:spcPct val="90000"/>
              </a:lnSpc>
              <a:buFontTx/>
              <a:buAutoNum type="arabicPeriod"/>
            </a:pPr>
            <a:r>
              <a:rPr lang="en-US" sz="1100" dirty="0">
                <a:latin typeface="Arial" pitchFamily="-84" charset="0"/>
                <a:ea typeface="ＭＳ Ｐゴシック" pitchFamily="-84" charset="-128"/>
                <a:cs typeface="ＭＳ Ｐゴシック" pitchFamily="-84" charset="-128"/>
              </a:rPr>
              <a:t>Darth prepares for the attack by generating two random private keys X</a:t>
            </a:r>
            <a:r>
              <a:rPr lang="en-US" sz="1100" baseline="-25000" dirty="0">
                <a:latin typeface="Arial" pitchFamily="-84" charset="0"/>
                <a:ea typeface="ＭＳ Ｐゴシック" pitchFamily="-84" charset="-128"/>
                <a:cs typeface="ＭＳ Ｐゴシック" pitchFamily="-84" charset="-128"/>
              </a:rPr>
              <a:t>D1</a:t>
            </a:r>
            <a:r>
              <a:rPr lang="en-US" sz="1100" dirty="0">
                <a:latin typeface="Arial" pitchFamily="-84" charset="0"/>
                <a:ea typeface="ＭＳ Ｐゴシック" pitchFamily="-84" charset="-128"/>
                <a:cs typeface="ＭＳ Ｐゴシック" pitchFamily="-84" charset="-128"/>
              </a:rPr>
              <a:t> and X</a:t>
            </a:r>
            <a:r>
              <a:rPr lang="en-US" sz="1100" baseline="-25000" dirty="0">
                <a:latin typeface="Arial" pitchFamily="-84" charset="0"/>
                <a:ea typeface="ＭＳ Ｐゴシック" pitchFamily="-84" charset="-128"/>
                <a:cs typeface="ＭＳ Ｐゴシック" pitchFamily="-84" charset="-128"/>
              </a:rPr>
              <a:t>D2</a:t>
            </a:r>
            <a:r>
              <a:rPr lang="en-US" sz="1100" dirty="0">
                <a:latin typeface="Arial" pitchFamily="-84" charset="0"/>
                <a:ea typeface="ＭＳ Ｐゴシック" pitchFamily="-84" charset="-128"/>
                <a:cs typeface="ＭＳ Ｐゴシック" pitchFamily="-84" charset="-128"/>
              </a:rPr>
              <a:t> and then computing the corresponding public keys Y</a:t>
            </a:r>
            <a:r>
              <a:rPr lang="en-US" sz="1100" baseline="-25000" dirty="0">
                <a:latin typeface="Arial" pitchFamily="-84" charset="0"/>
                <a:ea typeface="ＭＳ Ｐゴシック" pitchFamily="-84" charset="-128"/>
                <a:cs typeface="ＭＳ Ｐゴシック" pitchFamily="-84" charset="-128"/>
              </a:rPr>
              <a:t>D1</a:t>
            </a:r>
            <a:r>
              <a:rPr lang="en-US" sz="1100" dirty="0">
                <a:latin typeface="Arial" pitchFamily="-84" charset="0"/>
                <a:ea typeface="ＭＳ Ｐゴシック" pitchFamily="-84" charset="-128"/>
                <a:cs typeface="ＭＳ Ｐゴシック" pitchFamily="-84" charset="-128"/>
              </a:rPr>
              <a:t> and Y</a:t>
            </a:r>
            <a:r>
              <a:rPr lang="en-US" sz="1100" baseline="-25000" dirty="0">
                <a:latin typeface="Arial" pitchFamily="-84" charset="0"/>
                <a:ea typeface="ＭＳ Ｐゴシック" pitchFamily="-84" charset="-128"/>
                <a:cs typeface="ＭＳ Ｐゴシック" pitchFamily="-84" charset="-128"/>
              </a:rPr>
              <a:t>D2</a:t>
            </a:r>
          </a:p>
          <a:p>
            <a:pPr eaLnBrk="1" hangingPunct="1">
              <a:lnSpc>
                <a:spcPct val="90000"/>
              </a:lnSpc>
              <a:buFontTx/>
              <a:buAutoNum type="arabicPeriod"/>
            </a:pPr>
            <a:r>
              <a:rPr lang="en-US" sz="1100" dirty="0">
                <a:latin typeface="Arial" pitchFamily="-84" charset="0"/>
                <a:ea typeface="ＭＳ Ｐゴシック" pitchFamily="-84" charset="-128"/>
                <a:cs typeface="ＭＳ Ｐゴシック" pitchFamily="-84" charset="-128"/>
              </a:rPr>
              <a:t> Alice transmits Y</a:t>
            </a:r>
            <a:r>
              <a:rPr lang="en-US" sz="1100" baseline="-25000" dirty="0">
                <a:latin typeface="Arial" pitchFamily="-84" charset="0"/>
                <a:ea typeface="ＭＳ Ｐゴシック" pitchFamily="-84" charset="-128"/>
                <a:cs typeface="ＭＳ Ｐゴシック" pitchFamily="-84" charset="-128"/>
              </a:rPr>
              <a:t>A</a:t>
            </a:r>
            <a:r>
              <a:rPr lang="en-US" sz="1100" dirty="0">
                <a:latin typeface="Arial" pitchFamily="-84" charset="0"/>
                <a:ea typeface="ＭＳ Ｐゴシック" pitchFamily="-84" charset="-128"/>
                <a:cs typeface="ＭＳ Ｐゴシック" pitchFamily="-84" charset="-128"/>
              </a:rPr>
              <a:t> to Bob. </a:t>
            </a:r>
          </a:p>
          <a:p>
            <a:pPr eaLnBrk="1" hangingPunct="1">
              <a:lnSpc>
                <a:spcPct val="90000"/>
              </a:lnSpc>
              <a:buFontTx/>
              <a:buAutoNum type="arabicPeriod"/>
            </a:pPr>
            <a:r>
              <a:rPr lang="en-US" sz="1100" dirty="0">
                <a:latin typeface="Arial" pitchFamily="-84" charset="0"/>
                <a:ea typeface="ＭＳ Ｐゴシック" pitchFamily="-84" charset="-128"/>
                <a:cs typeface="ＭＳ Ｐゴシック" pitchFamily="-84" charset="-128"/>
              </a:rPr>
              <a:t> Darth intercepts Y</a:t>
            </a:r>
            <a:r>
              <a:rPr lang="en-US" sz="1100" baseline="-25000" dirty="0">
                <a:latin typeface="Arial" pitchFamily="-84" charset="0"/>
                <a:ea typeface="ＭＳ Ｐゴシック" pitchFamily="-84" charset="-128"/>
                <a:cs typeface="ＭＳ Ｐゴシック" pitchFamily="-84" charset="-128"/>
              </a:rPr>
              <a:t>A</a:t>
            </a:r>
            <a:r>
              <a:rPr lang="en-US" sz="1100" dirty="0">
                <a:latin typeface="Arial" pitchFamily="-84" charset="0"/>
                <a:ea typeface="ＭＳ Ｐゴシック" pitchFamily="-84" charset="-128"/>
                <a:cs typeface="ＭＳ Ｐゴシック" pitchFamily="-84" charset="-128"/>
              </a:rPr>
              <a:t> and transmits Y</a:t>
            </a:r>
            <a:r>
              <a:rPr lang="en-US" sz="1100" baseline="-25000" dirty="0">
                <a:latin typeface="Arial" pitchFamily="-84" charset="0"/>
                <a:ea typeface="ＭＳ Ｐゴシック" pitchFamily="-84" charset="-128"/>
                <a:cs typeface="ＭＳ Ｐゴシック" pitchFamily="-84" charset="-128"/>
              </a:rPr>
              <a:t>D1</a:t>
            </a:r>
            <a:r>
              <a:rPr lang="en-US" sz="1100" dirty="0">
                <a:latin typeface="Arial" pitchFamily="-84" charset="0"/>
                <a:ea typeface="ＭＳ Ｐゴシック" pitchFamily="-84" charset="-128"/>
                <a:cs typeface="ＭＳ Ｐゴシック" pitchFamily="-84" charset="-128"/>
              </a:rPr>
              <a:t> to Bob. Darth also calculates K2 = (Y</a:t>
            </a:r>
            <a:r>
              <a:rPr lang="en-US" sz="1100" baseline="-25000" dirty="0">
                <a:latin typeface="Arial" pitchFamily="-84" charset="0"/>
                <a:ea typeface="ＭＳ Ｐゴシック" pitchFamily="-84" charset="-128"/>
                <a:cs typeface="ＭＳ Ｐゴシック" pitchFamily="-84" charset="-128"/>
              </a:rPr>
              <a:t>A</a:t>
            </a:r>
            <a:r>
              <a:rPr lang="en-US" sz="1100" dirty="0">
                <a:latin typeface="Arial" pitchFamily="-84" charset="0"/>
                <a:ea typeface="ＭＳ Ｐゴシック" pitchFamily="-84" charset="-128"/>
                <a:cs typeface="ＭＳ Ｐゴシック" pitchFamily="-84" charset="-128"/>
              </a:rPr>
              <a:t>  )^ X</a:t>
            </a:r>
            <a:r>
              <a:rPr lang="en-US" sz="1100" baseline="-25000" dirty="0">
                <a:latin typeface="Arial" pitchFamily="-84" charset="0"/>
                <a:ea typeface="ＭＳ Ｐゴシック" pitchFamily="-84" charset="-128"/>
                <a:cs typeface="ＭＳ Ｐゴシック" pitchFamily="-84" charset="-128"/>
              </a:rPr>
              <a:t>D2 </a:t>
            </a:r>
            <a:r>
              <a:rPr lang="en-US" sz="1100" dirty="0">
                <a:latin typeface="Arial" pitchFamily="-84" charset="0"/>
                <a:ea typeface="ＭＳ Ｐゴシック" pitchFamily="-84" charset="-128"/>
                <a:cs typeface="ＭＳ Ｐゴシック" pitchFamily="-84" charset="-128"/>
              </a:rPr>
              <a:t>mod q  </a:t>
            </a:r>
          </a:p>
          <a:p>
            <a:pPr eaLnBrk="1" hangingPunct="1">
              <a:lnSpc>
                <a:spcPct val="90000"/>
              </a:lnSpc>
              <a:buFontTx/>
              <a:buAutoNum type="arabicPeriod"/>
            </a:pPr>
            <a:r>
              <a:rPr lang="en-US" sz="1100" dirty="0">
                <a:latin typeface="Arial" pitchFamily="-84" charset="0"/>
                <a:ea typeface="ＭＳ Ｐゴシック" pitchFamily="-84" charset="-128"/>
                <a:cs typeface="ＭＳ Ｐゴシック" pitchFamily="-84" charset="-128"/>
              </a:rPr>
              <a:t>Bob receives Y</a:t>
            </a:r>
            <a:r>
              <a:rPr lang="en-US" sz="1100" baseline="-25000" dirty="0">
                <a:latin typeface="Arial" pitchFamily="-84" charset="0"/>
                <a:ea typeface="ＭＳ Ｐゴシック" pitchFamily="-84" charset="-128"/>
                <a:cs typeface="ＭＳ Ｐゴシック" pitchFamily="-84" charset="-128"/>
              </a:rPr>
              <a:t>D1 </a:t>
            </a:r>
            <a:r>
              <a:rPr lang="en-US" sz="1100" dirty="0">
                <a:latin typeface="Arial" pitchFamily="-84" charset="0"/>
                <a:ea typeface="ＭＳ Ｐゴシック" pitchFamily="-84" charset="-128"/>
                <a:cs typeface="ＭＳ Ｐゴシック" pitchFamily="-84" charset="-128"/>
              </a:rPr>
              <a:t>and calculates K1=(Y</a:t>
            </a:r>
            <a:r>
              <a:rPr lang="en-US" sz="1100" baseline="-25000" dirty="0">
                <a:latin typeface="Arial" pitchFamily="-84" charset="0"/>
                <a:ea typeface="ＭＳ Ｐゴシック" pitchFamily="-84" charset="-128"/>
                <a:cs typeface="ＭＳ Ｐゴシック" pitchFamily="-84" charset="-128"/>
              </a:rPr>
              <a:t>D1 </a:t>
            </a:r>
            <a:r>
              <a:rPr lang="en-US" sz="1100" dirty="0">
                <a:latin typeface="Arial" pitchFamily="-84" charset="0"/>
                <a:ea typeface="ＭＳ Ｐゴシック" pitchFamily="-84" charset="-128"/>
                <a:cs typeface="ＭＳ Ｐゴシック" pitchFamily="-84" charset="-128"/>
              </a:rPr>
              <a:t>)^ X</a:t>
            </a:r>
            <a:r>
              <a:rPr lang="en-US" sz="1100" baseline="-25000" dirty="0">
                <a:latin typeface="Arial" pitchFamily="-84" charset="0"/>
                <a:ea typeface="ＭＳ Ｐゴシック" pitchFamily="-84" charset="-128"/>
                <a:cs typeface="ＭＳ Ｐゴシック" pitchFamily="-84" charset="-128"/>
              </a:rPr>
              <a:t>B</a:t>
            </a:r>
            <a:r>
              <a:rPr lang="en-US" sz="1100" dirty="0">
                <a:latin typeface="Arial" pitchFamily="-84" charset="0"/>
                <a:ea typeface="ＭＳ Ｐゴシック" pitchFamily="-84" charset="-128"/>
                <a:cs typeface="ＭＳ Ｐゴシック" pitchFamily="-84" charset="-128"/>
              </a:rPr>
              <a:t> mod q</a:t>
            </a:r>
          </a:p>
          <a:p>
            <a:pPr eaLnBrk="1" hangingPunct="1">
              <a:lnSpc>
                <a:spcPct val="90000"/>
              </a:lnSpc>
              <a:buFontTx/>
              <a:buAutoNum type="arabicPeriod"/>
            </a:pPr>
            <a:r>
              <a:rPr lang="en-US" sz="1100" dirty="0">
                <a:latin typeface="Arial" pitchFamily="-84" charset="0"/>
                <a:ea typeface="ＭＳ Ｐゴシック" pitchFamily="-84" charset="-128"/>
                <a:cs typeface="ＭＳ Ｐゴシック" pitchFamily="-84" charset="-128"/>
              </a:rPr>
              <a:t>Bob transmits Y</a:t>
            </a:r>
            <a:r>
              <a:rPr lang="en-US" sz="1100" baseline="-25000" dirty="0">
                <a:latin typeface="Arial" pitchFamily="-84" charset="0"/>
                <a:ea typeface="ＭＳ Ｐゴシック" pitchFamily="-84" charset="-128"/>
                <a:cs typeface="ＭＳ Ｐゴシック" pitchFamily="-84" charset="-128"/>
              </a:rPr>
              <a:t>B</a:t>
            </a:r>
            <a:r>
              <a:rPr lang="en-US" sz="1100" dirty="0">
                <a:latin typeface="Arial" pitchFamily="-84" charset="0"/>
                <a:ea typeface="ＭＳ Ｐゴシック" pitchFamily="-84" charset="-128"/>
                <a:cs typeface="ＭＳ Ｐゴシック" pitchFamily="-84" charset="-128"/>
              </a:rPr>
              <a:t> to Alice.  </a:t>
            </a:r>
          </a:p>
          <a:p>
            <a:pPr eaLnBrk="1" hangingPunct="1">
              <a:lnSpc>
                <a:spcPct val="90000"/>
              </a:lnSpc>
              <a:buFontTx/>
              <a:buAutoNum type="arabicPeriod"/>
            </a:pPr>
            <a:r>
              <a:rPr lang="en-US" sz="1100" dirty="0">
                <a:latin typeface="Arial" pitchFamily="-84" charset="0"/>
                <a:ea typeface="ＭＳ Ｐゴシック" pitchFamily="-84" charset="-128"/>
                <a:cs typeface="ＭＳ Ｐゴシック" pitchFamily="-84" charset="-128"/>
              </a:rPr>
              <a:t>Darth intercepts Y</a:t>
            </a:r>
            <a:r>
              <a:rPr lang="en-US" sz="1100" baseline="-25000" dirty="0">
                <a:latin typeface="Arial" pitchFamily="-84" charset="0"/>
                <a:ea typeface="ＭＳ Ｐゴシック" pitchFamily="-84" charset="-128"/>
                <a:cs typeface="ＭＳ Ｐゴシック" pitchFamily="-84" charset="-128"/>
              </a:rPr>
              <a:t>B </a:t>
            </a:r>
            <a:r>
              <a:rPr lang="en-US" sz="1100" dirty="0">
                <a:latin typeface="Arial" pitchFamily="-84" charset="0"/>
                <a:ea typeface="ＭＳ Ｐゴシック" pitchFamily="-84" charset="-128"/>
                <a:cs typeface="ＭＳ Ｐゴシック" pitchFamily="-84" charset="-128"/>
              </a:rPr>
              <a:t>and transmits Y</a:t>
            </a:r>
            <a:r>
              <a:rPr lang="en-US" sz="1100" baseline="-25000" dirty="0">
                <a:latin typeface="Arial" pitchFamily="-84" charset="0"/>
                <a:ea typeface="ＭＳ Ｐゴシック" pitchFamily="-84" charset="-128"/>
                <a:cs typeface="ＭＳ Ｐゴシック" pitchFamily="-84" charset="-128"/>
              </a:rPr>
              <a:t>D2 </a:t>
            </a:r>
            <a:r>
              <a:rPr lang="en-US" sz="1100" dirty="0">
                <a:latin typeface="Arial" pitchFamily="-84" charset="0"/>
                <a:ea typeface="ＭＳ Ｐゴシック" pitchFamily="-84" charset="-128"/>
                <a:cs typeface="ＭＳ Ｐゴシック" pitchFamily="-84" charset="-128"/>
              </a:rPr>
              <a:t>to Alice. Darth calculates K1=(Y</a:t>
            </a:r>
            <a:r>
              <a:rPr lang="en-US" sz="1100" baseline="-25000" dirty="0">
                <a:latin typeface="Arial" pitchFamily="-84" charset="0"/>
                <a:ea typeface="ＭＳ Ｐゴシック" pitchFamily="-84" charset="-128"/>
                <a:cs typeface="ＭＳ Ｐゴシック" pitchFamily="-84" charset="-128"/>
              </a:rPr>
              <a:t>B</a:t>
            </a:r>
            <a:r>
              <a:rPr lang="en-US" sz="1100" dirty="0">
                <a:latin typeface="Arial" pitchFamily="-84" charset="0"/>
                <a:ea typeface="ＭＳ Ｐゴシック" pitchFamily="-84" charset="-128"/>
                <a:cs typeface="ＭＳ Ｐゴシック" pitchFamily="-84" charset="-128"/>
              </a:rPr>
              <a:t> )^ X</a:t>
            </a:r>
            <a:r>
              <a:rPr lang="en-US" sz="1100" baseline="-25000" dirty="0">
                <a:latin typeface="Arial" pitchFamily="-84" charset="0"/>
                <a:ea typeface="ＭＳ Ｐゴシック" pitchFamily="-84" charset="-128"/>
                <a:cs typeface="ＭＳ Ｐゴシック" pitchFamily="-84" charset="-128"/>
              </a:rPr>
              <a:t>D1</a:t>
            </a:r>
            <a:r>
              <a:rPr lang="en-US" sz="1100" dirty="0">
                <a:latin typeface="Arial" pitchFamily="-84" charset="0"/>
                <a:ea typeface="ＭＳ Ｐゴシック" pitchFamily="-84" charset="-128"/>
                <a:cs typeface="ＭＳ Ｐゴシック" pitchFamily="-84" charset="-128"/>
              </a:rPr>
              <a:t>  mod q</a:t>
            </a:r>
          </a:p>
          <a:p>
            <a:pPr eaLnBrk="1" hangingPunct="1">
              <a:lnSpc>
                <a:spcPct val="90000"/>
              </a:lnSpc>
              <a:buFontTx/>
              <a:buAutoNum type="arabicPeriod"/>
            </a:pPr>
            <a:r>
              <a:rPr lang="en-US" sz="1100" dirty="0">
                <a:latin typeface="Arial" pitchFamily="-84" charset="0"/>
                <a:ea typeface="ＭＳ Ｐゴシック" pitchFamily="-84" charset="-128"/>
                <a:cs typeface="ＭＳ Ｐゴシック" pitchFamily="-84" charset="-128"/>
              </a:rPr>
              <a:t>Alice receives Y</a:t>
            </a:r>
            <a:r>
              <a:rPr lang="en-US" sz="1100" baseline="-25000" dirty="0">
                <a:latin typeface="Arial" pitchFamily="-84" charset="0"/>
                <a:ea typeface="ＭＳ Ｐゴシック" pitchFamily="-84" charset="-128"/>
                <a:cs typeface="ＭＳ Ｐゴシック" pitchFamily="-84" charset="-128"/>
              </a:rPr>
              <a:t>D2 </a:t>
            </a:r>
            <a:r>
              <a:rPr lang="en-US" sz="1100" dirty="0">
                <a:latin typeface="Arial" pitchFamily="-84" charset="0"/>
                <a:ea typeface="ＭＳ Ｐゴシック" pitchFamily="-84" charset="-128"/>
                <a:cs typeface="ＭＳ Ｐゴシック" pitchFamily="-84" charset="-128"/>
              </a:rPr>
              <a:t>and calculates K2=(Y</a:t>
            </a:r>
            <a:r>
              <a:rPr lang="en-US" sz="1100" baseline="-25000" dirty="0">
                <a:latin typeface="Arial" pitchFamily="-84" charset="0"/>
                <a:ea typeface="ＭＳ Ｐゴシック" pitchFamily="-84" charset="-128"/>
                <a:cs typeface="ＭＳ Ｐゴシック" pitchFamily="-84" charset="-128"/>
              </a:rPr>
              <a:t>D2 </a:t>
            </a:r>
            <a:r>
              <a:rPr lang="en-US" sz="1100" dirty="0">
                <a:latin typeface="Arial" pitchFamily="-84" charset="0"/>
                <a:ea typeface="ＭＳ Ｐゴシック" pitchFamily="-84" charset="-128"/>
                <a:cs typeface="ＭＳ Ｐゴシック" pitchFamily="-84" charset="-128"/>
              </a:rPr>
              <a:t>)^ X</a:t>
            </a:r>
            <a:r>
              <a:rPr lang="en-US" sz="1100" baseline="-25000" dirty="0">
                <a:latin typeface="Arial" pitchFamily="-84" charset="0"/>
                <a:ea typeface="ＭＳ Ｐゴシック" pitchFamily="-84" charset="-128"/>
                <a:cs typeface="ＭＳ Ｐゴシック" pitchFamily="-84" charset="-128"/>
              </a:rPr>
              <a:t>A</a:t>
            </a:r>
            <a:r>
              <a:rPr lang="en-US" sz="1100" dirty="0">
                <a:latin typeface="Arial" pitchFamily="-84" charset="0"/>
                <a:ea typeface="ＭＳ Ｐゴシック" pitchFamily="-84" charset="-128"/>
                <a:cs typeface="ＭＳ Ｐゴシック" pitchFamily="-84" charset="-128"/>
              </a:rPr>
              <a:t> mod q .   </a:t>
            </a:r>
          </a:p>
          <a:p>
            <a:pPr eaLnBrk="1" hangingPunct="1">
              <a:lnSpc>
                <a:spcPct val="90000"/>
              </a:lnSpc>
            </a:pPr>
            <a:endParaRPr lang="en-US" sz="1100" dirty="0">
              <a:latin typeface="Arial" pitchFamily="-84" charset="0"/>
              <a:ea typeface="ＭＳ Ｐゴシック" pitchFamily="-84" charset="-128"/>
              <a:cs typeface="ＭＳ Ｐゴシック" pitchFamily="-84" charset="-128"/>
            </a:endParaRPr>
          </a:p>
          <a:p>
            <a:pPr eaLnBrk="1" hangingPunct="1">
              <a:lnSpc>
                <a:spcPct val="90000"/>
              </a:lnSpc>
            </a:pPr>
            <a:r>
              <a:rPr lang="en-US" sz="1100" dirty="0">
                <a:latin typeface="Arial" pitchFamily="-84" charset="0"/>
                <a:ea typeface="ＭＳ Ｐゴシック" pitchFamily="-84" charset="-128"/>
                <a:cs typeface="ＭＳ Ｐゴシック" pitchFamily="-84" charset="-128"/>
              </a:rPr>
              <a:t>At this point, Bob and Alice think that they share a secret key, but instead Bob and Darth share secret key K1 and Alice and Darth share secret key K2. All future communication between Bob and Alice is compromised in the following way:   </a:t>
            </a:r>
          </a:p>
          <a:p>
            <a:pPr eaLnBrk="1" hangingPunct="1">
              <a:lnSpc>
                <a:spcPct val="90000"/>
              </a:lnSpc>
            </a:pPr>
            <a:endParaRPr lang="en-US" sz="1100" dirty="0">
              <a:latin typeface="Arial" pitchFamily="-84" charset="0"/>
              <a:ea typeface="ＭＳ Ｐゴシック" pitchFamily="-84" charset="-128"/>
              <a:cs typeface="ＭＳ Ｐゴシック" pitchFamily="-84" charset="-128"/>
            </a:endParaRPr>
          </a:p>
          <a:p>
            <a:pPr eaLnBrk="1" hangingPunct="1">
              <a:lnSpc>
                <a:spcPct val="90000"/>
              </a:lnSpc>
              <a:buFontTx/>
              <a:buAutoNum type="arabicPeriod"/>
            </a:pPr>
            <a:r>
              <a:rPr lang="en-US" sz="1100" dirty="0">
                <a:latin typeface="Arial" pitchFamily="-84" charset="0"/>
                <a:ea typeface="ＭＳ Ｐゴシック" pitchFamily="-84" charset="-128"/>
                <a:cs typeface="ＭＳ Ｐゴシック" pitchFamily="-84" charset="-128"/>
              </a:rPr>
              <a:t>Alice sends an encrypted message M: E(K2, M).  </a:t>
            </a:r>
          </a:p>
          <a:p>
            <a:pPr eaLnBrk="1" hangingPunct="1">
              <a:lnSpc>
                <a:spcPct val="90000"/>
              </a:lnSpc>
              <a:buFontTx/>
              <a:buAutoNum type="arabicPeriod"/>
            </a:pPr>
            <a:r>
              <a:rPr lang="en-US" sz="1100" dirty="0">
                <a:latin typeface="Arial" pitchFamily="-84" charset="0"/>
                <a:ea typeface="ＭＳ Ｐゴシック" pitchFamily="-84" charset="-128"/>
                <a:cs typeface="ＭＳ Ｐゴシック" pitchFamily="-84" charset="-128"/>
              </a:rPr>
              <a:t>Darth intercepts the encrypted message and decrypts it, to recover M.  </a:t>
            </a:r>
          </a:p>
          <a:p>
            <a:pPr eaLnBrk="1" hangingPunct="1">
              <a:lnSpc>
                <a:spcPct val="90000"/>
              </a:lnSpc>
              <a:buFontTx/>
              <a:buAutoNum type="arabicPeriod"/>
            </a:pPr>
            <a:r>
              <a:rPr lang="en-US" sz="1100" dirty="0">
                <a:latin typeface="Arial" pitchFamily="-84" charset="0"/>
                <a:ea typeface="ＭＳ Ｐゴシック" pitchFamily="-84" charset="-128"/>
                <a:cs typeface="ＭＳ Ｐゴシック" pitchFamily="-84" charset="-128"/>
              </a:rPr>
              <a:t>Darth sends Bob E(K1, M) or E(K1, M'), where M' is any message. In the first case, Darth simply wants to eavesdrop on the communication without altering it. In the second case, Darth wants to modify the message going to Bob.   </a:t>
            </a:r>
          </a:p>
          <a:p>
            <a:pPr eaLnBrk="1" hangingPunct="1">
              <a:lnSpc>
                <a:spcPct val="90000"/>
              </a:lnSpc>
              <a:buFontTx/>
              <a:buAutoNum type="arabicPeriod"/>
            </a:pPr>
            <a:endParaRPr lang="en-US" sz="1100" dirty="0">
              <a:latin typeface="Arial" pitchFamily="-84" charset="0"/>
              <a:ea typeface="ＭＳ Ｐゴシック" pitchFamily="-84" charset="-128"/>
              <a:cs typeface="ＭＳ Ｐゴシック" pitchFamily="-84" charset="-128"/>
            </a:endParaRPr>
          </a:p>
          <a:p>
            <a:pPr eaLnBrk="1" hangingPunct="1">
              <a:lnSpc>
                <a:spcPct val="90000"/>
              </a:lnSpc>
              <a:buFontTx/>
              <a:buNone/>
            </a:pPr>
            <a:r>
              <a:rPr lang="en-US" sz="1100" dirty="0">
                <a:latin typeface="Arial" pitchFamily="-84" charset="0"/>
                <a:ea typeface="ＭＳ Ｐゴシック" pitchFamily="-84" charset="-128"/>
                <a:cs typeface="ＭＳ Ｐゴシック" pitchFamily="-84" charset="-128"/>
              </a:rPr>
              <a:t>The key exchange protocol is vulnerable to such an attack because it does not authenticate the participants. This vulnerability can be overcome with the use of digital signatures and public- key certificates.</a:t>
            </a:r>
          </a:p>
        </p:txBody>
      </p:sp>
      <p:sp>
        <p:nvSpPr>
          <p:cNvPr id="31748" name="Slide Number Placeholder 3"/>
          <p:cNvSpPr>
            <a:spLocks noGrp="1"/>
          </p:cNvSpPr>
          <p:nvPr>
            <p:ph type="sldNum" sz="quarter" idx="5"/>
          </p:nvPr>
        </p:nvSpPr>
        <p:spPr>
          <a:noFill/>
        </p:spPr>
        <p:txBody>
          <a:bodyPr/>
          <a:lstStyle/>
          <a:p>
            <a:fld id="{1497ACC7-F361-EE47-BD9E-A66D06FA39DE}" type="slidenum">
              <a:rPr lang="en-AU" smtClean="0">
                <a:latin typeface="Arial" pitchFamily="-84" charset="0"/>
              </a:rPr>
              <a:pPr/>
              <a:t>11</a:t>
            </a:fld>
            <a:endParaRPr lang="en-AU" dirty="0">
              <a:latin typeface="Arial" pitchFamily="-84" charset="0"/>
            </a:endParaRPr>
          </a:p>
        </p:txBody>
      </p:sp>
    </p:spTree>
    <p:extLst>
      <p:ext uri="{BB962C8B-B14F-4D97-AF65-F5344CB8AC3E}">
        <p14:creationId xmlns:p14="http://schemas.microsoft.com/office/powerpoint/2010/main" val="39542081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p>
            <a:fld id="{500A6822-6F76-464F-8448-071F9DB1E704}" type="slidenum">
              <a:rPr lang="en-AU">
                <a:latin typeface="Arial" pitchFamily="-84" charset="0"/>
              </a:rPr>
              <a:pPr/>
              <a:t>12</a:t>
            </a:fld>
            <a:endParaRPr lang="en-AU" dirty="0">
              <a:latin typeface="Arial" pitchFamily="-84" charset="0"/>
            </a:endParaRPr>
          </a:p>
        </p:txBody>
      </p:sp>
      <p:sp>
        <p:nvSpPr>
          <p:cNvPr id="29699" name="Rectangle 1026"/>
          <p:cNvSpPr>
            <a:spLocks noGrp="1" noRot="1" noChangeAspect="1" noChangeArrowheads="1"/>
          </p:cNvSpPr>
          <p:nvPr>
            <p:ph type="sldImg"/>
          </p:nvPr>
        </p:nvSpPr>
        <p:spPr>
          <a:solidFill>
            <a:srgbClr val="FFFFFF"/>
          </a:solidFill>
          <a:ln/>
        </p:spPr>
      </p:sp>
      <p:sp>
        <p:nvSpPr>
          <p:cNvPr id="29700" name="Rectangle 1027"/>
          <p:cNvSpPr>
            <a:spLocks noGrp="1" noChangeArrowheads="1"/>
          </p:cNvSpPr>
          <p:nvPr>
            <p:ph type="body" idx="1"/>
          </p:nvPr>
        </p:nvSpPr>
        <p:spPr>
          <a:noFill/>
          <a:ln/>
        </p:spPr>
        <p:txBody>
          <a:bodyPr/>
          <a:lstStyle/>
          <a:p>
            <a:pPr eaLnBrk="1" hangingPunct="1"/>
            <a:r>
              <a:rPr lang="en-US" dirty="0">
                <a:latin typeface="Arial" pitchFamily="-84" charset="0"/>
                <a:ea typeface="ＭＳ Ｐゴシック" pitchFamily="-84" charset="-128"/>
                <a:cs typeface="ＭＳ Ｐゴシック" pitchFamily="-84" charset="-128"/>
              </a:rPr>
              <a:t>Now consider a simple protocol that makes use of the Diffie-Hellman calculation. Suppose that user A wishes to set up a connection with user B and use a secret key to encrypt messages on that connection. User A can generate a one-time private key </a:t>
            </a:r>
            <a:r>
              <a:rPr lang="en-US" i="1" dirty="0">
                <a:latin typeface="Arial" pitchFamily="-84" charset="0"/>
                <a:ea typeface="ＭＳ Ｐゴシック" pitchFamily="-84" charset="-128"/>
                <a:cs typeface="ＭＳ Ｐゴシック" pitchFamily="-84" charset="-128"/>
              </a:rPr>
              <a:t>X</a:t>
            </a:r>
            <a:r>
              <a:rPr lang="en-US" i="1" baseline="-25000" dirty="0">
                <a:latin typeface="Arial" pitchFamily="-84" charset="0"/>
                <a:ea typeface="ＭＳ Ｐゴシック" pitchFamily="-84" charset="-128"/>
                <a:cs typeface="ＭＳ Ｐゴシック" pitchFamily="-84" charset="-128"/>
              </a:rPr>
              <a:t>A</a:t>
            </a:r>
            <a:r>
              <a:rPr lang="en-US" i="1" dirty="0">
                <a:latin typeface="Arial" pitchFamily="-84" charset="0"/>
                <a:ea typeface="ＭＳ Ｐゴシック" pitchFamily="-84" charset="-128"/>
                <a:cs typeface="ＭＳ Ｐゴシック" pitchFamily="-84" charset="-128"/>
              </a:rPr>
              <a:t>, </a:t>
            </a:r>
            <a:r>
              <a:rPr lang="en-US" dirty="0">
                <a:latin typeface="Arial" pitchFamily="-84" charset="0"/>
                <a:ea typeface="ＭＳ Ｐゴシック" pitchFamily="-84" charset="-128"/>
                <a:cs typeface="ＭＳ Ｐゴシック" pitchFamily="-84" charset="-128"/>
              </a:rPr>
              <a:t>calculate </a:t>
            </a:r>
            <a:r>
              <a:rPr lang="en-US" i="1" dirty="0">
                <a:latin typeface="Arial" pitchFamily="-84" charset="0"/>
                <a:ea typeface="ＭＳ Ｐゴシック" pitchFamily="-84" charset="-128"/>
                <a:cs typeface="ＭＳ Ｐゴシック" pitchFamily="-84" charset="-128"/>
              </a:rPr>
              <a:t>Y</a:t>
            </a:r>
            <a:r>
              <a:rPr lang="en-US" i="1" baseline="-25000" dirty="0">
                <a:latin typeface="Arial" pitchFamily="-84" charset="0"/>
                <a:ea typeface="ＭＳ Ｐゴシック" pitchFamily="-84" charset="-128"/>
                <a:cs typeface="ＭＳ Ｐゴシック" pitchFamily="-84" charset="-128"/>
              </a:rPr>
              <a:t>A</a:t>
            </a:r>
            <a:r>
              <a:rPr lang="en-US" i="1" dirty="0">
                <a:latin typeface="Arial" pitchFamily="-84" charset="0"/>
                <a:ea typeface="ＭＳ Ｐゴシック" pitchFamily="-84" charset="-128"/>
                <a:cs typeface="ＭＳ Ｐゴシック" pitchFamily="-84" charset="-128"/>
              </a:rPr>
              <a:t>, </a:t>
            </a:r>
            <a:r>
              <a:rPr lang="en-US" dirty="0">
                <a:latin typeface="Arial" pitchFamily="-84" charset="0"/>
                <a:ea typeface="ＭＳ Ｐゴシック" pitchFamily="-84" charset="-128"/>
                <a:cs typeface="ＭＳ Ｐゴシック" pitchFamily="-84" charset="-128"/>
              </a:rPr>
              <a:t>and send that to user </a:t>
            </a:r>
            <a:r>
              <a:rPr lang="en-US" i="1" dirty="0">
                <a:latin typeface="Arial" pitchFamily="-84" charset="0"/>
                <a:ea typeface="ＭＳ Ｐゴシック" pitchFamily="-84" charset="-128"/>
                <a:cs typeface="ＭＳ Ｐゴシック" pitchFamily="-84" charset="-128"/>
              </a:rPr>
              <a:t>B. </a:t>
            </a:r>
            <a:r>
              <a:rPr lang="en-US" dirty="0">
                <a:latin typeface="Arial" pitchFamily="-84" charset="0"/>
                <a:ea typeface="ＭＳ Ｐゴシック" pitchFamily="-84" charset="-128"/>
                <a:cs typeface="ＭＳ Ｐゴシック" pitchFamily="-84" charset="-128"/>
              </a:rPr>
              <a:t>User </a:t>
            </a:r>
            <a:r>
              <a:rPr lang="en-US" i="1" dirty="0">
                <a:latin typeface="Arial" pitchFamily="-84" charset="0"/>
                <a:ea typeface="ＭＳ Ｐゴシック" pitchFamily="-84" charset="-128"/>
                <a:cs typeface="ＭＳ Ｐゴシック" pitchFamily="-84" charset="-128"/>
              </a:rPr>
              <a:t>B </a:t>
            </a:r>
            <a:r>
              <a:rPr lang="en-US" dirty="0">
                <a:latin typeface="Arial" pitchFamily="-84" charset="0"/>
                <a:ea typeface="ＭＳ Ｐゴシック" pitchFamily="-84" charset="-128"/>
                <a:cs typeface="ＭＳ Ｐゴシック" pitchFamily="-84" charset="-128"/>
              </a:rPr>
              <a:t>responds by generating a private value </a:t>
            </a:r>
            <a:r>
              <a:rPr lang="en-US" i="1" dirty="0">
                <a:latin typeface="Arial" pitchFamily="-84" charset="0"/>
                <a:ea typeface="ＭＳ Ｐゴシック" pitchFamily="-84" charset="-128"/>
                <a:cs typeface="ＭＳ Ｐゴシック" pitchFamily="-84" charset="-128"/>
              </a:rPr>
              <a:t>X</a:t>
            </a:r>
            <a:r>
              <a:rPr lang="en-US" i="1" baseline="-25000" dirty="0">
                <a:latin typeface="Arial" pitchFamily="-84" charset="0"/>
                <a:ea typeface="ＭＳ Ｐゴシック" pitchFamily="-84" charset="-128"/>
                <a:cs typeface="ＭＳ Ｐゴシック" pitchFamily="-84" charset="-128"/>
              </a:rPr>
              <a:t>B</a:t>
            </a:r>
            <a:r>
              <a:rPr lang="en-US" i="1" dirty="0">
                <a:latin typeface="Arial" pitchFamily="-84" charset="0"/>
                <a:ea typeface="ＭＳ Ｐゴシック" pitchFamily="-84" charset="-128"/>
                <a:cs typeface="ＭＳ Ｐゴシック" pitchFamily="-84" charset="-128"/>
              </a:rPr>
              <a:t>, </a:t>
            </a:r>
            <a:r>
              <a:rPr lang="en-US" dirty="0">
                <a:latin typeface="Arial" pitchFamily="-84" charset="0"/>
                <a:ea typeface="ＭＳ Ｐゴシック" pitchFamily="-84" charset="-128"/>
                <a:cs typeface="ＭＳ Ｐゴシック" pitchFamily="-84" charset="-128"/>
              </a:rPr>
              <a:t>calculating </a:t>
            </a:r>
            <a:r>
              <a:rPr lang="en-US" i="1" dirty="0">
                <a:latin typeface="Arial" pitchFamily="-84" charset="0"/>
                <a:ea typeface="ＭＳ Ｐゴシック" pitchFamily="-84" charset="-128"/>
                <a:cs typeface="ＭＳ Ｐゴシック" pitchFamily="-84" charset="-128"/>
              </a:rPr>
              <a:t>Y</a:t>
            </a:r>
            <a:r>
              <a:rPr lang="en-US" i="1" baseline="-25000" dirty="0">
                <a:latin typeface="Arial" pitchFamily="-84" charset="0"/>
                <a:ea typeface="ＭＳ Ｐゴシック" pitchFamily="-84" charset="-128"/>
                <a:cs typeface="ＭＳ Ｐゴシック" pitchFamily="-84" charset="-128"/>
              </a:rPr>
              <a:t>B</a:t>
            </a:r>
            <a:r>
              <a:rPr lang="en-US" i="1" dirty="0">
                <a:latin typeface="Arial" pitchFamily="-84" charset="0"/>
                <a:ea typeface="ＭＳ Ｐゴシック" pitchFamily="-84" charset="-128"/>
                <a:cs typeface="ＭＳ Ｐゴシック" pitchFamily="-84" charset="-128"/>
              </a:rPr>
              <a:t>, </a:t>
            </a:r>
            <a:r>
              <a:rPr lang="en-US" dirty="0">
                <a:latin typeface="Arial" pitchFamily="-84" charset="0"/>
                <a:ea typeface="ＭＳ Ｐゴシック" pitchFamily="-84" charset="-128"/>
                <a:cs typeface="ＭＳ Ｐゴシック" pitchFamily="-84" charset="-128"/>
              </a:rPr>
              <a:t>and sending </a:t>
            </a:r>
            <a:r>
              <a:rPr lang="en-US" i="1" dirty="0">
                <a:latin typeface="Arial" pitchFamily="-84" charset="0"/>
                <a:ea typeface="ＭＳ Ｐゴシック" pitchFamily="-84" charset="-128"/>
                <a:cs typeface="ＭＳ Ｐゴシック" pitchFamily="-84" charset="-128"/>
              </a:rPr>
              <a:t>Y</a:t>
            </a:r>
            <a:r>
              <a:rPr lang="en-US" i="1" baseline="-25000" dirty="0">
                <a:latin typeface="Arial" pitchFamily="-84" charset="0"/>
                <a:ea typeface="ＭＳ Ｐゴシック" pitchFamily="-84" charset="-128"/>
                <a:cs typeface="ＭＳ Ｐゴシック" pitchFamily="-84" charset="-128"/>
              </a:rPr>
              <a:t>B</a:t>
            </a:r>
            <a:r>
              <a:rPr lang="en-US" i="1" dirty="0">
                <a:latin typeface="Arial" pitchFamily="-84" charset="0"/>
                <a:ea typeface="ＭＳ Ｐゴシック" pitchFamily="-84" charset="-128"/>
                <a:cs typeface="ＭＳ Ｐゴシック" pitchFamily="-84" charset="-128"/>
              </a:rPr>
              <a:t> </a:t>
            </a:r>
            <a:r>
              <a:rPr lang="en-US" dirty="0">
                <a:latin typeface="Arial" pitchFamily="-84" charset="0"/>
                <a:ea typeface="ＭＳ Ｐゴシック" pitchFamily="-84" charset="-128"/>
                <a:cs typeface="ＭＳ Ｐゴシック" pitchFamily="-84" charset="-128"/>
              </a:rPr>
              <a:t>to user </a:t>
            </a:r>
            <a:r>
              <a:rPr lang="en-US" i="1" dirty="0">
                <a:latin typeface="Arial" pitchFamily="-84" charset="0"/>
                <a:ea typeface="ＭＳ Ｐゴシック" pitchFamily="-84" charset="-128"/>
                <a:cs typeface="ＭＳ Ｐゴシック" pitchFamily="-84" charset="-128"/>
              </a:rPr>
              <a:t>A. </a:t>
            </a:r>
            <a:r>
              <a:rPr lang="en-US" dirty="0">
                <a:latin typeface="Arial" pitchFamily="-84" charset="0"/>
                <a:ea typeface="ＭＳ Ｐゴシック" pitchFamily="-84" charset="-128"/>
                <a:cs typeface="ＭＳ Ｐゴシック" pitchFamily="-84" charset="-128"/>
              </a:rPr>
              <a:t>Both users can now calculate the key. The necessary public values </a:t>
            </a:r>
            <a:r>
              <a:rPr lang="en-US" i="1" dirty="0">
                <a:latin typeface="Arial" pitchFamily="-84" charset="0"/>
                <a:ea typeface="ＭＳ Ｐゴシック" pitchFamily="-84" charset="-128"/>
                <a:cs typeface="ＭＳ Ｐゴシック" pitchFamily="-84" charset="-128"/>
              </a:rPr>
              <a:t>q </a:t>
            </a:r>
            <a:r>
              <a:rPr lang="en-US" dirty="0">
                <a:latin typeface="Arial" pitchFamily="-84" charset="0"/>
                <a:ea typeface="ＭＳ Ｐゴシック" pitchFamily="-84" charset="-128"/>
                <a:cs typeface="ＭＳ Ｐゴシック" pitchFamily="-84" charset="-128"/>
              </a:rPr>
              <a:t>and </a:t>
            </a:r>
            <a:r>
              <a:rPr lang="en-US" i="1" dirty="0">
                <a:latin typeface="Arial" pitchFamily="-84" charset="0"/>
                <a:ea typeface="ＭＳ Ｐゴシック" pitchFamily="-84" charset="-128"/>
                <a:cs typeface="ＭＳ Ｐゴシック" pitchFamily="-84" charset="-128"/>
              </a:rPr>
              <a:t>a </a:t>
            </a:r>
            <a:r>
              <a:rPr lang="en-US" dirty="0">
                <a:latin typeface="Arial" pitchFamily="-84" charset="0"/>
                <a:ea typeface="ＭＳ Ｐゴシック" pitchFamily="-84" charset="-128"/>
                <a:cs typeface="ＭＳ Ｐゴシック" pitchFamily="-84" charset="-128"/>
              </a:rPr>
              <a:t>would need to be known ahead of time. Alternatively, user </a:t>
            </a:r>
            <a:r>
              <a:rPr lang="en-US" i="1" dirty="0">
                <a:latin typeface="Arial" pitchFamily="-84" charset="0"/>
                <a:ea typeface="ＭＳ Ｐゴシック" pitchFamily="-84" charset="-128"/>
                <a:cs typeface="ＭＳ Ｐゴシック" pitchFamily="-84" charset="-128"/>
              </a:rPr>
              <a:t>A </a:t>
            </a:r>
            <a:r>
              <a:rPr lang="en-US" dirty="0">
                <a:latin typeface="Arial" pitchFamily="-84" charset="0"/>
                <a:ea typeface="ＭＳ Ｐゴシック" pitchFamily="-84" charset="-128"/>
                <a:cs typeface="ＭＳ Ｐゴシック" pitchFamily="-84" charset="-128"/>
              </a:rPr>
              <a:t>could pick values for </a:t>
            </a:r>
            <a:r>
              <a:rPr lang="en-US" i="1" dirty="0">
                <a:latin typeface="Arial" pitchFamily="-84" charset="0"/>
                <a:ea typeface="ＭＳ Ｐゴシック" pitchFamily="-84" charset="-128"/>
                <a:cs typeface="ＭＳ Ｐゴシック" pitchFamily="-84" charset="-128"/>
              </a:rPr>
              <a:t>q </a:t>
            </a:r>
            <a:r>
              <a:rPr lang="en-US" dirty="0">
                <a:latin typeface="Arial" pitchFamily="-84" charset="0"/>
                <a:ea typeface="ＭＳ Ｐゴシック" pitchFamily="-84" charset="-128"/>
                <a:cs typeface="ＭＳ Ｐゴシック" pitchFamily="-84" charset="-128"/>
              </a:rPr>
              <a:t>and </a:t>
            </a:r>
            <a:r>
              <a:rPr lang="en-US" i="1" dirty="0">
                <a:latin typeface="Arial" pitchFamily="-84" charset="0"/>
                <a:ea typeface="ＭＳ Ｐゴシック" pitchFamily="-84" charset="-128"/>
                <a:cs typeface="ＭＳ Ｐゴシック" pitchFamily="-84" charset="-128"/>
              </a:rPr>
              <a:t>a </a:t>
            </a:r>
            <a:r>
              <a:rPr lang="en-US" dirty="0">
                <a:latin typeface="Arial" pitchFamily="-84" charset="0"/>
                <a:ea typeface="ＭＳ Ｐゴシック" pitchFamily="-84" charset="-128"/>
                <a:cs typeface="ＭＳ Ｐゴシック" pitchFamily="-84" charset="-128"/>
              </a:rPr>
              <a:t>and include those in the first message. </a:t>
            </a:r>
          </a:p>
        </p:txBody>
      </p:sp>
    </p:spTree>
    <p:extLst>
      <p:ext uri="{BB962C8B-B14F-4D97-AF65-F5344CB8AC3E}">
        <p14:creationId xmlns:p14="http://schemas.microsoft.com/office/powerpoint/2010/main" val="642515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p>
            <a:fld id="{EA7399E3-DC4B-4814-8AF4-336C6BF3793A}" type="slidenum">
              <a:rPr lang="en-AU"/>
              <a:pPr/>
              <a:t>13</a:t>
            </a:fld>
            <a:endParaRPr lang="en-AU"/>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a:ln/>
        </p:spPr>
        <p:txBody>
          <a:bodyPr/>
          <a:lstStyle/>
          <a:p>
            <a:pPr eaLnBrk="1" hangingPunct="1"/>
            <a:r>
              <a:rPr lang="en-US">
                <a:latin typeface="Arial" pitchFamily="34" charset="0"/>
                <a:ea typeface="ＭＳ Ｐゴシック" pitchFamily="-107" charset="-128"/>
              </a:rPr>
              <a:t>In 1984, T. Elgamal announced a public-key scheme based on discrete logarithms, closely related to the Diffie-Hellman technique [ELGA84, ELGA85]. The ElGamal cryptosystem is used in some form in a number of standards including the digital signature standard (DSS) and the S/MIME email standard.  As with Diffie-Hellman, the global elements of ElGamal are a prime number </a:t>
            </a:r>
            <a:r>
              <a:rPr lang="en-US" i="1">
                <a:latin typeface="Arial" pitchFamily="34" charset="0"/>
                <a:ea typeface="ＭＳ Ｐゴシック" pitchFamily="-107" charset="-128"/>
              </a:rPr>
              <a:t>q </a:t>
            </a:r>
            <a:r>
              <a:rPr lang="en-US">
                <a:latin typeface="Arial" pitchFamily="34" charset="0"/>
                <a:ea typeface="ＭＳ Ｐゴシック" pitchFamily="-107" charset="-128"/>
              </a:rPr>
              <a:t>and </a:t>
            </a:r>
            <a:r>
              <a:rPr lang="en-US" i="1">
                <a:latin typeface="Arial" pitchFamily="34" charset="0"/>
                <a:ea typeface="ＭＳ Ｐゴシック" pitchFamily="-107" charset="-128"/>
              </a:rPr>
              <a:t>a, </a:t>
            </a:r>
            <a:r>
              <a:rPr lang="en-US">
                <a:latin typeface="Arial" pitchFamily="34" charset="0"/>
                <a:ea typeface="ＭＳ Ｐゴシック" pitchFamily="-107" charset="-128"/>
              </a:rPr>
              <a:t>which is a primitive root of </a:t>
            </a:r>
            <a:r>
              <a:rPr lang="en-US" i="1">
                <a:latin typeface="Arial" pitchFamily="34" charset="0"/>
                <a:ea typeface="ＭＳ Ｐゴシック" pitchFamily="-107" charset="-128"/>
              </a:rPr>
              <a:t>q. </a:t>
            </a:r>
            <a:r>
              <a:rPr lang="en-US">
                <a:latin typeface="Arial" pitchFamily="34" charset="0"/>
                <a:ea typeface="ＭＳ Ｐゴシック" pitchFamily="-107" charset="-128"/>
              </a:rPr>
              <a:t>User A generates a private/public key pair as shown. The security of ElGamal is based on the difficulty of computing discrete logarithms, to recover either x given y, or k given K (next slide).</a:t>
            </a:r>
            <a:endParaRPr lang="en-US">
              <a:latin typeface="Times-Roman" charset="0"/>
              <a:ea typeface="ＭＳ Ｐゴシック" pitchFamily="-107" charset="-128"/>
            </a:endParaRPr>
          </a:p>
        </p:txBody>
      </p:sp>
    </p:spTree>
    <p:extLst>
      <p:ext uri="{BB962C8B-B14F-4D97-AF65-F5344CB8AC3E}">
        <p14:creationId xmlns:p14="http://schemas.microsoft.com/office/powerpoint/2010/main" val="29214634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p:spPr>
        <p:txBody>
          <a:bodyPr/>
          <a:lstStyle/>
          <a:p>
            <a:fld id="{35B1E4C2-1480-44E8-B7D4-4FA986882A6C}" type="slidenum">
              <a:rPr lang="en-AU"/>
              <a:pPr/>
              <a:t>14</a:t>
            </a:fld>
            <a:endParaRPr lang="en-AU"/>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p:spPr>
        <p:txBody>
          <a:bodyPr/>
          <a:lstStyle/>
          <a:p>
            <a:pPr eaLnBrk="1" hangingPunct="1"/>
            <a:r>
              <a:rPr lang="en-US">
                <a:latin typeface="Arial" pitchFamily="34" charset="0"/>
                <a:ea typeface="ＭＳ Ｐゴシック" pitchFamily="-107" charset="-128"/>
                <a:cs typeface="Arial" pitchFamily="34" charset="0"/>
              </a:rPr>
              <a:t>A major issue with the use of Public-Key Cryptography, is the size of numbers used, and hence keys being stored. Recently, an alternate approach has emerged, elliptic curve cryptography (ECC), which performs the computations using elliptic curve arithmetic instead of integer or polynomial arithmetic. Already, ECC is showing up in standardization efforts, including the IEEE P1363 Standard for Public-Key Cryptography. The principal attraction of ECC, compared to RSA, is that it appears to offer equal security for a far smaller key size, thereby reducing processing overhead. Although the theory of ECC has been around for some time, it is only recently that products have begun to appear and that there has been sustained cryptanalytic interest in probing for weaknesses. Accordingly, the confidence level in ECC is not yet as high as that in RSA.</a:t>
            </a:r>
          </a:p>
        </p:txBody>
      </p:sp>
    </p:spTree>
    <p:extLst>
      <p:ext uri="{BB962C8B-B14F-4D97-AF65-F5344CB8AC3E}">
        <p14:creationId xmlns:p14="http://schemas.microsoft.com/office/powerpoint/2010/main" val="9625408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p:spPr>
        <p:txBody>
          <a:bodyPr/>
          <a:lstStyle/>
          <a:p>
            <a:fld id="{63C20AC7-4047-4892-A0B5-F7D05ADEC647}" type="slidenum">
              <a:rPr lang="en-AU"/>
              <a:pPr/>
              <a:t>15</a:t>
            </a:fld>
            <a:endParaRPr lang="en-AU"/>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p:spPr>
        <p:txBody>
          <a:bodyPr/>
          <a:lstStyle/>
          <a:p>
            <a:pPr eaLnBrk="1" hangingPunct="1"/>
            <a:r>
              <a:rPr lang="en-US">
                <a:latin typeface="Arial" pitchFamily="34" charset="0"/>
                <a:ea typeface="ＭＳ Ｐゴシック" pitchFamily="-107" charset="-128"/>
                <a:cs typeface="Arial" pitchFamily="34" charset="0"/>
              </a:rPr>
              <a:t>The security of ECC depends on how difficult it is to determine k given kP and P. This is referred to as the elliptic curve logarithm problem. The fastest known technique for taking the elliptic curve logarithm is known as the Pollard rho method. Compared to factoring integers or polynomials, can use much smaller numbers for equivalent levels of security.</a:t>
            </a:r>
          </a:p>
        </p:txBody>
      </p:sp>
    </p:spTree>
    <p:extLst>
      <p:ext uri="{BB962C8B-B14F-4D97-AF65-F5344CB8AC3E}">
        <p14:creationId xmlns:p14="http://schemas.microsoft.com/office/powerpoint/2010/main" val="41479888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p>
            <a:fld id="{02237698-A829-4D7D-872A-12AEB4330B30}" type="slidenum">
              <a:rPr lang="en-AU"/>
              <a:pPr/>
              <a:t>16</a:t>
            </a:fld>
            <a:endParaRPr lang="en-AU"/>
          </a:p>
        </p:txBody>
      </p:sp>
      <p:sp>
        <p:nvSpPr>
          <p:cNvPr id="52227" name="Rectangle 2"/>
          <p:cNvSpPr>
            <a:spLocks noGrp="1" noRot="1" noChangeAspect="1" noChangeArrowheads="1" noTextEdit="1"/>
          </p:cNvSpPr>
          <p:nvPr>
            <p:ph type="sldImg"/>
          </p:nvPr>
        </p:nvSpPr>
        <p:spPr>
          <a:solidFill>
            <a:srgbClr val="FFFFFF"/>
          </a:solidFill>
          <a:ln/>
        </p:spPr>
      </p:sp>
      <p:sp>
        <p:nvSpPr>
          <p:cNvPr id="52228" name="Rectangle 3"/>
          <p:cNvSpPr>
            <a:spLocks noGrp="1" noChangeArrowheads="1"/>
          </p:cNvSpPr>
          <p:nvPr>
            <p:ph type="body" idx="1"/>
          </p:nvPr>
        </p:nvSpPr>
        <p:spPr>
          <a:noFill/>
          <a:ln/>
        </p:spPr>
        <p:txBody>
          <a:bodyPr/>
          <a:lstStyle/>
          <a:p>
            <a:pPr eaLnBrk="1" hangingPunct="1"/>
            <a:r>
              <a:rPr lang="en-US">
                <a:latin typeface="Arial" pitchFamily="34" charset="0"/>
                <a:ea typeface="ＭＳ Ｐゴシック" pitchFamily="-107" charset="-128"/>
                <a:cs typeface="Arial" pitchFamily="34" charset="0"/>
              </a:rPr>
              <a:t>Stallings Table 10.3 - “ Comparable Key Sizes in Terms of Computational Effort for Cryptanalysis” ompares various algorithms by showing comparable key sizes in terms of computational effort for cryptanalysis. As can be seen, a considerably smaller key size can be used for ECC compared to RSA. Furthermore, for equal key lengths, the computational effort required for ECC and RSA is comparable. Thus, there is a computational advantage to using ECC with a shorter key length than a comparably secure RSA. </a:t>
            </a:r>
          </a:p>
        </p:txBody>
      </p:sp>
    </p:spTree>
    <p:extLst>
      <p:ext uri="{BB962C8B-B14F-4D97-AF65-F5344CB8AC3E}">
        <p14:creationId xmlns:p14="http://schemas.microsoft.com/office/powerpoint/2010/main" val="8968977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a:ln/>
        </p:spPr>
      </p:sp>
      <p:sp>
        <p:nvSpPr>
          <p:cNvPr id="53251" name="Notes Placeholder 2"/>
          <p:cNvSpPr>
            <a:spLocks noGrp="1"/>
          </p:cNvSpPr>
          <p:nvPr>
            <p:ph type="body" idx="1"/>
          </p:nvPr>
        </p:nvSpPr>
        <p:spPr>
          <a:noFill/>
          <a:ln/>
        </p:spPr>
        <p:txBody>
          <a:bodyPr/>
          <a:lstStyle/>
          <a:p>
            <a:pPr eaLnBrk="1" hangingPunct="1"/>
            <a:r>
              <a:rPr lang="en-US">
                <a:latin typeface="Arial" pitchFamily="34" charset="0"/>
                <a:ea typeface="ＭＳ Ｐゴシック" pitchFamily="-107" charset="-128"/>
              </a:rPr>
              <a:t>We noted in Chapter 7 that, because a symmetric block cipher produces an apparently random output, it can serve as the basis of a pseudorandom number generator (PRNG). Similarly, an asymmetric encryption algorithm produces apparently random output and can be used to build a PRNG. Because asymmetric algorithms are typically much slower than symmetric algorithms, asymmetric algorithms are not used to generate open-ended PRNG bit streams. Rather, the asymmetric approach is useful for creating a pseudorandom function (PRF) for generating a short pseudorandom bit sequence.  In this section, we examine two PRNG designs based on pseudorandom functions. </a:t>
            </a:r>
          </a:p>
        </p:txBody>
      </p:sp>
      <p:sp>
        <p:nvSpPr>
          <p:cNvPr id="53252" name="Slide Number Placeholder 3"/>
          <p:cNvSpPr>
            <a:spLocks noGrp="1"/>
          </p:cNvSpPr>
          <p:nvPr>
            <p:ph type="sldNum" sz="quarter" idx="5"/>
          </p:nvPr>
        </p:nvSpPr>
        <p:spPr>
          <a:noFill/>
        </p:spPr>
        <p:txBody>
          <a:bodyPr/>
          <a:lstStyle/>
          <a:p>
            <a:fld id="{162E31A8-206F-47A7-B44E-2FE9EB6BCE73}" type="slidenum">
              <a:rPr lang="en-AU"/>
              <a:pPr/>
              <a:t>17</a:t>
            </a:fld>
            <a:endParaRPr lang="en-AU"/>
          </a:p>
        </p:txBody>
      </p:sp>
    </p:spTree>
    <p:extLst>
      <p:ext uri="{BB962C8B-B14F-4D97-AF65-F5344CB8AC3E}">
        <p14:creationId xmlns:p14="http://schemas.microsoft.com/office/powerpoint/2010/main" val="16620929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p:cNvSpPr>
          <p:nvPr>
            <p:ph type="sldImg"/>
          </p:nvPr>
        </p:nvSpPr>
        <p:spPr>
          <a:ln/>
        </p:spPr>
      </p:sp>
      <p:sp>
        <p:nvSpPr>
          <p:cNvPr id="60419" name="Notes Placeholder 2"/>
          <p:cNvSpPr>
            <a:spLocks noGrp="1"/>
          </p:cNvSpPr>
          <p:nvPr>
            <p:ph type="body" idx="1"/>
          </p:nvPr>
        </p:nvSpPr>
        <p:spPr>
          <a:xfrm>
            <a:off x="685800" y="4343400"/>
            <a:ext cx="5486400" cy="4495800"/>
          </a:xfrm>
          <a:noFill/>
          <a:ln/>
        </p:spPr>
        <p:txBody>
          <a:bodyPr/>
          <a:lstStyle/>
          <a:p>
            <a:pPr eaLnBrk="1" hangingPunct="1"/>
            <a:r>
              <a:rPr lang="en-US" dirty="0">
                <a:latin typeface="Arial" pitchFamily="-84" charset="0"/>
                <a:ea typeface="ＭＳ Ｐゴシック" pitchFamily="-84" charset="-128"/>
                <a:cs typeface="ＭＳ Ｐゴシック" pitchFamily="-84" charset="-128"/>
              </a:rPr>
              <a:t>For a sufficient key length, the RSA algorithm is considered secure and is a good candidate to form the basis of a PRNG. Such a PRNG, known as the Micali-Schnorr PRNG  is recommended in the ANSI standard X9.82 (</a:t>
            </a:r>
            <a:r>
              <a:rPr lang="en-US" i="1" dirty="0">
                <a:latin typeface="Arial" pitchFamily="-84" charset="0"/>
                <a:ea typeface="ＭＳ Ｐゴシック" pitchFamily="-84" charset="-128"/>
                <a:cs typeface="ＭＳ Ｐゴシック" pitchFamily="-84" charset="-128"/>
              </a:rPr>
              <a:t>Random Number Generation</a:t>
            </a:r>
            <a:r>
              <a:rPr lang="en-US" dirty="0">
                <a:latin typeface="Arial" pitchFamily="-84" charset="0"/>
                <a:ea typeface="ＭＳ Ｐゴシック" pitchFamily="-84" charset="-128"/>
                <a:cs typeface="ＭＳ Ｐゴシック" pitchFamily="-84" charset="-128"/>
              </a:rPr>
              <a:t>) and in the ISO standard 18031 </a:t>
            </a:r>
            <a:r>
              <a:rPr lang="en-US" i="1" dirty="0">
                <a:latin typeface="Arial" pitchFamily="-84" charset="0"/>
                <a:ea typeface="ＭＳ Ｐゴシック" pitchFamily="-84" charset="-128"/>
                <a:cs typeface="ＭＳ Ｐゴシック" pitchFamily="-84" charset="-128"/>
              </a:rPr>
              <a:t>(Random Bit Generation).  </a:t>
            </a:r>
            <a:r>
              <a:rPr lang="en-US" dirty="0">
                <a:latin typeface="Arial" pitchFamily="-84" charset="0"/>
                <a:ea typeface="ＭＳ Ｐゴシック" pitchFamily="-84" charset="-128"/>
                <a:cs typeface="ＭＳ Ｐゴシック" pitchFamily="-84" charset="-128"/>
              </a:rPr>
              <a:t>The PRNG is illustrated in Stallings Figure 10.8. This PRNG has much the same structure as the output feedback (OFB) mode used as a PRNG but using RSA instead of a block cipher. We can define the PRNG as follows:</a:t>
            </a:r>
          </a:p>
          <a:p>
            <a:pPr eaLnBrk="1" hangingPunct="1"/>
            <a:r>
              <a:rPr lang="en-US" b="1" dirty="0">
                <a:latin typeface="Arial" pitchFamily="-84" charset="0"/>
                <a:ea typeface="ＭＳ Ｐゴシック" pitchFamily="-84" charset="-128"/>
                <a:cs typeface="ＭＳ Ｐゴシック" pitchFamily="-84" charset="-128"/>
              </a:rPr>
              <a:t>SETUP </a:t>
            </a:r>
            <a:r>
              <a:rPr lang="en-US" dirty="0">
                <a:latin typeface="Arial" pitchFamily="-84" charset="0"/>
                <a:ea typeface="ＭＳ Ｐゴシック" pitchFamily="-84" charset="-128"/>
                <a:cs typeface="ＭＳ Ｐゴシック" pitchFamily="-84" charset="-128"/>
              </a:rPr>
              <a:t>Select parameters per normal RSA key setup, with r + k =bitlength of n</a:t>
            </a:r>
          </a:p>
          <a:p>
            <a:pPr eaLnBrk="1" hangingPunct="1"/>
            <a:r>
              <a:rPr lang="en-US" b="1" dirty="0">
                <a:latin typeface="Arial" pitchFamily="-84" charset="0"/>
                <a:ea typeface="ＭＳ Ｐゴシック" pitchFamily="-84" charset="-128"/>
                <a:cs typeface="ＭＳ Ｐゴシック" pitchFamily="-84" charset="-128"/>
              </a:rPr>
              <a:t>SEED   </a:t>
            </a:r>
            <a:r>
              <a:rPr lang="en-US" dirty="0">
                <a:latin typeface="Arial" pitchFamily="-84" charset="0"/>
                <a:ea typeface="ＭＳ Ｐゴシック" pitchFamily="-84" charset="-128"/>
                <a:cs typeface="ＭＳ Ｐゴシック" pitchFamily="-84" charset="-128"/>
              </a:rPr>
              <a:t>Select a random seed </a:t>
            </a:r>
            <a:r>
              <a:rPr lang="en-US" i="1" dirty="0">
                <a:latin typeface="Arial" pitchFamily="-84" charset="0"/>
                <a:ea typeface="ＭＳ Ｐゴシック" pitchFamily="-84" charset="-128"/>
                <a:cs typeface="ＭＳ Ｐゴシック" pitchFamily="-84" charset="-128"/>
              </a:rPr>
              <a:t>x  </a:t>
            </a:r>
            <a:r>
              <a:rPr lang="en-US" dirty="0">
                <a:latin typeface="Arial" pitchFamily="-84" charset="0"/>
                <a:ea typeface="ＭＳ Ｐゴシック" pitchFamily="-84" charset="-128"/>
                <a:cs typeface="ＭＳ Ｐゴシック" pitchFamily="-84" charset="-128"/>
              </a:rPr>
              <a:t>of bitlength the same as n</a:t>
            </a:r>
          </a:p>
          <a:p>
            <a:pPr eaLnBrk="1" hangingPunct="1"/>
            <a:r>
              <a:rPr lang="en-US" b="1" dirty="0">
                <a:latin typeface="Arial" pitchFamily="-84" charset="0"/>
                <a:ea typeface="ＭＳ Ｐゴシック" pitchFamily="-84" charset="-128"/>
                <a:cs typeface="ＭＳ Ｐゴシック" pitchFamily="-84" charset="-128"/>
              </a:rPr>
              <a:t>GENERATE </a:t>
            </a:r>
            <a:r>
              <a:rPr lang="en-US" dirty="0">
                <a:latin typeface="Arial" pitchFamily="-84" charset="0"/>
                <a:ea typeface="ＭＳ Ｐゴシック" pitchFamily="-84" charset="-128"/>
                <a:cs typeface="ＭＳ Ｐゴシック" pitchFamily="-84" charset="-128"/>
              </a:rPr>
              <a:t>a pseudorandom sequence of length k x m using the loop:   </a:t>
            </a:r>
          </a:p>
          <a:p>
            <a:pPr eaLnBrk="1" hangingPunct="1"/>
            <a:r>
              <a:rPr lang="en-US" dirty="0">
                <a:latin typeface="Courier New" pitchFamily="-84" charset="0"/>
                <a:ea typeface="Courier New" pitchFamily="-84" charset="0"/>
                <a:cs typeface="Courier New" pitchFamily="-84" charset="0"/>
              </a:rPr>
              <a:t>for i from 1 to m do the following:  </a:t>
            </a:r>
          </a:p>
          <a:p>
            <a:pPr eaLnBrk="1" hangingPunct="1"/>
            <a:r>
              <a:rPr lang="en-US" dirty="0">
                <a:latin typeface="Courier New" pitchFamily="-84" charset="0"/>
                <a:ea typeface="Courier New" pitchFamily="-84" charset="0"/>
                <a:cs typeface="Courier New" pitchFamily="-84" charset="0"/>
              </a:rPr>
              <a:t>y</a:t>
            </a:r>
            <a:r>
              <a:rPr lang="en-US" baseline="-25000" dirty="0">
                <a:latin typeface="Courier New" pitchFamily="-84" charset="0"/>
                <a:ea typeface="Courier New" pitchFamily="-84" charset="0"/>
                <a:cs typeface="Courier New" pitchFamily="-84" charset="0"/>
              </a:rPr>
              <a:t>i  </a:t>
            </a:r>
            <a:r>
              <a:rPr lang="en-US" dirty="0">
                <a:latin typeface="Courier New" pitchFamily="-84" charset="0"/>
                <a:ea typeface="Courier New" pitchFamily="-84" charset="0"/>
                <a:cs typeface="Courier New" pitchFamily="-84" charset="0"/>
              </a:rPr>
              <a:t>= x</a:t>
            </a:r>
            <a:r>
              <a:rPr lang="en-US" baseline="30000" dirty="0">
                <a:latin typeface="Courier New" pitchFamily="-84" charset="0"/>
                <a:ea typeface="Courier New" pitchFamily="-84" charset="0"/>
                <a:cs typeface="Courier New" pitchFamily="-84" charset="0"/>
              </a:rPr>
              <a:t>e</a:t>
            </a:r>
            <a:r>
              <a:rPr lang="en-US" baseline="-25000" dirty="0">
                <a:latin typeface="Courier New" pitchFamily="-84" charset="0"/>
                <a:ea typeface="Courier New" pitchFamily="-84" charset="0"/>
                <a:cs typeface="Courier New" pitchFamily="-84" charset="0"/>
              </a:rPr>
              <a:t>i-1</a:t>
            </a:r>
            <a:r>
              <a:rPr lang="en-US" dirty="0">
                <a:latin typeface="Courier New" pitchFamily="-84" charset="0"/>
                <a:ea typeface="Courier New" pitchFamily="-84" charset="0"/>
                <a:cs typeface="Courier New" pitchFamily="-84" charset="0"/>
              </a:rPr>
              <a:t>  mod n   </a:t>
            </a:r>
          </a:p>
          <a:p>
            <a:pPr eaLnBrk="1" hangingPunct="1"/>
            <a:r>
              <a:rPr lang="en-US" dirty="0">
                <a:latin typeface="Courier New" pitchFamily="-84" charset="0"/>
                <a:ea typeface="Courier New" pitchFamily="-84" charset="0"/>
                <a:cs typeface="Courier New" pitchFamily="-84" charset="0"/>
              </a:rPr>
              <a:t>x</a:t>
            </a:r>
            <a:r>
              <a:rPr lang="en-US" baseline="-25000" dirty="0">
                <a:latin typeface="Courier New" pitchFamily="-84" charset="0"/>
                <a:ea typeface="Courier New" pitchFamily="-84" charset="0"/>
                <a:cs typeface="Courier New" pitchFamily="-84" charset="0"/>
              </a:rPr>
              <a:t>i</a:t>
            </a:r>
            <a:r>
              <a:rPr lang="en-US" dirty="0">
                <a:latin typeface="Courier New" pitchFamily="-84" charset="0"/>
                <a:ea typeface="Courier New" pitchFamily="-84" charset="0"/>
                <a:cs typeface="Courier New" pitchFamily="-84" charset="0"/>
              </a:rPr>
              <a:t> = r most significant bits of y</a:t>
            </a:r>
            <a:r>
              <a:rPr lang="en-US" baseline="-25000" dirty="0">
                <a:latin typeface="Courier New" pitchFamily="-84" charset="0"/>
                <a:ea typeface="Courier New" pitchFamily="-84" charset="0"/>
                <a:cs typeface="Courier New" pitchFamily="-84" charset="0"/>
              </a:rPr>
              <a:t>i</a:t>
            </a:r>
            <a:r>
              <a:rPr lang="en-US" dirty="0">
                <a:latin typeface="Courier New" pitchFamily="-84" charset="0"/>
                <a:ea typeface="Courier New" pitchFamily="-84" charset="0"/>
                <a:cs typeface="Courier New" pitchFamily="-84" charset="0"/>
              </a:rPr>
              <a:t>   </a:t>
            </a:r>
          </a:p>
          <a:p>
            <a:pPr eaLnBrk="1" hangingPunct="1"/>
            <a:r>
              <a:rPr lang="en-US" dirty="0">
                <a:latin typeface="Courier New" pitchFamily="-84" charset="0"/>
                <a:ea typeface="Courier New" pitchFamily="-84" charset="0"/>
                <a:cs typeface="Courier New" pitchFamily="-84" charset="0"/>
              </a:rPr>
              <a:t>z</a:t>
            </a:r>
            <a:r>
              <a:rPr lang="en-US" baseline="-25000" dirty="0">
                <a:latin typeface="Courier New" pitchFamily="-84" charset="0"/>
                <a:ea typeface="Courier New" pitchFamily="-84" charset="0"/>
                <a:cs typeface="Courier New" pitchFamily="-84" charset="0"/>
              </a:rPr>
              <a:t>i</a:t>
            </a:r>
            <a:r>
              <a:rPr lang="en-US" dirty="0">
                <a:latin typeface="Courier New" pitchFamily="-84" charset="0"/>
                <a:ea typeface="Courier New" pitchFamily="-84" charset="0"/>
                <a:cs typeface="Courier New" pitchFamily="-84" charset="0"/>
              </a:rPr>
              <a:t> = k least significant bits of y</a:t>
            </a:r>
            <a:r>
              <a:rPr lang="en-US" baseline="-25000" dirty="0">
                <a:latin typeface="Courier New" pitchFamily="-84" charset="0"/>
                <a:ea typeface="Courier New" pitchFamily="-84" charset="0"/>
                <a:cs typeface="Courier New" pitchFamily="-84" charset="0"/>
              </a:rPr>
              <a:t>i </a:t>
            </a:r>
            <a:r>
              <a:rPr lang="en-US" dirty="0">
                <a:latin typeface="Courier New" pitchFamily="-84" charset="0"/>
                <a:ea typeface="Courier New" pitchFamily="-84" charset="0"/>
                <a:cs typeface="Courier New" pitchFamily="-84" charset="0"/>
              </a:rPr>
              <a:t> </a:t>
            </a:r>
          </a:p>
          <a:p>
            <a:pPr eaLnBrk="1" hangingPunct="1"/>
            <a:r>
              <a:rPr lang="en-US" b="1" dirty="0">
                <a:latin typeface="Arial" pitchFamily="-84" charset="0"/>
                <a:ea typeface="ＭＳ Ｐゴシック" pitchFamily="-84" charset="-128"/>
                <a:cs typeface="ＭＳ Ｐゴシック" pitchFamily="-84" charset="-128"/>
              </a:rPr>
              <a:t>OUTPUT </a:t>
            </a:r>
            <a:r>
              <a:rPr lang="en-US" dirty="0">
                <a:latin typeface="Arial" pitchFamily="-84" charset="0"/>
                <a:ea typeface="ＭＳ Ｐゴシック" pitchFamily="-84" charset="-128"/>
                <a:cs typeface="ＭＳ Ｐゴシック" pitchFamily="-84" charset="-128"/>
              </a:rPr>
              <a:t>The output sequence is z</a:t>
            </a:r>
            <a:r>
              <a:rPr lang="en-US" baseline="-25000" dirty="0">
                <a:latin typeface="Arial" pitchFamily="-84" charset="0"/>
                <a:ea typeface="ＭＳ Ｐゴシック" pitchFamily="-84" charset="-128"/>
                <a:cs typeface="ＭＳ Ｐゴシック" pitchFamily="-84" charset="-128"/>
              </a:rPr>
              <a:t>1</a:t>
            </a:r>
            <a:r>
              <a:rPr lang="en-US" dirty="0">
                <a:latin typeface="Arial" pitchFamily="-84" charset="0"/>
                <a:ea typeface="ＭＳ Ｐゴシック" pitchFamily="-84" charset="-128"/>
                <a:cs typeface="ＭＳ Ｐゴシック" pitchFamily="-84" charset="-128"/>
              </a:rPr>
              <a:t> || z</a:t>
            </a:r>
            <a:r>
              <a:rPr lang="en-US" baseline="-25000" dirty="0">
                <a:latin typeface="Arial" pitchFamily="-84" charset="0"/>
                <a:ea typeface="ＭＳ Ｐゴシック" pitchFamily="-84" charset="-128"/>
                <a:cs typeface="ＭＳ Ｐゴシック" pitchFamily="-84" charset="-128"/>
              </a:rPr>
              <a:t>2 </a:t>
            </a:r>
            <a:r>
              <a:rPr lang="en-US" dirty="0">
                <a:latin typeface="Arial" pitchFamily="-84" charset="0"/>
                <a:ea typeface="ＭＳ Ｐゴシック" pitchFamily="-84" charset="-128"/>
                <a:cs typeface="ＭＳ Ｐゴシック" pitchFamily="-84" charset="-128"/>
              </a:rPr>
              <a:t>|| … || z</a:t>
            </a:r>
            <a:r>
              <a:rPr lang="en-US" baseline="-25000" dirty="0">
                <a:latin typeface="Arial" pitchFamily="-84" charset="0"/>
                <a:ea typeface="ＭＳ Ｐゴシック" pitchFamily="-84" charset="-128"/>
                <a:cs typeface="ＭＳ Ｐゴシック" pitchFamily="-84" charset="-128"/>
              </a:rPr>
              <a:t>m</a:t>
            </a:r>
            <a:r>
              <a:rPr lang="en-US" dirty="0">
                <a:latin typeface="Arial" pitchFamily="-84" charset="0"/>
                <a:ea typeface="ＭＳ Ｐゴシック" pitchFamily="-84" charset="-128"/>
                <a:cs typeface="ＭＳ Ｐゴシック" pitchFamily="-84" charset="-128"/>
              </a:rPr>
              <a:t>   </a:t>
            </a:r>
          </a:p>
          <a:p>
            <a:pPr eaLnBrk="1" hangingPunct="1"/>
            <a:r>
              <a:rPr lang="en-US" dirty="0">
                <a:latin typeface="Arial" pitchFamily="-84" charset="0"/>
                <a:ea typeface="ＭＳ Ｐゴシック" pitchFamily="-84" charset="-128"/>
                <a:cs typeface="ＭＳ Ｐゴシック" pitchFamily="-84" charset="-128"/>
              </a:rPr>
              <a:t>The parameters n, r, e, and k are selected to satisfy the six conditions detailed in the text. There is clearly a tradeoff between </a:t>
            </a:r>
            <a:r>
              <a:rPr lang="en-US" i="1" dirty="0">
                <a:latin typeface="Arial" pitchFamily="-84" charset="0"/>
                <a:ea typeface="ＭＳ Ｐゴシック" pitchFamily="-84" charset="-128"/>
                <a:cs typeface="ＭＳ Ｐゴシック" pitchFamily="-84" charset="-128"/>
              </a:rPr>
              <a:t>r </a:t>
            </a:r>
            <a:r>
              <a:rPr lang="en-US" dirty="0">
                <a:latin typeface="Arial" pitchFamily="-84" charset="0"/>
                <a:ea typeface="ＭＳ Ｐゴシック" pitchFamily="-84" charset="-128"/>
                <a:cs typeface="ＭＳ Ｐゴシック" pitchFamily="-84" charset="-128"/>
              </a:rPr>
              <a:t>and </a:t>
            </a:r>
            <a:r>
              <a:rPr lang="en-US" i="1" dirty="0">
                <a:latin typeface="Arial" pitchFamily="-84" charset="0"/>
                <a:ea typeface="ＭＳ Ｐゴシック" pitchFamily="-84" charset="-128"/>
                <a:cs typeface="ＭＳ Ｐゴシック" pitchFamily="-84" charset="-128"/>
              </a:rPr>
              <a:t>k. </a:t>
            </a:r>
            <a:r>
              <a:rPr lang="en-US" dirty="0">
                <a:latin typeface="Arial" pitchFamily="-84" charset="0"/>
                <a:ea typeface="ＭＳ Ｐゴシック" pitchFamily="-84" charset="-128"/>
                <a:cs typeface="ＭＳ Ｐゴシック" pitchFamily="-84" charset="-128"/>
              </a:rPr>
              <a:t>Because RSA is computationally intensive, we would like to generate as many pseudorandom bits per iteration as possible, and therefore would like a large value of k. However, for cryptographic strength, we would like r to be as large as possible. </a:t>
            </a:r>
          </a:p>
        </p:txBody>
      </p:sp>
      <p:sp>
        <p:nvSpPr>
          <p:cNvPr id="60420" name="Slide Number Placeholder 3"/>
          <p:cNvSpPr>
            <a:spLocks noGrp="1"/>
          </p:cNvSpPr>
          <p:nvPr>
            <p:ph type="sldNum" sz="quarter" idx="5"/>
          </p:nvPr>
        </p:nvSpPr>
        <p:spPr>
          <a:noFill/>
        </p:spPr>
        <p:txBody>
          <a:bodyPr/>
          <a:lstStyle/>
          <a:p>
            <a:fld id="{AC8132D4-DA6C-CB47-9F95-A896F00EE909}" type="slidenum">
              <a:rPr lang="en-AU" smtClean="0">
                <a:latin typeface="Arial" pitchFamily="-84" charset="0"/>
              </a:rPr>
              <a:pPr/>
              <a:t>18</a:t>
            </a:fld>
            <a:endParaRPr lang="en-AU" dirty="0">
              <a:latin typeface="Arial" pitchFamily="-84" charset="0"/>
            </a:endParaRPr>
          </a:p>
        </p:txBody>
      </p:sp>
    </p:spTree>
    <p:extLst>
      <p:ext uri="{BB962C8B-B14F-4D97-AF65-F5344CB8AC3E}">
        <p14:creationId xmlns:p14="http://schemas.microsoft.com/office/powerpoint/2010/main" val="29864218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p>
            <a:fld id="{85B049FB-3BE6-4EAD-A50A-9703D5496DCE}" type="slidenum">
              <a:rPr lang="en-AU"/>
              <a:pPr/>
              <a:t>19</a:t>
            </a:fld>
            <a:endParaRPr lang="en-AU"/>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a:ln/>
        </p:spPr>
        <p:txBody>
          <a:bodyPr/>
          <a:lstStyle/>
          <a:p>
            <a:pPr eaLnBrk="1" hangingPunct="1"/>
            <a:r>
              <a:rPr lang="en-US">
                <a:latin typeface="Arial" pitchFamily="34" charset="0"/>
                <a:ea typeface="ＭＳ Ｐゴシック" pitchFamily="-107" charset="-128"/>
              </a:rPr>
              <a:t>Chapter 10 summary.</a:t>
            </a:r>
          </a:p>
        </p:txBody>
      </p:sp>
    </p:spTree>
    <p:extLst>
      <p:ext uri="{BB962C8B-B14F-4D97-AF65-F5344CB8AC3E}">
        <p14:creationId xmlns:p14="http://schemas.microsoft.com/office/powerpoint/2010/main" val="38927456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73EC3BA-79EC-45D3-84A6-54F3A640B50C}" type="datetimeFigureOut">
              <a:rPr lang="en-US" smtClean="0"/>
              <a:pPr/>
              <a:t>11/25/2024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4CFE3C-3D43-420B-BED1-5687A3D094D6}"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73EC3BA-79EC-45D3-84A6-54F3A640B50C}" type="datetimeFigureOut">
              <a:rPr lang="en-US" smtClean="0"/>
              <a:pPr/>
              <a:t>11/25/2024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4CFE3C-3D43-420B-BED1-5687A3D094D6}"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73EC3BA-79EC-45D3-84A6-54F3A640B50C}" type="datetimeFigureOut">
              <a:rPr lang="en-US" smtClean="0"/>
              <a:pPr/>
              <a:t>11/25/2024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4CFE3C-3D43-420B-BED1-5687A3D094D6}"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73EC3BA-79EC-45D3-84A6-54F3A640B50C}" type="datetimeFigureOut">
              <a:rPr lang="en-US" smtClean="0"/>
              <a:pPr/>
              <a:t>11/25/2024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74CFE3C-3D43-420B-BED1-5687A3D094D6}"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73EC3BA-79EC-45D3-84A6-54F3A640B50C}" type="datetimeFigureOut">
              <a:rPr lang="en-US" smtClean="0"/>
              <a:pPr/>
              <a:t>11/25/2024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74CFE3C-3D43-420B-BED1-5687A3D094D6}"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73EC3BA-79EC-45D3-84A6-54F3A640B50C}" type="datetimeFigureOut">
              <a:rPr lang="en-US" smtClean="0"/>
              <a:pPr/>
              <a:t>11/25/2024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74CFE3C-3D43-420B-BED1-5687A3D094D6}"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3EC3BA-79EC-45D3-84A6-54F3A640B50C}" type="datetimeFigureOut">
              <a:rPr lang="en-US" smtClean="0"/>
              <a:pPr/>
              <a:t>11/25/2024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74CFE3C-3D43-420B-BED1-5687A3D094D6}"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73EC3BA-79EC-45D3-84A6-54F3A640B50C}" type="datetimeFigureOut">
              <a:rPr lang="en-US" smtClean="0"/>
              <a:pPr/>
              <a:t>11/25/2024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74CFE3C-3D43-420B-BED1-5687A3D094D6}"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73EC3BA-79EC-45D3-84A6-54F3A640B50C}" type="datetimeFigureOut">
              <a:rPr lang="en-US" smtClean="0"/>
              <a:pPr/>
              <a:t>11/25/2024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74CFE3C-3D43-420B-BED1-5687A3D094D6}"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73EC3BA-79EC-45D3-84A6-54F3A640B50C}" type="datetimeFigureOut">
              <a:rPr lang="en-US" smtClean="0"/>
              <a:pPr/>
              <a:t>11/25/2024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4CFE3C-3D43-420B-BED1-5687A3D094D6}"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73EC3BA-79EC-45D3-84A6-54F3A640B50C}" type="datetimeFigureOut">
              <a:rPr lang="en-US" smtClean="0"/>
              <a:pPr/>
              <a:t>11/25/2024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4CFE3C-3D43-420B-BED1-5687A3D094D6}"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3EC3BA-79EC-45D3-84A6-54F3A640B50C}" type="datetimeFigureOut">
              <a:rPr lang="en-US" smtClean="0"/>
              <a:pPr/>
              <a:t>11/25/2024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4CFE3C-3D43-420B-BED1-5687A3D094D6}"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6" name="Rectangle 135">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8" y="448055"/>
            <a:ext cx="2560777" cy="3801257"/>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81922" name="Rectangle 1026"/>
          <p:cNvSpPr>
            <a:spLocks noGrp="1" noChangeArrowheads="1"/>
          </p:cNvSpPr>
          <p:nvPr>
            <p:ph type="ctrTitle"/>
          </p:nvPr>
        </p:nvSpPr>
        <p:spPr>
          <a:xfrm>
            <a:off x="582930" y="731519"/>
            <a:ext cx="2133893" cy="3237579"/>
          </a:xfrm>
        </p:spPr>
        <p:txBody>
          <a:bodyPr vert="horz" lIns="91440" tIns="45720" rIns="91440" bIns="45720" rtlCol="0" anchor="ctr">
            <a:normAutofit/>
          </a:bodyPr>
          <a:lstStyle/>
          <a:p>
            <a:pPr algn="l">
              <a:lnSpc>
                <a:spcPct val="90000"/>
              </a:lnSpc>
              <a:defRPr/>
            </a:pPr>
            <a:r>
              <a:rPr lang="en-US" sz="2800" kern="1200">
                <a:solidFill>
                  <a:srgbClr val="FFFFFF"/>
                </a:solidFill>
                <a:latin typeface="+mj-lt"/>
                <a:ea typeface="+mj-ea"/>
                <a:cs typeface="+mj-cs"/>
              </a:rPr>
              <a:t>Cryptography and Network Security</a:t>
            </a:r>
            <a:br>
              <a:rPr lang="en-US" sz="2800" kern="1200">
                <a:solidFill>
                  <a:srgbClr val="FFFFFF"/>
                </a:solidFill>
                <a:latin typeface="+mj-lt"/>
                <a:ea typeface="+mj-ea"/>
                <a:cs typeface="+mj-cs"/>
              </a:rPr>
            </a:br>
            <a:r>
              <a:rPr lang="en-US" sz="2800" kern="1200">
                <a:solidFill>
                  <a:srgbClr val="FFFFFF"/>
                </a:solidFill>
                <a:latin typeface="+mj-lt"/>
                <a:ea typeface="+mj-ea"/>
                <a:cs typeface="+mj-cs"/>
              </a:rPr>
              <a:t>Chapter 10</a:t>
            </a:r>
          </a:p>
        </p:txBody>
      </p:sp>
      <p:sp>
        <p:nvSpPr>
          <p:cNvPr id="138" name="Rectangle 137">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9757" y="4419227"/>
            <a:ext cx="2560777" cy="1979852"/>
          </a:xfrm>
          <a:prstGeom prst="rect">
            <a:avLst/>
          </a:prstGeom>
          <a:solidFill>
            <a:schemeClr val="accent1">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140" name="Rectangle 139">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3452" y="448055"/>
            <a:ext cx="5766356" cy="5952745"/>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923" name="Rectangle 1027"/>
          <p:cNvSpPr>
            <a:spLocks noGrp="1" noChangeArrowheads="1"/>
          </p:cNvSpPr>
          <p:nvPr>
            <p:ph type="subTitle" idx="1"/>
          </p:nvPr>
        </p:nvSpPr>
        <p:spPr>
          <a:xfrm>
            <a:off x="3284781" y="686862"/>
            <a:ext cx="5278194" cy="5475129"/>
          </a:xfrm>
        </p:spPr>
        <p:txBody>
          <a:bodyPr vert="horz" lIns="91440" tIns="45720" rIns="91440" bIns="45720" rtlCol="0" anchor="ctr">
            <a:normAutofit/>
          </a:bodyPr>
          <a:lstStyle/>
          <a:p>
            <a:pPr>
              <a:lnSpc>
                <a:spcPct val="90000"/>
              </a:lnSpc>
              <a:defRPr/>
            </a:pPr>
            <a:r>
              <a:rPr lang="en-AU" sz="3600" dirty="0">
                <a:solidFill>
                  <a:schemeClr val="tx1"/>
                </a:solidFill>
                <a:latin typeface="Arial" pitchFamily="34" charset="0"/>
                <a:ea typeface="ＭＳ Ｐゴシック" pitchFamily="-107" charset="-128"/>
              </a:rPr>
              <a:t>Other Public Key Cryptosystems</a:t>
            </a:r>
          </a:p>
          <a:p>
            <a:pPr>
              <a:lnSpc>
                <a:spcPct val="90000"/>
              </a:lnSpc>
              <a:defRPr/>
            </a:pPr>
            <a:endParaRPr lang="en-AU" sz="3600" dirty="0">
              <a:solidFill>
                <a:schemeClr val="tx1"/>
              </a:solidFill>
              <a:latin typeface="Arial" pitchFamily="34" charset="0"/>
              <a:ea typeface="ＭＳ Ｐゴシック" pitchFamily="-107" charset="-128"/>
            </a:endParaRPr>
          </a:p>
          <a:p>
            <a:pPr>
              <a:lnSpc>
                <a:spcPct val="90000"/>
              </a:lnSpc>
              <a:defRPr/>
            </a:pPr>
            <a:endParaRPr lang="en-AU" sz="3600" dirty="0">
              <a:solidFill>
                <a:schemeClr val="tx1"/>
              </a:solidFill>
              <a:latin typeface="Arial" pitchFamily="34" charset="0"/>
              <a:ea typeface="ＭＳ Ｐゴシック" pitchFamily="-107" charset="-128"/>
            </a:endParaRPr>
          </a:p>
          <a:p>
            <a:pPr>
              <a:spcBef>
                <a:spcPts val="0"/>
              </a:spcBef>
            </a:pPr>
            <a:r>
              <a:rPr lang="en-US" sz="2400" dirty="0">
                <a:solidFill>
                  <a:schemeClr val="tx1"/>
                </a:solidFill>
              </a:rPr>
              <a:t>Arabic Language Audio Comments by</a:t>
            </a:r>
          </a:p>
          <a:p>
            <a:pPr>
              <a:spcBef>
                <a:spcPts val="0"/>
              </a:spcBef>
            </a:pPr>
            <a:r>
              <a:rPr lang="en-US" sz="2400" dirty="0">
                <a:solidFill>
                  <a:schemeClr val="tx1"/>
                </a:solidFill>
              </a:rPr>
              <a:t>Prof. Mohamed Ashraf Madkour</a:t>
            </a:r>
          </a:p>
          <a:p>
            <a:pPr>
              <a:lnSpc>
                <a:spcPct val="90000"/>
              </a:lnSpc>
              <a:defRPr/>
            </a:pPr>
            <a:endParaRPr lang="en-US" sz="3600" dirty="0">
              <a:solidFill>
                <a:schemeClr val="tx1"/>
              </a:solidFill>
            </a:endParaRPr>
          </a:p>
        </p:txBody>
      </p:sp>
      <p:sp>
        <p:nvSpPr>
          <p:cNvPr id="3" name="TextBox 2">
            <a:extLst>
              <a:ext uri="{FF2B5EF4-FFF2-40B4-BE49-F238E27FC236}">
                <a16:creationId xmlns:a16="http://schemas.microsoft.com/office/drawing/2014/main" id="{AC261DE5-67CF-4F03-84BE-8AC55AA46BBB}"/>
              </a:ext>
            </a:extLst>
          </p:cNvPr>
          <p:cNvSpPr txBox="1"/>
          <p:nvPr/>
        </p:nvSpPr>
        <p:spPr>
          <a:xfrm>
            <a:off x="547895" y="4878238"/>
            <a:ext cx="2118666" cy="1200329"/>
          </a:xfrm>
          <a:prstGeom prst="rect">
            <a:avLst/>
          </a:prstGeom>
          <a:noFill/>
        </p:spPr>
        <p:txBody>
          <a:bodyPr wrap="square">
            <a:spAutoFit/>
          </a:bodyPr>
          <a:lstStyle/>
          <a:p>
            <a:pPr indent="-228600" algn="l">
              <a:lnSpc>
                <a:spcPct val="90000"/>
              </a:lnSpc>
              <a:buFont typeface="Arial" panose="020B0604020202020204" pitchFamily="34" charset="0"/>
              <a:buChar char="•"/>
            </a:pPr>
            <a:r>
              <a:rPr lang="en-US" sz="1600" dirty="0">
                <a:solidFill>
                  <a:schemeClr val="bg1"/>
                </a:solidFill>
              </a:rPr>
              <a:t>Fifth Edition</a:t>
            </a:r>
          </a:p>
          <a:p>
            <a:pPr indent="228600" algn="l">
              <a:lnSpc>
                <a:spcPct val="90000"/>
              </a:lnSpc>
            </a:pPr>
            <a:r>
              <a:rPr lang="en-US" sz="1600" dirty="0">
                <a:solidFill>
                  <a:schemeClr val="bg1"/>
                </a:solidFill>
              </a:rPr>
              <a:t>by William Stallings	</a:t>
            </a:r>
          </a:p>
          <a:p>
            <a:pPr indent="-228600" algn="l">
              <a:lnSpc>
                <a:spcPct val="90000"/>
              </a:lnSpc>
              <a:buFont typeface="Arial" panose="020B0604020202020204" pitchFamily="34" charset="0"/>
              <a:buChar char="•"/>
            </a:pPr>
            <a:endParaRPr lang="en-US" sz="1600" dirty="0">
              <a:solidFill>
                <a:schemeClr val="bg1"/>
              </a:solidFill>
            </a:endParaRPr>
          </a:p>
          <a:p>
            <a:pPr indent="-228600" algn="l">
              <a:lnSpc>
                <a:spcPct val="90000"/>
              </a:lnSpc>
              <a:buFont typeface="Arial" panose="020B0604020202020204" pitchFamily="34" charset="0"/>
              <a:buChar char="•"/>
            </a:pPr>
            <a:r>
              <a:rPr lang="en-US" sz="1600" dirty="0">
                <a:solidFill>
                  <a:schemeClr val="bg1"/>
                </a:solidFill>
              </a:rPr>
              <a:t>Lecture slides by</a:t>
            </a:r>
          </a:p>
          <a:p>
            <a:pPr indent="228600" algn="l">
              <a:lnSpc>
                <a:spcPct val="90000"/>
              </a:lnSpc>
            </a:pPr>
            <a:r>
              <a:rPr lang="en-US" sz="1600" dirty="0">
                <a:solidFill>
                  <a:schemeClr val="bg1"/>
                </a:solidFill>
              </a:rPr>
              <a:t>Lawrie Brown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6" name="Rectangle 135">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0"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2"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4"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6" name="Rectangle 145">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60418" name="Rectangle 2"/>
          <p:cNvSpPr>
            <a:spLocks noGrp="1" noChangeArrowheads="1"/>
          </p:cNvSpPr>
          <p:nvPr>
            <p:ph type="title"/>
          </p:nvPr>
        </p:nvSpPr>
        <p:spPr>
          <a:xfrm>
            <a:off x="718879" y="800392"/>
            <a:ext cx="7698523" cy="1212102"/>
          </a:xfrm>
        </p:spPr>
        <p:txBody>
          <a:bodyPr>
            <a:normAutofit/>
          </a:bodyPr>
          <a:lstStyle/>
          <a:p>
            <a:r>
              <a:rPr lang="en-AU" sz="3500">
                <a:solidFill>
                  <a:srgbClr val="FFFFFF"/>
                </a:solidFill>
              </a:rPr>
              <a:t>Diffie-Hellman Key Exchange</a:t>
            </a:r>
          </a:p>
        </p:txBody>
      </p:sp>
      <p:sp>
        <p:nvSpPr>
          <p:cNvPr id="60419" name="Rectangle 3"/>
          <p:cNvSpPr>
            <a:spLocks noGrp="1" noChangeArrowheads="1"/>
          </p:cNvSpPr>
          <p:nvPr>
            <p:ph idx="1"/>
          </p:nvPr>
        </p:nvSpPr>
        <p:spPr>
          <a:xfrm>
            <a:off x="1025718" y="2490436"/>
            <a:ext cx="7281746" cy="3567173"/>
          </a:xfrm>
        </p:spPr>
        <p:txBody>
          <a:bodyPr anchor="ctr">
            <a:normAutofit/>
          </a:bodyPr>
          <a:lstStyle/>
          <a:p>
            <a:r>
              <a:rPr lang="en-AU" sz="2100"/>
              <a:t>First published public-key algorithm</a:t>
            </a:r>
          </a:p>
          <a:p>
            <a:r>
              <a:rPr lang="en-AU" sz="2100"/>
              <a:t>A number of commercial products employ this key exchange technique</a:t>
            </a:r>
          </a:p>
          <a:p>
            <a:r>
              <a:rPr lang="en-AU" sz="2100"/>
              <a:t>Purpose is to enable two users to securely exchange a key that can then be used for subsequent symmetric encryption of messages</a:t>
            </a:r>
          </a:p>
          <a:p>
            <a:r>
              <a:rPr lang="en-AU" sz="2100"/>
              <a:t>The algorithm itself is limited to the exchange of secret values</a:t>
            </a:r>
          </a:p>
          <a:p>
            <a:r>
              <a:rPr lang="en-AU" sz="2100"/>
              <a:t>Its effectiveness depends on the difficulty of computing discrete logarithms</a:t>
            </a:r>
          </a:p>
        </p:txBody>
      </p:sp>
    </p:spTree>
    <p:extLst>
      <p:ext uri="{BB962C8B-B14F-4D97-AF65-F5344CB8AC3E}">
        <p14:creationId xmlns:p14="http://schemas.microsoft.com/office/powerpoint/2010/main" val="8036484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6" name="Rectangle 135">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0"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2"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4"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6" name="Rectangle 145">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60418" name="Rectangle 2"/>
          <p:cNvSpPr>
            <a:spLocks noGrp="1" noChangeArrowheads="1"/>
          </p:cNvSpPr>
          <p:nvPr>
            <p:ph type="title"/>
          </p:nvPr>
        </p:nvSpPr>
        <p:spPr>
          <a:xfrm>
            <a:off x="718879" y="800392"/>
            <a:ext cx="7698523" cy="1212102"/>
          </a:xfrm>
        </p:spPr>
        <p:txBody>
          <a:bodyPr>
            <a:normAutofit/>
          </a:bodyPr>
          <a:lstStyle/>
          <a:p>
            <a:r>
              <a:rPr lang="en-AU" sz="3500">
                <a:solidFill>
                  <a:srgbClr val="FFFFFF"/>
                </a:solidFill>
              </a:rPr>
              <a:t>Diffie-Hellman Key Exchange</a:t>
            </a:r>
          </a:p>
        </p:txBody>
      </p:sp>
      <p:sp>
        <p:nvSpPr>
          <p:cNvPr id="60419" name="Rectangle 3"/>
          <p:cNvSpPr>
            <a:spLocks noGrp="1" noChangeArrowheads="1"/>
          </p:cNvSpPr>
          <p:nvPr>
            <p:ph idx="1"/>
          </p:nvPr>
        </p:nvSpPr>
        <p:spPr>
          <a:xfrm>
            <a:off x="1025718" y="2490436"/>
            <a:ext cx="7281746" cy="3567173"/>
          </a:xfrm>
        </p:spPr>
        <p:txBody>
          <a:bodyPr anchor="ctr">
            <a:normAutofit/>
          </a:bodyPr>
          <a:lstStyle/>
          <a:p>
            <a:pPr eaLnBrk="1" hangingPunct="1">
              <a:lnSpc>
                <a:spcPct val="90000"/>
              </a:lnSpc>
              <a:defRPr/>
            </a:pPr>
            <a:r>
              <a:rPr lang="en-AU" sz="2100" dirty="0">
                <a:ea typeface="ＭＳ Ｐゴシック" pitchFamily="-107" charset="-128"/>
              </a:rPr>
              <a:t>a public-key distribution scheme </a:t>
            </a:r>
          </a:p>
          <a:p>
            <a:pPr lvl="1" eaLnBrk="1" hangingPunct="1">
              <a:lnSpc>
                <a:spcPct val="90000"/>
              </a:lnSpc>
              <a:defRPr/>
            </a:pPr>
            <a:r>
              <a:rPr lang="en-AU" sz="2100" dirty="0">
                <a:ea typeface="ＭＳ Ｐゴシック" pitchFamily="-107" charset="-128"/>
              </a:rPr>
              <a:t>cannot be used to exchange an arbitrary message </a:t>
            </a:r>
          </a:p>
          <a:p>
            <a:pPr lvl="1" eaLnBrk="1" hangingPunct="1">
              <a:lnSpc>
                <a:spcPct val="90000"/>
              </a:lnSpc>
              <a:defRPr/>
            </a:pPr>
            <a:r>
              <a:rPr lang="en-AU" sz="2100" dirty="0">
                <a:ea typeface="ＭＳ Ｐゴシック" pitchFamily="-107" charset="-128"/>
              </a:rPr>
              <a:t>rather it can establish a common key </a:t>
            </a:r>
          </a:p>
          <a:p>
            <a:pPr lvl="1" eaLnBrk="1" hangingPunct="1">
              <a:lnSpc>
                <a:spcPct val="90000"/>
              </a:lnSpc>
              <a:defRPr/>
            </a:pPr>
            <a:r>
              <a:rPr lang="en-AU" sz="2100" dirty="0">
                <a:ea typeface="ＭＳ Ｐゴシック" pitchFamily="-107" charset="-128"/>
              </a:rPr>
              <a:t>known only to the two participants </a:t>
            </a:r>
          </a:p>
          <a:p>
            <a:pPr eaLnBrk="1" hangingPunct="1">
              <a:lnSpc>
                <a:spcPct val="90000"/>
              </a:lnSpc>
              <a:defRPr/>
            </a:pPr>
            <a:r>
              <a:rPr lang="en-AU" sz="2100" dirty="0">
                <a:ea typeface="ＭＳ Ｐゴシック" pitchFamily="-107" charset="-128"/>
              </a:rPr>
              <a:t>value of key depends on the participants (and their private and public key information) </a:t>
            </a:r>
          </a:p>
          <a:p>
            <a:pPr eaLnBrk="1" hangingPunct="1">
              <a:lnSpc>
                <a:spcPct val="90000"/>
              </a:lnSpc>
              <a:defRPr/>
            </a:pPr>
            <a:r>
              <a:rPr lang="en-AU" sz="2100" dirty="0">
                <a:ea typeface="ＭＳ Ｐゴシック" pitchFamily="-107" charset="-128"/>
              </a:rPr>
              <a:t>based on exponentiation in a finite field (modulo a prime or a polynomial) - easy</a:t>
            </a:r>
          </a:p>
          <a:p>
            <a:pPr eaLnBrk="1" hangingPunct="1">
              <a:lnSpc>
                <a:spcPct val="90000"/>
              </a:lnSpc>
              <a:defRPr/>
            </a:pPr>
            <a:r>
              <a:rPr lang="en-AU" sz="2100" dirty="0">
                <a:ea typeface="ＭＳ Ｐゴシック" pitchFamily="-107" charset="-128"/>
              </a:rPr>
              <a:t>security relies on the difficulty of computing discrete logarithms (similar to factoring) – hard</a:t>
            </a:r>
          </a:p>
        </p:txBody>
      </p:sp>
    </p:spTree>
    <p:extLst>
      <p:ext uri="{BB962C8B-B14F-4D97-AF65-F5344CB8AC3E}">
        <p14:creationId xmlns:p14="http://schemas.microsoft.com/office/powerpoint/2010/main" val="9295684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6" name="Rectangle 135">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0"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2"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4"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6" name="Rectangle 145">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60418" name="Rectangle 2"/>
          <p:cNvSpPr>
            <a:spLocks noGrp="1" noChangeArrowheads="1"/>
          </p:cNvSpPr>
          <p:nvPr>
            <p:ph type="title"/>
          </p:nvPr>
        </p:nvSpPr>
        <p:spPr>
          <a:xfrm>
            <a:off x="718879" y="800392"/>
            <a:ext cx="7698523" cy="1212102"/>
          </a:xfrm>
        </p:spPr>
        <p:txBody>
          <a:bodyPr>
            <a:normAutofit/>
          </a:bodyPr>
          <a:lstStyle/>
          <a:p>
            <a:r>
              <a:rPr lang="en-AU" sz="3500" dirty="0">
                <a:solidFill>
                  <a:srgbClr val="FFFFFF"/>
                </a:solidFill>
              </a:rPr>
              <a:t>Diffie-Hellman Setup</a:t>
            </a:r>
          </a:p>
        </p:txBody>
      </p:sp>
      <p:sp>
        <p:nvSpPr>
          <p:cNvPr id="60419" name="Rectangle 3"/>
          <p:cNvSpPr>
            <a:spLocks noGrp="1" noChangeArrowheads="1"/>
          </p:cNvSpPr>
          <p:nvPr>
            <p:ph idx="1"/>
          </p:nvPr>
        </p:nvSpPr>
        <p:spPr>
          <a:xfrm>
            <a:off x="1025718" y="2490436"/>
            <a:ext cx="7281746" cy="3567173"/>
          </a:xfrm>
        </p:spPr>
        <p:txBody>
          <a:bodyPr anchor="ctr">
            <a:normAutofit/>
          </a:bodyPr>
          <a:lstStyle/>
          <a:p>
            <a:pPr eaLnBrk="1" hangingPunct="1">
              <a:defRPr/>
            </a:pPr>
            <a:r>
              <a:rPr lang="en-US" sz="2100" dirty="0">
                <a:ea typeface="ＭＳ Ｐゴシック" pitchFamily="-107" charset="-128"/>
              </a:rPr>
              <a:t>all users agree on global parameters:</a:t>
            </a:r>
          </a:p>
          <a:p>
            <a:pPr lvl="1" eaLnBrk="1" hangingPunct="1">
              <a:defRPr/>
            </a:pPr>
            <a:r>
              <a:rPr lang="en-AU" sz="2100" dirty="0">
                <a:ea typeface="ＭＳ Ｐゴシック" pitchFamily="-107" charset="-128"/>
              </a:rPr>
              <a:t>large prime integer or polynomial </a:t>
            </a:r>
            <a:r>
              <a:rPr lang="en-AU" sz="2100" dirty="0">
                <a:latin typeface="Courier New" pitchFamily="49" charset="0"/>
                <a:ea typeface="ＭＳ Ｐゴシック" pitchFamily="-107" charset="-128"/>
              </a:rPr>
              <a:t>q</a:t>
            </a:r>
          </a:p>
          <a:p>
            <a:pPr lvl="1" eaLnBrk="1" hangingPunct="1">
              <a:defRPr/>
            </a:pPr>
            <a:r>
              <a:rPr lang="el-GR" sz="2100" dirty="0">
                <a:latin typeface="Courier New" pitchFamily="49" charset="0"/>
                <a:ea typeface="ＭＳ Ｐゴシック" pitchFamily="-107" charset="-128"/>
              </a:rPr>
              <a:t>α</a:t>
            </a:r>
            <a:r>
              <a:rPr lang="en-AU" sz="2100" dirty="0">
                <a:ea typeface="ＭＳ Ｐゴシック" pitchFamily="-107" charset="-128"/>
              </a:rPr>
              <a:t> being a primitive root mod </a:t>
            </a:r>
            <a:r>
              <a:rPr lang="en-AU" sz="2100" dirty="0">
                <a:latin typeface="Courier New" pitchFamily="49" charset="0"/>
                <a:ea typeface="ＭＳ Ｐゴシック" pitchFamily="-107" charset="-128"/>
              </a:rPr>
              <a:t>q</a:t>
            </a:r>
            <a:endParaRPr lang="en-AU" sz="2100" dirty="0">
              <a:ea typeface="ＭＳ Ｐゴシック" pitchFamily="-107" charset="-128"/>
            </a:endParaRPr>
          </a:p>
          <a:p>
            <a:pPr eaLnBrk="1" hangingPunct="1">
              <a:defRPr/>
            </a:pPr>
            <a:r>
              <a:rPr lang="en-US" sz="2100" dirty="0">
                <a:ea typeface="ＭＳ Ｐゴシック" pitchFamily="-107" charset="-128"/>
              </a:rPr>
              <a:t>each user (e.g., A) generates their key</a:t>
            </a:r>
          </a:p>
          <a:p>
            <a:pPr lvl="1" eaLnBrk="1" hangingPunct="1">
              <a:defRPr/>
            </a:pPr>
            <a:r>
              <a:rPr lang="en-AU" sz="2100" dirty="0">
                <a:ea typeface="ＭＳ Ｐゴシック" pitchFamily="-107" charset="-128"/>
              </a:rPr>
              <a:t>chooses a secret number </a:t>
            </a:r>
            <a:r>
              <a:rPr lang="en-AU" sz="2100" dirty="0" err="1">
                <a:latin typeface="Courier New" pitchFamily="49" charset="0"/>
                <a:ea typeface="ＭＳ Ｐゴシック" pitchFamily="-107" charset="-128"/>
              </a:rPr>
              <a:t>x</a:t>
            </a:r>
            <a:r>
              <a:rPr lang="en-AU" sz="2100" baseline="-25000" dirty="0" err="1">
                <a:latin typeface="Courier New" pitchFamily="49" charset="0"/>
                <a:ea typeface="ＭＳ Ｐゴシック" pitchFamily="-107" charset="-128"/>
              </a:rPr>
              <a:t>A</a:t>
            </a:r>
            <a:r>
              <a:rPr lang="en-AU" sz="2100" dirty="0">
                <a:ea typeface="ＭＳ Ｐゴシック" pitchFamily="-107" charset="-128"/>
              </a:rPr>
              <a:t> to be the </a:t>
            </a:r>
            <a:r>
              <a:rPr lang="en-AU" sz="2100" b="1" dirty="0">
                <a:ea typeface="ＭＳ Ｐゴシック" pitchFamily="-107" charset="-128"/>
              </a:rPr>
              <a:t>private key</a:t>
            </a:r>
            <a:r>
              <a:rPr lang="en-AU" sz="2100" dirty="0">
                <a:ea typeface="ＭＳ Ｐゴシック" pitchFamily="-107" charset="-128"/>
              </a:rPr>
              <a:t>: </a:t>
            </a:r>
          </a:p>
          <a:p>
            <a:pPr marL="457200" lvl="1" indent="0" eaLnBrk="1" hangingPunct="1">
              <a:buNone/>
              <a:defRPr/>
            </a:pPr>
            <a:r>
              <a:rPr lang="en-AU" sz="2100" dirty="0">
                <a:latin typeface="Courier New" pitchFamily="49" charset="0"/>
                <a:ea typeface="ＭＳ Ｐゴシック" pitchFamily="-107" charset="-128"/>
              </a:rPr>
              <a:t>     </a:t>
            </a:r>
            <a:r>
              <a:rPr lang="en-AU" sz="2100" dirty="0" err="1">
                <a:latin typeface="Courier New" pitchFamily="49" charset="0"/>
                <a:ea typeface="ＭＳ Ｐゴシック" pitchFamily="-107" charset="-128"/>
              </a:rPr>
              <a:t>x</a:t>
            </a:r>
            <a:r>
              <a:rPr lang="en-AU" sz="2100" baseline="-25000" dirty="0" err="1">
                <a:latin typeface="Courier New" pitchFamily="49" charset="0"/>
                <a:ea typeface="ＭＳ Ｐゴシック" pitchFamily="-107" charset="-128"/>
              </a:rPr>
              <a:t>A</a:t>
            </a:r>
            <a:r>
              <a:rPr lang="en-AU" sz="2100" dirty="0">
                <a:latin typeface="Courier New" pitchFamily="49" charset="0"/>
                <a:ea typeface="ＭＳ Ｐゴシック" pitchFamily="-107" charset="-128"/>
              </a:rPr>
              <a:t> &lt; q</a:t>
            </a:r>
            <a:r>
              <a:rPr lang="en-AU" sz="2100" dirty="0">
                <a:ea typeface="ＭＳ Ｐゴシック" pitchFamily="-107" charset="-128"/>
              </a:rPr>
              <a:t> </a:t>
            </a:r>
          </a:p>
          <a:p>
            <a:pPr lvl="1" eaLnBrk="1" hangingPunct="1">
              <a:defRPr/>
            </a:pPr>
            <a:r>
              <a:rPr lang="en-AU" sz="2100" dirty="0">
                <a:ea typeface="ＭＳ Ｐゴシック" pitchFamily="-107" charset="-128"/>
              </a:rPr>
              <a:t>compute their </a:t>
            </a:r>
            <a:r>
              <a:rPr lang="en-AU" sz="2100" b="1" dirty="0">
                <a:ea typeface="ＭＳ Ｐゴシック" pitchFamily="-107" charset="-128"/>
              </a:rPr>
              <a:t>public key</a:t>
            </a:r>
            <a:r>
              <a:rPr lang="en-AU" sz="2100" dirty="0">
                <a:ea typeface="ＭＳ Ｐゴシック" pitchFamily="-107" charset="-128"/>
              </a:rPr>
              <a:t>: </a:t>
            </a:r>
          </a:p>
          <a:p>
            <a:pPr marL="457200" lvl="1" indent="0" eaLnBrk="1" hangingPunct="1">
              <a:buNone/>
              <a:defRPr/>
            </a:pPr>
            <a:r>
              <a:rPr lang="en-AU" sz="2100" dirty="0">
                <a:latin typeface="Courier New" pitchFamily="49" charset="0"/>
                <a:ea typeface="ＭＳ Ｐゴシック" pitchFamily="-107" charset="-128"/>
              </a:rPr>
              <a:t>     </a:t>
            </a:r>
            <a:r>
              <a:rPr lang="en-AU" sz="2100" dirty="0" err="1">
                <a:latin typeface="Courier New" pitchFamily="49" charset="0"/>
                <a:ea typeface="ＭＳ Ｐゴシック" pitchFamily="-107" charset="-128"/>
              </a:rPr>
              <a:t>y</a:t>
            </a:r>
            <a:r>
              <a:rPr lang="en-AU" sz="2100" baseline="-25000" dirty="0" err="1">
                <a:latin typeface="Courier New" pitchFamily="49" charset="0"/>
                <a:ea typeface="ＭＳ Ｐゴシック" pitchFamily="-107" charset="-128"/>
              </a:rPr>
              <a:t>A</a:t>
            </a:r>
            <a:r>
              <a:rPr lang="en-AU" sz="2100" dirty="0">
                <a:latin typeface="Courier New" pitchFamily="49" charset="0"/>
                <a:ea typeface="ＭＳ Ｐゴシック" pitchFamily="-107" charset="-128"/>
              </a:rPr>
              <a:t> = </a:t>
            </a:r>
            <a:r>
              <a:rPr lang="el-GR" sz="2100" dirty="0">
                <a:latin typeface="Courier New" pitchFamily="49" charset="0"/>
                <a:ea typeface="ＭＳ Ｐゴシック" pitchFamily="-107" charset="-128"/>
                <a:cs typeface="Arial" pitchFamily="34" charset="0"/>
              </a:rPr>
              <a:t>α</a:t>
            </a:r>
            <a:r>
              <a:rPr lang="en-AU" sz="2100" baseline="60000" dirty="0" err="1">
                <a:latin typeface="Courier New" pitchFamily="49" charset="0"/>
                <a:ea typeface="ＭＳ Ｐゴシック" pitchFamily="-107" charset="-128"/>
              </a:rPr>
              <a:t>x</a:t>
            </a:r>
            <a:r>
              <a:rPr lang="en-AU" sz="2100" baseline="40000" dirty="0" err="1">
                <a:latin typeface="Courier New" pitchFamily="49" charset="0"/>
                <a:ea typeface="ＭＳ Ｐゴシック" pitchFamily="-107" charset="-128"/>
              </a:rPr>
              <a:t>A</a:t>
            </a:r>
            <a:r>
              <a:rPr lang="en-AU" sz="2100" dirty="0">
                <a:latin typeface="Courier New" pitchFamily="49" charset="0"/>
                <a:ea typeface="ＭＳ Ｐゴシック" pitchFamily="-107" charset="-128"/>
              </a:rPr>
              <a:t> mod q</a:t>
            </a:r>
          </a:p>
          <a:p>
            <a:pPr eaLnBrk="1" hangingPunct="1">
              <a:defRPr/>
            </a:pPr>
            <a:r>
              <a:rPr lang="en-AU" sz="2100" dirty="0">
                <a:ea typeface="ＭＳ Ｐゴシック" pitchFamily="-107" charset="-128"/>
              </a:rPr>
              <a:t> each user makes public that key </a:t>
            </a:r>
            <a:r>
              <a:rPr lang="en-AU" sz="2100" dirty="0" err="1">
                <a:latin typeface="Courier New" pitchFamily="49" charset="0"/>
                <a:ea typeface="ＭＳ Ｐゴシック" pitchFamily="-107" charset="-128"/>
              </a:rPr>
              <a:t>y</a:t>
            </a:r>
            <a:r>
              <a:rPr lang="en-AU" sz="2100" baseline="-25000" dirty="0" err="1">
                <a:latin typeface="Courier New" pitchFamily="49" charset="0"/>
                <a:ea typeface="ＭＳ Ｐゴシック" pitchFamily="-107" charset="-128"/>
              </a:rPr>
              <a:t>A</a:t>
            </a:r>
            <a:endParaRPr lang="en-AU" sz="2100" baseline="-25000" dirty="0">
              <a:latin typeface="Courier New" pitchFamily="49" charset="0"/>
              <a:ea typeface="ＭＳ Ｐゴシック" pitchFamily="-107" charset="-128"/>
            </a:endParaRPr>
          </a:p>
        </p:txBody>
      </p:sp>
    </p:spTree>
    <p:extLst>
      <p:ext uri="{BB962C8B-B14F-4D97-AF65-F5344CB8AC3E}">
        <p14:creationId xmlns:p14="http://schemas.microsoft.com/office/powerpoint/2010/main" val="30348581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6" name="Rectangle 135">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0"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2"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4"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6" name="Rectangle 145">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60418" name="Rectangle 2"/>
          <p:cNvSpPr>
            <a:spLocks noGrp="1" noChangeArrowheads="1"/>
          </p:cNvSpPr>
          <p:nvPr>
            <p:ph type="title"/>
          </p:nvPr>
        </p:nvSpPr>
        <p:spPr>
          <a:xfrm>
            <a:off x="718879" y="800392"/>
            <a:ext cx="7698523" cy="1212102"/>
          </a:xfrm>
        </p:spPr>
        <p:txBody>
          <a:bodyPr>
            <a:normAutofit/>
          </a:bodyPr>
          <a:lstStyle/>
          <a:p>
            <a:r>
              <a:rPr lang="en-US" sz="3600" dirty="0">
                <a:solidFill>
                  <a:schemeClr val="bg1"/>
                </a:solidFill>
              </a:rPr>
              <a:t>Background for Primitive Roots</a:t>
            </a:r>
            <a:endParaRPr lang="en-AU" sz="3500" dirty="0">
              <a:solidFill>
                <a:schemeClr val="bg1"/>
              </a:solidFill>
            </a:endParaRPr>
          </a:p>
        </p:txBody>
      </p:sp>
      <p:sp>
        <p:nvSpPr>
          <p:cNvPr id="60419" name="Rectangle 3"/>
          <p:cNvSpPr>
            <a:spLocks noGrp="1" noChangeArrowheads="1"/>
          </p:cNvSpPr>
          <p:nvPr>
            <p:ph idx="1"/>
          </p:nvPr>
        </p:nvSpPr>
        <p:spPr>
          <a:xfrm>
            <a:off x="994838" y="2895600"/>
            <a:ext cx="5550079" cy="3657600"/>
          </a:xfrm>
        </p:spPr>
        <p:txBody>
          <a:bodyPr anchor="ctr">
            <a:normAutofit fontScale="70000" lnSpcReduction="20000"/>
          </a:bodyPr>
          <a:lstStyle/>
          <a:p>
            <a:pPr marL="625475" lvl="1" indent="-396875">
              <a:buFont typeface="Wingdings" panose="05000000000000000000" pitchFamily="2" charset="2"/>
              <a:buChar char="§"/>
              <a:defRPr/>
            </a:pPr>
            <a:r>
              <a:rPr lang="en-AU" sz="3400" dirty="0">
                <a:ea typeface="ＭＳ Ｐゴシック" pitchFamily="-107" charset="-128"/>
              </a:rPr>
              <a:t>For a prime integer q, the number </a:t>
            </a:r>
            <a:r>
              <a:rPr lang="el-GR" sz="3400" dirty="0">
                <a:ea typeface="ＭＳ Ｐゴシック" pitchFamily="-107" charset="-128"/>
              </a:rPr>
              <a:t>α</a:t>
            </a:r>
            <a:r>
              <a:rPr lang="en-US" sz="3400" dirty="0">
                <a:ea typeface="ＭＳ Ｐゴシック" pitchFamily="-107" charset="-128"/>
              </a:rPr>
              <a:t> will be a primitive root of q if for every positive integer</a:t>
            </a:r>
            <a:r>
              <a:rPr lang="en-AU" sz="3400" dirty="0">
                <a:ea typeface="ＭＳ Ｐゴシック" pitchFamily="-107" charset="-128"/>
              </a:rPr>
              <a:t> number X &lt; q the computation  </a:t>
            </a:r>
            <a:r>
              <a:rPr lang="en-AU" sz="3400" dirty="0">
                <a:solidFill>
                  <a:srgbClr val="FF0000"/>
                </a:solidFill>
                <a:ea typeface="ＭＳ Ｐゴシック" pitchFamily="-107" charset="-128"/>
              </a:rPr>
              <a:t>{Y = </a:t>
            </a:r>
            <a:r>
              <a:rPr lang="el-GR" sz="3400" dirty="0">
                <a:solidFill>
                  <a:srgbClr val="FF0000"/>
                </a:solidFill>
                <a:ea typeface="ＭＳ Ｐゴシック" pitchFamily="-107" charset="-128"/>
                <a:cs typeface="Arial" pitchFamily="34" charset="0"/>
              </a:rPr>
              <a:t>α</a:t>
            </a:r>
            <a:r>
              <a:rPr lang="en-AU" sz="3400" baseline="60000" dirty="0">
                <a:solidFill>
                  <a:srgbClr val="FF0000"/>
                </a:solidFill>
                <a:ea typeface="ＭＳ Ｐゴシック" pitchFamily="-107" charset="-128"/>
              </a:rPr>
              <a:t>X</a:t>
            </a:r>
            <a:r>
              <a:rPr lang="en-AU" sz="3400" dirty="0">
                <a:solidFill>
                  <a:srgbClr val="FF0000"/>
                </a:solidFill>
                <a:ea typeface="ＭＳ Ｐゴシック" pitchFamily="-107" charset="-128"/>
              </a:rPr>
              <a:t> mod q} </a:t>
            </a:r>
            <a:r>
              <a:rPr lang="en-AU" sz="3400" dirty="0">
                <a:ea typeface="ＭＳ Ｐゴシック" pitchFamily="-107" charset="-128"/>
              </a:rPr>
              <a:t>will yield a different value for each value of X.</a:t>
            </a:r>
          </a:p>
          <a:p>
            <a:pPr marL="625475" lvl="1" indent="-396875">
              <a:buFont typeface="Wingdings" panose="05000000000000000000" pitchFamily="2" charset="2"/>
              <a:buChar char="§"/>
              <a:defRPr/>
            </a:pPr>
            <a:r>
              <a:rPr lang="en-AU" sz="3400" dirty="0">
                <a:solidFill>
                  <a:srgbClr val="FF0000"/>
                </a:solidFill>
                <a:ea typeface="ＭＳ Ｐゴシック" pitchFamily="-107" charset="-128"/>
              </a:rPr>
              <a:t>This ensures that for any secret key X</a:t>
            </a:r>
            <a:r>
              <a:rPr lang="en-AU" sz="3400" baseline="-25000" dirty="0">
                <a:solidFill>
                  <a:srgbClr val="FF0000"/>
                </a:solidFill>
                <a:ea typeface="ＭＳ Ｐゴシック" pitchFamily="-107" charset="-128"/>
              </a:rPr>
              <a:t>A</a:t>
            </a:r>
            <a:r>
              <a:rPr lang="en-AU" sz="3400" dirty="0">
                <a:solidFill>
                  <a:srgbClr val="FF0000"/>
                </a:solidFill>
                <a:ea typeface="ＭＳ Ｐゴシック" pitchFamily="-107" charset="-128"/>
              </a:rPr>
              <a:t> there will be a different public key Y</a:t>
            </a:r>
            <a:r>
              <a:rPr lang="en-AU" sz="3400" baseline="-25000" dirty="0">
                <a:solidFill>
                  <a:srgbClr val="FF0000"/>
                </a:solidFill>
                <a:ea typeface="ＭＳ Ｐゴシック" pitchFamily="-107" charset="-128"/>
              </a:rPr>
              <a:t>A</a:t>
            </a:r>
            <a:r>
              <a:rPr lang="en-AU" sz="3400" dirty="0">
                <a:solidFill>
                  <a:srgbClr val="FF0000"/>
                </a:solidFill>
                <a:ea typeface="ＭＳ Ｐゴシック" pitchFamily="-107" charset="-128"/>
              </a:rPr>
              <a:t>.</a:t>
            </a:r>
          </a:p>
          <a:p>
            <a:pPr marL="625475" lvl="1" indent="-396875">
              <a:buFont typeface="Wingdings" panose="05000000000000000000" pitchFamily="2" charset="2"/>
              <a:buChar char="§"/>
              <a:defRPr/>
            </a:pPr>
            <a:r>
              <a:rPr lang="en-AU" sz="3400" dirty="0">
                <a:ea typeface="ＭＳ Ｐゴシック" pitchFamily="-107" charset="-128"/>
              </a:rPr>
              <a:t>Example: let q=5 and </a:t>
            </a:r>
            <a:r>
              <a:rPr lang="el-GR" sz="3400" dirty="0">
                <a:ea typeface="ＭＳ Ｐゴシック" pitchFamily="-107" charset="-128"/>
              </a:rPr>
              <a:t>α</a:t>
            </a:r>
            <a:r>
              <a:rPr lang="en-US" sz="3400" dirty="0">
                <a:ea typeface="ＭＳ Ｐゴシック" pitchFamily="-107" charset="-128"/>
              </a:rPr>
              <a:t>=3, then for all values of X&lt;5 we have different values of Y.</a:t>
            </a:r>
          </a:p>
          <a:p>
            <a:pPr marL="457200" lvl="1" indent="0" algn="r">
              <a:buNone/>
              <a:defRPr/>
            </a:pPr>
            <a:endParaRPr lang="en-US" sz="1800" dirty="0">
              <a:ea typeface="ＭＳ Ｐゴシック" pitchFamily="-107" charset="-128"/>
            </a:endParaRPr>
          </a:p>
        </p:txBody>
      </p:sp>
      <p:graphicFrame>
        <p:nvGraphicFramePr>
          <p:cNvPr id="3" name="Table 2">
            <a:extLst>
              <a:ext uri="{FF2B5EF4-FFF2-40B4-BE49-F238E27FC236}">
                <a16:creationId xmlns:a16="http://schemas.microsoft.com/office/drawing/2014/main" id="{E59FD014-4909-4CAF-BF5E-6B198DF8CF23}"/>
              </a:ext>
            </a:extLst>
          </p:cNvPr>
          <p:cNvGraphicFramePr>
            <a:graphicFrameLocks noGrp="1"/>
          </p:cNvGraphicFramePr>
          <p:nvPr>
            <p:extLst>
              <p:ext uri="{D42A27DB-BD31-4B8C-83A1-F6EECF244321}">
                <p14:modId xmlns:p14="http://schemas.microsoft.com/office/powerpoint/2010/main" val="1116114696"/>
              </p:ext>
            </p:extLst>
          </p:nvPr>
        </p:nvGraphicFramePr>
        <p:xfrm>
          <a:off x="6726769" y="2895600"/>
          <a:ext cx="1937092" cy="2209800"/>
        </p:xfrm>
        <a:graphic>
          <a:graphicData uri="http://schemas.openxmlformats.org/drawingml/2006/table">
            <a:tbl>
              <a:tblPr>
                <a:tableStyleId>{5C22544A-7EE6-4342-B048-85BDC9FD1C3A}</a:tableStyleId>
              </a:tblPr>
              <a:tblGrid>
                <a:gridCol w="968546">
                  <a:extLst>
                    <a:ext uri="{9D8B030D-6E8A-4147-A177-3AD203B41FA5}">
                      <a16:colId xmlns:a16="http://schemas.microsoft.com/office/drawing/2014/main" val="722158576"/>
                    </a:ext>
                  </a:extLst>
                </a:gridCol>
                <a:gridCol w="968546">
                  <a:extLst>
                    <a:ext uri="{9D8B030D-6E8A-4147-A177-3AD203B41FA5}">
                      <a16:colId xmlns:a16="http://schemas.microsoft.com/office/drawing/2014/main" val="1718042427"/>
                    </a:ext>
                  </a:extLst>
                </a:gridCol>
              </a:tblGrid>
              <a:tr h="368300">
                <a:tc gridSpan="2">
                  <a:txBody>
                    <a:bodyPr/>
                    <a:lstStyle/>
                    <a:p>
                      <a:pPr algn="ctr" fontAlgn="ctr"/>
                      <a:r>
                        <a:rPr lang="en-US" sz="1200" u="none" strike="noStrike">
                          <a:effectLst/>
                        </a:rPr>
                        <a:t>q=5 &amp; a=3</a:t>
                      </a:r>
                      <a:endParaRPr lang="en-US" sz="1200" b="0" i="0" u="none" strike="noStrike">
                        <a:solidFill>
                          <a:srgbClr val="000000"/>
                        </a:solidFill>
                        <a:effectLst/>
                        <a:latin typeface="Calibri" panose="020F0502020204030204" pitchFamily="34" charset="0"/>
                      </a:endParaRPr>
                    </a:p>
                  </a:txBody>
                  <a:tcPr marL="7620" marR="7620" marT="7620" marB="0" anchor="ctr"/>
                </a:tc>
                <a:tc hMerge="1">
                  <a:txBody>
                    <a:bodyPr/>
                    <a:lstStyle/>
                    <a:p>
                      <a:endParaRPr lang="en-US"/>
                    </a:p>
                  </a:txBody>
                  <a:tcPr/>
                </a:tc>
                <a:extLst>
                  <a:ext uri="{0D108BD9-81ED-4DB2-BD59-A6C34878D82A}">
                    <a16:rowId xmlns:a16="http://schemas.microsoft.com/office/drawing/2014/main" val="932466280"/>
                  </a:ext>
                </a:extLst>
              </a:tr>
              <a:tr h="368300">
                <a:tc>
                  <a:txBody>
                    <a:bodyPr/>
                    <a:lstStyle/>
                    <a:p>
                      <a:pPr algn="ctr" fontAlgn="ctr"/>
                      <a:r>
                        <a:rPr lang="en-US" sz="1200" u="none" strike="noStrike">
                          <a:effectLst/>
                        </a:rPr>
                        <a:t>XA</a:t>
                      </a:r>
                      <a:endParaRPr lang="en-US" sz="12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US" sz="1200" u="none" strike="noStrike">
                          <a:effectLst/>
                        </a:rPr>
                        <a:t>YA</a:t>
                      </a:r>
                      <a:endParaRPr lang="en-US" sz="12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800542408"/>
                  </a:ext>
                </a:extLst>
              </a:tr>
              <a:tr h="368300">
                <a:tc>
                  <a:txBody>
                    <a:bodyPr/>
                    <a:lstStyle/>
                    <a:p>
                      <a:pPr algn="ctr" fontAlgn="ctr"/>
                      <a:r>
                        <a:rPr lang="en-US" sz="1200" u="none" strike="noStrike">
                          <a:effectLst/>
                        </a:rPr>
                        <a:t>1</a:t>
                      </a:r>
                      <a:endParaRPr lang="en-US" sz="12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US" sz="1200" u="none" strike="noStrike">
                          <a:effectLst/>
                        </a:rPr>
                        <a:t>3</a:t>
                      </a:r>
                      <a:endParaRPr lang="en-US" sz="12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618558188"/>
                  </a:ext>
                </a:extLst>
              </a:tr>
              <a:tr h="368300">
                <a:tc>
                  <a:txBody>
                    <a:bodyPr/>
                    <a:lstStyle/>
                    <a:p>
                      <a:pPr algn="ctr" fontAlgn="ctr"/>
                      <a:r>
                        <a:rPr lang="en-US" sz="1200" u="none" strike="noStrike">
                          <a:effectLst/>
                        </a:rPr>
                        <a:t>2</a:t>
                      </a:r>
                      <a:endParaRPr lang="en-US" sz="12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US" sz="1200" u="none" strike="noStrike">
                          <a:effectLst/>
                        </a:rPr>
                        <a:t>4</a:t>
                      </a:r>
                      <a:endParaRPr lang="en-US" sz="12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4039428794"/>
                  </a:ext>
                </a:extLst>
              </a:tr>
              <a:tr h="368300">
                <a:tc>
                  <a:txBody>
                    <a:bodyPr/>
                    <a:lstStyle/>
                    <a:p>
                      <a:pPr algn="ctr" fontAlgn="ctr"/>
                      <a:r>
                        <a:rPr lang="en-US" sz="1200" u="none" strike="noStrike">
                          <a:effectLst/>
                        </a:rPr>
                        <a:t>3</a:t>
                      </a:r>
                      <a:endParaRPr lang="en-US" sz="12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US" sz="1200" u="none" strike="noStrike">
                          <a:effectLst/>
                        </a:rPr>
                        <a:t>2</a:t>
                      </a:r>
                      <a:endParaRPr lang="en-US" sz="12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601446527"/>
                  </a:ext>
                </a:extLst>
              </a:tr>
              <a:tr h="368300">
                <a:tc>
                  <a:txBody>
                    <a:bodyPr/>
                    <a:lstStyle/>
                    <a:p>
                      <a:pPr algn="ctr" fontAlgn="ctr"/>
                      <a:r>
                        <a:rPr lang="en-US" sz="1200" u="none" strike="noStrike">
                          <a:effectLst/>
                        </a:rPr>
                        <a:t>4</a:t>
                      </a:r>
                      <a:endParaRPr lang="en-US" sz="12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ctr"/>
                      <a:r>
                        <a:rPr lang="en-US" sz="1200" u="none" strike="noStrike" dirty="0">
                          <a:effectLst/>
                        </a:rPr>
                        <a:t>1</a:t>
                      </a:r>
                      <a:endParaRPr lang="en-US" sz="1200" b="0" i="0" u="none" strike="noStrike" dirty="0">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674827373"/>
                  </a:ext>
                </a:extLst>
              </a:tr>
            </a:tbl>
          </a:graphicData>
        </a:graphic>
      </p:graphicFrame>
      <p:sp>
        <p:nvSpPr>
          <p:cNvPr id="4" name="TextBox 3">
            <a:extLst>
              <a:ext uri="{FF2B5EF4-FFF2-40B4-BE49-F238E27FC236}">
                <a16:creationId xmlns:a16="http://schemas.microsoft.com/office/drawing/2014/main" id="{9738253D-0702-44F5-B565-9892E9ED76E6}"/>
              </a:ext>
            </a:extLst>
          </p:cNvPr>
          <p:cNvSpPr txBox="1"/>
          <p:nvPr/>
        </p:nvSpPr>
        <p:spPr>
          <a:xfrm>
            <a:off x="6726769" y="5300608"/>
            <a:ext cx="1937093" cy="523220"/>
          </a:xfrm>
          <a:prstGeom prst="rect">
            <a:avLst/>
          </a:prstGeom>
          <a:noFill/>
        </p:spPr>
        <p:txBody>
          <a:bodyPr wrap="square" rtlCol="0">
            <a:spAutoFit/>
          </a:bodyPr>
          <a:lstStyle/>
          <a:p>
            <a:pPr marL="0" lvl="1" algn="ctr">
              <a:buNone/>
              <a:defRPr/>
            </a:pPr>
            <a:r>
              <a:rPr lang="en-US" sz="1400" i="1" dirty="0">
                <a:ea typeface="ＭＳ Ｐゴシック" pitchFamily="-107" charset="-128"/>
              </a:rPr>
              <a:t>(The computed values are shown in the table) </a:t>
            </a:r>
          </a:p>
        </p:txBody>
      </p:sp>
    </p:spTree>
    <p:extLst>
      <p:ext uri="{BB962C8B-B14F-4D97-AF65-F5344CB8AC3E}">
        <p14:creationId xmlns:p14="http://schemas.microsoft.com/office/powerpoint/2010/main" val="17657936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Rectangle 81">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65538" name="Rectangle 2"/>
          <p:cNvSpPr>
            <a:spLocks noGrp="1" noChangeArrowheads="1"/>
          </p:cNvSpPr>
          <p:nvPr>
            <p:ph type="title"/>
          </p:nvPr>
        </p:nvSpPr>
        <p:spPr>
          <a:xfrm>
            <a:off x="718879" y="800392"/>
            <a:ext cx="7698523" cy="1212102"/>
          </a:xfrm>
        </p:spPr>
        <p:txBody>
          <a:bodyPr>
            <a:normAutofit/>
          </a:bodyPr>
          <a:lstStyle/>
          <a:p>
            <a:pPr eaLnBrk="1" hangingPunct="1">
              <a:defRPr/>
            </a:pPr>
            <a:r>
              <a:rPr lang="en-AU" sz="3500">
                <a:solidFill>
                  <a:srgbClr val="FFFFFF"/>
                </a:solidFill>
                <a:ea typeface="ＭＳ Ｐゴシック" pitchFamily="-107" charset="-128"/>
                <a:cs typeface="ＭＳ Ｐゴシック" pitchFamily="-107" charset="-128"/>
              </a:rPr>
              <a:t>Diffie-Hellman Key Exchange</a:t>
            </a:r>
          </a:p>
        </p:txBody>
      </p:sp>
      <p:sp>
        <p:nvSpPr>
          <p:cNvPr id="65539" name="Rectangle 3"/>
          <p:cNvSpPr>
            <a:spLocks noGrp="1" noChangeArrowheads="1"/>
          </p:cNvSpPr>
          <p:nvPr>
            <p:ph type="body" idx="1"/>
          </p:nvPr>
        </p:nvSpPr>
        <p:spPr>
          <a:xfrm>
            <a:off x="1025718" y="2490436"/>
            <a:ext cx="7281746" cy="3567173"/>
          </a:xfrm>
        </p:spPr>
        <p:txBody>
          <a:bodyPr anchor="ctr">
            <a:normAutofit fontScale="92500" lnSpcReduction="10000"/>
          </a:bodyPr>
          <a:lstStyle/>
          <a:p>
            <a:pPr eaLnBrk="1" hangingPunct="1">
              <a:lnSpc>
                <a:spcPct val="90000"/>
              </a:lnSpc>
              <a:defRPr/>
            </a:pPr>
            <a:r>
              <a:rPr lang="en-AU" sz="2000" dirty="0">
                <a:ea typeface="ＭＳ Ｐゴシック" pitchFamily="-107" charset="-128"/>
              </a:rPr>
              <a:t>shared session key for users Alice &amp; Bob is K</a:t>
            </a:r>
            <a:r>
              <a:rPr lang="en-AU" sz="2000" baseline="-25000" dirty="0">
                <a:ea typeface="ＭＳ Ｐゴシック" pitchFamily="-107" charset="-128"/>
              </a:rPr>
              <a:t>AB</a:t>
            </a:r>
            <a:r>
              <a:rPr lang="en-AU" sz="2000" dirty="0">
                <a:ea typeface="ＭＳ Ｐゴシック" pitchFamily="-107" charset="-128"/>
              </a:rPr>
              <a:t>: </a:t>
            </a:r>
          </a:p>
          <a:p>
            <a:pPr lvl="1">
              <a:lnSpc>
                <a:spcPct val="90000"/>
              </a:lnSpc>
              <a:buNone/>
              <a:defRPr/>
            </a:pPr>
            <a:r>
              <a:rPr lang="en-AU" sz="2000" dirty="0">
                <a:latin typeface="Courier New" pitchFamily="49" charset="0"/>
                <a:ea typeface="ＭＳ Ｐゴシック" pitchFamily="-107" charset="-128"/>
              </a:rPr>
              <a:t>K</a:t>
            </a:r>
            <a:r>
              <a:rPr lang="en-AU" sz="2000" baseline="-25000" dirty="0">
                <a:latin typeface="Courier New" pitchFamily="49" charset="0"/>
                <a:ea typeface="ＭＳ Ｐゴシック" pitchFamily="-107" charset="-128"/>
              </a:rPr>
              <a:t>AB</a:t>
            </a:r>
            <a:r>
              <a:rPr lang="en-AU" sz="2000" dirty="0">
                <a:latin typeface="Courier New" pitchFamily="49" charset="0"/>
                <a:ea typeface="ＭＳ Ｐゴシック" pitchFamily="-107" charset="-128"/>
              </a:rPr>
              <a:t> = </a:t>
            </a:r>
            <a:r>
              <a:rPr lang="el-GR" sz="2000" dirty="0">
                <a:latin typeface="Courier New" pitchFamily="49" charset="0"/>
                <a:ea typeface="ＭＳ Ｐゴシック" pitchFamily="-107" charset="-128"/>
                <a:cs typeface="Arial" pitchFamily="34" charset="0"/>
              </a:rPr>
              <a:t>α</a:t>
            </a:r>
            <a:r>
              <a:rPr lang="en-AU" sz="2000" baseline="60000" dirty="0" err="1">
                <a:latin typeface="Courier New" pitchFamily="49" charset="0"/>
                <a:ea typeface="ＭＳ Ｐゴシック" pitchFamily="-107" charset="-128"/>
              </a:rPr>
              <a:t>x</a:t>
            </a:r>
            <a:r>
              <a:rPr lang="en-AU" sz="2000" baseline="40000" dirty="0" err="1">
                <a:latin typeface="Courier New" pitchFamily="49" charset="0"/>
                <a:ea typeface="ＭＳ Ｐゴシック" pitchFamily="-107" charset="-128"/>
              </a:rPr>
              <a:t>A.</a:t>
            </a:r>
            <a:r>
              <a:rPr lang="en-AU" sz="2000" baseline="60000" dirty="0" err="1">
                <a:latin typeface="Courier New" pitchFamily="49" charset="0"/>
                <a:ea typeface="ＭＳ Ｐゴシック" pitchFamily="-107" charset="-128"/>
              </a:rPr>
              <a:t>x</a:t>
            </a:r>
            <a:r>
              <a:rPr lang="en-AU" sz="2000" baseline="40000" dirty="0" err="1">
                <a:latin typeface="Courier New" pitchFamily="49" charset="0"/>
                <a:ea typeface="ＭＳ Ｐゴシック" pitchFamily="-107" charset="-128"/>
              </a:rPr>
              <a:t>B</a:t>
            </a:r>
            <a:r>
              <a:rPr lang="en-AU" sz="2000" dirty="0">
                <a:latin typeface="Courier New" pitchFamily="49" charset="0"/>
                <a:ea typeface="ＭＳ Ｐゴシック" pitchFamily="-107" charset="-128"/>
              </a:rPr>
              <a:t> mod q</a:t>
            </a:r>
          </a:p>
          <a:p>
            <a:pPr lvl="1" eaLnBrk="1" hangingPunct="1">
              <a:lnSpc>
                <a:spcPct val="90000"/>
              </a:lnSpc>
              <a:buFont typeface="Wingdings" pitchFamily="2" charset="2"/>
              <a:buNone/>
              <a:defRPr/>
            </a:pPr>
            <a:r>
              <a:rPr lang="en-AU" sz="2000" dirty="0">
                <a:latin typeface="Courier New" pitchFamily="49" charset="0"/>
                <a:ea typeface="ＭＳ Ｐゴシック" pitchFamily="-107" charset="-128"/>
              </a:rPr>
              <a:t>= </a:t>
            </a:r>
            <a:r>
              <a:rPr lang="en-AU" sz="2000" dirty="0" err="1">
                <a:latin typeface="Courier New" pitchFamily="49" charset="0"/>
                <a:ea typeface="ＭＳ Ｐゴシック" pitchFamily="-107" charset="-128"/>
              </a:rPr>
              <a:t>y</a:t>
            </a:r>
            <a:r>
              <a:rPr lang="en-AU" sz="2000" baseline="-25000" dirty="0" err="1">
                <a:latin typeface="Courier New" pitchFamily="49" charset="0"/>
                <a:ea typeface="ＭＳ Ｐゴシック" pitchFamily="-107" charset="-128"/>
              </a:rPr>
              <a:t>A</a:t>
            </a:r>
            <a:r>
              <a:rPr lang="en-AU" sz="2000" baseline="60000" dirty="0" err="1">
                <a:latin typeface="Courier New" pitchFamily="49" charset="0"/>
                <a:ea typeface="ＭＳ Ｐゴシック" pitchFamily="-107" charset="-128"/>
              </a:rPr>
              <a:t>x</a:t>
            </a:r>
            <a:r>
              <a:rPr lang="en-AU" sz="2000" baseline="40000" dirty="0" err="1">
                <a:latin typeface="Courier New" pitchFamily="49" charset="0"/>
                <a:ea typeface="ＭＳ Ｐゴシック" pitchFamily="-107" charset="-128"/>
              </a:rPr>
              <a:t>B</a:t>
            </a:r>
            <a:r>
              <a:rPr lang="en-AU" sz="2000" dirty="0">
                <a:latin typeface="Courier New" pitchFamily="49" charset="0"/>
                <a:ea typeface="ＭＳ Ｐゴシック" pitchFamily="-107" charset="-128"/>
              </a:rPr>
              <a:t> mod q  (which </a:t>
            </a:r>
            <a:r>
              <a:rPr lang="en-AU" sz="2000" b="1" dirty="0">
                <a:latin typeface="Courier New" pitchFamily="49" charset="0"/>
                <a:ea typeface="ＭＳ Ｐゴシック" pitchFamily="-107" charset="-128"/>
              </a:rPr>
              <a:t>Bob</a:t>
            </a:r>
            <a:r>
              <a:rPr lang="en-AU" sz="2000" dirty="0">
                <a:latin typeface="Courier New" pitchFamily="49" charset="0"/>
                <a:ea typeface="ＭＳ Ｐゴシック" pitchFamily="-107" charset="-128"/>
              </a:rPr>
              <a:t> can compute) </a:t>
            </a:r>
          </a:p>
          <a:p>
            <a:pPr lvl="1" eaLnBrk="1" hangingPunct="1">
              <a:lnSpc>
                <a:spcPct val="90000"/>
              </a:lnSpc>
              <a:buFont typeface="Wingdings" pitchFamily="2" charset="2"/>
              <a:buNone/>
              <a:defRPr/>
            </a:pPr>
            <a:r>
              <a:rPr lang="en-AU" sz="2000" dirty="0">
                <a:latin typeface="Courier New" pitchFamily="49" charset="0"/>
                <a:ea typeface="ＭＳ Ｐゴシック" pitchFamily="-107" charset="-128"/>
              </a:rPr>
              <a:t>= </a:t>
            </a:r>
            <a:r>
              <a:rPr lang="en-AU" sz="2000" dirty="0" err="1">
                <a:latin typeface="Courier New" pitchFamily="49" charset="0"/>
                <a:ea typeface="ＭＳ Ｐゴシック" pitchFamily="-107" charset="-128"/>
              </a:rPr>
              <a:t>y</a:t>
            </a:r>
            <a:r>
              <a:rPr lang="en-AU" sz="2000" baseline="-25000" dirty="0" err="1">
                <a:latin typeface="Courier New" pitchFamily="49" charset="0"/>
                <a:ea typeface="ＭＳ Ｐゴシック" pitchFamily="-107" charset="-128"/>
              </a:rPr>
              <a:t>B</a:t>
            </a:r>
            <a:r>
              <a:rPr lang="en-AU" sz="2000" baseline="60000" dirty="0" err="1">
                <a:latin typeface="Courier New" pitchFamily="49" charset="0"/>
                <a:ea typeface="ＭＳ Ｐゴシック" pitchFamily="-107" charset="-128"/>
              </a:rPr>
              <a:t>x</a:t>
            </a:r>
            <a:r>
              <a:rPr lang="en-AU" sz="2000" baseline="40000" dirty="0" err="1">
                <a:latin typeface="Courier New" pitchFamily="49" charset="0"/>
                <a:ea typeface="ＭＳ Ｐゴシック" pitchFamily="-107" charset="-128"/>
              </a:rPr>
              <a:t>A</a:t>
            </a:r>
            <a:r>
              <a:rPr lang="en-AU" sz="2000" dirty="0">
                <a:latin typeface="Courier New" pitchFamily="49" charset="0"/>
                <a:ea typeface="ＭＳ Ｐゴシック" pitchFamily="-107" charset="-128"/>
              </a:rPr>
              <a:t> mod q  (which </a:t>
            </a:r>
            <a:r>
              <a:rPr lang="en-AU" sz="2000" b="1" dirty="0">
                <a:latin typeface="Courier New" pitchFamily="49" charset="0"/>
                <a:ea typeface="ＭＳ Ｐゴシック" pitchFamily="-107" charset="-128"/>
              </a:rPr>
              <a:t>Alice</a:t>
            </a:r>
            <a:r>
              <a:rPr lang="en-AU" sz="2000" dirty="0">
                <a:latin typeface="Courier New" pitchFamily="49" charset="0"/>
                <a:ea typeface="ＭＳ Ｐゴシック" pitchFamily="-107" charset="-128"/>
              </a:rPr>
              <a:t> can compute) </a:t>
            </a:r>
          </a:p>
          <a:p>
            <a:pPr eaLnBrk="1" hangingPunct="1">
              <a:lnSpc>
                <a:spcPct val="90000"/>
              </a:lnSpc>
              <a:defRPr/>
            </a:pPr>
            <a:r>
              <a:rPr lang="en-AU" sz="2000" dirty="0">
                <a:ea typeface="ＭＳ Ｐゴシック" pitchFamily="-107" charset="-128"/>
              </a:rPr>
              <a:t>K</a:t>
            </a:r>
            <a:r>
              <a:rPr lang="en-AU" sz="2000" baseline="-25000" dirty="0">
                <a:ea typeface="ＭＳ Ｐゴシック" pitchFamily="-107" charset="-128"/>
              </a:rPr>
              <a:t>AB</a:t>
            </a:r>
            <a:r>
              <a:rPr lang="en-AU" sz="2000" dirty="0">
                <a:ea typeface="ＭＳ Ｐゴシック" pitchFamily="-107" charset="-128"/>
              </a:rPr>
              <a:t> is used as session key in private-key encryption scheme between Alice and Bob</a:t>
            </a:r>
          </a:p>
          <a:p>
            <a:pPr eaLnBrk="1" hangingPunct="1">
              <a:lnSpc>
                <a:spcPct val="90000"/>
              </a:lnSpc>
              <a:defRPr/>
            </a:pPr>
            <a:r>
              <a:rPr lang="en-AU" sz="2000" dirty="0">
                <a:ea typeface="ＭＳ Ｐゴシック" pitchFamily="-107" charset="-128"/>
              </a:rPr>
              <a:t>if Alice and Bob subsequently communicate, they will have the </a:t>
            </a:r>
            <a:r>
              <a:rPr lang="en-AU" sz="2000" b="1" dirty="0">
                <a:ea typeface="ＭＳ Ｐゴシック" pitchFamily="-107" charset="-128"/>
              </a:rPr>
              <a:t>same</a:t>
            </a:r>
            <a:r>
              <a:rPr lang="en-AU" sz="2000" dirty="0">
                <a:ea typeface="ＭＳ Ｐゴシック" pitchFamily="-107" charset="-128"/>
              </a:rPr>
              <a:t> key as before, unless they choose new public-keys </a:t>
            </a:r>
          </a:p>
          <a:p>
            <a:pPr eaLnBrk="1" hangingPunct="1">
              <a:lnSpc>
                <a:spcPct val="90000"/>
              </a:lnSpc>
              <a:defRPr/>
            </a:pPr>
            <a:r>
              <a:rPr lang="en-US" sz="2000" dirty="0">
                <a:ea typeface="ＭＳ Ｐゴシック" pitchFamily="-107" charset="-128"/>
              </a:rPr>
              <a:t>knowing a public key “Y”, if an attacker needs the corresponding secret private key “X” he must solve a discrete logarithmic equation as follows, which is very difficult when using large numbers.</a:t>
            </a:r>
          </a:p>
          <a:p>
            <a:pPr marL="0" indent="0" algn="ctr" eaLnBrk="1" hangingPunct="1">
              <a:lnSpc>
                <a:spcPct val="90000"/>
              </a:lnSpc>
              <a:buNone/>
              <a:defRPr/>
            </a:pPr>
            <a:r>
              <a:rPr lang="en-US" sz="2000" dirty="0">
                <a:ea typeface="ＭＳ Ｐゴシック" pitchFamily="-107" charset="-128"/>
              </a:rPr>
              <a:t>X = log</a:t>
            </a:r>
            <a:r>
              <a:rPr lang="el-GR" sz="2000" baseline="-25000" dirty="0">
                <a:ea typeface="ＭＳ Ｐゴシック" pitchFamily="-107" charset="-128"/>
              </a:rPr>
              <a:t>α</a:t>
            </a:r>
            <a:r>
              <a:rPr lang="en-US" sz="2000" baseline="-25000" dirty="0">
                <a:ea typeface="ＭＳ Ｐゴシック" pitchFamily="-107" charset="-128"/>
              </a:rPr>
              <a:t> </a:t>
            </a:r>
            <a:r>
              <a:rPr lang="en-US" sz="2000" dirty="0">
                <a:ea typeface="ＭＳ Ｐゴシック" pitchFamily="-107" charset="-128"/>
              </a:rPr>
              <a:t>Y  (mod q)</a:t>
            </a:r>
            <a:endParaRPr lang="en-AU" sz="2000" dirty="0">
              <a:ea typeface="ＭＳ Ｐゴシック" pitchFamily="-107" charset="-128"/>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f1.pdf"/>
          <p:cNvPicPr>
            <a:picLocks noChangeAspect="1"/>
          </p:cNvPicPr>
          <p:nvPr/>
        </p:nvPicPr>
        <p:blipFill rotWithShape="1">
          <a:blip r:embed="rId3" cstate="print"/>
          <a:srcRect t="9096" r="-1" b="32966"/>
          <a:stretch/>
        </p:blipFill>
        <p:spPr>
          <a:xfrm>
            <a:off x="20" y="10"/>
            <a:ext cx="9143980" cy="6857990"/>
          </a:xfrm>
          <a:prstGeom prst="rect">
            <a:avLst/>
          </a:prstGeom>
        </p:spPr>
      </p:pic>
      <p:sp>
        <p:nvSpPr>
          <p:cNvPr id="2" name="TextBox 1">
            <a:extLst>
              <a:ext uri="{FF2B5EF4-FFF2-40B4-BE49-F238E27FC236}">
                <a16:creationId xmlns:a16="http://schemas.microsoft.com/office/drawing/2014/main" id="{306DA4BA-5CC1-4252-B570-4BDD6E2E5D2D}"/>
              </a:ext>
            </a:extLst>
          </p:cNvPr>
          <p:cNvSpPr txBox="1"/>
          <p:nvPr/>
        </p:nvSpPr>
        <p:spPr>
          <a:xfrm>
            <a:off x="3924300" y="2438400"/>
            <a:ext cx="1295400" cy="646331"/>
          </a:xfrm>
          <a:prstGeom prst="rect">
            <a:avLst/>
          </a:prstGeom>
          <a:noFill/>
        </p:spPr>
        <p:txBody>
          <a:bodyPr wrap="square" rtlCol="0">
            <a:spAutoFit/>
          </a:bodyPr>
          <a:lstStyle/>
          <a:p>
            <a:pPr algn="ctr"/>
            <a:r>
              <a:rPr lang="en-US" dirty="0"/>
              <a:t>Exchanged public keys</a:t>
            </a:r>
          </a:p>
        </p:txBody>
      </p:sp>
      <p:sp>
        <p:nvSpPr>
          <p:cNvPr id="3" name="TextBox 2">
            <a:extLst>
              <a:ext uri="{FF2B5EF4-FFF2-40B4-BE49-F238E27FC236}">
                <a16:creationId xmlns:a16="http://schemas.microsoft.com/office/drawing/2014/main" id="{5E7168D5-4CB1-4630-AEDF-1C4CE40F4DE9}"/>
              </a:ext>
            </a:extLst>
          </p:cNvPr>
          <p:cNvSpPr txBox="1"/>
          <p:nvPr/>
        </p:nvSpPr>
        <p:spPr>
          <a:xfrm>
            <a:off x="76200" y="6400800"/>
            <a:ext cx="1996124" cy="338554"/>
          </a:xfrm>
          <a:prstGeom prst="rect">
            <a:avLst/>
          </a:prstGeom>
          <a:noFill/>
        </p:spPr>
        <p:txBody>
          <a:bodyPr wrap="none" rtlCol="0">
            <a:spAutoFit/>
          </a:bodyPr>
          <a:lstStyle/>
          <a:p>
            <a:r>
              <a:rPr lang="en-US" sz="1600" dirty="0"/>
              <a:t>Computed shared key</a:t>
            </a:r>
          </a:p>
        </p:txBody>
      </p:sp>
      <p:sp>
        <p:nvSpPr>
          <p:cNvPr id="6" name="TextBox 5">
            <a:extLst>
              <a:ext uri="{FF2B5EF4-FFF2-40B4-BE49-F238E27FC236}">
                <a16:creationId xmlns:a16="http://schemas.microsoft.com/office/drawing/2014/main" id="{F6E20F0F-1D25-4505-BEE0-0EFDD9A5C45C}"/>
              </a:ext>
            </a:extLst>
          </p:cNvPr>
          <p:cNvSpPr txBox="1"/>
          <p:nvPr/>
        </p:nvSpPr>
        <p:spPr>
          <a:xfrm>
            <a:off x="7180533" y="6400800"/>
            <a:ext cx="1996124" cy="338554"/>
          </a:xfrm>
          <a:prstGeom prst="rect">
            <a:avLst/>
          </a:prstGeom>
          <a:noFill/>
        </p:spPr>
        <p:txBody>
          <a:bodyPr wrap="none" rtlCol="0">
            <a:spAutoFit/>
          </a:bodyPr>
          <a:lstStyle/>
          <a:p>
            <a:r>
              <a:rPr lang="en-US" sz="1600" dirty="0"/>
              <a:t>Computed shared key</a:t>
            </a:r>
          </a:p>
        </p:txBody>
      </p:sp>
    </p:spTree>
    <p:extLst>
      <p:ext uri="{BB962C8B-B14F-4D97-AF65-F5344CB8AC3E}">
        <p14:creationId xmlns:p14="http://schemas.microsoft.com/office/powerpoint/2010/main" val="3613830009"/>
      </p:ext>
    </p:extLst>
  </p:cSld>
  <p:clrMapOvr>
    <a:masterClrMapping/>
  </p:clrMapOvr>
  <p:transition>
    <p:dissolv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6" name="Rectangle 135">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0"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2"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4"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6" name="Rectangle 145">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67586" name="Rectangle 2"/>
          <p:cNvSpPr>
            <a:spLocks noGrp="1" noChangeArrowheads="1"/>
          </p:cNvSpPr>
          <p:nvPr>
            <p:ph type="title"/>
          </p:nvPr>
        </p:nvSpPr>
        <p:spPr>
          <a:xfrm>
            <a:off x="718879" y="800392"/>
            <a:ext cx="7698523" cy="1212102"/>
          </a:xfrm>
        </p:spPr>
        <p:txBody>
          <a:bodyPr>
            <a:normAutofit/>
          </a:bodyPr>
          <a:lstStyle/>
          <a:p>
            <a:pPr eaLnBrk="1" hangingPunct="1">
              <a:defRPr/>
            </a:pPr>
            <a:r>
              <a:rPr lang="en-AU" sz="3500">
                <a:solidFill>
                  <a:srgbClr val="FFFFFF"/>
                </a:solidFill>
                <a:ea typeface="ＭＳ Ｐゴシック" pitchFamily="-107" charset="-128"/>
                <a:cs typeface="ＭＳ Ｐゴシック" pitchFamily="-107" charset="-128"/>
              </a:rPr>
              <a:t>Diffie-Hellman Example </a:t>
            </a:r>
          </a:p>
        </p:txBody>
      </p:sp>
      <p:sp>
        <p:nvSpPr>
          <p:cNvPr id="67587" name="Rectangle 3"/>
          <p:cNvSpPr>
            <a:spLocks noGrp="1" noChangeArrowheads="1"/>
          </p:cNvSpPr>
          <p:nvPr>
            <p:ph type="body" idx="1"/>
          </p:nvPr>
        </p:nvSpPr>
        <p:spPr>
          <a:xfrm>
            <a:off x="1009344" y="2542752"/>
            <a:ext cx="7408058" cy="4215164"/>
          </a:xfrm>
        </p:spPr>
        <p:txBody>
          <a:bodyPr anchor="ctr">
            <a:normAutofit/>
          </a:bodyPr>
          <a:lstStyle/>
          <a:p>
            <a:pPr eaLnBrk="1" hangingPunct="1">
              <a:lnSpc>
                <a:spcPct val="90000"/>
              </a:lnSpc>
              <a:defRPr/>
            </a:pPr>
            <a:r>
              <a:rPr lang="en-US" sz="2400" dirty="0">
                <a:ea typeface="ＭＳ Ｐゴシック" pitchFamily="-107" charset="-128"/>
              </a:rPr>
              <a:t>users Alice &amp; Bob who wish to swap keys:</a:t>
            </a:r>
          </a:p>
          <a:p>
            <a:pPr>
              <a:lnSpc>
                <a:spcPct val="90000"/>
              </a:lnSpc>
              <a:defRPr/>
            </a:pPr>
            <a:r>
              <a:rPr lang="en-US" sz="2400" dirty="0">
                <a:ea typeface="ＭＳ Ｐゴシック" pitchFamily="-107" charset="-128"/>
              </a:rPr>
              <a:t>agree on prime </a:t>
            </a:r>
            <a:r>
              <a:rPr lang="en-US" sz="2400" dirty="0">
                <a:latin typeface="Courier New" pitchFamily="49" charset="0"/>
                <a:ea typeface="ＭＳ Ｐゴシック" pitchFamily="-107" charset="-128"/>
              </a:rPr>
              <a:t>q=353</a:t>
            </a:r>
            <a:r>
              <a:rPr lang="en-US" sz="2400" dirty="0">
                <a:ea typeface="ＭＳ Ｐゴシック" pitchFamily="-107" charset="-128"/>
              </a:rPr>
              <a:t> and </a:t>
            </a:r>
            <a:r>
              <a:rPr lang="el-GR" sz="2400" dirty="0">
                <a:latin typeface="Courier New" pitchFamily="49" charset="0"/>
                <a:ea typeface="ＭＳ Ｐゴシック" pitchFamily="-107" charset="-128"/>
                <a:cs typeface="Arial" pitchFamily="34" charset="0"/>
              </a:rPr>
              <a:t>α</a:t>
            </a:r>
            <a:r>
              <a:rPr lang="en-US" sz="2400" dirty="0">
                <a:latin typeface="Courier New" pitchFamily="49" charset="0"/>
                <a:ea typeface="ＭＳ Ｐゴシック" pitchFamily="-107" charset="-128"/>
                <a:cs typeface="Arial" pitchFamily="34" charset="0"/>
              </a:rPr>
              <a:t>=3</a:t>
            </a:r>
            <a:endParaRPr lang="en-US" sz="2400" dirty="0">
              <a:latin typeface="Courier New" pitchFamily="49" charset="0"/>
              <a:ea typeface="ＭＳ Ｐゴシック" pitchFamily="-107" charset="-128"/>
            </a:endParaRPr>
          </a:p>
          <a:p>
            <a:pPr eaLnBrk="1" hangingPunct="1">
              <a:lnSpc>
                <a:spcPct val="90000"/>
              </a:lnSpc>
              <a:defRPr/>
            </a:pPr>
            <a:r>
              <a:rPr lang="en-US" sz="2400" dirty="0">
                <a:ea typeface="ＭＳ Ｐゴシック" pitchFamily="-107" charset="-128"/>
              </a:rPr>
              <a:t>select random secret keys:</a:t>
            </a:r>
          </a:p>
          <a:p>
            <a:pPr lvl="1" eaLnBrk="1" hangingPunct="1">
              <a:lnSpc>
                <a:spcPct val="90000"/>
              </a:lnSpc>
              <a:defRPr/>
            </a:pPr>
            <a:r>
              <a:rPr lang="en-AU" sz="2400" dirty="0">
                <a:ea typeface="ＭＳ Ｐゴシック" pitchFamily="-107" charset="-128"/>
              </a:rPr>
              <a:t>Alice chooses </a:t>
            </a:r>
            <a:r>
              <a:rPr lang="en-AU" sz="2400" dirty="0" err="1">
                <a:latin typeface="Courier New" pitchFamily="49" charset="0"/>
                <a:ea typeface="ＭＳ Ｐゴシック" pitchFamily="-107" charset="-128"/>
              </a:rPr>
              <a:t>x</a:t>
            </a:r>
            <a:r>
              <a:rPr lang="en-AU" sz="2400" baseline="-25000" dirty="0" err="1">
                <a:latin typeface="Courier New" pitchFamily="49" charset="0"/>
                <a:ea typeface="ＭＳ Ｐゴシック" pitchFamily="-107" charset="-128"/>
              </a:rPr>
              <a:t>A</a:t>
            </a:r>
            <a:r>
              <a:rPr lang="en-AU" sz="2400" dirty="0">
                <a:latin typeface="Courier New" pitchFamily="49" charset="0"/>
                <a:ea typeface="ＭＳ Ｐゴシック" pitchFamily="-107" charset="-128"/>
              </a:rPr>
              <a:t>=97 &amp; </a:t>
            </a:r>
            <a:r>
              <a:rPr lang="en-AU" sz="2400" dirty="0">
                <a:ea typeface="ＭＳ Ｐゴシック" pitchFamily="-107" charset="-128"/>
              </a:rPr>
              <a:t>Bob chooses </a:t>
            </a:r>
            <a:r>
              <a:rPr lang="en-AU" sz="2400" dirty="0" err="1">
                <a:latin typeface="Courier New" pitchFamily="49" charset="0"/>
                <a:ea typeface="ＭＳ Ｐゴシック" pitchFamily="-107" charset="-128"/>
              </a:rPr>
              <a:t>x</a:t>
            </a:r>
            <a:r>
              <a:rPr lang="en-AU" sz="2400" baseline="-25000" dirty="0" err="1">
                <a:latin typeface="Courier New" pitchFamily="49" charset="0"/>
                <a:ea typeface="ＭＳ Ｐゴシック" pitchFamily="-107" charset="-128"/>
              </a:rPr>
              <a:t>B</a:t>
            </a:r>
            <a:r>
              <a:rPr lang="en-AU" sz="2400" dirty="0">
                <a:latin typeface="Courier New" pitchFamily="49" charset="0"/>
                <a:ea typeface="ＭＳ Ｐゴシック" pitchFamily="-107" charset="-128"/>
              </a:rPr>
              <a:t>=233</a:t>
            </a:r>
          </a:p>
          <a:p>
            <a:pPr eaLnBrk="1" hangingPunct="1">
              <a:lnSpc>
                <a:spcPct val="90000"/>
              </a:lnSpc>
              <a:defRPr/>
            </a:pPr>
            <a:r>
              <a:rPr lang="en-US" sz="2400" dirty="0">
                <a:ea typeface="ＭＳ Ｐゴシック" pitchFamily="-107" charset="-128"/>
              </a:rPr>
              <a:t>compute respective public keys:</a:t>
            </a:r>
          </a:p>
          <a:p>
            <a:pPr lvl="1" eaLnBrk="1" hangingPunct="1">
              <a:lnSpc>
                <a:spcPct val="90000"/>
              </a:lnSpc>
              <a:defRPr/>
            </a:pPr>
            <a:r>
              <a:rPr lang="en-AU" sz="2400" dirty="0" err="1">
                <a:latin typeface="Courier New" pitchFamily="49" charset="0"/>
                <a:ea typeface="ＭＳ Ｐゴシック" pitchFamily="-107" charset="-128"/>
              </a:rPr>
              <a:t>y</a:t>
            </a:r>
            <a:r>
              <a:rPr lang="en-AU" sz="2400" baseline="-25000" dirty="0" err="1">
                <a:latin typeface="Courier New" pitchFamily="49" charset="0"/>
                <a:ea typeface="ＭＳ Ｐゴシック" pitchFamily="-107" charset="-128"/>
              </a:rPr>
              <a:t>A</a:t>
            </a:r>
            <a:r>
              <a:rPr lang="en-AU" sz="2400" dirty="0">
                <a:latin typeface="Courier New" pitchFamily="49" charset="0"/>
                <a:ea typeface="ＭＳ Ｐゴシック" pitchFamily="-107" charset="-128"/>
              </a:rPr>
              <a:t>=</a:t>
            </a:r>
            <a:r>
              <a:rPr lang="en-US" sz="2400" dirty="0">
                <a:ea typeface="ＭＳ Ｐゴシック" pitchFamily="-107" charset="-128"/>
                <a:cs typeface="Arial" pitchFamily="34" charset="0"/>
              </a:rPr>
              <a:t>3</a:t>
            </a:r>
            <a:r>
              <a:rPr lang="en-AU" sz="2400" baseline="60000" dirty="0">
                <a:latin typeface="Courier New" pitchFamily="49" charset="0"/>
                <a:ea typeface="ＭＳ Ｐゴシック" pitchFamily="-107" charset="-128"/>
              </a:rPr>
              <a:t>97 </a:t>
            </a:r>
            <a:r>
              <a:rPr lang="en-AU" sz="2400" dirty="0">
                <a:latin typeface="Courier New" pitchFamily="49" charset="0"/>
                <a:ea typeface="ＭＳ Ｐゴシック" pitchFamily="-107" charset="-128"/>
              </a:rPr>
              <a:t> mod 353 = 40	</a:t>
            </a:r>
            <a:r>
              <a:rPr lang="en-AU" sz="2400" dirty="0">
                <a:ea typeface="ＭＳ Ｐゴシック" pitchFamily="-107" charset="-128"/>
              </a:rPr>
              <a:t>(Alice)</a:t>
            </a:r>
          </a:p>
          <a:p>
            <a:pPr lvl="1" eaLnBrk="1" hangingPunct="1">
              <a:lnSpc>
                <a:spcPct val="90000"/>
              </a:lnSpc>
              <a:defRPr/>
            </a:pPr>
            <a:r>
              <a:rPr lang="en-AU" sz="2400" dirty="0" err="1">
                <a:latin typeface="Courier New" pitchFamily="49" charset="0"/>
                <a:ea typeface="ＭＳ Ｐゴシック" pitchFamily="-107" charset="-128"/>
              </a:rPr>
              <a:t>y</a:t>
            </a:r>
            <a:r>
              <a:rPr lang="en-AU" sz="2400" baseline="-25000" dirty="0" err="1">
                <a:latin typeface="Courier New" pitchFamily="49" charset="0"/>
                <a:ea typeface="ＭＳ Ｐゴシック" pitchFamily="-107" charset="-128"/>
              </a:rPr>
              <a:t>B</a:t>
            </a:r>
            <a:r>
              <a:rPr lang="en-AU" sz="2400" dirty="0">
                <a:latin typeface="Courier New" pitchFamily="49" charset="0"/>
                <a:ea typeface="ＭＳ Ｐゴシック" pitchFamily="-107" charset="-128"/>
              </a:rPr>
              <a:t>=</a:t>
            </a:r>
            <a:r>
              <a:rPr lang="en-US" sz="2400" dirty="0">
                <a:ea typeface="ＭＳ Ｐゴシック" pitchFamily="-107" charset="-128"/>
                <a:cs typeface="Arial" pitchFamily="34" charset="0"/>
              </a:rPr>
              <a:t>3</a:t>
            </a:r>
            <a:r>
              <a:rPr lang="en-AU" sz="2400" baseline="60000" dirty="0">
                <a:latin typeface="Courier New" pitchFamily="49" charset="0"/>
                <a:ea typeface="ＭＳ Ｐゴシック" pitchFamily="-107" charset="-128"/>
              </a:rPr>
              <a:t>233</a:t>
            </a:r>
            <a:r>
              <a:rPr lang="en-AU" sz="2400" dirty="0">
                <a:latin typeface="Courier New" pitchFamily="49" charset="0"/>
                <a:ea typeface="ＭＳ Ｐゴシック" pitchFamily="-107" charset="-128"/>
              </a:rPr>
              <a:t> mod 353 = 248	</a:t>
            </a:r>
            <a:r>
              <a:rPr lang="en-AU" sz="2400" dirty="0">
                <a:ea typeface="ＭＳ Ｐゴシック" pitchFamily="-107" charset="-128"/>
              </a:rPr>
              <a:t>(Bob)</a:t>
            </a:r>
          </a:p>
          <a:p>
            <a:pPr eaLnBrk="1" hangingPunct="1">
              <a:lnSpc>
                <a:spcPct val="90000"/>
              </a:lnSpc>
              <a:defRPr/>
            </a:pPr>
            <a:r>
              <a:rPr lang="en-US" sz="2400" dirty="0">
                <a:ea typeface="ＭＳ Ｐゴシック" pitchFamily="-107" charset="-128"/>
              </a:rPr>
              <a:t>compute shared session key as:</a:t>
            </a:r>
          </a:p>
          <a:p>
            <a:pPr lvl="1" eaLnBrk="1" hangingPunct="1">
              <a:lnSpc>
                <a:spcPct val="90000"/>
              </a:lnSpc>
              <a:defRPr/>
            </a:pPr>
            <a:r>
              <a:rPr lang="en-AU" sz="2400" dirty="0">
                <a:latin typeface="Courier New" pitchFamily="49" charset="0"/>
                <a:ea typeface="ＭＳ Ｐゴシック" pitchFamily="-107" charset="-128"/>
              </a:rPr>
              <a:t>K</a:t>
            </a:r>
            <a:r>
              <a:rPr lang="en-AU" sz="2400" baseline="-25000" dirty="0">
                <a:latin typeface="Courier New" pitchFamily="49" charset="0"/>
                <a:ea typeface="ＭＳ Ｐゴシック" pitchFamily="-107" charset="-128"/>
              </a:rPr>
              <a:t>AB</a:t>
            </a:r>
            <a:r>
              <a:rPr lang="en-AU" sz="2400" dirty="0">
                <a:latin typeface="Courier New" pitchFamily="49" charset="0"/>
                <a:ea typeface="ＭＳ Ｐゴシック" pitchFamily="-107" charset="-128"/>
              </a:rPr>
              <a:t>= </a:t>
            </a:r>
            <a:r>
              <a:rPr lang="en-AU" sz="2400" dirty="0" err="1">
                <a:latin typeface="Courier New" pitchFamily="49" charset="0"/>
                <a:ea typeface="ＭＳ Ｐゴシック" pitchFamily="-107" charset="-128"/>
              </a:rPr>
              <a:t>y</a:t>
            </a:r>
            <a:r>
              <a:rPr lang="en-AU" sz="2400" baseline="-25000" dirty="0" err="1">
                <a:latin typeface="Courier New" pitchFamily="49" charset="0"/>
                <a:ea typeface="ＭＳ Ｐゴシック" pitchFamily="-107" charset="-128"/>
              </a:rPr>
              <a:t>B</a:t>
            </a:r>
            <a:r>
              <a:rPr lang="en-AU" sz="2400" baseline="60000" dirty="0" err="1">
                <a:latin typeface="Courier New" pitchFamily="49" charset="0"/>
                <a:ea typeface="ＭＳ Ｐゴシック" pitchFamily="-107" charset="-128"/>
              </a:rPr>
              <a:t>x</a:t>
            </a:r>
            <a:r>
              <a:rPr lang="en-AU" sz="2400" baseline="40000" dirty="0" err="1">
                <a:latin typeface="Courier New" pitchFamily="49" charset="0"/>
                <a:ea typeface="ＭＳ Ｐゴシック" pitchFamily="-107" charset="-128"/>
              </a:rPr>
              <a:t>A</a:t>
            </a:r>
            <a:r>
              <a:rPr lang="en-AU" sz="2400" dirty="0">
                <a:latin typeface="Courier New" pitchFamily="49" charset="0"/>
                <a:ea typeface="ＭＳ Ｐゴシック" pitchFamily="-107" charset="-128"/>
              </a:rPr>
              <a:t> mod 353 = </a:t>
            </a:r>
            <a:r>
              <a:rPr lang="en-US" sz="2400" dirty="0">
                <a:latin typeface="Courier New" pitchFamily="49" charset="0"/>
                <a:ea typeface="ＭＳ Ｐゴシック" pitchFamily="-107" charset="-128"/>
                <a:cs typeface="Arial" pitchFamily="34" charset="0"/>
              </a:rPr>
              <a:t>248</a:t>
            </a:r>
            <a:r>
              <a:rPr lang="en-AU" sz="2400" baseline="60000" dirty="0">
                <a:latin typeface="Courier New" pitchFamily="49" charset="0"/>
                <a:ea typeface="ＭＳ Ｐゴシック" pitchFamily="-107" charset="-128"/>
                <a:cs typeface="Courier New" pitchFamily="49" charset="0"/>
              </a:rPr>
              <a:t>97</a:t>
            </a:r>
            <a:r>
              <a:rPr lang="en-AU" sz="2400" dirty="0">
                <a:latin typeface="Courier New" pitchFamily="49" charset="0"/>
                <a:ea typeface="ＭＳ Ｐゴシック" pitchFamily="-107" charset="-128"/>
                <a:cs typeface="Courier New" pitchFamily="49" charset="0"/>
              </a:rPr>
              <a:t> </a:t>
            </a:r>
            <a:r>
              <a:rPr lang="en-AU" sz="2400" dirty="0">
                <a:latin typeface="Courier New" pitchFamily="49" charset="0"/>
                <a:ea typeface="ＭＳ Ｐゴシック" pitchFamily="-107" charset="-128"/>
              </a:rPr>
              <a:t>= 160	</a:t>
            </a:r>
            <a:r>
              <a:rPr lang="en-AU" sz="2400" dirty="0">
                <a:ea typeface="ＭＳ Ｐゴシック" pitchFamily="-107" charset="-128"/>
              </a:rPr>
              <a:t>(Alice)</a:t>
            </a:r>
          </a:p>
          <a:p>
            <a:pPr lvl="1" eaLnBrk="1" hangingPunct="1">
              <a:lnSpc>
                <a:spcPct val="90000"/>
              </a:lnSpc>
              <a:defRPr/>
            </a:pPr>
            <a:r>
              <a:rPr lang="en-AU" sz="2400" dirty="0">
                <a:latin typeface="Courier New" pitchFamily="49" charset="0"/>
                <a:ea typeface="ＭＳ Ｐゴシック" pitchFamily="-107" charset="-128"/>
              </a:rPr>
              <a:t>K</a:t>
            </a:r>
            <a:r>
              <a:rPr lang="en-AU" sz="2400" baseline="-25000" dirty="0">
                <a:latin typeface="Courier New" pitchFamily="49" charset="0"/>
                <a:ea typeface="ＭＳ Ｐゴシック" pitchFamily="-107" charset="-128"/>
              </a:rPr>
              <a:t>AB</a:t>
            </a:r>
            <a:r>
              <a:rPr lang="en-AU" sz="2400" dirty="0">
                <a:latin typeface="Courier New" pitchFamily="49" charset="0"/>
                <a:ea typeface="ＭＳ Ｐゴシック" pitchFamily="-107" charset="-128"/>
              </a:rPr>
              <a:t>= </a:t>
            </a:r>
            <a:r>
              <a:rPr lang="en-AU" sz="2400" dirty="0" err="1">
                <a:latin typeface="Courier New" pitchFamily="49" charset="0"/>
                <a:ea typeface="ＭＳ Ｐゴシック" pitchFamily="-107" charset="-128"/>
              </a:rPr>
              <a:t>y</a:t>
            </a:r>
            <a:r>
              <a:rPr lang="en-AU" sz="2400" baseline="-25000" dirty="0" err="1">
                <a:latin typeface="Courier New" pitchFamily="49" charset="0"/>
                <a:ea typeface="ＭＳ Ｐゴシック" pitchFamily="-107" charset="-128"/>
              </a:rPr>
              <a:t>A</a:t>
            </a:r>
            <a:r>
              <a:rPr lang="en-AU" sz="2400" baseline="60000" dirty="0" err="1">
                <a:latin typeface="Courier New" pitchFamily="49" charset="0"/>
                <a:ea typeface="ＭＳ Ｐゴシック" pitchFamily="-107" charset="-128"/>
              </a:rPr>
              <a:t>x</a:t>
            </a:r>
            <a:r>
              <a:rPr lang="en-AU" sz="2400" baseline="40000" dirty="0" err="1">
                <a:latin typeface="Courier New" pitchFamily="49" charset="0"/>
                <a:ea typeface="ＭＳ Ｐゴシック" pitchFamily="-107" charset="-128"/>
              </a:rPr>
              <a:t>B</a:t>
            </a:r>
            <a:r>
              <a:rPr lang="en-AU" sz="2400" dirty="0">
                <a:latin typeface="Courier New" pitchFamily="49" charset="0"/>
                <a:ea typeface="ＭＳ Ｐゴシック" pitchFamily="-107" charset="-128"/>
              </a:rPr>
              <a:t> mod 353 = </a:t>
            </a:r>
            <a:r>
              <a:rPr lang="en-US" sz="2400" dirty="0">
                <a:latin typeface="Courier New" pitchFamily="49" charset="0"/>
                <a:ea typeface="ＭＳ Ｐゴシック" pitchFamily="-107" charset="-128"/>
                <a:cs typeface="Arial" pitchFamily="34" charset="0"/>
              </a:rPr>
              <a:t>40</a:t>
            </a:r>
            <a:r>
              <a:rPr lang="en-AU" sz="2400" baseline="60000" dirty="0">
                <a:latin typeface="Courier New" pitchFamily="49" charset="0"/>
                <a:ea typeface="ＭＳ Ｐゴシック" pitchFamily="-107" charset="-128"/>
              </a:rPr>
              <a:t>233</a:t>
            </a:r>
            <a:r>
              <a:rPr lang="en-AU" sz="2400" dirty="0">
                <a:latin typeface="Courier New" pitchFamily="49" charset="0"/>
                <a:ea typeface="ＭＳ Ｐゴシック" pitchFamily="-107" charset="-128"/>
              </a:rPr>
              <a:t> = 160	</a:t>
            </a:r>
            <a:r>
              <a:rPr lang="en-AU" sz="2400" dirty="0">
                <a:ea typeface="ＭＳ Ｐゴシック" pitchFamily="-107" charset="-128"/>
              </a:rPr>
              <a:t>(Bob)</a:t>
            </a:r>
          </a:p>
          <a:p>
            <a:pPr lvl="1" eaLnBrk="1" hangingPunct="1">
              <a:lnSpc>
                <a:spcPct val="90000"/>
              </a:lnSpc>
              <a:defRPr/>
            </a:pPr>
            <a:endParaRPr lang="en-AU" sz="2100" dirty="0">
              <a:ea typeface="ＭＳ Ｐゴシック" pitchFamily="-107" charset="-128"/>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6" name="Rectangle 135">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0"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2"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4"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6" name="Rectangle 145">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96258" name="Rectangle 1026"/>
          <p:cNvSpPr>
            <a:spLocks noGrp="1" noChangeArrowheads="1"/>
          </p:cNvSpPr>
          <p:nvPr>
            <p:ph type="title"/>
          </p:nvPr>
        </p:nvSpPr>
        <p:spPr>
          <a:xfrm>
            <a:off x="718879" y="800392"/>
            <a:ext cx="7698523" cy="1212102"/>
          </a:xfrm>
        </p:spPr>
        <p:txBody>
          <a:bodyPr>
            <a:normAutofit/>
          </a:bodyPr>
          <a:lstStyle/>
          <a:p>
            <a:r>
              <a:rPr lang="en-US" sz="3500">
                <a:solidFill>
                  <a:srgbClr val="FFFFFF"/>
                </a:solidFill>
              </a:rPr>
              <a:t>Key Exchange Protocols</a:t>
            </a:r>
            <a:endParaRPr lang="en-AU" sz="3500">
              <a:solidFill>
                <a:srgbClr val="FFFFFF"/>
              </a:solidFill>
            </a:endParaRPr>
          </a:p>
        </p:txBody>
      </p:sp>
      <p:sp>
        <p:nvSpPr>
          <p:cNvPr id="96259" name="Rectangle 1027"/>
          <p:cNvSpPr>
            <a:spLocks noGrp="1" noChangeArrowheads="1"/>
          </p:cNvSpPr>
          <p:nvPr>
            <p:ph idx="1"/>
          </p:nvPr>
        </p:nvSpPr>
        <p:spPr>
          <a:xfrm>
            <a:off x="1025718" y="2490436"/>
            <a:ext cx="7281746" cy="3567173"/>
          </a:xfrm>
        </p:spPr>
        <p:txBody>
          <a:bodyPr anchor="ctr">
            <a:normAutofit/>
          </a:bodyPr>
          <a:lstStyle/>
          <a:p>
            <a:r>
              <a:rPr lang="en-AU" sz="2400" dirty="0"/>
              <a:t>Users could create random private/public Diffie-Hellman keys each time they communicate</a:t>
            </a:r>
          </a:p>
          <a:p>
            <a:r>
              <a:rPr lang="en-AU" sz="2400" dirty="0"/>
              <a:t>Users could create a known private/public Diffie-Hellman key and publish in a directory, then consulted and used to securely communicate with them</a:t>
            </a:r>
          </a:p>
          <a:p>
            <a:r>
              <a:rPr lang="en-AU" sz="2400" dirty="0">
                <a:highlight>
                  <a:srgbClr val="FFFF00"/>
                </a:highlight>
              </a:rPr>
              <a:t>Vulnerable to Man-in-the-Middle-Attack</a:t>
            </a:r>
          </a:p>
          <a:p>
            <a:r>
              <a:rPr lang="en-AU" sz="2400" dirty="0"/>
              <a:t>Authentication of the keys is needed</a:t>
            </a:r>
          </a:p>
        </p:txBody>
      </p:sp>
    </p:spTree>
    <p:extLst>
      <p:ext uri="{BB962C8B-B14F-4D97-AF65-F5344CB8AC3E}">
        <p14:creationId xmlns:p14="http://schemas.microsoft.com/office/powerpoint/2010/main" val="1625124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6" name="Rectangle 135">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0"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2"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4"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6" name="Rectangle 145">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96258" name="Rectangle 1026"/>
          <p:cNvSpPr>
            <a:spLocks noGrp="1" noChangeArrowheads="1"/>
          </p:cNvSpPr>
          <p:nvPr>
            <p:ph type="title"/>
          </p:nvPr>
        </p:nvSpPr>
        <p:spPr>
          <a:xfrm>
            <a:off x="718879" y="800392"/>
            <a:ext cx="7698523" cy="1212102"/>
          </a:xfrm>
        </p:spPr>
        <p:txBody>
          <a:bodyPr>
            <a:normAutofit/>
          </a:bodyPr>
          <a:lstStyle/>
          <a:p>
            <a:pPr algn="ctr"/>
            <a:r>
              <a:rPr lang="en-US" dirty="0">
                <a:solidFill>
                  <a:schemeClr val="bg1"/>
                </a:solidFill>
                <a:latin typeface="+mn-lt"/>
              </a:rPr>
              <a:t>Security of Diffie-Hellman</a:t>
            </a:r>
          </a:p>
        </p:txBody>
      </p:sp>
      <p:sp>
        <p:nvSpPr>
          <p:cNvPr id="96259" name="Rectangle 1027"/>
          <p:cNvSpPr>
            <a:spLocks noGrp="1" noChangeArrowheads="1"/>
          </p:cNvSpPr>
          <p:nvPr>
            <p:ph idx="1"/>
          </p:nvPr>
        </p:nvSpPr>
        <p:spPr>
          <a:xfrm>
            <a:off x="1025718" y="2490436"/>
            <a:ext cx="7281746" cy="3567173"/>
          </a:xfrm>
        </p:spPr>
        <p:txBody>
          <a:bodyPr anchor="ctr">
            <a:normAutofit fontScale="92500" lnSpcReduction="20000"/>
          </a:bodyPr>
          <a:lstStyle/>
          <a:p>
            <a:pPr marL="457200" indent="0" algn="just">
              <a:buNone/>
            </a:pPr>
            <a:r>
              <a:rPr lang="en-US" sz="3600" dirty="0">
                <a:latin typeface="Times New Roman" pitchFamily="18" charset="0"/>
              </a:rPr>
              <a:t>Two attacks are possible:</a:t>
            </a:r>
          </a:p>
          <a:p>
            <a:pPr marL="1657350" indent="-742950" algn="just">
              <a:buFont typeface="+mj-lt"/>
              <a:buAutoNum type="arabicPeriod"/>
            </a:pPr>
            <a:r>
              <a:rPr lang="en-US" sz="3600" dirty="0">
                <a:latin typeface="Times New Roman" pitchFamily="18" charset="0"/>
              </a:rPr>
              <a:t>Discrete Logarithm Attack</a:t>
            </a:r>
          </a:p>
          <a:p>
            <a:pPr marL="1654175" indent="0">
              <a:buNone/>
            </a:pPr>
            <a:r>
              <a:rPr lang="en-US" sz="2000" dirty="0">
                <a:latin typeface="Times New Roman" pitchFamily="18" charset="0"/>
              </a:rPr>
              <a:t>by trying to solve the equation:  </a:t>
            </a:r>
            <a:r>
              <a:rPr lang="en-US" sz="2000" dirty="0">
                <a:ea typeface="ＭＳ Ｐゴシック" pitchFamily="-107" charset="-128"/>
              </a:rPr>
              <a:t>X = log</a:t>
            </a:r>
            <a:r>
              <a:rPr lang="el-GR" sz="2000" baseline="-25000" dirty="0">
                <a:ea typeface="ＭＳ Ｐゴシック" pitchFamily="-107" charset="-128"/>
              </a:rPr>
              <a:t>α</a:t>
            </a:r>
            <a:r>
              <a:rPr lang="en-US" sz="2000" baseline="-25000" dirty="0">
                <a:ea typeface="ＭＳ Ｐゴシック" pitchFamily="-107" charset="-128"/>
              </a:rPr>
              <a:t> </a:t>
            </a:r>
            <a:r>
              <a:rPr lang="en-US" sz="2000" dirty="0">
                <a:ea typeface="ＭＳ Ｐゴシック" pitchFamily="-107" charset="-128"/>
              </a:rPr>
              <a:t>Y  (mod q)</a:t>
            </a:r>
          </a:p>
          <a:p>
            <a:pPr marL="1654175" indent="0">
              <a:buNone/>
            </a:pPr>
            <a:r>
              <a:rPr lang="en-US" sz="2000" dirty="0">
                <a:latin typeface="Times New Roman" pitchFamily="18" charset="0"/>
              </a:rPr>
              <a:t>where Y is a known public key and X is the required private key.</a:t>
            </a:r>
          </a:p>
          <a:p>
            <a:pPr marL="1657350" indent="-742950" algn="just">
              <a:buFont typeface="+mj-lt"/>
              <a:buAutoNum type="arabicPeriod" startAt="2"/>
            </a:pPr>
            <a:r>
              <a:rPr lang="en-US" sz="3600" dirty="0">
                <a:latin typeface="Times New Roman" pitchFamily="18" charset="0"/>
              </a:rPr>
              <a:t>Man-in-the-Middle Attack</a:t>
            </a:r>
          </a:p>
          <a:p>
            <a:pPr marL="1654175" indent="0">
              <a:buNone/>
            </a:pPr>
            <a:r>
              <a:rPr lang="en-US" sz="2000" dirty="0">
                <a:latin typeface="Times New Roman" pitchFamily="18" charset="0"/>
              </a:rPr>
              <a:t>an attacker intercepts the messages exchanged between Alice and Bob and builds a shared key with Alice and another shared key with Bob. Both Alice and Bob know nothing and exchange encrypted messages through the attacker.</a:t>
            </a:r>
          </a:p>
          <a:p>
            <a:pPr marL="0" indent="0" algn="just">
              <a:buNone/>
            </a:pPr>
            <a:endParaRPr lang="en-US" sz="2400" i="1" dirty="0">
              <a:latin typeface="Times New Roman" pitchFamily="18" charset="0"/>
            </a:endParaRPr>
          </a:p>
        </p:txBody>
      </p:sp>
    </p:spTree>
    <p:extLst>
      <p:ext uri="{BB962C8B-B14F-4D97-AF65-F5344CB8AC3E}">
        <p14:creationId xmlns:p14="http://schemas.microsoft.com/office/powerpoint/2010/main" val="28272471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f2.pdf"/>
          <p:cNvPicPr>
            <a:picLocks noChangeAspect="1"/>
          </p:cNvPicPr>
          <p:nvPr/>
        </p:nvPicPr>
        <p:blipFill>
          <a:blip r:embed="rId3" cstate="print"/>
          <a:srcRect l="5882" t="1818" r="5882" b="10000"/>
          <a:stretch>
            <a:fillRect/>
          </a:stretch>
        </p:blipFill>
        <p:spPr>
          <a:xfrm>
            <a:off x="1828800" y="55952"/>
            <a:ext cx="5257799" cy="6802048"/>
          </a:xfrm>
          <a:prstGeom prst="rect">
            <a:avLst/>
          </a:prstGeom>
        </p:spPr>
      </p:pic>
    </p:spTree>
    <p:extLst>
      <p:ext uri="{BB962C8B-B14F-4D97-AF65-F5344CB8AC3E}">
        <p14:creationId xmlns:p14="http://schemas.microsoft.com/office/powerpoint/2010/main" val="1875968035"/>
      </p:ext>
    </p:extLst>
  </p:cSld>
  <p:clrMapOvr>
    <a:masterClrMapping/>
  </p:clrMapOvr>
  <p:transition spd="med">
    <p:wip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6" name="Rectangle 135">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0"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2"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4"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6" name="Rectangle 145">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96258" name="Rectangle 1026"/>
          <p:cNvSpPr>
            <a:spLocks noGrp="1" noChangeArrowheads="1"/>
          </p:cNvSpPr>
          <p:nvPr>
            <p:ph type="title"/>
          </p:nvPr>
        </p:nvSpPr>
        <p:spPr>
          <a:xfrm>
            <a:off x="718879" y="800392"/>
            <a:ext cx="7698523" cy="1212102"/>
          </a:xfrm>
        </p:spPr>
        <p:txBody>
          <a:bodyPr>
            <a:normAutofit/>
          </a:bodyPr>
          <a:lstStyle/>
          <a:p>
            <a:pPr algn="ctr"/>
            <a:r>
              <a:rPr lang="en-AU" dirty="0">
                <a:solidFill>
                  <a:schemeClr val="bg1"/>
                </a:solidFill>
                <a:ea typeface="ＭＳ Ｐゴシック" pitchFamily="-107" charset="-128"/>
              </a:rPr>
              <a:t>Man-in-the-Middle Attack</a:t>
            </a:r>
            <a:endParaRPr lang="en-US" dirty="0">
              <a:solidFill>
                <a:schemeClr val="bg1"/>
              </a:solidFill>
              <a:latin typeface="+mn-lt"/>
            </a:endParaRPr>
          </a:p>
        </p:txBody>
      </p:sp>
      <p:sp>
        <p:nvSpPr>
          <p:cNvPr id="13" name="TextBox 12">
            <a:extLst>
              <a:ext uri="{FF2B5EF4-FFF2-40B4-BE49-F238E27FC236}">
                <a16:creationId xmlns:a16="http://schemas.microsoft.com/office/drawing/2014/main" id="{CA2DB703-083D-43BA-8DF4-FE75E3B2B191}"/>
              </a:ext>
            </a:extLst>
          </p:cNvPr>
          <p:cNvSpPr txBox="1"/>
          <p:nvPr/>
        </p:nvSpPr>
        <p:spPr>
          <a:xfrm>
            <a:off x="1267385" y="2378076"/>
            <a:ext cx="7040839" cy="3693319"/>
          </a:xfrm>
          <a:prstGeom prst="rect">
            <a:avLst/>
          </a:prstGeom>
          <a:noFill/>
        </p:spPr>
        <p:txBody>
          <a:bodyPr wrap="square">
            <a:spAutoFit/>
          </a:bodyPr>
          <a:lstStyle/>
          <a:p>
            <a:pPr marL="514350" indent="-514350" eaLnBrk="1" hangingPunct="1">
              <a:lnSpc>
                <a:spcPct val="90000"/>
              </a:lnSpc>
              <a:buFont typeface="Arial" pitchFamily="-107" charset="0"/>
              <a:buAutoNum type="arabicPeriod"/>
              <a:defRPr/>
            </a:pPr>
            <a:r>
              <a:rPr lang="en-US" sz="2000" dirty="0">
                <a:ea typeface="ＭＳ Ｐゴシック" pitchFamily="-107" charset="-128"/>
                <a:cs typeface="ＭＳ Ｐゴシック" pitchFamily="-107" charset="-128"/>
              </a:rPr>
              <a:t>Darth prepares by creating two private / public  keys </a:t>
            </a:r>
          </a:p>
          <a:p>
            <a:pPr marL="514350" indent="-514350" eaLnBrk="1" hangingPunct="1">
              <a:lnSpc>
                <a:spcPct val="90000"/>
              </a:lnSpc>
              <a:buFont typeface="Arial" pitchFamily="-107" charset="0"/>
              <a:buAutoNum type="arabicPeriod"/>
              <a:defRPr/>
            </a:pPr>
            <a:r>
              <a:rPr lang="en-US" sz="2000" dirty="0">
                <a:ea typeface="ＭＳ Ｐゴシック" pitchFamily="-107" charset="-128"/>
                <a:cs typeface="ＭＳ Ｐゴシック" pitchFamily="-107" charset="-128"/>
              </a:rPr>
              <a:t>Alice transmits her public key to Bob</a:t>
            </a:r>
          </a:p>
          <a:p>
            <a:pPr marL="514350" indent="-514350" eaLnBrk="1" hangingPunct="1">
              <a:lnSpc>
                <a:spcPct val="90000"/>
              </a:lnSpc>
              <a:buFont typeface="Arial" pitchFamily="-107" charset="0"/>
              <a:buAutoNum type="arabicPeriod"/>
              <a:defRPr/>
            </a:pPr>
            <a:r>
              <a:rPr lang="en-US" sz="2000" dirty="0">
                <a:ea typeface="ＭＳ Ｐゴシック" pitchFamily="-107" charset="-128"/>
                <a:cs typeface="ＭＳ Ｐゴシック" pitchFamily="-107" charset="-128"/>
              </a:rPr>
              <a:t>Darth intercepts this and transmits his first public key to Bob. Darth also calculates a shared key with Alice</a:t>
            </a:r>
          </a:p>
          <a:p>
            <a:pPr marL="514350" indent="-514350" eaLnBrk="1" hangingPunct="1">
              <a:lnSpc>
                <a:spcPct val="90000"/>
              </a:lnSpc>
              <a:buFont typeface="Arial" pitchFamily="-107" charset="0"/>
              <a:buAutoNum type="arabicPeriod"/>
              <a:defRPr/>
            </a:pPr>
            <a:r>
              <a:rPr lang="en-US" sz="2000" dirty="0">
                <a:ea typeface="ＭＳ Ｐゴシック" pitchFamily="-107" charset="-128"/>
                <a:cs typeface="ＭＳ Ｐゴシック" pitchFamily="-107" charset="-128"/>
              </a:rPr>
              <a:t>Bob receives the public key and calculates the shared key (with Darth instead of Alice) </a:t>
            </a:r>
          </a:p>
          <a:p>
            <a:pPr marL="514350" indent="-514350" eaLnBrk="1" hangingPunct="1">
              <a:lnSpc>
                <a:spcPct val="90000"/>
              </a:lnSpc>
              <a:buFont typeface="Arial" pitchFamily="-107" charset="0"/>
              <a:buAutoNum type="arabicPeriod"/>
              <a:defRPr/>
            </a:pPr>
            <a:r>
              <a:rPr lang="en-US" sz="2000" dirty="0">
                <a:ea typeface="ＭＳ Ｐゴシック" pitchFamily="-107" charset="-128"/>
                <a:cs typeface="ＭＳ Ｐゴシック" pitchFamily="-107" charset="-128"/>
              </a:rPr>
              <a:t>Bob transmits his public key  to Alice  </a:t>
            </a:r>
          </a:p>
          <a:p>
            <a:pPr marL="514350" indent="-514350" eaLnBrk="1" hangingPunct="1">
              <a:lnSpc>
                <a:spcPct val="90000"/>
              </a:lnSpc>
              <a:buFont typeface="Arial" pitchFamily="-107" charset="0"/>
              <a:buAutoNum type="arabicPeriod"/>
              <a:defRPr/>
            </a:pPr>
            <a:r>
              <a:rPr lang="en-US" sz="2000" dirty="0">
                <a:ea typeface="ＭＳ Ｐゴシック" pitchFamily="-107" charset="-128"/>
                <a:cs typeface="ＭＳ Ｐゴシック" pitchFamily="-107" charset="-128"/>
              </a:rPr>
              <a:t>Darth intercepts this and transmits his second public key to Alice. Darth calculates a shared key with Bob</a:t>
            </a:r>
          </a:p>
          <a:p>
            <a:pPr marL="514350" indent="-514350" eaLnBrk="1" hangingPunct="1">
              <a:lnSpc>
                <a:spcPct val="90000"/>
              </a:lnSpc>
              <a:buFont typeface="Arial" pitchFamily="-107" charset="0"/>
              <a:buAutoNum type="arabicPeriod"/>
              <a:defRPr/>
            </a:pPr>
            <a:r>
              <a:rPr lang="en-US" sz="2000" dirty="0">
                <a:ea typeface="ＭＳ Ｐゴシック" pitchFamily="-107" charset="-128"/>
                <a:cs typeface="ＭＳ Ｐゴシック" pitchFamily="-107" charset="-128"/>
              </a:rPr>
              <a:t>Alice receives the key and calculates the shared key (with Darth instead of Bob)</a:t>
            </a:r>
          </a:p>
          <a:p>
            <a:pPr marL="514350" indent="-514350" eaLnBrk="1" hangingPunct="1">
              <a:lnSpc>
                <a:spcPct val="90000"/>
              </a:lnSpc>
              <a:buFont typeface="Arial" pitchFamily="-107" charset="0"/>
              <a:buAutoNum type="arabicPeriod"/>
              <a:defRPr/>
            </a:pPr>
            <a:r>
              <a:rPr lang="en-US" sz="2000" dirty="0">
                <a:ea typeface="ＭＳ Ｐゴシック" pitchFamily="-107" charset="-128"/>
                <a:cs typeface="ＭＳ Ｐゴシック" pitchFamily="-107" charset="-128"/>
              </a:rPr>
              <a:t>Darth can then intercept, decrypt, re-encrypt, forward all messages between Alice &amp; Bob</a:t>
            </a:r>
          </a:p>
        </p:txBody>
      </p:sp>
    </p:spTree>
    <p:extLst>
      <p:ext uri="{BB962C8B-B14F-4D97-AF65-F5344CB8AC3E}">
        <p14:creationId xmlns:p14="http://schemas.microsoft.com/office/powerpoint/2010/main" val="3561471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6" name="Rectangle 135">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0"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2"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4"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6" name="Rectangle 145">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62466" name="Rectangle 2"/>
          <p:cNvSpPr>
            <a:spLocks noGrp="1" noChangeArrowheads="1"/>
          </p:cNvSpPr>
          <p:nvPr>
            <p:ph type="title"/>
          </p:nvPr>
        </p:nvSpPr>
        <p:spPr>
          <a:xfrm>
            <a:off x="718879" y="800392"/>
            <a:ext cx="7698523" cy="1212102"/>
          </a:xfrm>
        </p:spPr>
        <p:txBody>
          <a:bodyPr>
            <a:normAutofit/>
          </a:bodyPr>
          <a:lstStyle/>
          <a:p>
            <a:pPr eaLnBrk="1" hangingPunct="1">
              <a:defRPr/>
            </a:pPr>
            <a:r>
              <a:rPr lang="en-AU" sz="3500">
                <a:solidFill>
                  <a:srgbClr val="FFFFFF"/>
                </a:solidFill>
                <a:ea typeface="ＭＳ Ｐゴシック" pitchFamily="-107" charset="-128"/>
                <a:cs typeface="ＭＳ Ｐゴシック" pitchFamily="-107" charset="-128"/>
              </a:rPr>
              <a:t>ElGamal Cryptography</a:t>
            </a:r>
          </a:p>
        </p:txBody>
      </p:sp>
      <p:sp>
        <p:nvSpPr>
          <p:cNvPr id="62467" name="Rectangle 3"/>
          <p:cNvSpPr>
            <a:spLocks noGrp="1" noChangeArrowheads="1"/>
          </p:cNvSpPr>
          <p:nvPr>
            <p:ph type="body" idx="1"/>
          </p:nvPr>
        </p:nvSpPr>
        <p:spPr>
          <a:xfrm>
            <a:off x="1025718" y="2490436"/>
            <a:ext cx="7281746" cy="3567173"/>
          </a:xfrm>
        </p:spPr>
        <p:txBody>
          <a:bodyPr anchor="ctr">
            <a:normAutofit fontScale="92500" lnSpcReduction="10000"/>
          </a:bodyPr>
          <a:lstStyle/>
          <a:p>
            <a:pPr eaLnBrk="1" hangingPunct="1">
              <a:defRPr/>
            </a:pPr>
            <a:r>
              <a:rPr lang="en-AU" sz="2800" dirty="0">
                <a:ea typeface="ＭＳ Ｐゴシック" pitchFamily="-107" charset="-128"/>
              </a:rPr>
              <a:t>public-key cryptosystem related to D-H</a:t>
            </a:r>
          </a:p>
          <a:p>
            <a:pPr eaLnBrk="1" hangingPunct="1">
              <a:defRPr/>
            </a:pPr>
            <a:r>
              <a:rPr lang="en-AU" sz="2800" dirty="0">
                <a:ea typeface="ＭＳ Ｐゴシック" pitchFamily="-107" charset="-128"/>
              </a:rPr>
              <a:t>like RSA, this algorithm provides the three basic applications, namely:</a:t>
            </a:r>
          </a:p>
          <a:p>
            <a:pPr marL="854075" indent="-457200" eaLnBrk="1" hangingPunct="1">
              <a:buFont typeface="+mj-lt"/>
              <a:buAutoNum type="alphaLcParenR"/>
              <a:defRPr/>
            </a:pPr>
            <a:r>
              <a:rPr lang="en-AU" sz="2800" dirty="0">
                <a:ea typeface="ＭＳ Ｐゴシック" pitchFamily="-107" charset="-128"/>
              </a:rPr>
              <a:t>encryption/decryption</a:t>
            </a:r>
          </a:p>
          <a:p>
            <a:pPr marL="854075" indent="-457200" eaLnBrk="1" hangingPunct="1">
              <a:buFont typeface="+mj-lt"/>
              <a:buAutoNum type="alphaLcParenR"/>
              <a:defRPr/>
            </a:pPr>
            <a:r>
              <a:rPr lang="en-AU" sz="2800" dirty="0">
                <a:ea typeface="ＭＳ Ｐゴシック" pitchFamily="-107" charset="-128"/>
              </a:rPr>
              <a:t>key sharing</a:t>
            </a:r>
          </a:p>
          <a:p>
            <a:pPr marL="854075" indent="-457200" eaLnBrk="1" hangingPunct="1">
              <a:buFont typeface="+mj-lt"/>
              <a:buAutoNum type="alphaLcParenR"/>
              <a:defRPr/>
            </a:pPr>
            <a:r>
              <a:rPr lang="en-AU" sz="2800" dirty="0">
                <a:ea typeface="ＭＳ Ｐゴシック" pitchFamily="-107" charset="-128"/>
              </a:rPr>
              <a:t>digital signature</a:t>
            </a:r>
          </a:p>
          <a:p>
            <a:pPr eaLnBrk="1" hangingPunct="1">
              <a:defRPr/>
            </a:pPr>
            <a:r>
              <a:rPr lang="en-AU" sz="2800" dirty="0">
                <a:ea typeface="ＭＳ Ｐゴシック" pitchFamily="-107" charset="-128"/>
              </a:rPr>
              <a:t>with security-based difficulty of computing discrete logarithms, as in D-H</a:t>
            </a:r>
          </a:p>
          <a:p>
            <a:pPr marL="0" indent="0" eaLnBrk="1" hangingPunct="1">
              <a:buNone/>
              <a:defRPr/>
            </a:pPr>
            <a:endParaRPr lang="en-AU" sz="2100" dirty="0">
              <a:ea typeface="ＭＳ Ｐゴシック" pitchFamily="-107" charset="-128"/>
            </a:endParaRPr>
          </a:p>
        </p:txBody>
      </p:sp>
    </p:spTree>
    <p:extLst>
      <p:ext uri="{BB962C8B-B14F-4D97-AF65-F5344CB8AC3E}">
        <p14:creationId xmlns:p14="http://schemas.microsoft.com/office/powerpoint/2010/main" val="5272850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6" name="Rectangle 135">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0"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2"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4"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6" name="Rectangle 145">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68610" name="Rectangle 2"/>
          <p:cNvSpPr>
            <a:spLocks noGrp="1" noChangeArrowheads="1"/>
          </p:cNvSpPr>
          <p:nvPr>
            <p:ph type="title"/>
          </p:nvPr>
        </p:nvSpPr>
        <p:spPr>
          <a:xfrm>
            <a:off x="718879" y="800392"/>
            <a:ext cx="7698523" cy="1212102"/>
          </a:xfrm>
        </p:spPr>
        <p:txBody>
          <a:bodyPr>
            <a:normAutofit/>
          </a:bodyPr>
          <a:lstStyle/>
          <a:p>
            <a:pPr eaLnBrk="1" hangingPunct="1">
              <a:defRPr/>
            </a:pPr>
            <a:r>
              <a:rPr lang="en-US" sz="3500" dirty="0">
                <a:solidFill>
                  <a:srgbClr val="FFFFFF"/>
                </a:solidFill>
                <a:ea typeface="ＭＳ Ｐゴシック" pitchFamily="-107" charset="-128"/>
              </a:rPr>
              <a:t>Elliptic Curve Cryptography (ECC)</a:t>
            </a:r>
            <a:endParaRPr lang="en-AU" sz="3500" dirty="0">
              <a:solidFill>
                <a:srgbClr val="FFFFFF"/>
              </a:solidFill>
              <a:ea typeface="ＭＳ Ｐゴシック" pitchFamily="-107" charset="-128"/>
            </a:endParaRPr>
          </a:p>
        </p:txBody>
      </p:sp>
      <p:sp>
        <p:nvSpPr>
          <p:cNvPr id="68611" name="Rectangle 3"/>
          <p:cNvSpPr>
            <a:spLocks noGrp="1" noChangeArrowheads="1"/>
          </p:cNvSpPr>
          <p:nvPr>
            <p:ph type="body" idx="1"/>
          </p:nvPr>
        </p:nvSpPr>
        <p:spPr>
          <a:xfrm>
            <a:off x="1025718" y="2490436"/>
            <a:ext cx="7281746" cy="3567173"/>
          </a:xfrm>
        </p:spPr>
        <p:txBody>
          <a:bodyPr anchor="ctr">
            <a:normAutofit lnSpcReduction="10000"/>
          </a:bodyPr>
          <a:lstStyle/>
          <a:p>
            <a:pPr eaLnBrk="1" hangingPunct="1">
              <a:defRPr/>
            </a:pPr>
            <a:r>
              <a:rPr lang="en-US" sz="2400" dirty="0">
                <a:ea typeface="ＭＳ Ｐゴシック" pitchFamily="-107" charset="-128"/>
              </a:rPr>
              <a:t>majority of public-key cryptography (RSA, D-H) use either integer or polynomial arithmetic with </a:t>
            </a:r>
            <a:r>
              <a:rPr lang="en-US" sz="2400" dirty="0">
                <a:highlight>
                  <a:srgbClr val="FFFF00"/>
                </a:highlight>
                <a:ea typeface="ＭＳ Ｐゴシック" pitchFamily="-107" charset="-128"/>
              </a:rPr>
              <a:t>very large numbers/polynomials</a:t>
            </a:r>
          </a:p>
          <a:p>
            <a:pPr marL="1139825" indent="-514350" eaLnBrk="1" hangingPunct="1">
              <a:buFont typeface="+mj-lt"/>
              <a:buAutoNum type="romanLcPeriod"/>
              <a:defRPr/>
            </a:pPr>
            <a:r>
              <a:rPr lang="en-US" sz="2400" i="1" dirty="0">
                <a:ea typeface="ＭＳ Ｐゴシック" pitchFamily="-107" charset="-128"/>
              </a:rPr>
              <a:t>using very large numbers/polynomials imposes a significant load in storing and processing keys and messages</a:t>
            </a:r>
          </a:p>
          <a:p>
            <a:pPr eaLnBrk="1" hangingPunct="1">
              <a:defRPr/>
            </a:pPr>
            <a:r>
              <a:rPr lang="en-US" sz="2400" dirty="0">
                <a:highlight>
                  <a:srgbClr val="FFFF00"/>
                </a:highlight>
                <a:ea typeface="ＭＳ Ｐゴシック" pitchFamily="-107" charset="-128"/>
              </a:rPr>
              <a:t>an alternative to RSA is to use elliptic curve arithmetic that offers same security with smaller bit sizes</a:t>
            </a:r>
          </a:p>
          <a:p>
            <a:pPr eaLnBrk="1" hangingPunct="1">
              <a:defRPr/>
            </a:pPr>
            <a:r>
              <a:rPr lang="en-US" sz="2400" dirty="0">
                <a:ea typeface="ＭＳ Ｐゴシック" pitchFamily="-107" charset="-128"/>
              </a:rPr>
              <a:t>ECC is newer, but not as well analyzed</a:t>
            </a:r>
            <a:endParaRPr lang="en-AU" sz="2400" dirty="0">
              <a:ea typeface="ＭＳ Ｐゴシック" pitchFamily="-107" charset="-128"/>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5" name="Rectangle 74">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4" name="Rectangle 83">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78850" name="Rectangle 2"/>
          <p:cNvSpPr>
            <a:spLocks noGrp="1" noChangeArrowheads="1"/>
          </p:cNvSpPr>
          <p:nvPr>
            <p:ph type="title"/>
          </p:nvPr>
        </p:nvSpPr>
        <p:spPr>
          <a:xfrm>
            <a:off x="718879" y="800392"/>
            <a:ext cx="7698523" cy="1212102"/>
          </a:xfrm>
        </p:spPr>
        <p:txBody>
          <a:bodyPr>
            <a:normAutofit/>
          </a:bodyPr>
          <a:lstStyle/>
          <a:p>
            <a:pPr eaLnBrk="1" hangingPunct="1">
              <a:defRPr/>
            </a:pPr>
            <a:r>
              <a:rPr lang="en-US" dirty="0">
                <a:solidFill>
                  <a:srgbClr val="FFFFFF"/>
                </a:solidFill>
                <a:ea typeface="ＭＳ Ｐゴシック" pitchFamily="-107" charset="-128"/>
              </a:rPr>
              <a:t>ECC Security</a:t>
            </a:r>
            <a:endParaRPr lang="en-AU" dirty="0">
              <a:solidFill>
                <a:srgbClr val="FFFFFF"/>
              </a:solidFill>
              <a:ea typeface="ＭＳ Ｐゴシック" pitchFamily="-107" charset="-128"/>
            </a:endParaRPr>
          </a:p>
        </p:txBody>
      </p:sp>
      <p:sp>
        <p:nvSpPr>
          <p:cNvPr id="78851" name="Rectangle 3"/>
          <p:cNvSpPr>
            <a:spLocks noGrp="1" noChangeArrowheads="1"/>
          </p:cNvSpPr>
          <p:nvPr>
            <p:ph type="body" idx="1"/>
          </p:nvPr>
        </p:nvSpPr>
        <p:spPr>
          <a:xfrm>
            <a:off x="987573" y="2378076"/>
            <a:ext cx="7281746" cy="3511713"/>
          </a:xfrm>
        </p:spPr>
        <p:txBody>
          <a:bodyPr anchor="ctr">
            <a:normAutofit/>
          </a:bodyPr>
          <a:lstStyle/>
          <a:p>
            <a:pPr eaLnBrk="1" hangingPunct="1">
              <a:defRPr/>
            </a:pPr>
            <a:r>
              <a:rPr lang="en-US" sz="2400" dirty="0">
                <a:ea typeface="ＭＳ Ｐゴシック" pitchFamily="-107" charset="-128"/>
              </a:rPr>
              <a:t>relies on elliptic curve logarithm problem</a:t>
            </a:r>
          </a:p>
          <a:p>
            <a:pPr eaLnBrk="1" hangingPunct="1">
              <a:defRPr/>
            </a:pPr>
            <a:r>
              <a:rPr lang="en-US" sz="2400" dirty="0">
                <a:ea typeface="ＭＳ Ｐゴシック" pitchFamily="-107" charset="-128"/>
              </a:rPr>
              <a:t>compared to factoring, can use much smaller key sizes than with RSA etc.</a:t>
            </a:r>
          </a:p>
          <a:p>
            <a:pPr eaLnBrk="1" hangingPunct="1">
              <a:defRPr/>
            </a:pPr>
            <a:r>
              <a:rPr lang="en-US" sz="2400" dirty="0">
                <a:ea typeface="ＭＳ Ｐゴシック" pitchFamily="-107" charset="-128"/>
              </a:rPr>
              <a:t>for similar security ECC offers significant computational advantages</a:t>
            </a:r>
          </a:p>
          <a:p>
            <a:pPr eaLnBrk="1" hangingPunct="1">
              <a:defRPr/>
            </a:pPr>
            <a:r>
              <a:rPr lang="en-US" sz="2400" dirty="0">
                <a:ea typeface="ＭＳ Ｐゴシック" pitchFamily="-107" charset="-128"/>
              </a:rPr>
              <a:t>ECC provides the same applications as with RSA and ElGamal algorithms</a:t>
            </a:r>
            <a:endParaRPr lang="en-AU" sz="2400" dirty="0">
              <a:ea typeface="ＭＳ Ｐゴシック" pitchFamily="-107" charset="-128"/>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467" name="Rectangle 109">
            <a:extLst>
              <a:ext uri="{FF2B5EF4-FFF2-40B4-BE49-F238E27FC236}">
                <a16:creationId xmlns:a16="http://schemas.microsoft.com/office/drawing/2014/main" id="{3F24A09B-713F-43FC-AB6E-B880839685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10141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426" name="Rectangle 2"/>
          <p:cNvSpPr>
            <a:spLocks noGrp="1" noChangeArrowheads="1"/>
          </p:cNvSpPr>
          <p:nvPr>
            <p:ph type="title"/>
          </p:nvPr>
        </p:nvSpPr>
        <p:spPr>
          <a:xfrm>
            <a:off x="485058" y="640080"/>
            <a:ext cx="3130428" cy="5577818"/>
          </a:xfrm>
        </p:spPr>
        <p:txBody>
          <a:bodyPr vert="horz" lIns="91440" tIns="45720" rIns="91440" bIns="45720" rtlCol="0" anchor="ctr">
            <a:normAutofit/>
          </a:bodyPr>
          <a:lstStyle/>
          <a:p>
            <a:pPr algn="r">
              <a:lnSpc>
                <a:spcPct val="90000"/>
              </a:lnSpc>
              <a:defRPr/>
            </a:pPr>
            <a:r>
              <a:rPr lang="en-US" sz="4700" kern="1200" dirty="0">
                <a:solidFill>
                  <a:srgbClr val="FFFFFF"/>
                </a:solidFill>
                <a:latin typeface="+mj-lt"/>
                <a:ea typeface="+mj-ea"/>
                <a:cs typeface="+mj-cs"/>
              </a:rPr>
              <a:t>Comparable Key Sizes for Equivalent Security</a:t>
            </a:r>
          </a:p>
        </p:txBody>
      </p:sp>
      <p:cxnSp>
        <p:nvCxnSpPr>
          <p:cNvPr id="103468" name="Straight Connector 111">
            <a:extLst>
              <a:ext uri="{FF2B5EF4-FFF2-40B4-BE49-F238E27FC236}">
                <a16:creationId xmlns:a16="http://schemas.microsoft.com/office/drawing/2014/main" id="{0B91AB35-C3B4-4B70-B3DD-13D63B7DA23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850481" y="2423149"/>
            <a:ext cx="0" cy="2011680"/>
          </a:xfrm>
          <a:prstGeom prst="line">
            <a:avLst/>
          </a:prstGeom>
          <a:ln w="19050">
            <a:solidFill>
              <a:srgbClr val="FFFFFF">
                <a:alpha val="80000"/>
              </a:srgbClr>
            </a:solidFill>
          </a:ln>
        </p:spPr>
        <p:style>
          <a:lnRef idx="1">
            <a:schemeClr val="accent1"/>
          </a:lnRef>
          <a:fillRef idx="0">
            <a:schemeClr val="accent1"/>
          </a:fillRef>
          <a:effectRef idx="0">
            <a:schemeClr val="accent1"/>
          </a:effectRef>
          <a:fontRef idx="minor">
            <a:schemeClr val="tx1"/>
          </a:fontRef>
        </p:style>
      </p:cxnSp>
      <p:graphicFrame>
        <p:nvGraphicFramePr>
          <p:cNvPr id="103465" name="Group 41"/>
          <p:cNvGraphicFramePr>
            <a:graphicFrameLocks noGrp="1"/>
          </p:cNvGraphicFramePr>
          <p:nvPr>
            <p:extLst>
              <p:ext uri="{D42A27DB-BD31-4B8C-83A1-F6EECF244321}">
                <p14:modId xmlns:p14="http://schemas.microsoft.com/office/powerpoint/2010/main" val="3781083923"/>
              </p:ext>
            </p:extLst>
          </p:nvPr>
        </p:nvGraphicFramePr>
        <p:xfrm>
          <a:off x="4572000" y="2133600"/>
          <a:ext cx="4094604" cy="3818649"/>
        </p:xfrm>
        <a:graphic>
          <a:graphicData uri="http://schemas.openxmlformats.org/drawingml/2006/table">
            <a:tbl>
              <a:tblPr firstRow="1" bandRow="1">
                <a:tableStyleId>{3B4B98B0-60AC-42C2-AFA5-B58CD77FA1E5}</a:tableStyleId>
              </a:tblPr>
              <a:tblGrid>
                <a:gridCol w="1510620">
                  <a:extLst>
                    <a:ext uri="{9D8B030D-6E8A-4147-A177-3AD203B41FA5}">
                      <a16:colId xmlns:a16="http://schemas.microsoft.com/office/drawing/2014/main" val="20000"/>
                    </a:ext>
                  </a:extLst>
                </a:gridCol>
                <a:gridCol w="1272981">
                  <a:extLst>
                    <a:ext uri="{9D8B030D-6E8A-4147-A177-3AD203B41FA5}">
                      <a16:colId xmlns:a16="http://schemas.microsoft.com/office/drawing/2014/main" val="20001"/>
                    </a:ext>
                  </a:extLst>
                </a:gridCol>
                <a:gridCol w="1311003">
                  <a:extLst>
                    <a:ext uri="{9D8B030D-6E8A-4147-A177-3AD203B41FA5}">
                      <a16:colId xmlns:a16="http://schemas.microsoft.com/office/drawing/2014/main" val="20002"/>
                    </a:ext>
                  </a:extLst>
                </a:gridCol>
              </a:tblGrid>
              <a:tr h="1572123">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1900" b="1" u="none" strike="noStrike" cap="none" normalizeH="0" baseline="0" dirty="0">
                          <a:ln>
                            <a:noFill/>
                          </a:ln>
                          <a:solidFill>
                            <a:schemeClr val="tx1"/>
                          </a:solidFill>
                          <a:effectLst/>
                        </a:rPr>
                        <a:t>Symmetric scheme</a:t>
                      </a:r>
                    </a:p>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1900" b="1" u="none" strike="noStrike" cap="none" normalizeH="0" baseline="0" dirty="0">
                          <a:ln>
                            <a:noFill/>
                          </a:ln>
                          <a:solidFill>
                            <a:schemeClr val="tx1"/>
                          </a:solidFill>
                          <a:effectLst/>
                        </a:rPr>
                        <a:t>(key size in bits)</a:t>
                      </a:r>
                      <a:endParaRPr kumimoji="0" lang="en-US" sz="1900" b="1" i="0" u="none" strike="noStrike" cap="none" normalizeH="0" baseline="0" dirty="0">
                        <a:ln>
                          <a:noFill/>
                        </a:ln>
                        <a:solidFill>
                          <a:schemeClr val="tx1"/>
                        </a:solidFill>
                        <a:effectLst/>
                        <a:latin typeface="Times" pitchFamily="18" charset="0"/>
                        <a:ea typeface="ＭＳ Ｐゴシック" pitchFamily="-107" charset="-128"/>
                      </a:endParaRPr>
                    </a:p>
                  </a:txBody>
                  <a:tcPr marL="61878" marR="61878" marT="30939" marB="30939" horzOverflow="overflow"/>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1900" b="1" u="none" strike="noStrike" cap="none" normalizeH="0" baseline="0">
                          <a:ln>
                            <a:noFill/>
                          </a:ln>
                          <a:solidFill>
                            <a:schemeClr val="tx1"/>
                          </a:solidFill>
                          <a:effectLst/>
                        </a:rPr>
                        <a:t>ECC-based scheme</a:t>
                      </a:r>
                    </a:p>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1900" b="1" u="none" strike="noStrike" cap="none" normalizeH="0" baseline="0">
                          <a:ln>
                            <a:noFill/>
                          </a:ln>
                          <a:solidFill>
                            <a:schemeClr val="tx1"/>
                          </a:solidFill>
                          <a:effectLst/>
                        </a:rPr>
                        <a:t>(size of n in bits)</a:t>
                      </a:r>
                      <a:endParaRPr kumimoji="0" lang="en-US" sz="1900" b="1" i="0" u="none" strike="noStrike" cap="none" normalizeH="0" baseline="0">
                        <a:ln>
                          <a:noFill/>
                        </a:ln>
                        <a:solidFill>
                          <a:schemeClr val="tx1"/>
                        </a:solidFill>
                        <a:effectLst/>
                        <a:latin typeface="Times" pitchFamily="18" charset="0"/>
                        <a:ea typeface="ＭＳ Ｐゴシック" pitchFamily="-107" charset="-128"/>
                      </a:endParaRPr>
                    </a:p>
                  </a:txBody>
                  <a:tcPr marL="61878" marR="61878" marT="30939" marB="30939" horzOverflow="overflow"/>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1900" b="1" u="none" strike="noStrike" cap="none" normalizeH="0" baseline="0">
                          <a:ln>
                            <a:noFill/>
                          </a:ln>
                          <a:solidFill>
                            <a:schemeClr val="tx1"/>
                          </a:solidFill>
                          <a:effectLst/>
                        </a:rPr>
                        <a:t>RSA/DSA</a:t>
                      </a:r>
                    </a:p>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1900" b="1" u="none" strike="noStrike" cap="none" normalizeH="0" baseline="0">
                          <a:ln>
                            <a:noFill/>
                          </a:ln>
                          <a:solidFill>
                            <a:schemeClr val="tx1"/>
                          </a:solidFill>
                          <a:effectLst/>
                        </a:rPr>
                        <a:t>(modulus size in bits)</a:t>
                      </a:r>
                      <a:endParaRPr kumimoji="0" lang="en-US" sz="1900" b="1" i="0" u="none" strike="noStrike" cap="none" normalizeH="0" baseline="0">
                        <a:ln>
                          <a:noFill/>
                        </a:ln>
                        <a:solidFill>
                          <a:schemeClr val="tx1"/>
                        </a:solidFill>
                        <a:effectLst>
                          <a:outerShdw blurRad="38100" dist="38100" dir="2700000" algn="tl">
                            <a:srgbClr val="000000"/>
                          </a:outerShdw>
                        </a:effectLst>
                        <a:latin typeface="Times" pitchFamily="18" charset="0"/>
                        <a:ea typeface="ＭＳ Ｐゴシック" pitchFamily="-107" charset="-128"/>
                      </a:endParaRPr>
                    </a:p>
                  </a:txBody>
                  <a:tcPr marL="61878" marR="61878" marT="30939" marB="30939" horzOverflow="overflow"/>
                </a:tc>
                <a:extLst>
                  <a:ext uri="{0D108BD9-81ED-4DB2-BD59-A6C34878D82A}">
                    <a16:rowId xmlns:a16="http://schemas.microsoft.com/office/drawing/2014/main" val="10000"/>
                  </a:ext>
                </a:extLst>
              </a:tr>
              <a:tr h="374421">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1900" b="0" u="none" strike="noStrike" cap="none" normalizeH="0" baseline="0">
                          <a:ln>
                            <a:noFill/>
                          </a:ln>
                          <a:solidFill>
                            <a:schemeClr val="tx1"/>
                          </a:solidFill>
                          <a:effectLst/>
                        </a:rPr>
                        <a:t>56</a:t>
                      </a:r>
                      <a:endParaRPr kumimoji="0" lang="en-US" sz="1900" b="0" i="0" u="none" strike="noStrike" cap="none" normalizeH="0" baseline="0">
                        <a:ln>
                          <a:noFill/>
                        </a:ln>
                        <a:solidFill>
                          <a:schemeClr val="tx1"/>
                        </a:solidFill>
                        <a:effectLst/>
                        <a:latin typeface="Arial" pitchFamily="34" charset="0"/>
                        <a:ea typeface="ＭＳ Ｐゴシック" pitchFamily="-107" charset="-128"/>
                      </a:endParaRPr>
                    </a:p>
                  </a:txBody>
                  <a:tcPr marL="61878" marR="61878" marT="30939" marB="30939" horzOverflow="overflow"/>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1900" b="0" u="none" strike="noStrike" cap="none" normalizeH="0" baseline="0">
                          <a:ln>
                            <a:noFill/>
                          </a:ln>
                          <a:solidFill>
                            <a:schemeClr val="tx1"/>
                          </a:solidFill>
                          <a:effectLst/>
                        </a:rPr>
                        <a:t>112</a:t>
                      </a:r>
                      <a:endParaRPr kumimoji="0" lang="en-US" sz="1900" b="0" i="0" u="none" strike="noStrike" cap="none" normalizeH="0" baseline="0">
                        <a:ln>
                          <a:noFill/>
                        </a:ln>
                        <a:solidFill>
                          <a:schemeClr val="tx1"/>
                        </a:solidFill>
                        <a:effectLst>
                          <a:outerShdw blurRad="38100" dist="38100" dir="2700000" algn="tl">
                            <a:srgbClr val="000000"/>
                          </a:outerShdw>
                        </a:effectLst>
                        <a:latin typeface="Arial" pitchFamily="34" charset="0"/>
                        <a:ea typeface="ＭＳ Ｐゴシック" pitchFamily="-107" charset="-128"/>
                      </a:endParaRPr>
                    </a:p>
                  </a:txBody>
                  <a:tcPr marL="61878" marR="61878" marT="30939" marB="30939" horzOverflow="overflow"/>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1900" b="0" u="none" strike="noStrike" cap="none" normalizeH="0" baseline="0">
                          <a:ln>
                            <a:noFill/>
                          </a:ln>
                          <a:solidFill>
                            <a:schemeClr val="tx1"/>
                          </a:solidFill>
                          <a:effectLst/>
                        </a:rPr>
                        <a:t>512</a:t>
                      </a:r>
                      <a:endParaRPr kumimoji="0" lang="en-US" sz="1900" b="0" i="0" u="none" strike="noStrike" cap="none" normalizeH="0" baseline="0">
                        <a:ln>
                          <a:noFill/>
                        </a:ln>
                        <a:solidFill>
                          <a:schemeClr val="tx1"/>
                        </a:solidFill>
                        <a:effectLst>
                          <a:outerShdw blurRad="38100" dist="38100" dir="2700000" algn="tl">
                            <a:srgbClr val="000000"/>
                          </a:outerShdw>
                        </a:effectLst>
                        <a:latin typeface="Arial" pitchFamily="34" charset="0"/>
                        <a:ea typeface="ＭＳ Ｐゴシック" pitchFamily="-107" charset="-128"/>
                      </a:endParaRPr>
                    </a:p>
                  </a:txBody>
                  <a:tcPr marL="61878" marR="61878" marT="30939" marB="30939" horzOverflow="overflow"/>
                </a:tc>
                <a:extLst>
                  <a:ext uri="{0D108BD9-81ED-4DB2-BD59-A6C34878D82A}">
                    <a16:rowId xmlns:a16="http://schemas.microsoft.com/office/drawing/2014/main" val="10001"/>
                  </a:ext>
                </a:extLst>
              </a:tr>
              <a:tr h="374421">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1900" b="0" u="none" strike="noStrike" cap="none" normalizeH="0" baseline="0">
                          <a:ln>
                            <a:noFill/>
                          </a:ln>
                          <a:solidFill>
                            <a:schemeClr val="tx1"/>
                          </a:solidFill>
                          <a:effectLst/>
                        </a:rPr>
                        <a:t>80</a:t>
                      </a:r>
                      <a:endParaRPr kumimoji="0" lang="en-US" sz="1900" b="0" i="0" u="none" strike="noStrike" cap="none" normalizeH="0" baseline="0">
                        <a:ln>
                          <a:noFill/>
                        </a:ln>
                        <a:solidFill>
                          <a:schemeClr val="tx1"/>
                        </a:solidFill>
                        <a:effectLst>
                          <a:outerShdw blurRad="38100" dist="38100" dir="2700000" algn="tl">
                            <a:srgbClr val="000000"/>
                          </a:outerShdw>
                        </a:effectLst>
                        <a:latin typeface="Arial" pitchFamily="34" charset="0"/>
                        <a:ea typeface="ＭＳ Ｐゴシック" pitchFamily="-107" charset="-128"/>
                      </a:endParaRPr>
                    </a:p>
                  </a:txBody>
                  <a:tcPr marL="61878" marR="61878" marT="30939" marB="30939" horzOverflow="overflow"/>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1900" b="0" u="none" strike="noStrike" cap="none" normalizeH="0" baseline="0">
                          <a:ln>
                            <a:noFill/>
                          </a:ln>
                          <a:solidFill>
                            <a:schemeClr val="tx1"/>
                          </a:solidFill>
                          <a:effectLst/>
                        </a:rPr>
                        <a:t>160</a:t>
                      </a:r>
                      <a:endParaRPr kumimoji="0" lang="en-US" sz="1900" b="0" i="0" u="none" strike="noStrike" cap="none" normalizeH="0" baseline="0">
                        <a:ln>
                          <a:noFill/>
                        </a:ln>
                        <a:solidFill>
                          <a:schemeClr val="tx1"/>
                        </a:solidFill>
                        <a:effectLst>
                          <a:outerShdw blurRad="38100" dist="38100" dir="2700000" algn="tl">
                            <a:srgbClr val="000000"/>
                          </a:outerShdw>
                        </a:effectLst>
                        <a:latin typeface="Arial" pitchFamily="34" charset="0"/>
                        <a:ea typeface="ＭＳ Ｐゴシック" pitchFamily="-107" charset="-128"/>
                      </a:endParaRPr>
                    </a:p>
                  </a:txBody>
                  <a:tcPr marL="61878" marR="61878" marT="30939" marB="30939" horzOverflow="overflow"/>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1900" b="0" u="none" strike="noStrike" cap="none" normalizeH="0" baseline="0">
                          <a:ln>
                            <a:noFill/>
                          </a:ln>
                          <a:solidFill>
                            <a:schemeClr val="tx1"/>
                          </a:solidFill>
                          <a:effectLst/>
                        </a:rPr>
                        <a:t>1024</a:t>
                      </a:r>
                      <a:endParaRPr kumimoji="0" lang="en-US" sz="1900" b="0" i="0" u="none" strike="noStrike" cap="none" normalizeH="0" baseline="0">
                        <a:ln>
                          <a:noFill/>
                        </a:ln>
                        <a:solidFill>
                          <a:schemeClr val="tx1"/>
                        </a:solidFill>
                        <a:effectLst>
                          <a:outerShdw blurRad="38100" dist="38100" dir="2700000" algn="tl">
                            <a:srgbClr val="000000"/>
                          </a:outerShdw>
                        </a:effectLst>
                        <a:latin typeface="Arial" pitchFamily="34" charset="0"/>
                        <a:ea typeface="ＭＳ Ｐゴシック" pitchFamily="-107" charset="-128"/>
                      </a:endParaRPr>
                    </a:p>
                  </a:txBody>
                  <a:tcPr marL="61878" marR="61878" marT="30939" marB="30939" horzOverflow="overflow"/>
                </a:tc>
                <a:extLst>
                  <a:ext uri="{0D108BD9-81ED-4DB2-BD59-A6C34878D82A}">
                    <a16:rowId xmlns:a16="http://schemas.microsoft.com/office/drawing/2014/main" val="10002"/>
                  </a:ext>
                </a:extLst>
              </a:tr>
              <a:tr h="374421">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1900" b="0" u="none" strike="noStrike" cap="none" normalizeH="0" baseline="0">
                          <a:ln>
                            <a:noFill/>
                          </a:ln>
                          <a:solidFill>
                            <a:schemeClr val="tx1"/>
                          </a:solidFill>
                          <a:effectLst/>
                        </a:rPr>
                        <a:t>112</a:t>
                      </a:r>
                      <a:endParaRPr kumimoji="0" lang="en-US" sz="1900" b="0" i="0" u="none" strike="noStrike" cap="none" normalizeH="0" baseline="0">
                        <a:ln>
                          <a:noFill/>
                        </a:ln>
                        <a:solidFill>
                          <a:schemeClr val="tx1"/>
                        </a:solidFill>
                        <a:effectLst>
                          <a:outerShdw blurRad="38100" dist="38100" dir="2700000" algn="tl">
                            <a:srgbClr val="000000"/>
                          </a:outerShdw>
                        </a:effectLst>
                        <a:latin typeface="Arial" pitchFamily="34" charset="0"/>
                        <a:ea typeface="ＭＳ Ｐゴシック" pitchFamily="-107" charset="-128"/>
                      </a:endParaRPr>
                    </a:p>
                  </a:txBody>
                  <a:tcPr marL="61878" marR="61878" marT="30939" marB="30939" horzOverflow="overflow"/>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1900" b="0" u="none" strike="noStrike" cap="none" normalizeH="0" baseline="0">
                          <a:ln>
                            <a:noFill/>
                          </a:ln>
                          <a:solidFill>
                            <a:schemeClr val="tx1"/>
                          </a:solidFill>
                          <a:effectLst/>
                        </a:rPr>
                        <a:t>224</a:t>
                      </a:r>
                      <a:endParaRPr kumimoji="0" lang="en-US" sz="1900" b="0" i="0" u="none" strike="noStrike" cap="none" normalizeH="0" baseline="0">
                        <a:ln>
                          <a:noFill/>
                        </a:ln>
                        <a:solidFill>
                          <a:schemeClr val="tx1"/>
                        </a:solidFill>
                        <a:effectLst>
                          <a:outerShdw blurRad="38100" dist="38100" dir="2700000" algn="tl">
                            <a:srgbClr val="000000"/>
                          </a:outerShdw>
                        </a:effectLst>
                        <a:latin typeface="Arial" pitchFamily="34" charset="0"/>
                        <a:ea typeface="ＭＳ Ｐゴシック" pitchFamily="-107" charset="-128"/>
                      </a:endParaRPr>
                    </a:p>
                  </a:txBody>
                  <a:tcPr marL="61878" marR="61878" marT="30939" marB="30939" horzOverflow="overflow"/>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1900" b="0" u="none" strike="noStrike" cap="none" normalizeH="0" baseline="0">
                          <a:ln>
                            <a:noFill/>
                          </a:ln>
                          <a:solidFill>
                            <a:schemeClr val="tx1"/>
                          </a:solidFill>
                          <a:effectLst/>
                        </a:rPr>
                        <a:t>2048</a:t>
                      </a:r>
                      <a:endParaRPr kumimoji="0" lang="en-US" sz="1900" b="0" i="0" u="none" strike="noStrike" cap="none" normalizeH="0" baseline="0">
                        <a:ln>
                          <a:noFill/>
                        </a:ln>
                        <a:solidFill>
                          <a:schemeClr val="tx1"/>
                        </a:solidFill>
                        <a:effectLst>
                          <a:outerShdw blurRad="38100" dist="38100" dir="2700000" algn="tl">
                            <a:srgbClr val="000000"/>
                          </a:outerShdw>
                        </a:effectLst>
                        <a:latin typeface="Arial" pitchFamily="34" charset="0"/>
                        <a:ea typeface="ＭＳ Ｐゴシック" pitchFamily="-107" charset="-128"/>
                      </a:endParaRPr>
                    </a:p>
                  </a:txBody>
                  <a:tcPr marL="61878" marR="61878" marT="30939" marB="30939" horzOverflow="overflow"/>
                </a:tc>
                <a:extLst>
                  <a:ext uri="{0D108BD9-81ED-4DB2-BD59-A6C34878D82A}">
                    <a16:rowId xmlns:a16="http://schemas.microsoft.com/office/drawing/2014/main" val="10003"/>
                  </a:ext>
                </a:extLst>
              </a:tr>
              <a:tr h="374421">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1900" b="0" u="none" strike="noStrike" cap="none" normalizeH="0" baseline="0" dirty="0">
                          <a:ln>
                            <a:noFill/>
                          </a:ln>
                          <a:solidFill>
                            <a:schemeClr val="tx1"/>
                          </a:solidFill>
                          <a:effectLst/>
                        </a:rPr>
                        <a:t>128</a:t>
                      </a:r>
                      <a:endParaRPr kumimoji="0" lang="en-US" sz="19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ＭＳ Ｐゴシック" pitchFamily="-107" charset="-128"/>
                      </a:endParaRPr>
                    </a:p>
                  </a:txBody>
                  <a:tcPr marL="61878" marR="61878" marT="30939" marB="30939" horzOverflow="overflow"/>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1900" b="0" u="none" strike="noStrike" cap="none" normalizeH="0" baseline="0">
                          <a:ln>
                            <a:noFill/>
                          </a:ln>
                          <a:solidFill>
                            <a:schemeClr val="tx1"/>
                          </a:solidFill>
                          <a:effectLst/>
                        </a:rPr>
                        <a:t>256</a:t>
                      </a:r>
                      <a:endParaRPr kumimoji="0" lang="en-US" sz="1900" b="0" i="0" u="none" strike="noStrike" cap="none" normalizeH="0" baseline="0">
                        <a:ln>
                          <a:noFill/>
                        </a:ln>
                        <a:solidFill>
                          <a:schemeClr val="tx1"/>
                        </a:solidFill>
                        <a:effectLst>
                          <a:outerShdw blurRad="38100" dist="38100" dir="2700000" algn="tl">
                            <a:srgbClr val="000000"/>
                          </a:outerShdw>
                        </a:effectLst>
                        <a:latin typeface="Arial" pitchFamily="34" charset="0"/>
                        <a:ea typeface="ＭＳ Ｐゴシック" pitchFamily="-107" charset="-128"/>
                      </a:endParaRPr>
                    </a:p>
                  </a:txBody>
                  <a:tcPr marL="61878" marR="61878" marT="30939" marB="30939" horzOverflow="overflow"/>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1900" b="0" u="none" strike="noStrike" cap="none" normalizeH="0" baseline="0">
                          <a:ln>
                            <a:noFill/>
                          </a:ln>
                          <a:solidFill>
                            <a:schemeClr val="tx1"/>
                          </a:solidFill>
                          <a:effectLst/>
                        </a:rPr>
                        <a:t>3072</a:t>
                      </a:r>
                      <a:endParaRPr kumimoji="0" lang="en-US" sz="1900" b="0" i="0" u="none" strike="noStrike" cap="none" normalizeH="0" baseline="0">
                        <a:ln>
                          <a:noFill/>
                        </a:ln>
                        <a:solidFill>
                          <a:schemeClr val="tx1"/>
                        </a:solidFill>
                        <a:effectLst>
                          <a:outerShdw blurRad="38100" dist="38100" dir="2700000" algn="tl">
                            <a:srgbClr val="000000"/>
                          </a:outerShdw>
                        </a:effectLst>
                        <a:latin typeface="Arial" pitchFamily="34" charset="0"/>
                        <a:ea typeface="ＭＳ Ｐゴシック" pitchFamily="-107" charset="-128"/>
                      </a:endParaRPr>
                    </a:p>
                  </a:txBody>
                  <a:tcPr marL="61878" marR="61878" marT="30939" marB="30939" horzOverflow="overflow"/>
                </a:tc>
                <a:extLst>
                  <a:ext uri="{0D108BD9-81ED-4DB2-BD59-A6C34878D82A}">
                    <a16:rowId xmlns:a16="http://schemas.microsoft.com/office/drawing/2014/main" val="10004"/>
                  </a:ext>
                </a:extLst>
              </a:tr>
              <a:tr h="374421">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1900" b="0" u="none" strike="noStrike" cap="none" normalizeH="0" baseline="0">
                          <a:ln>
                            <a:noFill/>
                          </a:ln>
                          <a:solidFill>
                            <a:schemeClr val="tx1"/>
                          </a:solidFill>
                          <a:effectLst/>
                        </a:rPr>
                        <a:t>192</a:t>
                      </a:r>
                      <a:endParaRPr kumimoji="0" lang="en-US" sz="1900" b="0" i="0" u="none" strike="noStrike" cap="none" normalizeH="0" baseline="0">
                        <a:ln>
                          <a:noFill/>
                        </a:ln>
                        <a:solidFill>
                          <a:schemeClr val="tx1"/>
                        </a:solidFill>
                        <a:effectLst>
                          <a:outerShdw blurRad="38100" dist="38100" dir="2700000" algn="tl">
                            <a:srgbClr val="000000"/>
                          </a:outerShdw>
                        </a:effectLst>
                        <a:latin typeface="Arial" pitchFamily="34" charset="0"/>
                        <a:ea typeface="ＭＳ Ｐゴシック" pitchFamily="-107" charset="-128"/>
                      </a:endParaRPr>
                    </a:p>
                  </a:txBody>
                  <a:tcPr marL="61878" marR="61878" marT="30939" marB="30939" horzOverflow="overflow"/>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1900" b="0" u="none" strike="noStrike" cap="none" normalizeH="0" baseline="0">
                          <a:ln>
                            <a:noFill/>
                          </a:ln>
                          <a:solidFill>
                            <a:schemeClr val="tx1"/>
                          </a:solidFill>
                          <a:effectLst/>
                        </a:rPr>
                        <a:t>384</a:t>
                      </a:r>
                      <a:endParaRPr kumimoji="0" lang="en-US" sz="1900" b="0" i="0" u="none" strike="noStrike" cap="none" normalizeH="0" baseline="0">
                        <a:ln>
                          <a:noFill/>
                        </a:ln>
                        <a:solidFill>
                          <a:schemeClr val="tx1"/>
                        </a:solidFill>
                        <a:effectLst>
                          <a:outerShdw blurRad="38100" dist="38100" dir="2700000" algn="tl">
                            <a:srgbClr val="000000"/>
                          </a:outerShdw>
                        </a:effectLst>
                        <a:latin typeface="Arial" pitchFamily="34" charset="0"/>
                        <a:ea typeface="ＭＳ Ｐゴシック" pitchFamily="-107" charset="-128"/>
                      </a:endParaRPr>
                    </a:p>
                  </a:txBody>
                  <a:tcPr marL="61878" marR="61878" marT="30939" marB="30939" horzOverflow="overflow"/>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1900" b="0" u="none" strike="noStrike" cap="none" normalizeH="0" baseline="0">
                          <a:ln>
                            <a:noFill/>
                          </a:ln>
                          <a:solidFill>
                            <a:schemeClr val="tx1"/>
                          </a:solidFill>
                          <a:effectLst/>
                        </a:rPr>
                        <a:t>7680</a:t>
                      </a:r>
                      <a:endParaRPr kumimoji="0" lang="en-US" sz="1900" b="0" i="0" u="none" strike="noStrike" cap="none" normalizeH="0" baseline="0">
                        <a:ln>
                          <a:noFill/>
                        </a:ln>
                        <a:solidFill>
                          <a:schemeClr val="tx1"/>
                        </a:solidFill>
                        <a:effectLst>
                          <a:outerShdw blurRad="38100" dist="38100" dir="2700000" algn="tl">
                            <a:srgbClr val="000000"/>
                          </a:outerShdw>
                        </a:effectLst>
                        <a:latin typeface="Arial" pitchFamily="34" charset="0"/>
                        <a:ea typeface="ＭＳ Ｐゴシック" pitchFamily="-107" charset="-128"/>
                      </a:endParaRPr>
                    </a:p>
                  </a:txBody>
                  <a:tcPr marL="61878" marR="61878" marT="30939" marB="30939" horzOverflow="overflow"/>
                </a:tc>
                <a:extLst>
                  <a:ext uri="{0D108BD9-81ED-4DB2-BD59-A6C34878D82A}">
                    <a16:rowId xmlns:a16="http://schemas.microsoft.com/office/drawing/2014/main" val="10005"/>
                  </a:ext>
                </a:extLst>
              </a:tr>
              <a:tr h="374421">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1900" b="0" u="none" strike="noStrike" cap="none" normalizeH="0" baseline="0">
                          <a:ln>
                            <a:noFill/>
                          </a:ln>
                          <a:solidFill>
                            <a:schemeClr val="tx1"/>
                          </a:solidFill>
                          <a:effectLst/>
                        </a:rPr>
                        <a:t>256</a:t>
                      </a:r>
                      <a:endParaRPr kumimoji="0" lang="en-US" sz="1900" b="0" i="0" u="none" strike="noStrike" cap="none" normalizeH="0" baseline="0">
                        <a:ln>
                          <a:noFill/>
                        </a:ln>
                        <a:solidFill>
                          <a:schemeClr val="tx1"/>
                        </a:solidFill>
                        <a:effectLst>
                          <a:outerShdw blurRad="38100" dist="38100" dir="2700000" algn="tl">
                            <a:srgbClr val="000000"/>
                          </a:outerShdw>
                        </a:effectLst>
                        <a:latin typeface="Arial" pitchFamily="34" charset="0"/>
                        <a:ea typeface="ＭＳ Ｐゴシック" pitchFamily="-107" charset="-128"/>
                      </a:endParaRPr>
                    </a:p>
                  </a:txBody>
                  <a:tcPr marL="61878" marR="61878" marT="30939" marB="30939" horzOverflow="overflow"/>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1900" b="0" u="none" strike="noStrike" cap="none" normalizeH="0" baseline="0">
                          <a:ln>
                            <a:noFill/>
                          </a:ln>
                          <a:solidFill>
                            <a:schemeClr val="tx1"/>
                          </a:solidFill>
                          <a:effectLst/>
                        </a:rPr>
                        <a:t>512</a:t>
                      </a:r>
                      <a:endParaRPr kumimoji="0" lang="en-US" sz="1900" b="0" i="0" u="none" strike="noStrike" cap="none" normalizeH="0" baseline="0">
                        <a:ln>
                          <a:noFill/>
                        </a:ln>
                        <a:solidFill>
                          <a:schemeClr val="tx1"/>
                        </a:solidFill>
                        <a:effectLst>
                          <a:outerShdw blurRad="38100" dist="38100" dir="2700000" algn="tl">
                            <a:srgbClr val="000000"/>
                          </a:outerShdw>
                        </a:effectLst>
                        <a:latin typeface="Arial" pitchFamily="34" charset="0"/>
                        <a:ea typeface="ＭＳ Ｐゴシック" pitchFamily="-107" charset="-128"/>
                      </a:endParaRPr>
                    </a:p>
                  </a:txBody>
                  <a:tcPr marL="61878" marR="61878" marT="30939" marB="30939" horzOverflow="overflow"/>
                </a:tc>
                <a:tc>
                  <a:txBody>
                    <a:bodyPr/>
                    <a:lstStyle/>
                    <a:p>
                      <a:pPr marL="0" marR="0" lvl="0" indent="0" algn="ctr" defTabSz="914400" rtl="0" eaLnBrk="1" fontAlgn="base" latinLnBrk="0" hangingPunct="1">
                        <a:lnSpc>
                          <a:spcPct val="100000"/>
                        </a:lnSpc>
                        <a:spcBef>
                          <a:spcPts val="300"/>
                        </a:spcBef>
                        <a:spcAft>
                          <a:spcPts val="300"/>
                        </a:spcAft>
                        <a:buClr>
                          <a:schemeClr val="hlink"/>
                        </a:buClr>
                        <a:buSzPct val="80000"/>
                        <a:buFont typeface="Wingdings" pitchFamily="2" charset="2"/>
                        <a:buNone/>
                        <a:tabLst/>
                      </a:pPr>
                      <a:r>
                        <a:rPr kumimoji="0" lang="en-US" sz="1900" b="0" u="none" strike="noStrike" cap="none" normalizeH="0" baseline="0" dirty="0">
                          <a:ln>
                            <a:noFill/>
                          </a:ln>
                          <a:solidFill>
                            <a:schemeClr val="tx1"/>
                          </a:solidFill>
                          <a:effectLst/>
                        </a:rPr>
                        <a:t>15360</a:t>
                      </a:r>
                      <a:endParaRPr kumimoji="0" lang="en-US" sz="1900" b="0" i="0" u="none" strike="noStrike" cap="none" normalizeH="0" baseline="0" dirty="0">
                        <a:ln>
                          <a:noFill/>
                        </a:ln>
                        <a:solidFill>
                          <a:schemeClr val="tx1"/>
                        </a:solidFill>
                        <a:effectLst>
                          <a:outerShdw blurRad="38100" dist="38100" dir="2700000" algn="tl">
                            <a:srgbClr val="000000"/>
                          </a:outerShdw>
                        </a:effectLst>
                        <a:latin typeface="Arial" pitchFamily="34" charset="0"/>
                        <a:ea typeface="ＭＳ Ｐゴシック" pitchFamily="-107" charset="-128"/>
                      </a:endParaRPr>
                    </a:p>
                  </a:txBody>
                  <a:tcPr marL="61878" marR="61878" marT="30939" marB="30939" horzOverflow="overflow"/>
                </a:tc>
                <a:extLst>
                  <a:ext uri="{0D108BD9-81ED-4DB2-BD59-A6C34878D82A}">
                    <a16:rowId xmlns:a16="http://schemas.microsoft.com/office/drawing/2014/main" val="10006"/>
                  </a:ext>
                </a:extLst>
              </a:tr>
            </a:tbl>
          </a:graphicData>
        </a:graphic>
      </p:graphicFrame>
      <p:sp>
        <p:nvSpPr>
          <p:cNvPr id="3" name="TextBox 2">
            <a:extLst>
              <a:ext uri="{FF2B5EF4-FFF2-40B4-BE49-F238E27FC236}">
                <a16:creationId xmlns:a16="http://schemas.microsoft.com/office/drawing/2014/main" id="{9B066F73-D769-4ED6-8C69-153CA7A66876}"/>
              </a:ext>
            </a:extLst>
          </p:cNvPr>
          <p:cNvSpPr txBox="1"/>
          <p:nvPr/>
        </p:nvSpPr>
        <p:spPr>
          <a:xfrm>
            <a:off x="4586469" y="381000"/>
            <a:ext cx="4080135" cy="1477328"/>
          </a:xfrm>
          <a:prstGeom prst="rect">
            <a:avLst/>
          </a:prstGeom>
          <a:noFill/>
        </p:spPr>
        <p:txBody>
          <a:bodyPr wrap="square" rtlCol="0">
            <a:spAutoFit/>
          </a:bodyPr>
          <a:lstStyle/>
          <a:p>
            <a:pPr marL="342900" indent="-342900">
              <a:buFont typeface="+mj-lt"/>
              <a:buAutoNum type="arabicPeriod"/>
            </a:pPr>
            <a:r>
              <a:rPr lang="en-US" dirty="0"/>
              <a:t>Each row in the table represents the needed number of bits “n” for the three shown encryption schemes.</a:t>
            </a:r>
          </a:p>
          <a:p>
            <a:pPr marL="342900" indent="-342900">
              <a:buFont typeface="+mj-lt"/>
              <a:buAutoNum type="arabicPeriod"/>
            </a:pPr>
            <a:r>
              <a:rPr lang="en-US" dirty="0"/>
              <a:t>Smaller values of “n” means faster computations.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5" name="Rectangle 24">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718879" y="800392"/>
            <a:ext cx="7698523" cy="1212102"/>
          </a:xfrm>
        </p:spPr>
        <p:txBody>
          <a:bodyPr>
            <a:normAutofit/>
          </a:bodyPr>
          <a:lstStyle/>
          <a:p>
            <a:pPr eaLnBrk="1" hangingPunct="1">
              <a:defRPr/>
            </a:pPr>
            <a:r>
              <a:rPr lang="en-US" sz="3500">
                <a:solidFill>
                  <a:srgbClr val="FFFFFF"/>
                </a:solidFill>
                <a:ea typeface="ＭＳ Ｐゴシック" pitchFamily="-107" charset="-128"/>
                <a:cs typeface="ＭＳ Ｐゴシック" pitchFamily="-107" charset="-128"/>
              </a:rPr>
              <a:t>Pseudorandom Number Generation (PRNG) based on Asymmetric Ciphers</a:t>
            </a:r>
          </a:p>
        </p:txBody>
      </p:sp>
      <p:sp>
        <p:nvSpPr>
          <p:cNvPr id="3" name="Content Placeholder 2"/>
          <p:cNvSpPr>
            <a:spLocks noGrp="1"/>
          </p:cNvSpPr>
          <p:nvPr>
            <p:ph idx="1"/>
          </p:nvPr>
        </p:nvSpPr>
        <p:spPr>
          <a:xfrm>
            <a:off x="1025718" y="2490436"/>
            <a:ext cx="7281746" cy="3567173"/>
          </a:xfrm>
        </p:spPr>
        <p:txBody>
          <a:bodyPr anchor="ctr">
            <a:normAutofit/>
          </a:bodyPr>
          <a:lstStyle/>
          <a:p>
            <a:pPr eaLnBrk="1" hangingPunct="1">
              <a:buFont typeface="Wingdings" pitchFamily="-107" charset="2"/>
              <a:buChar char="Ø"/>
              <a:defRPr/>
            </a:pPr>
            <a:r>
              <a:rPr lang="en-US" sz="2400" dirty="0">
                <a:ea typeface="ＭＳ Ｐゴシック" pitchFamily="-107" charset="-128"/>
                <a:cs typeface="ＭＳ Ｐゴシック" pitchFamily="-107" charset="-128"/>
              </a:rPr>
              <a:t>asymmetric encryption algorithm such as RSA and ECC produce apparently random output </a:t>
            </a:r>
          </a:p>
          <a:p>
            <a:pPr eaLnBrk="1" hangingPunct="1">
              <a:buFont typeface="Wingdings" pitchFamily="-107" charset="2"/>
              <a:buChar char="Ø"/>
              <a:defRPr/>
            </a:pPr>
            <a:r>
              <a:rPr lang="en-US" sz="2400" dirty="0">
                <a:ea typeface="ＭＳ Ｐゴシック" pitchFamily="-107" charset="-128"/>
                <a:cs typeface="ＭＳ Ｐゴシック" pitchFamily="-107" charset="-128"/>
              </a:rPr>
              <a:t>hence can be used to build a pseudorandom number generator (PRNG)</a:t>
            </a:r>
          </a:p>
          <a:p>
            <a:pPr eaLnBrk="1" hangingPunct="1">
              <a:buFont typeface="Wingdings" pitchFamily="-107" charset="2"/>
              <a:buChar char="Ø"/>
              <a:defRPr/>
            </a:pPr>
            <a:r>
              <a:rPr lang="en-US" sz="2400" dirty="0">
                <a:ea typeface="ＭＳ Ｐゴシック" pitchFamily="-107" charset="-128"/>
                <a:cs typeface="ＭＳ Ｐゴシック" pitchFamily="-107" charset="-128"/>
              </a:rPr>
              <a:t>much slower than symmetric algorithms</a:t>
            </a:r>
          </a:p>
          <a:p>
            <a:pPr eaLnBrk="1" hangingPunct="1">
              <a:buFont typeface="Wingdings" pitchFamily="-107" charset="2"/>
              <a:buChar char="Ø"/>
              <a:defRPr/>
            </a:pPr>
            <a:r>
              <a:rPr lang="en-US" sz="2400" dirty="0">
                <a:ea typeface="ＭＳ Ｐゴシック" pitchFamily="-107" charset="-128"/>
                <a:cs typeface="ＭＳ Ｐゴシック" pitchFamily="-107" charset="-128"/>
              </a:rPr>
              <a:t>hence only use to generate a short pseudorandom bit sequence (e.g., key)</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f8.pdf"/>
          <p:cNvPicPr>
            <a:picLocks noChangeAspect="1"/>
          </p:cNvPicPr>
          <p:nvPr/>
        </p:nvPicPr>
        <p:blipFill>
          <a:blip r:embed="rId3" cstate="print"/>
          <a:srcRect t="27273" b="18182"/>
          <a:stretch>
            <a:fillRect/>
          </a:stretch>
        </p:blipFill>
        <p:spPr>
          <a:xfrm>
            <a:off x="0" y="228600"/>
            <a:ext cx="9144000" cy="6454563"/>
          </a:xfrm>
          <a:prstGeom prst="rect">
            <a:avLst/>
          </a:prstGeom>
        </p:spPr>
      </p:pic>
      <p:sp>
        <p:nvSpPr>
          <p:cNvPr id="3" name="Rectangle 2"/>
          <p:cNvSpPr/>
          <p:nvPr/>
        </p:nvSpPr>
        <p:spPr>
          <a:xfrm>
            <a:off x="1143000" y="4495800"/>
            <a:ext cx="7086600" cy="923330"/>
          </a:xfrm>
          <a:prstGeom prst="rect">
            <a:avLst/>
          </a:prstGeom>
        </p:spPr>
        <p:txBody>
          <a:bodyPr wrap="square">
            <a:spAutoFit/>
          </a:bodyPr>
          <a:lstStyle/>
          <a:p>
            <a:pPr>
              <a:defRPr/>
            </a:pPr>
            <a:r>
              <a:rPr lang="en-US" dirty="0">
                <a:ea typeface="ＭＳ Ｐゴシック" pitchFamily="-107" charset="-128"/>
                <a:cs typeface="ＭＳ Ｐゴシック" pitchFamily="-107" charset="-128"/>
              </a:rPr>
              <a:t>       </a:t>
            </a:r>
            <a:r>
              <a:rPr lang="en-US" dirty="0" err="1">
                <a:ea typeface="ＭＳ Ｐゴシック" pitchFamily="-107" charset="-128"/>
                <a:cs typeface="ＭＳ Ｐゴシック" pitchFamily="-107" charset="-128"/>
              </a:rPr>
              <a:t>Micali-Schnorr</a:t>
            </a:r>
            <a:r>
              <a:rPr lang="en-US" dirty="0">
                <a:ea typeface="ＭＳ Ｐゴシック" pitchFamily="-107" charset="-128"/>
                <a:cs typeface="ＭＳ Ｐゴシック" pitchFamily="-107" charset="-128"/>
              </a:rPr>
              <a:t> PRNG using RSA</a:t>
            </a:r>
          </a:p>
          <a:p>
            <a:pPr lvl="1">
              <a:buFont typeface="Wingdings" pitchFamily="-107" charset="2"/>
              <a:buChar char="l"/>
              <a:defRPr/>
            </a:pPr>
            <a:r>
              <a:rPr lang="en-US" dirty="0"/>
              <a:t>in ANSI X9.82 and ISO 18031</a:t>
            </a:r>
          </a:p>
          <a:p>
            <a:pPr lvl="1">
              <a:buFont typeface="Wingdings" pitchFamily="-107" charset="2"/>
              <a:buChar char="l"/>
              <a:defRPr/>
            </a:pPr>
            <a:r>
              <a:rPr lang="en-US" dirty="0" err="1">
                <a:solidFill>
                  <a:srgbClr val="FF0000"/>
                </a:solidFill>
              </a:rPr>
              <a:t>Z</a:t>
            </a:r>
            <a:r>
              <a:rPr lang="en-US" baseline="-25000" dirty="0" err="1">
                <a:solidFill>
                  <a:srgbClr val="FF0000"/>
                </a:solidFill>
              </a:rPr>
              <a:t>i</a:t>
            </a:r>
            <a:r>
              <a:rPr lang="en-US" dirty="0">
                <a:solidFill>
                  <a:srgbClr val="FF0000"/>
                </a:solidFill>
              </a:rPr>
              <a:t> = k</a:t>
            </a:r>
            <a:r>
              <a:rPr lang="en-US" dirty="0">
                <a:solidFill>
                  <a:srgbClr val="0070C0"/>
                </a:solidFill>
              </a:rPr>
              <a:t> </a:t>
            </a:r>
            <a:r>
              <a:rPr lang="en-US" i="1" dirty="0">
                <a:solidFill>
                  <a:srgbClr val="0070C0"/>
                </a:solidFill>
              </a:rPr>
              <a:t>least</a:t>
            </a:r>
            <a:r>
              <a:rPr lang="en-US" dirty="0">
                <a:solidFill>
                  <a:srgbClr val="0070C0"/>
                </a:solidFill>
              </a:rPr>
              <a:t> </a:t>
            </a:r>
            <a:r>
              <a:rPr lang="en-US" dirty="0">
                <a:solidFill>
                  <a:srgbClr val="FF0000"/>
                </a:solidFill>
              </a:rPr>
              <a:t>significant bits of encrypted value at </a:t>
            </a:r>
            <a:r>
              <a:rPr lang="en-US" dirty="0" err="1">
                <a:solidFill>
                  <a:srgbClr val="FF0000"/>
                </a:solidFill>
              </a:rPr>
              <a:t>i</a:t>
            </a:r>
            <a:r>
              <a:rPr lang="en-US" baseline="30000" dirty="0" err="1">
                <a:solidFill>
                  <a:srgbClr val="FF0000"/>
                </a:solidFill>
              </a:rPr>
              <a:t>th</a:t>
            </a:r>
            <a:r>
              <a:rPr lang="en-US" dirty="0">
                <a:solidFill>
                  <a:srgbClr val="FF0000"/>
                </a:solidFill>
              </a:rPr>
              <a:t> step</a:t>
            </a:r>
          </a:p>
        </p:txBody>
      </p:sp>
    </p:spTree>
  </p:cSld>
  <p:clrMapOvr>
    <a:masterClrMapping/>
  </p:clrMapOvr>
  <p:transition>
    <p:dissolv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6" name="Rectangle 135">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8"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1022350"/>
            <a:ext cx="532209"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0"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07282" y="837744"/>
            <a:ext cx="302419"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2"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495" y="640894"/>
            <a:ext cx="126206"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4"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8417402" y="635716"/>
            <a:ext cx="246459"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6" name="Rectangle 145">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83041" y="635715"/>
            <a:ext cx="8180897"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45058" name="Rectangle 2"/>
          <p:cNvSpPr>
            <a:spLocks noGrp="1" noChangeArrowheads="1"/>
          </p:cNvSpPr>
          <p:nvPr>
            <p:ph type="title"/>
          </p:nvPr>
        </p:nvSpPr>
        <p:spPr>
          <a:xfrm>
            <a:off x="718879" y="800392"/>
            <a:ext cx="7698523" cy="1212102"/>
          </a:xfrm>
        </p:spPr>
        <p:txBody>
          <a:bodyPr>
            <a:normAutofit/>
          </a:bodyPr>
          <a:lstStyle/>
          <a:p>
            <a:pPr eaLnBrk="1" hangingPunct="1">
              <a:defRPr/>
            </a:pPr>
            <a:r>
              <a:rPr lang="en-US" sz="3500">
                <a:solidFill>
                  <a:srgbClr val="FFFFFF"/>
                </a:solidFill>
                <a:ea typeface="ＭＳ Ｐゴシック" pitchFamily="-107" charset="-128"/>
              </a:rPr>
              <a:t>Summary</a:t>
            </a:r>
            <a:endParaRPr lang="en-AU" sz="3500">
              <a:solidFill>
                <a:srgbClr val="FFFFFF"/>
              </a:solidFill>
              <a:ea typeface="ＭＳ Ｐゴシック" pitchFamily="-107" charset="-128"/>
            </a:endParaRPr>
          </a:p>
        </p:txBody>
      </p:sp>
      <p:sp>
        <p:nvSpPr>
          <p:cNvPr id="45059" name="Rectangle 3"/>
          <p:cNvSpPr>
            <a:spLocks noGrp="1" noChangeArrowheads="1"/>
          </p:cNvSpPr>
          <p:nvPr>
            <p:ph type="body" idx="1"/>
          </p:nvPr>
        </p:nvSpPr>
        <p:spPr>
          <a:xfrm>
            <a:off x="1025718" y="2490436"/>
            <a:ext cx="7281746" cy="3567173"/>
          </a:xfrm>
        </p:spPr>
        <p:txBody>
          <a:bodyPr anchor="ctr">
            <a:normAutofit/>
          </a:bodyPr>
          <a:lstStyle/>
          <a:p>
            <a:pPr eaLnBrk="1" hangingPunct="1">
              <a:defRPr/>
            </a:pPr>
            <a:r>
              <a:rPr lang="en-US" sz="2800" dirty="0">
                <a:ea typeface="ＭＳ Ｐゴシック" pitchFamily="-107" charset="-128"/>
              </a:rPr>
              <a:t>have considered:</a:t>
            </a:r>
          </a:p>
          <a:p>
            <a:pPr lvl="1" eaLnBrk="1" hangingPunct="1">
              <a:defRPr/>
            </a:pPr>
            <a:r>
              <a:rPr lang="en-US" dirty="0">
                <a:ea typeface="ＭＳ Ｐゴシック" pitchFamily="-107" charset="-128"/>
              </a:rPr>
              <a:t>Diffie-Hellman key exchange</a:t>
            </a:r>
          </a:p>
          <a:p>
            <a:pPr lvl="1" eaLnBrk="1" hangingPunct="1">
              <a:defRPr/>
            </a:pPr>
            <a:r>
              <a:rPr lang="en-US" dirty="0">
                <a:ea typeface="ＭＳ Ｐゴシック" pitchFamily="-107" charset="-128"/>
              </a:rPr>
              <a:t>ElGamal cryptography</a:t>
            </a:r>
          </a:p>
          <a:p>
            <a:pPr lvl="1" eaLnBrk="1" hangingPunct="1">
              <a:defRPr/>
            </a:pPr>
            <a:r>
              <a:rPr lang="en-US" dirty="0">
                <a:ea typeface="ＭＳ Ｐゴシック" pitchFamily="-107" charset="-128"/>
              </a:rPr>
              <a:t>Elliptic Curve cryptography</a:t>
            </a:r>
          </a:p>
          <a:p>
            <a:pPr lvl="1" eaLnBrk="1" hangingPunct="1">
              <a:defRPr/>
            </a:pPr>
            <a:r>
              <a:rPr lang="en-US" dirty="0">
                <a:ea typeface="ＭＳ Ｐゴシック" pitchFamily="-107" charset="-128"/>
              </a:rPr>
              <a:t>Pseudorandom Number Generation (PRNG) based on Asymmetric Ciphers (RSA &amp; ECC)</a:t>
            </a:r>
            <a:endParaRPr lang="en-US" sz="2100" dirty="0">
              <a:ea typeface="ＭＳ Ｐゴシック" pitchFamily="-107" charset="-128"/>
            </a:endParaRPr>
          </a:p>
          <a:p>
            <a:pPr lvl="1" eaLnBrk="1" hangingPunct="1">
              <a:defRPr/>
            </a:pPr>
            <a:endParaRPr lang="en-AU" sz="2100" dirty="0">
              <a:ea typeface="ＭＳ Ｐゴシック" pitchFamily="-107" charset="-128"/>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364</TotalTime>
  <Words>4082</Words>
  <Application>Microsoft Office PowerPoint</Application>
  <PresentationFormat>On-screen Show (4:3)</PresentationFormat>
  <Paragraphs>324</Paragraphs>
  <Slides>19</Slides>
  <Notes>19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ＭＳ Ｐゴシック</vt:lpstr>
      <vt:lpstr>Arial</vt:lpstr>
      <vt:lpstr>Calibri</vt:lpstr>
      <vt:lpstr>Courier New</vt:lpstr>
      <vt:lpstr>Times</vt:lpstr>
      <vt:lpstr>Times New Roman</vt:lpstr>
      <vt:lpstr>Times-Roman</vt:lpstr>
      <vt:lpstr>Wingdings</vt:lpstr>
      <vt:lpstr>Office Theme</vt:lpstr>
      <vt:lpstr>Cryptography and Network Security Chapter 10</vt:lpstr>
      <vt:lpstr>Diffie-Hellman Key Exchange</vt:lpstr>
      <vt:lpstr>Diffie-Hellman Key Exchange</vt:lpstr>
      <vt:lpstr>Diffie-Hellman Setup</vt:lpstr>
      <vt:lpstr>Background for Primitive Roots</vt:lpstr>
      <vt:lpstr>Diffie-Hellman Key Exchange</vt:lpstr>
      <vt:lpstr>PowerPoint Presentation</vt:lpstr>
      <vt:lpstr>Diffie-Hellman Example </vt:lpstr>
      <vt:lpstr>Key Exchange Protocols</vt:lpstr>
      <vt:lpstr>Security of Diffie-Hellman</vt:lpstr>
      <vt:lpstr>PowerPoint Presentation</vt:lpstr>
      <vt:lpstr>Man-in-the-Middle Attack</vt:lpstr>
      <vt:lpstr>ElGamal Cryptography</vt:lpstr>
      <vt:lpstr>Elliptic Curve Cryptography (ECC)</vt:lpstr>
      <vt:lpstr>ECC Security</vt:lpstr>
      <vt:lpstr>Comparable Key Sizes for Equivalent Security</vt:lpstr>
      <vt:lpstr>Pseudorandom Number Generation (PRNG) based on Asymmetric Ciphers</vt:lpstr>
      <vt:lpstr>PowerPoint Presentation</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Cryptography and Network Security Chapter 10</dc:title>
  <dc:creator>Mohamed Ashraf Madkour</dc:creator>
  <cp:lastModifiedBy>Mohamed Ashraf Madkour</cp:lastModifiedBy>
  <cp:revision>15</cp:revision>
  <dcterms:created xsi:type="dcterms:W3CDTF">2020-11-18T08:52:56Z</dcterms:created>
  <dcterms:modified xsi:type="dcterms:W3CDTF">2024-11-25T06:05:19Z</dcterms:modified>
</cp:coreProperties>
</file>