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258" r:id="rId3"/>
    <p:sldId id="306" r:id="rId4"/>
    <p:sldId id="292" r:id="rId5"/>
    <p:sldId id="308" r:id="rId6"/>
    <p:sldId id="309" r:id="rId7"/>
    <p:sldId id="293" r:id="rId8"/>
    <p:sldId id="261" r:id="rId9"/>
    <p:sldId id="262" r:id="rId10"/>
    <p:sldId id="307" r:id="rId11"/>
    <p:sldId id="264" r:id="rId12"/>
    <p:sldId id="296" r:id="rId13"/>
    <p:sldId id="265" r:id="rId14"/>
    <p:sldId id="266" r:id="rId15"/>
    <p:sldId id="297" r:id="rId16"/>
    <p:sldId id="299" r:id="rId17"/>
    <p:sldId id="269" r:id="rId18"/>
    <p:sldId id="270" r:id="rId19"/>
    <p:sldId id="271" r:id="rId20"/>
    <p:sldId id="301" r:id="rId21"/>
    <p:sldId id="311" r:id="rId22"/>
    <p:sldId id="273" r:id="rId23"/>
    <p:sldId id="274" r:id="rId24"/>
    <p:sldId id="276" r:id="rId25"/>
    <p:sldId id="277" r:id="rId26"/>
    <p:sldId id="278" r:id="rId27"/>
    <p:sldId id="286" r:id="rId28"/>
    <p:sldId id="310" r:id="rId29"/>
    <p:sldId id="291" r:id="rId30"/>
    <p:sldId id="302" r:id="rId31"/>
    <p:sldId id="303" r:id="rId32"/>
    <p:sldId id="304" r:id="rId33"/>
    <p:sldId id="305" r:id="rId34"/>
    <p:sldId id="281"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9" autoAdjust="0"/>
    <p:restoredTop sz="95226" autoAdjust="0"/>
  </p:normalViewPr>
  <p:slideViewPr>
    <p:cSldViewPr>
      <p:cViewPr varScale="1">
        <p:scale>
          <a:sx n="82" d="100"/>
          <a:sy n="82" d="100"/>
        </p:scale>
        <p:origin x="15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02CAD8-9E5A-4526-A04A-D480CDFD6A02}" type="datetimeFigureOut">
              <a:rPr lang="en-US" smtClean="0"/>
              <a:pPr/>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112E0D-8473-4D51-BE88-430CFF107421}" type="slidenum">
              <a:rPr lang="en-US" smtClean="0"/>
              <a:pPr/>
              <a:t>‹#›</a:t>
            </a:fld>
            <a:endParaRPr lang="en-US"/>
          </a:p>
        </p:txBody>
      </p:sp>
    </p:spTree>
    <p:extLst>
      <p:ext uri="{BB962C8B-B14F-4D97-AF65-F5344CB8AC3E}">
        <p14:creationId xmlns:p14="http://schemas.microsoft.com/office/powerpoint/2010/main" val="77713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EA509AF2-9E5D-487A-913D-945F2A5FA2B5}" type="slidenum">
              <a:rPr lang="en-AU"/>
              <a:pPr/>
              <a:t>1</a:t>
            </a:fld>
            <a:endParaRPr lang="en-AU" dirty="0"/>
          </a:p>
        </p:txBody>
      </p:sp>
      <p:sp>
        <p:nvSpPr>
          <p:cNvPr id="15363" name="Rectangle 2"/>
          <p:cNvSpPr>
            <a:spLocks noGrp="1" noRot="1" noChangeAspect="1" noChangeArrowheads="1"/>
          </p:cNvSpPr>
          <p:nvPr>
            <p:ph type="sldImg"/>
          </p:nvPr>
        </p:nvSpPr>
        <p:spPr>
          <a:solidFill>
            <a:srgbClr val="FFFFFF"/>
          </a:solidFill>
          <a:ln/>
        </p:spPr>
      </p:sp>
      <p:sp>
        <p:nvSpPr>
          <p:cNvPr id="15364"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Lecture slides by Lawrie Brown for “Cryptography and Network Security”, 5/e, by William Stallings, Chapter 12 – “</a:t>
            </a:r>
            <a:r>
              <a:rPr lang="en-AU" dirty="0">
                <a:latin typeface="Arial" pitchFamily="34" charset="0"/>
                <a:ea typeface="ＭＳ Ｐゴシック" pitchFamily="-107" charset="-128"/>
              </a:rPr>
              <a:t>Message Authentication Codes</a:t>
            </a:r>
            <a:r>
              <a:rPr lang="en-US" dirty="0">
                <a:latin typeface="Arial" pitchFamily="34" charset="0"/>
                <a:ea typeface="ＭＳ Ｐゴシック" pitchFamily="-107" charset="-128"/>
              </a:rPr>
              <a:t>”.</a:t>
            </a:r>
            <a:endParaRPr lang="en-AU" dirty="0">
              <a:latin typeface="Arial" pitchFamily="34" charset="0"/>
              <a:ea typeface="ＭＳ Ｐゴシック" pitchFamily="-107" charset="-128"/>
            </a:endParaRPr>
          </a:p>
          <a:p>
            <a:pPr eaLnBrk="1" hangingPunct="1"/>
            <a:endParaRPr lang="en-US" dirty="0">
              <a:latin typeface="Arial" pitchFamily="34" charset="0"/>
              <a:ea typeface="ＭＳ Ｐゴシック" pitchFamily="-107"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C5E238C-E7C8-4968-9641-9321D72015D5}" type="slidenum">
              <a:rPr lang="en-AU"/>
              <a:pPr/>
              <a:t>2</a:t>
            </a:fld>
            <a:endParaRPr lang="en-AU" dirty="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One of the most fascinating and complex areas of cryptography is that of message authentication and the related area of digital signatures. </a:t>
            </a:r>
            <a:r>
              <a:rPr lang="en-AU" dirty="0">
                <a:latin typeface="Arial" pitchFamily="34" charset="0"/>
                <a:ea typeface="ＭＳ Ｐゴシック" pitchFamily="-107" charset="-128"/>
              </a:rPr>
              <a:t>We now consider how to protect message integrity (</a:t>
            </a:r>
            <a:r>
              <a:rPr lang="en-AU" dirty="0" err="1">
                <a:latin typeface="Arial" pitchFamily="34" charset="0"/>
                <a:ea typeface="ＭＳ Ｐゴシック" pitchFamily="-107" charset="-128"/>
              </a:rPr>
              <a:t>ie</a:t>
            </a:r>
            <a:r>
              <a:rPr lang="en-AU" dirty="0">
                <a:latin typeface="Arial" pitchFamily="34" charset="0"/>
                <a:ea typeface="ＭＳ Ｐゴシック" pitchFamily="-107" charset="-128"/>
              </a:rPr>
              <a:t> protection from modification), as well as confirming the identity of the sender. Generically this is the problem of message authentication, and in eCommerce applications is arguably more important than secrecy. Message Authentication is concerned with: protecting the integrity of a message, validating identity of originator, &amp; non-repudiation of origin (dispute resolution). There are three </a:t>
            </a:r>
            <a:r>
              <a:rPr lang="en-US" dirty="0">
                <a:latin typeface="Times-Roman" charset="0"/>
                <a:ea typeface="ＭＳ Ｐゴシック" pitchFamily="-107" charset="-128"/>
              </a:rPr>
              <a:t>types of functions that may be used to produce an authenticator: </a:t>
            </a:r>
            <a:r>
              <a:rPr lang="en-US" dirty="0">
                <a:latin typeface="Arial" pitchFamily="34" charset="0"/>
                <a:ea typeface="ＭＳ Ｐゴシック" pitchFamily="-107" charset="-128"/>
              </a:rPr>
              <a:t>a hash function, message encryption, message authentication code (MAC). Hash functions, and how they may serve for message authentication, are discussed in Chapter 11. The remainder of this section briefly examines the remaining two topics. The remainder of the chapter elaborates on the topic of MACs. </a:t>
            </a:r>
            <a:endParaRPr lang="en-AU" dirty="0">
              <a:latin typeface="Arial" pitchFamily="34" charset="0"/>
              <a:ea typeface="ＭＳ Ｐゴシック" pitchFamily="-107"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C5E238C-E7C8-4968-9641-9321D72015D5}" type="slidenum">
              <a:rPr lang="en-AU"/>
              <a:pPr/>
              <a:t>3</a:t>
            </a:fld>
            <a:endParaRPr lang="en-AU" dirty="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One of the most fascinating and complex areas of cryptography is that of message authentication and the related area of digital signatures. </a:t>
            </a:r>
            <a:r>
              <a:rPr lang="en-AU" dirty="0">
                <a:latin typeface="Arial" pitchFamily="34" charset="0"/>
                <a:ea typeface="ＭＳ Ｐゴシック" pitchFamily="-107" charset="-128"/>
              </a:rPr>
              <a:t>We now consider how to protect message integrity (</a:t>
            </a:r>
            <a:r>
              <a:rPr lang="en-AU" dirty="0" err="1">
                <a:latin typeface="Arial" pitchFamily="34" charset="0"/>
                <a:ea typeface="ＭＳ Ｐゴシック" pitchFamily="-107" charset="-128"/>
              </a:rPr>
              <a:t>ie</a:t>
            </a:r>
            <a:r>
              <a:rPr lang="en-AU" dirty="0">
                <a:latin typeface="Arial" pitchFamily="34" charset="0"/>
                <a:ea typeface="ＭＳ Ｐゴシック" pitchFamily="-107" charset="-128"/>
              </a:rPr>
              <a:t> protection from modification), as well as confirming the identity of the sender. Generically this is the problem of message authentication, and in eCommerce applications is arguably more important than secrecy. Message Authentication is concerned with: protecting the integrity of a message, validating identity of originator, &amp; non-repudiation of origin (dispute resolution). There are three </a:t>
            </a:r>
            <a:r>
              <a:rPr lang="en-US" dirty="0">
                <a:latin typeface="Times-Roman" charset="0"/>
                <a:ea typeface="ＭＳ Ｐゴシック" pitchFamily="-107" charset="-128"/>
              </a:rPr>
              <a:t>types of functions that may be used to produce an authenticator: </a:t>
            </a:r>
            <a:r>
              <a:rPr lang="en-US" dirty="0">
                <a:latin typeface="Arial" pitchFamily="34" charset="0"/>
                <a:ea typeface="ＭＳ Ｐゴシック" pitchFamily="-107" charset="-128"/>
              </a:rPr>
              <a:t>a hash function, message encryption, message authentication code (MAC). Hash functions, and how they may serve for message authentication, are discussed in Chapter 11. The remainder of this section briefly examines the remaining two topics. The remainder of the chapter elaborates on the topic of MACs. </a:t>
            </a:r>
            <a:endParaRPr lang="en-AU" dirty="0">
              <a:latin typeface="Arial" pitchFamily="34" charset="0"/>
              <a:ea typeface="ＭＳ Ｐゴシック" pitchFamily="-107" charset="-128"/>
            </a:endParaRPr>
          </a:p>
        </p:txBody>
      </p:sp>
    </p:spTree>
    <p:extLst>
      <p:ext uri="{BB962C8B-B14F-4D97-AF65-F5344CB8AC3E}">
        <p14:creationId xmlns:p14="http://schemas.microsoft.com/office/powerpoint/2010/main" val="1977338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C5E238C-E7C8-4968-9641-9321D72015D5}" type="slidenum">
              <a:rPr lang="en-AU"/>
              <a:pPr/>
              <a:t>4</a:t>
            </a:fld>
            <a:endParaRPr lang="en-AU" dirty="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One of the most fascinating and complex areas of cryptography is that of message authentication and the related area of digital signatures. </a:t>
            </a:r>
            <a:r>
              <a:rPr lang="en-AU" dirty="0">
                <a:latin typeface="Arial" pitchFamily="34" charset="0"/>
                <a:ea typeface="ＭＳ Ｐゴシック" pitchFamily="-107" charset="-128"/>
              </a:rPr>
              <a:t>We now consider how to protect message integrity (</a:t>
            </a:r>
            <a:r>
              <a:rPr lang="en-AU" dirty="0" err="1">
                <a:latin typeface="Arial" pitchFamily="34" charset="0"/>
                <a:ea typeface="ＭＳ Ｐゴシック" pitchFamily="-107" charset="-128"/>
              </a:rPr>
              <a:t>ie</a:t>
            </a:r>
            <a:r>
              <a:rPr lang="en-AU" dirty="0">
                <a:latin typeface="Arial" pitchFamily="34" charset="0"/>
                <a:ea typeface="ＭＳ Ｐゴシック" pitchFamily="-107" charset="-128"/>
              </a:rPr>
              <a:t> protection from modification), as well as confirming the identity of the sender. Generically this is the problem of message authentication, and in eCommerce applications is arguably more important than secrecy. Message Authentication is concerned with: protecting the integrity of a message, validating identity of originator, &amp; non-repudiation of origin (dispute resolution). There are three </a:t>
            </a:r>
            <a:r>
              <a:rPr lang="en-US" dirty="0">
                <a:latin typeface="Times-Roman" charset="0"/>
                <a:ea typeface="ＭＳ Ｐゴシック" pitchFamily="-107" charset="-128"/>
              </a:rPr>
              <a:t>types of functions that may be used to produce an authenticator: </a:t>
            </a:r>
            <a:r>
              <a:rPr lang="en-US" dirty="0">
                <a:latin typeface="Arial" pitchFamily="34" charset="0"/>
                <a:ea typeface="ＭＳ Ｐゴシック" pitchFamily="-107" charset="-128"/>
              </a:rPr>
              <a:t>a hash function, message encryption, message authentication code (MAC). Hash functions, and how they may serve for message authentication, are discussed in Chapter 11. The remainder of this section briefly examines the remaining two topics. The remainder of the chapter elaborates on the topic of MACs. </a:t>
            </a:r>
            <a:endParaRPr lang="en-AU" dirty="0">
              <a:latin typeface="Arial" pitchFamily="34" charset="0"/>
              <a:ea typeface="ＭＳ Ｐゴシック" pitchFamily="-107" charset="-128"/>
            </a:endParaRPr>
          </a:p>
        </p:txBody>
      </p:sp>
    </p:spTree>
    <p:extLst>
      <p:ext uri="{BB962C8B-B14F-4D97-AF65-F5344CB8AC3E}">
        <p14:creationId xmlns:p14="http://schemas.microsoft.com/office/powerpoint/2010/main" val="2137030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3AC735F7-5F2D-480B-AF5E-04492DCE4E07}" type="slidenum">
              <a:rPr lang="en-AU"/>
              <a:pPr/>
              <a:t>7</a:t>
            </a:fld>
            <a:endParaRPr lang="en-AU"/>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cs typeface="Arial" pitchFamily="34" charset="0"/>
              </a:rPr>
              <a:t>Message encryption by itself can provide a measure of authentication. The analysis differs for symmetric and public-key encryption schemes. </a:t>
            </a:r>
          </a:p>
          <a:p>
            <a:pPr eaLnBrk="1" hangingPunct="1"/>
            <a:r>
              <a:rPr lang="en-US">
                <a:latin typeface="Arial" pitchFamily="34" charset="0"/>
                <a:ea typeface="ＭＳ Ｐゴシック" pitchFamily="-107" charset="-128"/>
                <a:cs typeface="Arial" pitchFamily="34" charset="0"/>
              </a:rPr>
              <a:t>If use symmetric encryption, If no other party knows the key, then confidentiality is provided. As well, symmetric encryption provides authentication as well as confidentiality, since only the other party can have encrypted a properly constructed message (Stallings Figure 12.1a). Here, the ciphertext of the entire message serves as its authenticator, on the basis that only those who know the appropriate keys could have validly encrypted the message. This is provided you can recognize a valid message (ie if the message has </a:t>
            </a:r>
            <a:r>
              <a:rPr lang="en-AU">
                <a:latin typeface="Arial" pitchFamily="34" charset="0"/>
                <a:ea typeface="ＭＳ Ｐゴシック" pitchFamily="-107" charset="-128"/>
                <a:cs typeface="Arial" pitchFamily="34" charset="0"/>
              </a:rPr>
              <a:t>suitable structure such as redundancy or a checksum to detect any changes).</a:t>
            </a:r>
          </a:p>
          <a:p>
            <a:pPr eaLnBrk="1" hangingPunct="1"/>
            <a:endParaRPr lang="en-US">
              <a:latin typeface="Arial" pitchFamily="34" charset="0"/>
              <a:ea typeface="ＭＳ Ｐゴシック" pitchFamily="-107" charset="-128"/>
              <a:cs typeface="Arial" pitchFamily="34" charset="0"/>
            </a:endParaRPr>
          </a:p>
        </p:txBody>
      </p:sp>
    </p:spTree>
    <p:extLst>
      <p:ext uri="{BB962C8B-B14F-4D97-AF65-F5344CB8AC3E}">
        <p14:creationId xmlns:p14="http://schemas.microsoft.com/office/powerpoint/2010/main" val="4224815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354478C6-2032-41EB-BFB1-3652B8119C78}" type="slidenum">
              <a:rPr lang="en-AU"/>
              <a:pPr/>
              <a:t>8</a:t>
            </a:fld>
            <a:endParaRPr lang="en-AU"/>
          </a:p>
        </p:txBody>
      </p:sp>
      <p:sp>
        <p:nvSpPr>
          <p:cNvPr id="25603" name="Rectangle 1026"/>
          <p:cNvSpPr>
            <a:spLocks noGrp="1" noRot="1" noChangeAspect="1" noChangeArrowheads="1" noTextEdit="1"/>
          </p:cNvSpPr>
          <p:nvPr>
            <p:ph type="sldImg"/>
          </p:nvPr>
        </p:nvSpPr>
        <p:spPr>
          <a:ln/>
        </p:spPr>
      </p:sp>
      <p:sp>
        <p:nvSpPr>
          <p:cNvPr id="25604" name="Rectangle 1027"/>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With public-key techniques, can use a digital signature which can only have been created by key owner to validate the integrity of the message contents. To provide both confidentiality and authentication, A can encrypt M first using its private key, which provides the digital signature, and then using B's public key, which provides confidentiality (Stallings Figure 12.1d). The disadvantage of this approach is that the public-key algorithm, which is complex, must be exercised four times rather than two in each communication.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7FBB3B82-29CB-4AC2-968A-C3D49078287A}" type="slidenum">
              <a:rPr lang="en-AU"/>
              <a:pPr/>
              <a:t>9</a:t>
            </a:fld>
            <a:endParaRPr lang="en-AU"/>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cs typeface="Arial" pitchFamily="34" charset="0"/>
              </a:rPr>
              <a:t>An alternative authentication technique involves the use of a secret key to generate a small fixed-size block of data, known as a cryptographic checksum or MAC that is appended to the message. This technique assumes that two communicating parties, say A and B, share a common secret key K. A MAC function is similar to encryption, except that the MAC algorithm need not be reversible, as it must for decryption.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533A8BF-4305-4E68-BD4D-C561CF1B47CC}" type="slidenum">
              <a:rPr lang="en-AU"/>
              <a:pPr/>
              <a:t>10</a:t>
            </a:fld>
            <a:endParaRPr lang="en-AU"/>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The process depicted on the previous slide provides authentication but not confidentiality, because the message as a whole is transmitted in the clear. Confidentiality can be provided by performing message encryption either after (see Stallings Figure 12.4b) or before (see Stallings Figure 12.4c) the MAC algorithm. In both these cases, two separate keys are needed, each of which is shared by the sender and the receiver. Typically, it is preferable to tie the authentication directly to the plaintext, so the method of Figure 12.4b is used.  Can use MAC in circumstances where just authentication is needed (or needs to be kept), see text for examples (e.g. such as when the same message is broadcast to a number of destinations; when one side has a heavy load and cannot afford the time to decrypt all incoming messages; or do not need to keep messages secret, but must authenticate messages). Finally, note that the MAC does not provide a digital signature because both sender and receiver share the same key. </a:t>
            </a:r>
          </a:p>
        </p:txBody>
      </p:sp>
    </p:spTree>
    <p:extLst>
      <p:ext uri="{BB962C8B-B14F-4D97-AF65-F5344CB8AC3E}">
        <p14:creationId xmlns:p14="http://schemas.microsoft.com/office/powerpoint/2010/main" val="155061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533A8BF-4305-4E68-BD4D-C561CF1B47CC}" type="slidenum">
              <a:rPr lang="en-AU"/>
              <a:pPr/>
              <a:t>11</a:t>
            </a:fld>
            <a:endParaRPr lang="en-AU"/>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The process depicted on the previous slide provides authentication but not confidentiality, because the message as a whole is transmitted in the clear. Confidentiality can be provided by performing message encryption either after (see Stallings Figure 12.4b) or before (see Stallings Figure 12.4c) the MAC algorithm. In both these cases, two separate keys are needed, each of which is shared by the sender and the receiver. Typically, it is preferable to tie the authentication directly to the plaintext, so the method of Figure 12.4b is used.  Can use MAC in circumstances where just authentication is needed (or needs to be kept), see text for examples (e.g. such as when the same message is broadcast to a number of destinations; when one side has a heavy load and cannot afford the time to decrypt all incoming messages; or do not need to keep messages secret, but must authenticate messages). Finally, note that the MAC does not provide a digital signature because both sender and receiver share the same key.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4436E8B6-D97D-4E8C-B9A3-DDD0C8630776}" type="slidenum">
              <a:rPr lang="en-AU"/>
              <a:pPr/>
              <a:t>13</a:t>
            </a:fld>
            <a:endParaRPr lang="en-AU"/>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A MAC (also known as a cryptographic checksum, fixed-length authenticator, or tag) is generated by a function C. The MAC is appended to the message at the source at a time when the message is assumed or known to be correct. The receiver authenticates that message by re-computing the MAC. </a:t>
            </a:r>
          </a:p>
          <a:p>
            <a:pPr eaLnBrk="1" hangingPunct="1"/>
            <a:r>
              <a:rPr lang="en-US">
                <a:latin typeface="Arial" pitchFamily="34" charset="0"/>
                <a:ea typeface="ＭＳ Ｐゴシック" pitchFamily="-107" charset="-128"/>
              </a:rPr>
              <a:t>The MAC function is a many-to-one function, since potentially many arbitrarily long messages can be condensed to the same summary value, but don’t want finding them to be easy (see text for discussion)!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B2BA69E6-64CE-4D8F-97DA-476DEBBABBB3}" type="slidenum">
              <a:rPr lang="en-AU"/>
              <a:pPr/>
              <a:t>14</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In assessing the security of a MAC function, we need to consider the types of attacks that may be mounted against it. Hence it needs to satisfy the listed requirements.</a:t>
            </a:r>
          </a:p>
          <a:p>
            <a:pPr eaLnBrk="1" hangingPunct="1"/>
            <a:r>
              <a:rPr lang="en-US">
                <a:latin typeface="Arial" pitchFamily="34" charset="0"/>
                <a:ea typeface="ＭＳ Ｐゴシック" pitchFamily="-107" charset="-128"/>
              </a:rPr>
              <a:t>The first requirement deals with message replacement attacks, in which an opponent is able to construct a new message to match a given MAC, even though the opponent does not know and does not learn the key.</a:t>
            </a:r>
          </a:p>
          <a:p>
            <a:pPr eaLnBrk="1" hangingPunct="1"/>
            <a:r>
              <a:rPr lang="en-US">
                <a:latin typeface="Arial" pitchFamily="34" charset="0"/>
                <a:ea typeface="ＭＳ Ｐゴシック" pitchFamily="-107" charset="-128"/>
              </a:rPr>
              <a:t>The second requirement deals with the need to thwart a brute-force attack based on chosen plaintext. </a:t>
            </a:r>
          </a:p>
          <a:p>
            <a:pPr eaLnBrk="1" hangingPunct="1"/>
            <a:r>
              <a:rPr lang="en-US">
                <a:latin typeface="Arial" pitchFamily="34" charset="0"/>
                <a:ea typeface="ＭＳ Ｐゴシック" pitchFamily="-107" charset="-128"/>
              </a:rPr>
              <a:t>The final requirement dictates that the authentication algorithm should not be weaker with respect to certain parts or bits of the message than others.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B2BA69E6-64CE-4D8F-97DA-476DEBBABBB3}" type="slidenum">
              <a:rPr lang="en-AU"/>
              <a:pPr/>
              <a:t>15</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In assessing the security of a MAC function, we need to consider the types of attacks that may be mounted against it. Hence it needs to satisfy the listed requirements.</a:t>
            </a:r>
          </a:p>
          <a:p>
            <a:pPr eaLnBrk="1" hangingPunct="1"/>
            <a:r>
              <a:rPr lang="en-US">
                <a:latin typeface="Arial" pitchFamily="34" charset="0"/>
                <a:ea typeface="ＭＳ Ｐゴシック" pitchFamily="-107" charset="-128"/>
              </a:rPr>
              <a:t>The first requirement deals with message replacement attacks, in which an opponent is able to construct a new message to match a given MAC, even though the opponent does not know and does not learn the key.</a:t>
            </a:r>
          </a:p>
          <a:p>
            <a:pPr eaLnBrk="1" hangingPunct="1"/>
            <a:r>
              <a:rPr lang="en-US">
                <a:latin typeface="Arial" pitchFamily="34" charset="0"/>
                <a:ea typeface="ＭＳ Ｐゴシック" pitchFamily="-107" charset="-128"/>
              </a:rPr>
              <a:t>The second requirement deals with the need to thwart a brute-force attack based on chosen plaintext. </a:t>
            </a:r>
          </a:p>
          <a:p>
            <a:pPr eaLnBrk="1" hangingPunct="1"/>
            <a:r>
              <a:rPr lang="en-US">
                <a:latin typeface="Arial" pitchFamily="34" charset="0"/>
                <a:ea typeface="ＭＳ Ｐゴシック" pitchFamily="-107" charset="-128"/>
              </a:rPr>
              <a:t>The final requirement dictates that the authentication algorithm should not be weaker with respect to certain parts or bits of the message than others.</a:t>
            </a:r>
          </a:p>
        </p:txBody>
      </p:sp>
    </p:spTree>
    <p:extLst>
      <p:ext uri="{BB962C8B-B14F-4D97-AF65-F5344CB8AC3E}">
        <p14:creationId xmlns:p14="http://schemas.microsoft.com/office/powerpoint/2010/main" val="36620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B2BA69E6-64CE-4D8F-97DA-476DEBBABBB3}" type="slidenum">
              <a:rPr lang="en-AU"/>
              <a:pPr/>
              <a:t>16</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In assessing the security of a MAC function, we need to consider the types of attacks that may be mounted against it. Hence it needs to satisfy the listed requirements.</a:t>
            </a:r>
          </a:p>
          <a:p>
            <a:pPr eaLnBrk="1" hangingPunct="1"/>
            <a:r>
              <a:rPr lang="en-US">
                <a:latin typeface="Arial" pitchFamily="34" charset="0"/>
                <a:ea typeface="ＭＳ Ｐゴシック" pitchFamily="-107" charset="-128"/>
              </a:rPr>
              <a:t>The first requirement deals with message replacement attacks, in which an opponent is able to construct a new message to match a given MAC, even though the opponent does not know and does not learn the key.</a:t>
            </a:r>
          </a:p>
          <a:p>
            <a:pPr eaLnBrk="1" hangingPunct="1"/>
            <a:r>
              <a:rPr lang="en-US">
                <a:latin typeface="Arial" pitchFamily="34" charset="0"/>
                <a:ea typeface="ＭＳ Ｐゴシック" pitchFamily="-107" charset="-128"/>
              </a:rPr>
              <a:t>The second requirement deals with the need to thwart a brute-force attack based on chosen plaintext. </a:t>
            </a:r>
          </a:p>
          <a:p>
            <a:pPr eaLnBrk="1" hangingPunct="1"/>
            <a:r>
              <a:rPr lang="en-US">
                <a:latin typeface="Arial" pitchFamily="34" charset="0"/>
                <a:ea typeface="ＭＳ Ｐゴシック" pitchFamily="-107" charset="-128"/>
              </a:rPr>
              <a:t>The final requirement dictates that the authentication algorithm should not be weaker with respect to certain parts or bits of the message than others.</a:t>
            </a:r>
          </a:p>
        </p:txBody>
      </p:sp>
    </p:spTree>
    <p:extLst>
      <p:ext uri="{BB962C8B-B14F-4D97-AF65-F5344CB8AC3E}">
        <p14:creationId xmlns:p14="http://schemas.microsoft.com/office/powerpoint/2010/main" val="4189274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0711FC5A-99A4-490B-9641-70FC0958B6EB}" type="slidenum">
              <a:rPr lang="en-AU"/>
              <a:pPr/>
              <a:t>17</a:t>
            </a:fld>
            <a:endParaRPr lang="en-AU"/>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In recent years, there has been increased interest in developing a MAC derived from a cryptographic hash function, because they generally execute faster in software than symmetric block ciphers, and because code for cryptographic hash functions is widely available. A hash function such as SHA was not designed for use as a MAC and cannot be used directly for that purpose because it does not rely on a secret key. There have been a number of proposals for the incorporation of a secret key into an existing hash algorithm, originally by just pre-pending a key to the message. Problems were found with these earlier, simpler proposals, but they resulted in the development of HMAC.</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p:cNvSpPr>
          <p:nvPr>
            <p:ph type="sldImg"/>
          </p:nvPr>
        </p:nvSpPr>
        <p:spPr>
          <a:ln/>
        </p:spPr>
      </p:sp>
      <p:sp>
        <p:nvSpPr>
          <p:cNvPr id="44035" name="Notes Placeholder 2"/>
          <p:cNvSpPr>
            <a:spLocks noGrp="1"/>
          </p:cNvSpPr>
          <p:nvPr>
            <p:ph type="body" idx="1"/>
          </p:nvPr>
        </p:nvSpPr>
        <p:spPr>
          <a:noFill/>
          <a:ln/>
        </p:spPr>
        <p:txBody>
          <a:bodyPr/>
          <a:lstStyle/>
          <a:p>
            <a:r>
              <a:rPr lang="en-US">
                <a:latin typeface="Arial" pitchFamily="34" charset="0"/>
                <a:ea typeface="ＭＳ Ｐゴシック" pitchFamily="-107" charset="-128"/>
              </a:rPr>
              <a:t>RFC 2104 lists the following design objectives for HMAC:  </a:t>
            </a:r>
          </a:p>
          <a:p>
            <a:r>
              <a:rPr lang="en-US">
                <a:latin typeface="Arial" pitchFamily="34" charset="0"/>
                <a:ea typeface="ＭＳ Ｐゴシック" pitchFamily="-107" charset="-128"/>
              </a:rPr>
              <a:t>• To use, without modifications, available hash functions. In particular, hash functions that perform well in software, and for which code is freely and widely available. </a:t>
            </a:r>
          </a:p>
          <a:p>
            <a:r>
              <a:rPr lang="en-US">
                <a:latin typeface="Arial" pitchFamily="34" charset="0"/>
                <a:ea typeface="ＭＳ Ｐゴシック" pitchFamily="-107" charset="-128"/>
              </a:rPr>
              <a:t>• To allow for easy replaceability of the embedded hash function in case faster or more secure hash functions are found or required.</a:t>
            </a:r>
          </a:p>
          <a:p>
            <a:r>
              <a:rPr lang="en-US">
                <a:latin typeface="Arial" pitchFamily="34" charset="0"/>
                <a:ea typeface="ＭＳ Ｐゴシック" pitchFamily="-107" charset="-128"/>
              </a:rPr>
              <a:t>• To preserve the original performance of the hash function without incurring a significant degradation.</a:t>
            </a:r>
          </a:p>
          <a:p>
            <a:r>
              <a:rPr lang="en-US">
                <a:latin typeface="Arial" pitchFamily="34" charset="0"/>
                <a:ea typeface="ＭＳ Ｐゴシック" pitchFamily="-107" charset="-128"/>
              </a:rPr>
              <a:t>• To use and handle keys in a simple way. </a:t>
            </a:r>
          </a:p>
          <a:p>
            <a:r>
              <a:rPr lang="en-US">
                <a:latin typeface="Arial" pitchFamily="34" charset="0"/>
                <a:ea typeface="ＭＳ Ｐゴシック" pitchFamily="-107" charset="-128"/>
              </a:rPr>
              <a:t>• To have a well understood cryptographic analysis of the strength of the authentication mechanism based on reasonable assumptions about the embedded hash function. </a:t>
            </a:r>
          </a:p>
        </p:txBody>
      </p:sp>
      <p:sp>
        <p:nvSpPr>
          <p:cNvPr id="44036" name="Slide Number Placeholder 3"/>
          <p:cNvSpPr>
            <a:spLocks noGrp="1"/>
          </p:cNvSpPr>
          <p:nvPr>
            <p:ph type="sldNum" sz="quarter" idx="5"/>
          </p:nvPr>
        </p:nvSpPr>
        <p:spPr>
          <a:noFill/>
        </p:spPr>
        <p:txBody>
          <a:bodyPr/>
          <a:lstStyle/>
          <a:p>
            <a:fld id="{6CD7CCFE-CF04-4E51-A894-8F99F6E004D5}" type="slidenum">
              <a:rPr lang="en-AU"/>
              <a:pPr/>
              <a:t>18</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p:cNvSpPr>
            <a:spLocks noGrp="1" noChangeArrowheads="1"/>
          </p:cNvSpPr>
          <p:nvPr>
            <p:ph type="sldNum" sz="quarter" idx="5"/>
          </p:nvPr>
        </p:nvSpPr>
        <p:spPr>
          <a:noFill/>
        </p:spPr>
        <p:txBody>
          <a:bodyPr/>
          <a:lstStyle/>
          <a:p>
            <a:fld id="{4FAD3492-D00B-4AAC-969F-68FC6D42098C}" type="slidenum">
              <a:rPr lang="en-AU"/>
              <a:pPr/>
              <a:t>19</a:t>
            </a:fld>
            <a:endParaRPr lang="en-AU"/>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AU">
                <a:latin typeface="Arial" pitchFamily="34" charset="0"/>
                <a:ea typeface="ＭＳ Ｐゴシック" pitchFamily="-107" charset="-128"/>
              </a:rPr>
              <a:t>The idea of a keyed hash evolved into HMAC, designed to overcome some problems with the original proposals. It involves hashing padded versions of the key concatenated with the message, and then with another outer hash of the result prepended by another padded variant of the key. The hash function need only be used on 3 more blocks than when hashing just the original message (for the two keys + inner hash). HMAC can use any desired hash function, and has been shown to have the same security as the underlying hash function. Can choose the hash function to use based on speed/security concerns.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p>
            <a:fld id="{7D3C1AFD-C129-4E7D-A922-1232B1AAA5AA}" type="slidenum">
              <a:rPr lang="en-AU"/>
              <a:pPr/>
              <a:t>22</a:t>
            </a:fld>
            <a:endParaRPr lang="en-AU"/>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The appeal of HMAC is that its designers have been able to prove an exact relationship between the strength of the embedded hash function and the strength of HMAC. The security of a MAC function is generally expressed in terms of the probability of successful forgery with a given amount of time spent by the forger and a given number of message-MAC pairs created with the same key. Have two classes of attacks: brute force attack on key used which has work of order 2^n; or a birthday attack which requires work of order 2^(n/2) - but which requires the attacker to observe 2^n blocks of messages using the same key - very unlikely. For a hash code length of 128 bits, this requires 2</a:t>
            </a:r>
            <a:r>
              <a:rPr lang="en-US" baseline="30000">
                <a:latin typeface="Arial" pitchFamily="34" charset="0"/>
                <a:ea typeface="ＭＳ Ｐゴシック" pitchFamily="-107" charset="-128"/>
              </a:rPr>
              <a:t>64</a:t>
            </a:r>
            <a:r>
              <a:rPr lang="en-US">
                <a:latin typeface="Arial" pitchFamily="34" charset="0"/>
                <a:ea typeface="ＭＳ Ｐゴシック" pitchFamily="-107" charset="-128"/>
              </a:rPr>
              <a:t> observed blocks (2</a:t>
            </a:r>
            <a:r>
              <a:rPr lang="en-US" baseline="30000">
                <a:latin typeface="Arial" pitchFamily="34" charset="0"/>
                <a:ea typeface="ＭＳ Ｐゴシック" pitchFamily="-107" charset="-128"/>
              </a:rPr>
              <a:t>72</a:t>
            </a:r>
            <a:r>
              <a:rPr lang="en-US">
                <a:latin typeface="Arial" pitchFamily="34" charset="0"/>
                <a:ea typeface="ＭＳ Ｐゴシック" pitchFamily="-107" charset="-128"/>
              </a:rPr>
              <a:t> bits) generated using the same key. On a 1-Gbps link, one would need to observe a continuous stream of messages with no change in key for about 150,000 years in order to succeed. So even MD5 is still secure for use in HMAC given these constraints.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744BF71D-F08E-4170-845D-785743A7DB10}" type="slidenum">
              <a:rPr lang="en-AU"/>
              <a:pPr/>
              <a:t>23</a:t>
            </a:fld>
            <a:endParaRPr lang="en-AU"/>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In this section, we look at two MACs that are based on the use of a block cipher mode of operation. We begin with an older algorithm, the </a:t>
            </a:r>
            <a:r>
              <a:rPr lang="en-US" b="1">
                <a:latin typeface="Arial" pitchFamily="34" charset="0"/>
                <a:ea typeface="ＭＳ Ｐゴシック" pitchFamily="-107" charset="-128"/>
              </a:rPr>
              <a:t>Data Authentication Algorithm (DAA)</a:t>
            </a:r>
            <a:r>
              <a:rPr lang="en-US">
                <a:latin typeface="Arial" pitchFamily="34" charset="0"/>
                <a:ea typeface="ＭＳ Ｐゴシック" pitchFamily="-107" charset="-128"/>
              </a:rPr>
              <a:t>, a widely used though now obsolete MAC based on DES-CBC (next slide). </a:t>
            </a:r>
            <a:r>
              <a:rPr lang="en-AU">
                <a:latin typeface="Arial" pitchFamily="34" charset="0"/>
                <a:ea typeface="ＭＳ Ｐゴシック" pitchFamily="-107" charset="-128"/>
              </a:rPr>
              <a:t>However this suffers from being too small for acceptable use today.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p:spPr>
        <p:txBody>
          <a:bodyPr/>
          <a:lstStyle/>
          <a:p>
            <a:fld id="{5D53CA72-DCAA-4015-B8BF-8466F87EAFA0}" type="slidenum">
              <a:rPr lang="en-AU"/>
              <a:pPr/>
              <a:t>24</a:t>
            </a:fld>
            <a:endParaRPr lang="en-AU"/>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The Data Authentication Algorithm cipher-based MAC has been widely adopted in government and industry. Has been shown to be secure, with the following restriction. Only messages of one fixed length of </a:t>
            </a:r>
            <a:r>
              <a:rPr lang="en-US" i="1">
                <a:latin typeface="Arial" pitchFamily="34" charset="0"/>
                <a:ea typeface="ＭＳ Ｐゴシック" pitchFamily="-107" charset="-128"/>
              </a:rPr>
              <a:t>mn </a:t>
            </a:r>
            <a:r>
              <a:rPr lang="en-US">
                <a:latin typeface="Arial" pitchFamily="34" charset="0"/>
                <a:ea typeface="ＭＳ Ｐゴシック" pitchFamily="-107" charset="-128"/>
              </a:rPr>
              <a:t>bits are processed, where </a:t>
            </a:r>
            <a:r>
              <a:rPr lang="en-US" i="1">
                <a:latin typeface="Arial" pitchFamily="34" charset="0"/>
                <a:ea typeface="ＭＳ Ｐゴシック" pitchFamily="-107" charset="-128"/>
              </a:rPr>
              <a:t>n </a:t>
            </a:r>
            <a:r>
              <a:rPr lang="en-US">
                <a:latin typeface="Arial" pitchFamily="34" charset="0"/>
                <a:ea typeface="ＭＳ Ｐゴシック" pitchFamily="-107" charset="-128"/>
              </a:rPr>
              <a:t>is the cipher block size and </a:t>
            </a:r>
            <a:r>
              <a:rPr lang="en-US" i="1">
                <a:latin typeface="Arial" pitchFamily="34" charset="0"/>
                <a:ea typeface="ＭＳ Ｐゴシック" pitchFamily="-107" charset="-128"/>
              </a:rPr>
              <a:t>m </a:t>
            </a:r>
            <a:r>
              <a:rPr lang="en-US">
                <a:latin typeface="Arial" pitchFamily="34" charset="0"/>
                <a:ea typeface="ＭＳ Ｐゴシック" pitchFamily="-107" charset="-128"/>
              </a:rPr>
              <a:t>is a fixed positive integer. This limitation can be overcome using multiple keys, which can be derived from a single key. This refinement has been adopted by NIST as the cipher-based message authentication code (CMAC) mode of operation, for use with AES and triple DES. It is specified in NIST Special Publication 800-38B.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p>
            <a:fld id="{A47F1DA2-D8A9-4F2B-A346-33896F03F427}" type="slidenum">
              <a:rPr lang="en-AU"/>
              <a:pPr/>
              <a:t>25</a:t>
            </a:fld>
            <a:endParaRPr lang="en-AU"/>
          </a:p>
        </p:txBody>
      </p:sp>
      <p:sp>
        <p:nvSpPr>
          <p:cNvPr id="58371" name="Rectangle 2"/>
          <p:cNvSpPr>
            <a:spLocks noGrp="1" noRot="1" noChangeAspect="1" noChangeArrowheads="1"/>
          </p:cNvSpPr>
          <p:nvPr>
            <p:ph type="sldImg"/>
          </p:nvPr>
        </p:nvSpPr>
        <p:spPr>
          <a:solidFill>
            <a:srgbClr val="FFFFFF"/>
          </a:solidFill>
          <a:ln/>
        </p:spPr>
      </p:sp>
      <p:sp>
        <p:nvSpPr>
          <p:cNvPr id="58372"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Stallings Figure 12.8 shows the structure of CMAC. It uses the blocksize of the underlying cipher (ie 128-bits for AES or 64-bits for triple-DES). The message is divided into n blocks M1..Mn, padded if necessary. The algorithm makes use of a k-bit encryption key K and an n-bit constant K1 or K2 (depending on whether the message was padded or not).  For AES, the key size k is 128,192, or 256 bits; for triple DES, the key size is 112 or 168 bits. The two constants K1 &amp; K2 are derived from the original key K using encryption of 0 and multiplication in GF(2^n), as detailed in the text.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p:cNvSpPr>
          <p:nvPr>
            <p:ph type="sldImg"/>
          </p:nvPr>
        </p:nvSpPr>
        <p:spPr>
          <a:ln/>
        </p:spPr>
      </p:sp>
      <p:sp>
        <p:nvSpPr>
          <p:cNvPr id="60419" name="Notes Placeholder 2"/>
          <p:cNvSpPr>
            <a:spLocks noGrp="1"/>
          </p:cNvSpPr>
          <p:nvPr>
            <p:ph type="body" idx="1"/>
          </p:nvPr>
        </p:nvSpPr>
        <p:spPr>
          <a:noFill/>
          <a:ln/>
        </p:spPr>
        <p:txBody>
          <a:bodyPr/>
          <a:lstStyle/>
          <a:p>
            <a:r>
              <a:rPr lang="en-US" dirty="0">
                <a:latin typeface="Arial" pitchFamily="34" charset="0"/>
                <a:ea typeface="ＭＳ Ｐゴシック" pitchFamily="-107" charset="-128"/>
              </a:rPr>
              <a:t>Authenticated encryption (AE) is a term used to describe encryption systems that simultaneously protect confidentiality and authenticity (integrity) of communications. Many applications and protocols require both forms of security, but until recently the two services have been designed separately.  [BLAC05] discussed four common approaches to providing both confidentiality and encryption for a message </a:t>
            </a:r>
            <a:r>
              <a:rPr lang="en-US" i="1" dirty="0">
                <a:latin typeface="Arial" pitchFamily="34" charset="0"/>
                <a:ea typeface="ＭＳ Ｐゴシック" pitchFamily="-107" charset="-128"/>
              </a:rPr>
              <a:t>M: </a:t>
            </a:r>
            <a:endParaRPr lang="en-US" dirty="0">
              <a:latin typeface="Arial" pitchFamily="34" charset="0"/>
              <a:ea typeface="ＭＳ Ｐゴシック" pitchFamily="-107" charset="-128"/>
            </a:endParaRPr>
          </a:p>
          <a:p>
            <a:r>
              <a:rPr lang="en-US" dirty="0">
                <a:latin typeface="Arial" pitchFamily="34" charset="0"/>
                <a:ea typeface="ＭＳ Ｐゴシック" pitchFamily="-107" charset="-128"/>
              </a:rPr>
              <a:t>• </a:t>
            </a:r>
            <a:r>
              <a:rPr lang="en-US" dirty="0" err="1">
                <a:latin typeface="Arial" pitchFamily="34" charset="0"/>
                <a:ea typeface="ＭＳ Ｐゴシック" pitchFamily="-107" charset="-128"/>
              </a:rPr>
              <a:t>HtE</a:t>
            </a:r>
            <a:r>
              <a:rPr lang="en-US" dirty="0">
                <a:latin typeface="Arial" pitchFamily="34" charset="0"/>
                <a:ea typeface="ＭＳ Ｐゴシック" pitchFamily="-107" charset="-128"/>
              </a:rPr>
              <a:t>: Hash-then-encrypt. First compute the cryptographic hash function over M as h = H(M). Then encrypt the message plus hash function: E(K, (M || h)</a:t>
            </a:r>
          </a:p>
          <a:p>
            <a:r>
              <a:rPr lang="en-US" dirty="0">
                <a:latin typeface="Arial" pitchFamily="34" charset="0"/>
                <a:ea typeface="ＭＳ Ｐゴシック" pitchFamily="-107" charset="-128"/>
              </a:rPr>
              <a:t>• </a:t>
            </a:r>
            <a:r>
              <a:rPr lang="en-US" dirty="0" err="1">
                <a:latin typeface="Arial" pitchFamily="34" charset="0"/>
                <a:ea typeface="ＭＳ Ｐゴシック" pitchFamily="-107" charset="-128"/>
              </a:rPr>
              <a:t>MtE</a:t>
            </a:r>
            <a:r>
              <a:rPr lang="en-US" dirty="0">
                <a:latin typeface="Arial" pitchFamily="34" charset="0"/>
                <a:ea typeface="ＭＳ Ｐゴシック" pitchFamily="-107" charset="-128"/>
              </a:rPr>
              <a:t>: MAC-then-encrypt. Use two keys. First authenticate the plaintext by computing the MAC value as T = MAC(K1, M). Then encrypt the message plus tag: E(K2, (M || T) </a:t>
            </a:r>
            <a:r>
              <a:rPr lang="en-US" dirty="0" err="1">
                <a:latin typeface="Arial" pitchFamily="34" charset="0"/>
                <a:ea typeface="ＭＳ Ｐゴシック" pitchFamily="-107" charset="-128"/>
              </a:rPr>
              <a:t>cf</a:t>
            </a:r>
            <a:r>
              <a:rPr lang="en-US" dirty="0">
                <a:latin typeface="Arial" pitchFamily="34" charset="0"/>
                <a:ea typeface="ＭＳ Ｐゴシック" pitchFamily="-107" charset="-128"/>
              </a:rPr>
              <a:t> SSL/TLS</a:t>
            </a:r>
          </a:p>
          <a:p>
            <a:r>
              <a:rPr lang="en-US" dirty="0">
                <a:latin typeface="Arial" pitchFamily="34" charset="0"/>
                <a:ea typeface="ＭＳ Ｐゴシック" pitchFamily="-107" charset="-128"/>
              </a:rPr>
              <a:t>• </a:t>
            </a:r>
            <a:r>
              <a:rPr lang="en-US" dirty="0" err="1">
                <a:latin typeface="Arial" pitchFamily="34" charset="0"/>
                <a:ea typeface="ＭＳ Ｐゴシック" pitchFamily="-107" charset="-128"/>
              </a:rPr>
              <a:t>EtM</a:t>
            </a:r>
            <a:r>
              <a:rPr lang="en-US" dirty="0">
                <a:latin typeface="Arial" pitchFamily="34" charset="0"/>
                <a:ea typeface="ＭＳ Ｐゴシック" pitchFamily="-107" charset="-128"/>
              </a:rPr>
              <a:t>: Encrypt-then-MAC. Use two keys. First encrypt the message to yield the ciphertext C = E(K 2, M). Then authenticate the ciphertext with T = MAC(K1, C) to yield the pair (C, T) </a:t>
            </a:r>
            <a:r>
              <a:rPr lang="en-US" dirty="0" err="1">
                <a:latin typeface="Arial" pitchFamily="34" charset="0"/>
                <a:ea typeface="ＭＳ Ｐゴシック" pitchFamily="-107" charset="-128"/>
              </a:rPr>
              <a:t>cf</a:t>
            </a:r>
            <a:r>
              <a:rPr lang="en-US" dirty="0">
                <a:latin typeface="Arial" pitchFamily="34" charset="0"/>
                <a:ea typeface="ＭＳ Ｐゴシック" pitchFamily="-107" charset="-128"/>
              </a:rPr>
              <a:t> IPsec</a:t>
            </a:r>
          </a:p>
          <a:p>
            <a:r>
              <a:rPr lang="en-US" dirty="0">
                <a:latin typeface="Arial" pitchFamily="34" charset="0"/>
                <a:ea typeface="ＭＳ Ｐゴシック" pitchFamily="-107" charset="-128"/>
              </a:rPr>
              <a:t>• E&amp;M: Encrypt-and-MAC. Use two keys. Encrypt the message to yield the ciphertext C = E(K 2, M). Authenticate the plaintext with T = MAC(K1, M) to yield the pair (C, T). These operations can be performed in either order. </a:t>
            </a:r>
            <a:r>
              <a:rPr lang="en-US" dirty="0" err="1">
                <a:latin typeface="Arial" pitchFamily="34" charset="0"/>
                <a:ea typeface="ＭＳ Ｐゴシック" pitchFamily="-107" charset="-128"/>
              </a:rPr>
              <a:t>cf</a:t>
            </a:r>
            <a:r>
              <a:rPr lang="en-US" dirty="0">
                <a:latin typeface="Arial" pitchFamily="34" charset="0"/>
                <a:ea typeface="ＭＳ Ｐゴシック" pitchFamily="-107" charset="-128"/>
              </a:rPr>
              <a:t> SSH</a:t>
            </a:r>
          </a:p>
          <a:p>
            <a:r>
              <a:rPr lang="en-US" dirty="0">
                <a:latin typeface="Arial" pitchFamily="34" charset="0"/>
                <a:ea typeface="ＭＳ Ｐゴシック" pitchFamily="-107" charset="-128"/>
              </a:rPr>
              <a:t>Both decryption and verification are straightforward for each approach. There are security vulnerabilities with all of these approaches.</a:t>
            </a:r>
          </a:p>
        </p:txBody>
      </p:sp>
      <p:sp>
        <p:nvSpPr>
          <p:cNvPr id="60420" name="Slide Number Placeholder 3"/>
          <p:cNvSpPr>
            <a:spLocks noGrp="1"/>
          </p:cNvSpPr>
          <p:nvPr>
            <p:ph type="sldNum" sz="quarter" idx="5"/>
          </p:nvPr>
        </p:nvSpPr>
        <p:spPr>
          <a:noFill/>
        </p:spPr>
        <p:txBody>
          <a:bodyPr/>
          <a:lstStyle/>
          <a:p>
            <a:fld id="{E46CF7D1-7A2A-446A-A8B3-35B47754010C}" type="slidenum">
              <a:rPr lang="en-AU"/>
              <a:pPr/>
              <a:t>26</a:t>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53E28348-130C-46EF-96A9-509679E337B8}" type="slidenum">
              <a:rPr lang="en-AU"/>
              <a:pPr/>
              <a:t>34</a:t>
            </a:fld>
            <a:endParaRPr lang="en-AU"/>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Chapter 12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3F52183-0F10-482F-A008-88C859539C2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F52183-0F10-482F-A008-88C859539C2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F52183-0F10-482F-A008-88C859539C24}"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F52183-0F10-482F-A008-88C859539C24}"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F52183-0F10-482F-A008-88C859539C24}"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F52183-0F10-482F-A008-88C859539C24}"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F52183-0F10-482F-A008-88C859539C24}"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F52183-0F10-482F-A008-88C859539C24}"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F52183-0F10-482F-A008-88C859539C24}"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3C8417-55E2-4D73-B9D1-0236301837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2706" name="Rectangle 1026"/>
          <p:cNvSpPr>
            <a:spLocks noGrp="1" noChangeArrowheads="1"/>
          </p:cNvSpPr>
          <p:nvPr>
            <p:ph type="ctrTitle"/>
          </p:nvPr>
        </p:nvSpPr>
        <p:spPr>
          <a:xfrm>
            <a:off x="582930" y="731519"/>
            <a:ext cx="2133893" cy="3237579"/>
          </a:xfrm>
        </p:spPr>
        <p:txBody>
          <a:bodyPr vert="horz" lIns="91440" tIns="45720" rIns="91440" bIns="45720" rtlCol="0" anchor="ctr">
            <a:normAutofit/>
          </a:bodyPr>
          <a:lstStyle/>
          <a:p>
            <a:pPr algn="l">
              <a:lnSpc>
                <a:spcPct val="90000"/>
              </a:lnSpc>
            </a:pPr>
            <a:r>
              <a:rPr lang="en-US" sz="2800" kern="1200">
                <a:solidFill>
                  <a:srgbClr val="FFFFFF"/>
                </a:solidFill>
                <a:latin typeface="+mj-lt"/>
                <a:ea typeface="+mj-ea"/>
                <a:cs typeface="+mj-cs"/>
              </a:rPr>
              <a:t>Cryptography and Network Security</a:t>
            </a:r>
            <a:br>
              <a:rPr lang="en-US" sz="2800" kern="1200">
                <a:solidFill>
                  <a:srgbClr val="FFFFFF"/>
                </a:solidFill>
                <a:latin typeface="+mj-lt"/>
                <a:ea typeface="+mj-ea"/>
                <a:cs typeface="+mj-cs"/>
              </a:rPr>
            </a:br>
            <a:r>
              <a:rPr lang="en-US" sz="2800" kern="1200">
                <a:solidFill>
                  <a:srgbClr val="FFFFFF"/>
                </a:solidFill>
                <a:latin typeface="+mj-lt"/>
                <a:ea typeface="+mj-ea"/>
                <a:cs typeface="+mj-cs"/>
              </a:rPr>
              <a:t>Chapter 12</a:t>
            </a:r>
          </a:p>
        </p:txBody>
      </p:sp>
      <p:sp>
        <p:nvSpPr>
          <p:cNvPr id="74" name="Rectangle 7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6" name="Rectangle 7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72F2E1E-2A80-43EA-B3E7-9E98E7F9970F}"/>
              </a:ext>
            </a:extLst>
          </p:cNvPr>
          <p:cNvSpPr txBox="1"/>
          <p:nvPr/>
        </p:nvSpPr>
        <p:spPr>
          <a:xfrm>
            <a:off x="547895" y="4878238"/>
            <a:ext cx="2118666" cy="1200329"/>
          </a:xfrm>
          <a:prstGeom prst="rect">
            <a:avLst/>
          </a:prstGeom>
          <a:noFill/>
        </p:spPr>
        <p:txBody>
          <a:bodyPr wrap="square">
            <a:spAutoFit/>
          </a:bodyPr>
          <a:lstStyle/>
          <a:p>
            <a:pPr indent="-228600" algn="l">
              <a:lnSpc>
                <a:spcPct val="90000"/>
              </a:lnSpc>
              <a:buFont typeface="Arial" panose="020B0604020202020204" pitchFamily="34" charset="0"/>
              <a:buChar char="•"/>
            </a:pPr>
            <a:r>
              <a:rPr lang="en-US" sz="1600" dirty="0">
                <a:solidFill>
                  <a:schemeClr val="bg1"/>
                </a:solidFill>
              </a:rPr>
              <a:t>Fifth Edition</a:t>
            </a:r>
          </a:p>
          <a:p>
            <a:pPr indent="228600" algn="l">
              <a:lnSpc>
                <a:spcPct val="90000"/>
              </a:lnSpc>
            </a:pPr>
            <a:r>
              <a:rPr lang="en-US" sz="1600" dirty="0">
                <a:solidFill>
                  <a:schemeClr val="bg1"/>
                </a:solidFill>
              </a:rPr>
              <a:t>by William Stallings	</a:t>
            </a:r>
          </a:p>
          <a:p>
            <a:pPr indent="-228600" algn="l">
              <a:lnSpc>
                <a:spcPct val="90000"/>
              </a:lnSpc>
              <a:buFont typeface="Arial" panose="020B0604020202020204" pitchFamily="34" charset="0"/>
              <a:buChar char="•"/>
            </a:pPr>
            <a:endParaRPr lang="en-US" sz="1600" dirty="0">
              <a:solidFill>
                <a:schemeClr val="bg1"/>
              </a:solidFill>
            </a:endParaRPr>
          </a:p>
          <a:p>
            <a:pPr indent="-228600" algn="l">
              <a:lnSpc>
                <a:spcPct val="90000"/>
              </a:lnSpc>
              <a:buFont typeface="Arial" panose="020B0604020202020204" pitchFamily="34" charset="0"/>
              <a:buChar char="•"/>
            </a:pPr>
            <a:r>
              <a:rPr lang="en-US" sz="1600" dirty="0">
                <a:solidFill>
                  <a:schemeClr val="bg1"/>
                </a:solidFill>
              </a:rPr>
              <a:t>Lecture slides by</a:t>
            </a:r>
          </a:p>
          <a:p>
            <a:pPr indent="228600" algn="l">
              <a:lnSpc>
                <a:spcPct val="90000"/>
              </a:lnSpc>
            </a:pPr>
            <a:r>
              <a:rPr lang="en-US" sz="1600" dirty="0">
                <a:solidFill>
                  <a:schemeClr val="bg1"/>
                </a:solidFill>
              </a:rPr>
              <a:t>Lawrie Brown</a:t>
            </a:r>
          </a:p>
        </p:txBody>
      </p:sp>
      <p:sp>
        <p:nvSpPr>
          <p:cNvPr id="9" name="Rectangle 3">
            <a:extLst>
              <a:ext uri="{FF2B5EF4-FFF2-40B4-BE49-F238E27FC236}">
                <a16:creationId xmlns:a16="http://schemas.microsoft.com/office/drawing/2014/main" id="{77D0B7EE-EEE3-49BD-8049-75FFAC14A38A}"/>
              </a:ext>
            </a:extLst>
          </p:cNvPr>
          <p:cNvSpPr>
            <a:spLocks noGrp="1" noChangeArrowheads="1"/>
          </p:cNvSpPr>
          <p:nvPr>
            <p:ph type="subTitle" idx="1"/>
          </p:nvPr>
        </p:nvSpPr>
        <p:spPr>
          <a:xfrm>
            <a:off x="3284781" y="686862"/>
            <a:ext cx="5278194" cy="5475129"/>
          </a:xfrm>
        </p:spPr>
        <p:txBody>
          <a:bodyPr vert="horz" lIns="91440" tIns="45720" rIns="91440" bIns="45720" rtlCol="0" anchor="ctr">
            <a:normAutofit/>
          </a:bodyPr>
          <a:lstStyle/>
          <a:p>
            <a:pPr>
              <a:lnSpc>
                <a:spcPct val="90000"/>
              </a:lnSpc>
            </a:pPr>
            <a:endParaRPr lang="en-US" sz="3600" dirty="0">
              <a:solidFill>
                <a:schemeClr val="tx1"/>
              </a:solidFill>
              <a:ea typeface="ＭＳ Ｐゴシック" pitchFamily="-107" charset="-128"/>
            </a:endParaRPr>
          </a:p>
          <a:p>
            <a:pPr>
              <a:lnSpc>
                <a:spcPct val="90000"/>
              </a:lnSpc>
            </a:pPr>
            <a:r>
              <a:rPr lang="en-US" sz="3600" dirty="0">
                <a:solidFill>
                  <a:schemeClr val="tx1"/>
                </a:solidFill>
                <a:ea typeface="ＭＳ Ｐゴシック" pitchFamily="-107" charset="-128"/>
              </a:rPr>
              <a:t>Message Authentication Codes</a:t>
            </a:r>
          </a:p>
          <a:p>
            <a:pPr>
              <a:lnSpc>
                <a:spcPct val="90000"/>
              </a:lnSpc>
            </a:pPr>
            <a:endParaRPr lang="en-US" sz="3600" dirty="0">
              <a:solidFill>
                <a:schemeClr val="tx1"/>
              </a:solidFill>
              <a:ea typeface="ＭＳ Ｐゴシック" pitchFamily="-107" charset="-128"/>
            </a:endParaRPr>
          </a:p>
          <a:p>
            <a:pPr>
              <a:spcBef>
                <a:spcPts val="0"/>
              </a:spcBef>
            </a:pPr>
            <a:r>
              <a:rPr lang="en-US" sz="2400" dirty="0">
                <a:solidFill>
                  <a:schemeClr val="tx1"/>
                </a:solidFill>
              </a:rPr>
              <a:t>Arabic Language Audio Comments by</a:t>
            </a:r>
          </a:p>
          <a:p>
            <a:pPr>
              <a:spcBef>
                <a:spcPts val="0"/>
              </a:spcBef>
            </a:pPr>
            <a:r>
              <a:rPr lang="en-US" sz="2400" dirty="0">
                <a:solidFill>
                  <a:schemeClr val="tx1"/>
                </a:solidFill>
              </a:rPr>
              <a:t>Prof. Mohamed Ashraf Madkour</a:t>
            </a:r>
          </a:p>
          <a:p>
            <a:pPr>
              <a:lnSpc>
                <a:spcPct val="90000"/>
              </a:lnSpc>
            </a:pPr>
            <a:endParaRPr lang="en-US" sz="36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dirty="0">
                <a:solidFill>
                  <a:srgbClr val="FFFFFF"/>
                </a:solidFill>
                <a:ea typeface="ＭＳ Ｐゴシック" pitchFamily="-107" charset="-128"/>
                <a:cs typeface="ＭＳ Ｐゴシック" pitchFamily="-107" charset="-128"/>
              </a:rPr>
              <a:t>Overview</a:t>
            </a:r>
          </a:p>
        </p:txBody>
      </p:sp>
      <p:sp>
        <p:nvSpPr>
          <p:cNvPr id="46083" name="Rectangle 3"/>
          <p:cNvSpPr>
            <a:spLocks noGrp="1" noChangeArrowheads="1"/>
          </p:cNvSpPr>
          <p:nvPr>
            <p:ph type="body" idx="1"/>
          </p:nvPr>
        </p:nvSpPr>
        <p:spPr>
          <a:xfrm>
            <a:off x="1025718" y="2490436"/>
            <a:ext cx="7281746" cy="3567173"/>
          </a:xfrm>
        </p:spPr>
        <p:txBody>
          <a:bodyPr anchor="ctr">
            <a:normAutofit/>
          </a:bodyPr>
          <a:lstStyle/>
          <a:p>
            <a:pPr eaLnBrk="1" hangingPunct="1">
              <a:lnSpc>
                <a:spcPct val="90000"/>
              </a:lnSpc>
            </a:pPr>
            <a:r>
              <a:rPr lang="en-AU" sz="2100" dirty="0">
                <a:ea typeface="ＭＳ Ｐゴシック" pitchFamily="-107" charset="-128"/>
              </a:rPr>
              <a:t>message authentication is concerned with: </a:t>
            </a:r>
          </a:p>
          <a:p>
            <a:pPr lvl="1" eaLnBrk="1" hangingPunct="1">
              <a:lnSpc>
                <a:spcPct val="90000"/>
              </a:lnSpc>
            </a:pPr>
            <a:r>
              <a:rPr lang="en-AU" sz="2100" dirty="0">
                <a:ea typeface="ＭＳ Ｐゴシック" pitchFamily="-107" charset="-128"/>
              </a:rPr>
              <a:t>protecting the integrity of a message </a:t>
            </a:r>
          </a:p>
          <a:p>
            <a:pPr lvl="1" eaLnBrk="1" hangingPunct="1">
              <a:lnSpc>
                <a:spcPct val="90000"/>
              </a:lnSpc>
            </a:pPr>
            <a:r>
              <a:rPr lang="en-AU" sz="2100" dirty="0">
                <a:ea typeface="ＭＳ Ｐゴシック" pitchFamily="-107" charset="-128"/>
              </a:rPr>
              <a:t>validating identity of originator </a:t>
            </a:r>
          </a:p>
          <a:p>
            <a:pPr lvl="1" eaLnBrk="1" hangingPunct="1">
              <a:lnSpc>
                <a:spcPct val="90000"/>
              </a:lnSpc>
            </a:pPr>
            <a:r>
              <a:rPr lang="en-AU" sz="2100" dirty="0">
                <a:ea typeface="ＭＳ Ｐゴシック" pitchFamily="-107" charset="-128"/>
              </a:rPr>
              <a:t>non-repudiation of origin (dispute resolution)</a:t>
            </a:r>
          </a:p>
          <a:p>
            <a:pPr eaLnBrk="1" hangingPunct="1">
              <a:lnSpc>
                <a:spcPct val="90000"/>
              </a:lnSpc>
            </a:pPr>
            <a:r>
              <a:rPr lang="en-US" sz="2100" dirty="0">
                <a:ea typeface="ＭＳ Ｐゴシック" pitchFamily="-107" charset="-128"/>
              </a:rPr>
              <a:t>will consider the security requirements</a:t>
            </a:r>
          </a:p>
          <a:p>
            <a:pPr eaLnBrk="1" hangingPunct="1">
              <a:lnSpc>
                <a:spcPct val="90000"/>
              </a:lnSpc>
            </a:pPr>
            <a:r>
              <a:rPr lang="en-US" sz="2100" dirty="0">
                <a:ea typeface="ＭＳ Ｐゴシック" pitchFamily="-107" charset="-128"/>
              </a:rPr>
              <a:t>then three alternative functions used for message authentication:</a:t>
            </a:r>
          </a:p>
          <a:p>
            <a:pPr lvl="1" eaLnBrk="1" hangingPunct="1">
              <a:lnSpc>
                <a:spcPct val="90000"/>
              </a:lnSpc>
            </a:pPr>
            <a:r>
              <a:rPr lang="en-US" sz="2100" dirty="0">
                <a:ea typeface="ＭＳ Ｐゴシック" pitchFamily="-107" charset="-128"/>
              </a:rPr>
              <a:t>hash function (see Chapter 11)</a:t>
            </a:r>
            <a:endParaRPr lang="en-AU" sz="2100" dirty="0">
              <a:ea typeface="ＭＳ Ｐゴシック" pitchFamily="-107" charset="-128"/>
            </a:endParaRPr>
          </a:p>
          <a:p>
            <a:pPr lvl="1" eaLnBrk="1" hangingPunct="1">
              <a:lnSpc>
                <a:spcPct val="90000"/>
              </a:lnSpc>
            </a:pPr>
            <a:r>
              <a:rPr lang="en-US" sz="2100" dirty="0">
                <a:ea typeface="ＭＳ Ｐゴシック" pitchFamily="-107" charset="-128"/>
              </a:rPr>
              <a:t>message encryption (symmetric &amp; public)</a:t>
            </a:r>
          </a:p>
          <a:p>
            <a:pPr lvl="1" eaLnBrk="1" hangingPunct="1">
              <a:lnSpc>
                <a:spcPct val="90000"/>
              </a:lnSpc>
            </a:pPr>
            <a:r>
              <a:rPr lang="en-US" sz="2100" dirty="0">
                <a:ea typeface="ＭＳ Ｐゴシック" pitchFamily="-107" charset="-128"/>
              </a:rPr>
              <a:t>message authentication code (MAC)</a:t>
            </a:r>
          </a:p>
          <a:p>
            <a:pPr eaLnBrk="1" hangingPunct="1">
              <a:lnSpc>
                <a:spcPct val="90000"/>
              </a:lnSpc>
            </a:pPr>
            <a:endParaRPr lang="en-AU" sz="2100" dirty="0">
              <a:ea typeface="ＭＳ Ｐゴシック" pitchFamily="-107"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ea typeface="ＭＳ Ｐゴシック" pitchFamily="-107" charset="-128"/>
                <a:cs typeface="ＭＳ Ｐゴシック" pitchFamily="-107" charset="-128"/>
              </a:rPr>
              <a:t>Message Authentication</a:t>
            </a:r>
          </a:p>
        </p:txBody>
      </p:sp>
      <p:sp>
        <p:nvSpPr>
          <p:cNvPr id="11" name="TextBox 10">
            <a:extLst>
              <a:ext uri="{FF2B5EF4-FFF2-40B4-BE49-F238E27FC236}">
                <a16:creationId xmlns:a16="http://schemas.microsoft.com/office/drawing/2014/main" id="{6F3236F6-D7E6-4145-8EF9-636C801020FE}"/>
              </a:ext>
            </a:extLst>
          </p:cNvPr>
          <p:cNvSpPr txBox="1"/>
          <p:nvPr/>
        </p:nvSpPr>
        <p:spPr>
          <a:xfrm>
            <a:off x="1313746" y="3016188"/>
            <a:ext cx="6629400" cy="2616101"/>
          </a:xfrm>
          <a:prstGeom prst="rect">
            <a:avLst/>
          </a:prstGeom>
          <a:noFill/>
        </p:spPr>
        <p:txBody>
          <a:bodyPr wrap="square">
            <a:spAutoFit/>
          </a:bodyPr>
          <a:lstStyle/>
          <a:p>
            <a:pPr marL="569913" lvl="0" indent="-569913" algn="l" rtl="0">
              <a:buFont typeface="Wingdings" panose="05000000000000000000" pitchFamily="2" charset="2"/>
              <a:buChar char="Ø"/>
            </a:pPr>
            <a:r>
              <a:rPr lang="en-US" sz="2800" b="0" dirty="0">
                <a:latin typeface="+mj-lt"/>
              </a:rPr>
              <a:t>Protects against active attacks</a:t>
            </a:r>
          </a:p>
          <a:p>
            <a:pPr marL="569913" indent="-569913">
              <a:buFont typeface="Wingdings" panose="05000000000000000000" pitchFamily="2" charset="2"/>
              <a:buChar char="Ø"/>
            </a:pPr>
            <a:r>
              <a:rPr lang="en-US" sz="2800" b="0" dirty="0">
                <a:latin typeface="+mj-lt"/>
              </a:rPr>
              <a:t>Verifies received message is authentic</a:t>
            </a:r>
          </a:p>
          <a:p>
            <a:pPr marL="969963" lvl="0" indent="-279400" rtl="0">
              <a:buFont typeface="Arial" panose="020B0604020202020204" pitchFamily="34" charset="0"/>
              <a:buChar char="•"/>
            </a:pPr>
            <a:r>
              <a:rPr lang="en-US" sz="2000" b="0" dirty="0">
                <a:latin typeface="+mj-lt"/>
              </a:rPr>
              <a:t>Contents have not been altered</a:t>
            </a:r>
          </a:p>
          <a:p>
            <a:pPr marL="969963" lvl="0" indent="-279400" rtl="0">
              <a:buFont typeface="Arial" panose="020B0604020202020204" pitchFamily="34" charset="0"/>
              <a:buChar char="•"/>
            </a:pPr>
            <a:r>
              <a:rPr lang="en-US" sz="2000" b="0" dirty="0">
                <a:latin typeface="+mj-lt"/>
              </a:rPr>
              <a:t>From authentic source</a:t>
            </a:r>
          </a:p>
          <a:p>
            <a:pPr marL="969963" lvl="0" indent="-279400" rtl="0">
              <a:buFont typeface="Arial" panose="020B0604020202020204" pitchFamily="34" charset="0"/>
              <a:buChar char="•"/>
            </a:pPr>
            <a:r>
              <a:rPr lang="en-US" sz="2000" b="0" dirty="0">
                <a:latin typeface="+mj-lt"/>
              </a:rPr>
              <a:t>Timely and in correct sequence</a:t>
            </a:r>
          </a:p>
          <a:p>
            <a:pPr marL="569913" indent="-569913">
              <a:buFont typeface="Wingdings" panose="05000000000000000000" pitchFamily="2" charset="2"/>
              <a:buChar char="Ø"/>
            </a:pPr>
            <a:r>
              <a:rPr lang="en-US" sz="2800" b="0" dirty="0">
                <a:latin typeface="+mj-lt"/>
              </a:rPr>
              <a:t>Can use conventional encryption</a:t>
            </a:r>
          </a:p>
          <a:p>
            <a:pPr marL="969963" indent="-279400">
              <a:buFont typeface="Arial" panose="020B0604020202020204" pitchFamily="34" charset="0"/>
              <a:buChar char="•"/>
            </a:pPr>
            <a:r>
              <a:rPr lang="en-US" sz="2000" b="0" dirty="0">
                <a:latin typeface="+mj-lt"/>
              </a:rPr>
              <a:t>Only sender &amp; receiver share a key</a:t>
            </a:r>
          </a:p>
        </p:txBody>
      </p:sp>
    </p:spTree>
    <p:extLst>
      <p:ext uri="{BB962C8B-B14F-4D97-AF65-F5344CB8AC3E}">
        <p14:creationId xmlns:p14="http://schemas.microsoft.com/office/powerpoint/2010/main" val="2297600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US" sz="3600" dirty="0">
                <a:solidFill>
                  <a:schemeClr val="bg1"/>
                </a:solidFill>
                <a:ea typeface="ＭＳ Ｐゴシック" pitchFamily="-107" charset="-128"/>
              </a:rPr>
              <a:t>Message Security Requirements</a:t>
            </a:r>
            <a:endParaRPr lang="en-AU" sz="3500" dirty="0">
              <a:solidFill>
                <a:schemeClr val="bg1"/>
              </a:solidFill>
              <a:ea typeface="ＭＳ Ｐゴシック" pitchFamily="-107" charset="-128"/>
              <a:cs typeface="ＭＳ Ｐゴシック" pitchFamily="-107" charset="-128"/>
            </a:endParaRPr>
          </a:p>
        </p:txBody>
      </p:sp>
      <p:sp>
        <p:nvSpPr>
          <p:cNvPr id="12" name="Rectangle 3">
            <a:extLst>
              <a:ext uri="{FF2B5EF4-FFF2-40B4-BE49-F238E27FC236}">
                <a16:creationId xmlns:a16="http://schemas.microsoft.com/office/drawing/2014/main" id="{85BCD145-EF58-4383-931D-0212305FA56A}"/>
              </a:ext>
            </a:extLst>
          </p:cNvPr>
          <p:cNvSpPr txBox="1">
            <a:spLocks noChangeArrowheads="1"/>
          </p:cNvSpPr>
          <p:nvPr/>
        </p:nvSpPr>
        <p:spPr>
          <a:xfrm>
            <a:off x="1151041" y="2255145"/>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Font typeface="Arial" pitchFamily="34" charset="0"/>
              <a:buNone/>
            </a:pPr>
            <a:r>
              <a:rPr lang="en-US" sz="2400" dirty="0">
                <a:solidFill>
                  <a:srgbClr val="FF0000"/>
                </a:solidFill>
                <a:ea typeface="ＭＳ Ｐゴシック" pitchFamily="-107" charset="-128"/>
              </a:rPr>
              <a:t>Attacks related to </a:t>
            </a:r>
            <a:r>
              <a:rPr lang="en-US" sz="2400" dirty="0">
                <a:solidFill>
                  <a:srgbClr val="FF0000"/>
                </a:solidFill>
                <a:ea typeface="ＭＳ Ｐゴシック" pitchFamily="-107" charset="-128"/>
                <a:cs typeface="Arial" pitchFamily="34" charset="0"/>
              </a:rPr>
              <a:t>message confidentiality</a:t>
            </a:r>
            <a:endParaRPr lang="en-US" sz="2400" dirty="0">
              <a:solidFill>
                <a:srgbClr val="FF0000"/>
              </a:solidFill>
              <a:ea typeface="ＭＳ Ｐゴシック" pitchFamily="-107" charset="-128"/>
            </a:endParaRPr>
          </a:p>
          <a:p>
            <a:pPr marL="514350" indent="-514350">
              <a:lnSpc>
                <a:spcPct val="90000"/>
              </a:lnSpc>
              <a:buFont typeface="+mj-lt"/>
              <a:buAutoNum type="arabicPeriod"/>
            </a:pPr>
            <a:r>
              <a:rPr lang="en-US" sz="2400" dirty="0">
                <a:ea typeface="ＭＳ Ｐゴシック" pitchFamily="-107" charset="-128"/>
              </a:rPr>
              <a:t>disclosure (i.e., reading the message contents)</a:t>
            </a:r>
          </a:p>
          <a:p>
            <a:pPr marL="514350" indent="-514350">
              <a:lnSpc>
                <a:spcPct val="90000"/>
              </a:lnSpc>
              <a:buFont typeface="+mj-lt"/>
              <a:buAutoNum type="arabicPeriod"/>
            </a:pPr>
            <a:r>
              <a:rPr lang="en-US" sz="2400" dirty="0">
                <a:ea typeface="ＭＳ Ｐゴシック" pitchFamily="-107" charset="-128"/>
              </a:rPr>
              <a:t>traffic analysis</a:t>
            </a:r>
          </a:p>
          <a:p>
            <a:pPr marL="0" indent="0">
              <a:lnSpc>
                <a:spcPct val="90000"/>
              </a:lnSpc>
              <a:buFont typeface="Arial" pitchFamily="34" charset="0"/>
              <a:buNone/>
            </a:pPr>
            <a:r>
              <a:rPr lang="en-US" sz="2400" dirty="0">
                <a:solidFill>
                  <a:srgbClr val="FF0000"/>
                </a:solidFill>
                <a:ea typeface="ＭＳ Ｐゴシック" pitchFamily="-107" charset="-128"/>
              </a:rPr>
              <a:t>Attacks related to message authentication</a:t>
            </a:r>
          </a:p>
          <a:p>
            <a:pPr marL="514350" indent="-514350">
              <a:lnSpc>
                <a:spcPct val="90000"/>
              </a:lnSpc>
              <a:buFont typeface="+mj-lt"/>
              <a:buAutoNum type="arabicPeriod" startAt="3"/>
            </a:pPr>
            <a:r>
              <a:rPr lang="en-US" sz="2400" dirty="0">
                <a:ea typeface="ＭＳ Ｐゴシック" pitchFamily="-107" charset="-128"/>
              </a:rPr>
              <a:t>masquerade</a:t>
            </a:r>
          </a:p>
          <a:p>
            <a:pPr marL="514350" indent="-514350">
              <a:lnSpc>
                <a:spcPct val="90000"/>
              </a:lnSpc>
              <a:buFont typeface="+mj-lt"/>
              <a:buAutoNum type="arabicPeriod" startAt="3"/>
            </a:pPr>
            <a:r>
              <a:rPr lang="en-US" sz="2400" dirty="0">
                <a:ea typeface="ＭＳ Ｐゴシック" pitchFamily="-107" charset="-128"/>
              </a:rPr>
              <a:t>content modification</a:t>
            </a:r>
          </a:p>
          <a:p>
            <a:pPr marL="514350" indent="-514350">
              <a:lnSpc>
                <a:spcPct val="90000"/>
              </a:lnSpc>
              <a:buFont typeface="+mj-lt"/>
              <a:buAutoNum type="arabicPeriod" startAt="3"/>
            </a:pPr>
            <a:r>
              <a:rPr lang="en-US" sz="2400" dirty="0">
                <a:ea typeface="ＭＳ Ｐゴシック" pitchFamily="-107" charset="-128"/>
              </a:rPr>
              <a:t>sequence modification</a:t>
            </a:r>
          </a:p>
          <a:p>
            <a:pPr marL="514350" indent="-514350">
              <a:lnSpc>
                <a:spcPct val="90000"/>
              </a:lnSpc>
              <a:buFont typeface="+mj-lt"/>
              <a:buAutoNum type="arabicPeriod" startAt="3"/>
            </a:pPr>
            <a:r>
              <a:rPr lang="en-US" sz="2400" dirty="0">
                <a:ea typeface="ＭＳ Ｐゴシック" pitchFamily="-107" charset="-128"/>
              </a:rPr>
              <a:t>timing modification</a:t>
            </a:r>
          </a:p>
          <a:p>
            <a:pPr marL="514350" indent="-514350">
              <a:lnSpc>
                <a:spcPct val="90000"/>
              </a:lnSpc>
              <a:buFont typeface="+mj-lt"/>
              <a:buAutoNum type="arabicPeriod" startAt="3"/>
            </a:pPr>
            <a:r>
              <a:rPr lang="en-US" sz="2400" dirty="0">
                <a:ea typeface="ＭＳ Ｐゴシック" pitchFamily="-107" charset="-128"/>
              </a:rPr>
              <a:t>source repudiation</a:t>
            </a:r>
          </a:p>
          <a:p>
            <a:pPr marL="514350" indent="-514350">
              <a:lnSpc>
                <a:spcPct val="90000"/>
              </a:lnSpc>
              <a:buFont typeface="+mj-lt"/>
              <a:buAutoNum type="arabicPeriod" startAt="3"/>
            </a:pPr>
            <a:r>
              <a:rPr lang="en-US" sz="2400" dirty="0">
                <a:ea typeface="ＭＳ Ｐゴシック" pitchFamily="-107" charset="-128"/>
              </a:rPr>
              <a:t>destination repudiation</a:t>
            </a:r>
            <a:endParaRPr lang="en-AU" sz="2400" dirty="0">
              <a:ea typeface="ＭＳ Ｐゴシック" pitchFamily="-107" charset="-128"/>
            </a:endParaRPr>
          </a:p>
        </p:txBody>
      </p:sp>
      <p:sp>
        <p:nvSpPr>
          <p:cNvPr id="13" name="TextBox 12">
            <a:extLst>
              <a:ext uri="{FF2B5EF4-FFF2-40B4-BE49-F238E27FC236}">
                <a16:creationId xmlns:a16="http://schemas.microsoft.com/office/drawing/2014/main" id="{747E6A80-170D-48A8-9D9F-3B00BBEF8EFC}"/>
              </a:ext>
            </a:extLst>
          </p:cNvPr>
          <p:cNvSpPr txBox="1"/>
          <p:nvPr/>
        </p:nvSpPr>
        <p:spPr>
          <a:xfrm>
            <a:off x="5486400" y="4188065"/>
            <a:ext cx="3177461" cy="2031325"/>
          </a:xfrm>
          <a:prstGeom prst="rect">
            <a:avLst/>
          </a:prstGeom>
          <a:solidFill>
            <a:schemeClr val="accent6">
              <a:lumMod val="20000"/>
              <a:lumOff val="80000"/>
            </a:schemeClr>
          </a:solidFill>
          <a:ln>
            <a:solidFill>
              <a:srgbClr val="FF0000"/>
            </a:solidFill>
          </a:ln>
        </p:spPr>
        <p:txBody>
          <a:bodyPr wrap="square" rtlCol="0">
            <a:spAutoFit/>
          </a:bodyPr>
          <a:lstStyle/>
          <a:p>
            <a:r>
              <a:rPr lang="en-AU" dirty="0">
                <a:latin typeface="Arial" pitchFamily="34" charset="0"/>
                <a:ea typeface="ＭＳ Ｐゴシック" pitchFamily="-107" charset="-128"/>
              </a:rPr>
              <a:t>There are three </a:t>
            </a:r>
            <a:r>
              <a:rPr lang="en-US" dirty="0">
                <a:latin typeface="Times-Roman" charset="0"/>
                <a:ea typeface="ＭＳ Ｐゴシック" pitchFamily="-107" charset="-128"/>
              </a:rPr>
              <a:t>types of functions that may be used to produce an authenticator:</a:t>
            </a:r>
          </a:p>
          <a:p>
            <a:pPr marL="457200" indent="-223838">
              <a:buFont typeface="Arial" panose="020B0604020202020204" pitchFamily="34" charset="0"/>
              <a:buChar char="•"/>
            </a:pPr>
            <a:r>
              <a:rPr lang="en-US" dirty="0">
                <a:latin typeface="Arial" pitchFamily="34" charset="0"/>
                <a:ea typeface="ＭＳ Ｐゴシック" pitchFamily="-107" charset="-128"/>
              </a:rPr>
              <a:t>a hash function</a:t>
            </a:r>
          </a:p>
          <a:p>
            <a:pPr marL="457200" indent="-223838">
              <a:buFont typeface="Arial" panose="020B0604020202020204" pitchFamily="34" charset="0"/>
              <a:buChar char="•"/>
            </a:pPr>
            <a:r>
              <a:rPr lang="en-US" dirty="0">
                <a:latin typeface="Arial" pitchFamily="34" charset="0"/>
                <a:ea typeface="ＭＳ Ｐゴシック" pitchFamily="-107" charset="-128"/>
              </a:rPr>
              <a:t>message encryption</a:t>
            </a:r>
          </a:p>
          <a:p>
            <a:pPr marL="457200" indent="-223838">
              <a:buFont typeface="Arial" panose="020B0604020202020204" pitchFamily="34" charset="0"/>
              <a:buChar char="•"/>
            </a:pPr>
            <a:r>
              <a:rPr lang="en-US" dirty="0">
                <a:latin typeface="Arial" pitchFamily="34" charset="0"/>
                <a:ea typeface="ＭＳ Ｐゴシック" pitchFamily="-107" charset="-128"/>
              </a:rPr>
              <a:t>message authentication code (MAC).</a:t>
            </a:r>
            <a:endParaRPr lang="en-US" dirty="0"/>
          </a:p>
        </p:txBody>
      </p:sp>
    </p:spTree>
    <p:extLst>
      <p:ext uri="{BB962C8B-B14F-4D97-AF65-F5344CB8AC3E}">
        <p14:creationId xmlns:p14="http://schemas.microsoft.com/office/powerpoint/2010/main" val="2327759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36469-1F20-D663-D020-F1A6BDF8A1C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A62B58C-3635-68DF-7BA3-8E3D83664BC7}"/>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57EE70D-E255-71E7-5223-E87EBA730F5B}"/>
              </a:ext>
            </a:extLst>
          </p:cNvPr>
          <p:cNvPicPr>
            <a:picLocks noChangeAspect="1"/>
          </p:cNvPicPr>
          <p:nvPr/>
        </p:nvPicPr>
        <p:blipFill>
          <a:blip r:embed="rId2"/>
          <a:stretch>
            <a:fillRect/>
          </a:stretch>
        </p:blipFill>
        <p:spPr>
          <a:xfrm>
            <a:off x="0" y="922283"/>
            <a:ext cx="9144000" cy="5097517"/>
          </a:xfrm>
          <a:prstGeom prst="rect">
            <a:avLst/>
          </a:prstGeom>
        </p:spPr>
      </p:pic>
    </p:spTree>
    <p:extLst>
      <p:ext uri="{BB962C8B-B14F-4D97-AF65-F5344CB8AC3E}">
        <p14:creationId xmlns:p14="http://schemas.microsoft.com/office/powerpoint/2010/main" val="149197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E38A3-8424-60D5-7D3F-260F553BA2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9EE478-2BCA-9F30-2866-6652FBE9438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D50E3A9-E860-191C-A229-342EF9AACD14}"/>
              </a:ext>
            </a:extLst>
          </p:cNvPr>
          <p:cNvPicPr>
            <a:picLocks noChangeAspect="1"/>
          </p:cNvPicPr>
          <p:nvPr/>
        </p:nvPicPr>
        <p:blipFill>
          <a:blip r:embed="rId2"/>
          <a:stretch>
            <a:fillRect/>
          </a:stretch>
        </p:blipFill>
        <p:spPr>
          <a:xfrm>
            <a:off x="0" y="152400"/>
            <a:ext cx="9144000" cy="6529306"/>
          </a:xfrm>
          <a:prstGeom prst="rect">
            <a:avLst/>
          </a:prstGeom>
        </p:spPr>
      </p:pic>
    </p:spTree>
    <p:extLst>
      <p:ext uri="{BB962C8B-B14F-4D97-AF65-F5344CB8AC3E}">
        <p14:creationId xmlns:p14="http://schemas.microsoft.com/office/powerpoint/2010/main" val="4253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Rectangle 8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017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Symmetric Message Encryption</a:t>
            </a:r>
            <a:endParaRPr lang="en-AU" sz="3500">
              <a:solidFill>
                <a:srgbClr val="FFFFFF"/>
              </a:solidFill>
              <a:ea typeface="ＭＳ Ｐゴシック" pitchFamily="-107" charset="-128"/>
            </a:endParaRPr>
          </a:p>
        </p:txBody>
      </p:sp>
      <p:sp>
        <p:nvSpPr>
          <p:cNvPr id="50179" name="Rectangle 3"/>
          <p:cNvSpPr>
            <a:spLocks noGrp="1" noChangeArrowheads="1"/>
          </p:cNvSpPr>
          <p:nvPr>
            <p:ph type="body" idx="1"/>
          </p:nvPr>
        </p:nvSpPr>
        <p:spPr>
          <a:xfrm>
            <a:off x="1026478" y="2245422"/>
            <a:ext cx="7281746" cy="2538764"/>
          </a:xfrm>
        </p:spPr>
        <p:txBody>
          <a:bodyPr anchor="ctr">
            <a:normAutofit/>
          </a:bodyPr>
          <a:lstStyle/>
          <a:p>
            <a:pPr eaLnBrk="1" hangingPunct="1">
              <a:buFont typeface="Wingdings" pitchFamily="-107" charset="2"/>
              <a:buChar char="Ø"/>
              <a:defRPr/>
            </a:pPr>
            <a:r>
              <a:rPr lang="en-US" sz="2000" dirty="0">
                <a:ea typeface="ＭＳ Ｐゴシック" pitchFamily="-107" charset="-128"/>
                <a:cs typeface="ＭＳ Ｐゴシック" pitchFamily="-107" charset="-128"/>
              </a:rPr>
              <a:t>encryption can also provide authentication</a:t>
            </a:r>
          </a:p>
          <a:p>
            <a:pPr eaLnBrk="1" hangingPunct="1">
              <a:buFont typeface="Wingdings" pitchFamily="-107" charset="2"/>
              <a:buChar char="Ø"/>
              <a:defRPr/>
            </a:pPr>
            <a:r>
              <a:rPr lang="en-US" sz="2000" dirty="0">
                <a:ea typeface="ＭＳ Ｐゴシック" pitchFamily="-107" charset="-128"/>
                <a:cs typeface="ＭＳ Ｐゴシック" pitchFamily="-107" charset="-128"/>
              </a:rPr>
              <a:t>if symmetric encryption is used then:</a:t>
            </a:r>
          </a:p>
          <a:p>
            <a:pPr lvl="1" eaLnBrk="1" hangingPunct="1">
              <a:buFont typeface="Arial" panose="020B0604020202020204" pitchFamily="34" charset="0"/>
              <a:buChar char="•"/>
              <a:defRPr/>
            </a:pPr>
            <a:r>
              <a:rPr lang="en-US" sz="2000" dirty="0"/>
              <a:t>receiver know sender must have created it</a:t>
            </a:r>
          </a:p>
          <a:p>
            <a:pPr lvl="1" eaLnBrk="1" hangingPunct="1">
              <a:buFont typeface="Arial" panose="020B0604020202020204" pitchFamily="34" charset="0"/>
              <a:buChar char="•"/>
              <a:defRPr/>
            </a:pPr>
            <a:r>
              <a:rPr lang="en-US" sz="2000" dirty="0"/>
              <a:t>since only sender and receiver now key used</a:t>
            </a:r>
          </a:p>
          <a:p>
            <a:pPr lvl="1" eaLnBrk="1" hangingPunct="1">
              <a:buFont typeface="Arial" panose="020B0604020202020204" pitchFamily="34" charset="0"/>
              <a:buChar char="•"/>
              <a:defRPr/>
            </a:pPr>
            <a:r>
              <a:rPr lang="en-US" sz="2000" dirty="0"/>
              <a:t>know content cannot have been altered</a:t>
            </a:r>
          </a:p>
        </p:txBody>
      </p:sp>
      <p:pic>
        <p:nvPicPr>
          <p:cNvPr id="18" name="Picture 3">
            <a:extLst>
              <a:ext uri="{FF2B5EF4-FFF2-40B4-BE49-F238E27FC236}">
                <a16:creationId xmlns:a16="http://schemas.microsoft.com/office/drawing/2014/main" id="{3D0377A6-BEF8-494A-93A7-5D12904B96BA}"/>
              </a:ext>
            </a:extLst>
          </p:cNvPr>
          <p:cNvPicPr>
            <a:picLocks noChangeAspect="1"/>
          </p:cNvPicPr>
          <p:nvPr/>
        </p:nvPicPr>
        <p:blipFill>
          <a:blip r:embed="rId3" cstate="print"/>
          <a:srcRect/>
          <a:stretch>
            <a:fillRect/>
          </a:stretch>
        </p:blipFill>
        <p:spPr bwMode="auto">
          <a:xfrm>
            <a:off x="1329640" y="4897521"/>
            <a:ext cx="6477000" cy="1847144"/>
          </a:xfrm>
          <a:prstGeom prst="rect">
            <a:avLst/>
          </a:prstGeom>
          <a:noFill/>
          <a:ln w="9525">
            <a:noFill/>
            <a:miter lim="800000"/>
            <a:headEnd/>
            <a:tailEnd/>
          </a:ln>
        </p:spPr>
      </p:pic>
    </p:spTree>
    <p:extLst>
      <p:ext uri="{BB962C8B-B14F-4D97-AF65-F5344CB8AC3E}">
        <p14:creationId xmlns:p14="http://schemas.microsoft.com/office/powerpoint/2010/main" val="3941094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1202"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Public-Key Message Encryption</a:t>
            </a:r>
            <a:endParaRPr lang="en-AU" sz="3500">
              <a:solidFill>
                <a:srgbClr val="FFFFFF"/>
              </a:solidFill>
              <a:ea typeface="ＭＳ Ｐゴシック" pitchFamily="-107" charset="-128"/>
            </a:endParaRPr>
          </a:p>
        </p:txBody>
      </p:sp>
      <p:sp>
        <p:nvSpPr>
          <p:cNvPr id="51203" name="Rectangle 3"/>
          <p:cNvSpPr>
            <a:spLocks noGrp="1" noChangeArrowheads="1"/>
          </p:cNvSpPr>
          <p:nvPr>
            <p:ph type="body" idx="1"/>
          </p:nvPr>
        </p:nvSpPr>
        <p:spPr>
          <a:xfrm>
            <a:off x="1026478" y="2341848"/>
            <a:ext cx="7281746" cy="2386364"/>
          </a:xfrm>
        </p:spPr>
        <p:txBody>
          <a:bodyPr anchor="ctr">
            <a:normAutofit fontScale="92500" lnSpcReduction="20000"/>
          </a:bodyPr>
          <a:lstStyle/>
          <a:p>
            <a:pPr eaLnBrk="1" hangingPunct="1">
              <a:buFont typeface="Wingdings" panose="05000000000000000000" pitchFamily="2" charset="2"/>
              <a:buChar char="Ø"/>
            </a:pPr>
            <a:r>
              <a:rPr lang="en-US" sz="2000" dirty="0">
                <a:ea typeface="ＭＳ Ｐゴシック" pitchFamily="-107" charset="-128"/>
              </a:rPr>
              <a:t>if public-key encryption is used:</a:t>
            </a:r>
          </a:p>
          <a:p>
            <a:pPr lvl="1" eaLnBrk="1" hangingPunct="1">
              <a:buFont typeface="Arial" panose="020B0604020202020204" pitchFamily="34" charset="0"/>
              <a:buChar char="•"/>
            </a:pPr>
            <a:r>
              <a:rPr lang="en-US" sz="2000" dirty="0">
                <a:ea typeface="ＭＳ Ｐゴシック" pitchFamily="-107" charset="-128"/>
              </a:rPr>
              <a:t>encryption provides no confidence of sender since anyone potentially knows public-key</a:t>
            </a:r>
          </a:p>
          <a:p>
            <a:pPr marL="342900" lvl="1" indent="-342900" eaLnBrk="1" hangingPunct="1">
              <a:buFont typeface="Wingdings" panose="05000000000000000000" pitchFamily="2" charset="2"/>
              <a:buChar char="Ø"/>
            </a:pPr>
            <a:r>
              <a:rPr lang="en-US" sz="2000" dirty="0">
                <a:ea typeface="ＭＳ Ｐゴシック" pitchFamily="-107" charset="-128"/>
              </a:rPr>
              <a:t>However, if sender </a:t>
            </a:r>
            <a:r>
              <a:rPr lang="en-US" sz="2000" b="1" dirty="0">
                <a:ea typeface="ＭＳ Ｐゴシック" pitchFamily="-107" charset="-128"/>
              </a:rPr>
              <a:t>signs</a:t>
            </a:r>
            <a:r>
              <a:rPr lang="en-US" sz="2000" dirty="0">
                <a:ea typeface="ＭＳ Ｐゴシック" pitchFamily="-107" charset="-128"/>
              </a:rPr>
              <a:t> message using their private-key then encrypts with recipient's public key</a:t>
            </a:r>
          </a:p>
          <a:p>
            <a:pPr marL="800100" lvl="2" indent="-342900"/>
            <a:r>
              <a:rPr lang="en-US" sz="2000" dirty="0">
                <a:ea typeface="ＭＳ Ｐゴシック" pitchFamily="-107" charset="-128"/>
              </a:rPr>
              <a:t>have both secrecy and authentication</a:t>
            </a:r>
          </a:p>
          <a:p>
            <a:pPr marL="800100" lvl="2" indent="-342900"/>
            <a:r>
              <a:rPr lang="en-US" sz="2000" dirty="0">
                <a:ea typeface="ＭＳ Ｐゴシック" pitchFamily="-107" charset="-128"/>
              </a:rPr>
              <a:t>but at cost of two public-key uses on message</a:t>
            </a:r>
          </a:p>
          <a:p>
            <a:pPr lvl="1" eaLnBrk="1" hangingPunct="1">
              <a:buFont typeface="Arial" panose="020B0604020202020204" pitchFamily="34" charset="0"/>
              <a:buChar char="•"/>
            </a:pPr>
            <a:r>
              <a:rPr lang="en-US" sz="2000" dirty="0">
                <a:ea typeface="ＭＳ Ｐゴシック" pitchFamily="-107" charset="-128"/>
              </a:rPr>
              <a:t>Again, need to recognize corrupted messages</a:t>
            </a:r>
          </a:p>
        </p:txBody>
      </p:sp>
      <p:pic>
        <p:nvPicPr>
          <p:cNvPr id="20" name="Picture 3">
            <a:extLst>
              <a:ext uri="{FF2B5EF4-FFF2-40B4-BE49-F238E27FC236}">
                <a16:creationId xmlns:a16="http://schemas.microsoft.com/office/drawing/2014/main" id="{42379493-095B-4785-A5F5-7376A5564DCF}"/>
              </a:ext>
            </a:extLst>
          </p:cNvPr>
          <p:cNvPicPr>
            <a:picLocks noChangeAspect="1"/>
          </p:cNvPicPr>
          <p:nvPr/>
        </p:nvPicPr>
        <p:blipFill>
          <a:blip r:embed="rId3" cstate="print"/>
          <a:srcRect/>
          <a:stretch>
            <a:fillRect/>
          </a:stretch>
        </p:blipFill>
        <p:spPr bwMode="auto">
          <a:xfrm>
            <a:off x="1208990" y="4903936"/>
            <a:ext cx="6718300" cy="16256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2226"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Message Authentication Code (MAC)</a:t>
            </a:r>
            <a:endParaRPr lang="en-AU" sz="3500">
              <a:solidFill>
                <a:srgbClr val="FFFFFF"/>
              </a:solidFill>
              <a:ea typeface="ＭＳ Ｐゴシック" pitchFamily="-107" charset="-128"/>
            </a:endParaRPr>
          </a:p>
        </p:txBody>
      </p:sp>
      <p:sp>
        <p:nvSpPr>
          <p:cNvPr id="52227" name="Rectangle 3"/>
          <p:cNvSpPr>
            <a:spLocks noGrp="1" noChangeArrowheads="1"/>
          </p:cNvSpPr>
          <p:nvPr>
            <p:ph type="body" idx="1"/>
          </p:nvPr>
        </p:nvSpPr>
        <p:spPr>
          <a:xfrm>
            <a:off x="1025718" y="2490436"/>
            <a:ext cx="7508682" cy="3567173"/>
          </a:xfrm>
        </p:spPr>
        <p:txBody>
          <a:bodyPr anchor="ctr">
            <a:normAutofit/>
          </a:bodyPr>
          <a:lstStyle/>
          <a:p>
            <a:pPr eaLnBrk="1" hangingPunct="1"/>
            <a:r>
              <a:rPr lang="en-AU" sz="2100" dirty="0">
                <a:ea typeface="ＭＳ Ｐゴシック" pitchFamily="-107" charset="-128"/>
              </a:rPr>
              <a:t>generated by an algorithm that creates a small fixed-sized block</a:t>
            </a:r>
          </a:p>
          <a:p>
            <a:pPr lvl="1" eaLnBrk="1" hangingPunct="1"/>
            <a:r>
              <a:rPr lang="en-AU" sz="2100" dirty="0">
                <a:ea typeface="ＭＳ Ｐゴシック" pitchFamily="-107" charset="-128"/>
              </a:rPr>
              <a:t>depending on both message and some key</a:t>
            </a:r>
          </a:p>
          <a:p>
            <a:pPr lvl="1" eaLnBrk="1" hangingPunct="1"/>
            <a:r>
              <a:rPr lang="en-US" sz="2100" dirty="0">
                <a:ea typeface="ＭＳ Ｐゴシック" pitchFamily="-107" charset="-128"/>
              </a:rPr>
              <a:t>like encryption though the algorithm need not be reversible</a:t>
            </a:r>
            <a:endParaRPr lang="en-AU" sz="2100" dirty="0">
              <a:ea typeface="ＭＳ Ｐゴシック" pitchFamily="-107" charset="-128"/>
            </a:endParaRPr>
          </a:p>
          <a:p>
            <a:pPr eaLnBrk="1" hangingPunct="1"/>
            <a:r>
              <a:rPr lang="en-US" sz="2100" dirty="0">
                <a:ea typeface="ＭＳ Ｐゴシック" pitchFamily="-107" charset="-128"/>
              </a:rPr>
              <a:t>appended to message as a </a:t>
            </a:r>
            <a:r>
              <a:rPr lang="en-US" sz="2100" b="1" dirty="0">
                <a:ea typeface="ＭＳ Ｐゴシック" pitchFamily="-107" charset="-128"/>
              </a:rPr>
              <a:t>signature</a:t>
            </a:r>
            <a:endParaRPr lang="en-US" sz="2100" dirty="0">
              <a:ea typeface="ＭＳ Ｐゴシック" pitchFamily="-107" charset="-128"/>
            </a:endParaRPr>
          </a:p>
          <a:p>
            <a:pPr eaLnBrk="1" hangingPunct="1"/>
            <a:r>
              <a:rPr lang="en-US" sz="2100" dirty="0">
                <a:ea typeface="ＭＳ Ｐゴシック" pitchFamily="-107" charset="-128"/>
              </a:rPr>
              <a:t>receiver performs same computation on message and checks it matches the MAC</a:t>
            </a:r>
          </a:p>
          <a:p>
            <a:pPr eaLnBrk="1" hangingPunct="1"/>
            <a:r>
              <a:rPr lang="en-US" sz="2100" dirty="0">
                <a:ea typeface="ＭＳ Ｐゴシック" pitchFamily="-107" charset="-128"/>
              </a:rPr>
              <a:t>provides assurance that message is unaltered and comes from sender</a:t>
            </a:r>
            <a:endParaRPr lang="en-AU" sz="2100" dirty="0">
              <a:ea typeface="ＭＳ Ｐゴシック" pitchFamily="-107"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4274" name="Rectangle 2"/>
          <p:cNvSpPr>
            <a:spLocks noGrp="1" noChangeArrowheads="1"/>
          </p:cNvSpPr>
          <p:nvPr>
            <p:ph type="title"/>
          </p:nvPr>
        </p:nvSpPr>
        <p:spPr>
          <a:xfrm>
            <a:off x="718879" y="800392"/>
            <a:ext cx="7698523" cy="1212102"/>
          </a:xfrm>
        </p:spPr>
        <p:txBody>
          <a:bodyPr>
            <a:normAutofit/>
          </a:bodyPr>
          <a:lstStyle/>
          <a:p>
            <a:pPr eaLnBrk="1" hangingPunct="1"/>
            <a:r>
              <a:rPr lang="en-US" sz="3500" dirty="0">
                <a:solidFill>
                  <a:srgbClr val="FFFFFF"/>
                </a:solidFill>
                <a:ea typeface="ＭＳ Ｐゴシック" pitchFamily="-107" charset="-128"/>
              </a:rPr>
              <a:t>MAC Overview</a:t>
            </a:r>
            <a:endParaRPr lang="en-AU" sz="3500" dirty="0">
              <a:solidFill>
                <a:srgbClr val="FFFFFF"/>
              </a:solidFill>
              <a:ea typeface="ＭＳ Ｐゴシック" pitchFamily="-107" charset="-128"/>
            </a:endParaRPr>
          </a:p>
        </p:txBody>
      </p:sp>
      <p:sp>
        <p:nvSpPr>
          <p:cNvPr id="54275" name="Rectangle 3"/>
          <p:cNvSpPr>
            <a:spLocks noGrp="1" noChangeArrowheads="1"/>
          </p:cNvSpPr>
          <p:nvPr>
            <p:ph type="body" idx="1"/>
          </p:nvPr>
        </p:nvSpPr>
        <p:spPr>
          <a:xfrm>
            <a:off x="1102999" y="2707014"/>
            <a:ext cx="7281746" cy="3567173"/>
          </a:xfrm>
        </p:spPr>
        <p:txBody>
          <a:bodyPr anchor="ctr">
            <a:noAutofit/>
          </a:bodyPr>
          <a:lstStyle/>
          <a:p>
            <a:pPr eaLnBrk="1" hangingPunct="1">
              <a:lnSpc>
                <a:spcPct val="90000"/>
              </a:lnSpc>
              <a:buFont typeface="Wingdings" panose="05000000000000000000" pitchFamily="2" charset="2"/>
              <a:buChar char="Ø"/>
            </a:pPr>
            <a:r>
              <a:rPr lang="en-US" sz="2000" dirty="0">
                <a:ea typeface="ＭＳ Ｐゴシック" pitchFamily="-107" charset="-128"/>
              </a:rPr>
              <a:t>as shown the MAC provides authentication</a:t>
            </a:r>
          </a:p>
          <a:p>
            <a:pPr eaLnBrk="1" hangingPunct="1">
              <a:lnSpc>
                <a:spcPct val="90000"/>
              </a:lnSpc>
              <a:buFont typeface="Wingdings" panose="05000000000000000000" pitchFamily="2" charset="2"/>
              <a:buChar char="Ø"/>
            </a:pPr>
            <a:r>
              <a:rPr lang="en-US" sz="2000" dirty="0">
                <a:ea typeface="ＭＳ Ｐゴシック" pitchFamily="-107" charset="-128"/>
              </a:rPr>
              <a:t>can also use encryption for secrecy</a:t>
            </a:r>
          </a:p>
          <a:p>
            <a:pPr lvl="1" eaLnBrk="1" hangingPunct="1">
              <a:lnSpc>
                <a:spcPct val="90000"/>
              </a:lnSpc>
              <a:buFont typeface="Arial" panose="020B0604020202020204" pitchFamily="34" charset="0"/>
              <a:buChar char="•"/>
            </a:pPr>
            <a:r>
              <a:rPr lang="en-US" sz="2000" dirty="0">
                <a:ea typeface="ＭＳ Ｐゴシック" pitchFamily="-107" charset="-128"/>
              </a:rPr>
              <a:t>Generally, use separate keys for each: an encryption key and a MAC key</a:t>
            </a:r>
          </a:p>
          <a:p>
            <a:pPr lvl="1" eaLnBrk="1" hangingPunct="1">
              <a:lnSpc>
                <a:spcPct val="90000"/>
              </a:lnSpc>
              <a:buFont typeface="Arial" panose="020B0604020202020204" pitchFamily="34" charset="0"/>
              <a:buChar char="•"/>
            </a:pPr>
            <a:r>
              <a:rPr lang="en-US" sz="2000" dirty="0">
                <a:ea typeface="ＭＳ Ｐゴシック" pitchFamily="-107" charset="-128"/>
              </a:rPr>
              <a:t>can compute MAC either before or after encryption</a:t>
            </a:r>
          </a:p>
          <a:p>
            <a:pPr lvl="1" eaLnBrk="1" hangingPunct="1">
              <a:lnSpc>
                <a:spcPct val="90000"/>
              </a:lnSpc>
              <a:buFont typeface="Arial" panose="020B0604020202020204" pitchFamily="34" charset="0"/>
              <a:buChar char="•"/>
            </a:pPr>
            <a:r>
              <a:rPr lang="en-US" sz="2000" dirty="0">
                <a:ea typeface="ＭＳ Ｐゴシック" pitchFamily="-107" charset="-128"/>
              </a:rPr>
              <a:t>MAC is generally regarded as better done before encryption because in this case the attacker needs to break the encryption key first then breaking the MAC key.</a:t>
            </a:r>
          </a:p>
          <a:p>
            <a:pPr eaLnBrk="1" hangingPunct="1">
              <a:lnSpc>
                <a:spcPct val="90000"/>
              </a:lnSpc>
              <a:buFont typeface="Wingdings" panose="05000000000000000000" pitchFamily="2" charset="2"/>
              <a:buChar char="Ø"/>
            </a:pPr>
            <a:r>
              <a:rPr lang="en-US" sz="2000" dirty="0">
                <a:ea typeface="ＭＳ Ｐゴシック" pitchFamily="-107" charset="-128"/>
              </a:rPr>
              <a:t>why use a MAC?</a:t>
            </a:r>
          </a:p>
          <a:p>
            <a:pPr lvl="1" eaLnBrk="1" hangingPunct="1">
              <a:lnSpc>
                <a:spcPct val="90000"/>
              </a:lnSpc>
              <a:buFont typeface="Arial" panose="020B0604020202020204" pitchFamily="34" charset="0"/>
              <a:buChar char="•"/>
            </a:pPr>
            <a:r>
              <a:rPr lang="en-US" sz="2000" dirty="0">
                <a:ea typeface="ＭＳ Ｐゴシック" pitchFamily="-107" charset="-128"/>
              </a:rPr>
              <a:t>sometimes only authentication is needed</a:t>
            </a:r>
          </a:p>
          <a:p>
            <a:pPr lvl="1" eaLnBrk="1" hangingPunct="1">
              <a:lnSpc>
                <a:spcPct val="90000"/>
              </a:lnSpc>
              <a:buFont typeface="Arial" panose="020B0604020202020204" pitchFamily="34" charset="0"/>
              <a:buChar char="•"/>
            </a:pPr>
            <a:r>
              <a:rPr lang="en-US" sz="2000" dirty="0">
                <a:ea typeface="ＭＳ Ｐゴシック" pitchFamily="-107" charset="-128"/>
              </a:rPr>
              <a:t>sometimes need authentication to persist longer than the encryption (e.g., archival use)</a:t>
            </a:r>
          </a:p>
          <a:p>
            <a:pPr eaLnBrk="1" hangingPunct="1">
              <a:lnSpc>
                <a:spcPct val="90000"/>
              </a:lnSpc>
              <a:buFont typeface="Wingdings" panose="05000000000000000000" pitchFamily="2" charset="2"/>
              <a:buChar char="Ø"/>
            </a:pPr>
            <a:r>
              <a:rPr lang="en-US" sz="2000" dirty="0">
                <a:ea typeface="ＭＳ Ｐゴシック" pitchFamily="-107" charset="-128"/>
              </a:rPr>
              <a:t>note that a MAC is not a digital signature</a:t>
            </a:r>
            <a:endParaRPr lang="en-AU" sz="2000" dirty="0">
              <a:ea typeface="ＭＳ Ｐゴシック" pitchFamily="-107" charset="-128"/>
            </a:endParaRPr>
          </a:p>
        </p:txBody>
      </p:sp>
    </p:spTree>
    <p:extLst>
      <p:ext uri="{BB962C8B-B14F-4D97-AF65-F5344CB8AC3E}">
        <p14:creationId xmlns:p14="http://schemas.microsoft.com/office/powerpoint/2010/main" val="2676443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4274"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ea typeface="ＭＳ Ｐゴシック" pitchFamily="-107" charset="-128"/>
              </a:rPr>
              <a:t>MAC Generation and Verification</a:t>
            </a:r>
            <a:endParaRPr lang="en-AU" sz="3500" dirty="0">
              <a:solidFill>
                <a:srgbClr val="FFFFFF"/>
              </a:solidFill>
              <a:ea typeface="ＭＳ Ｐゴシック" pitchFamily="-107" charset="-128"/>
            </a:endParaRPr>
          </a:p>
        </p:txBody>
      </p:sp>
      <p:pic>
        <p:nvPicPr>
          <p:cNvPr id="10" name="Picture 3">
            <a:extLst>
              <a:ext uri="{FF2B5EF4-FFF2-40B4-BE49-F238E27FC236}">
                <a16:creationId xmlns:a16="http://schemas.microsoft.com/office/drawing/2014/main" id="{7E01B8BE-BF34-49EA-8F32-FCAB5671B6B4}"/>
              </a:ext>
            </a:extLst>
          </p:cNvPr>
          <p:cNvPicPr>
            <a:picLocks noChangeAspect="1"/>
          </p:cNvPicPr>
          <p:nvPr/>
        </p:nvPicPr>
        <p:blipFill>
          <a:blip r:embed="rId3" cstate="print"/>
          <a:srcRect/>
          <a:stretch>
            <a:fillRect/>
          </a:stretch>
        </p:blipFill>
        <p:spPr bwMode="auto">
          <a:xfrm>
            <a:off x="1209755" y="4293200"/>
            <a:ext cx="7181892" cy="1776835"/>
          </a:xfrm>
          <a:prstGeom prst="rect">
            <a:avLst/>
          </a:prstGeom>
          <a:noFill/>
          <a:ln w="9525">
            <a:noFill/>
            <a:miter lim="800000"/>
            <a:headEnd/>
            <a:tailEnd/>
          </a:ln>
        </p:spPr>
      </p:pic>
      <p:sp>
        <p:nvSpPr>
          <p:cNvPr id="12" name="TextBox 11">
            <a:extLst>
              <a:ext uri="{FF2B5EF4-FFF2-40B4-BE49-F238E27FC236}">
                <a16:creationId xmlns:a16="http://schemas.microsoft.com/office/drawing/2014/main" id="{7FCDADBA-0910-4F64-9386-32F51C03563A}"/>
              </a:ext>
            </a:extLst>
          </p:cNvPr>
          <p:cNvSpPr txBox="1"/>
          <p:nvPr/>
        </p:nvSpPr>
        <p:spPr>
          <a:xfrm>
            <a:off x="1525741" y="6181373"/>
            <a:ext cx="6244915" cy="369332"/>
          </a:xfrm>
          <a:prstGeom prst="rect">
            <a:avLst/>
          </a:prstGeom>
          <a:solidFill>
            <a:schemeClr val="accent6">
              <a:lumMod val="20000"/>
              <a:lumOff val="80000"/>
            </a:schemeClr>
          </a:solidFill>
          <a:ln>
            <a:solidFill>
              <a:srgbClr val="FF0000"/>
            </a:solidFill>
          </a:ln>
        </p:spPr>
        <p:txBody>
          <a:bodyPr wrap="none" rtlCol="0">
            <a:spAutoFit/>
          </a:bodyPr>
          <a:lstStyle/>
          <a:p>
            <a:r>
              <a:rPr lang="en-US" dirty="0"/>
              <a:t>This is a simple diagram for the MAC generation and verification</a:t>
            </a:r>
          </a:p>
        </p:txBody>
      </p:sp>
      <p:sp>
        <p:nvSpPr>
          <p:cNvPr id="13" name="Rectangle 3">
            <a:extLst>
              <a:ext uri="{FF2B5EF4-FFF2-40B4-BE49-F238E27FC236}">
                <a16:creationId xmlns:a16="http://schemas.microsoft.com/office/drawing/2014/main" id="{F20390BB-F60C-45A0-881E-E9161F089606}"/>
              </a:ext>
            </a:extLst>
          </p:cNvPr>
          <p:cNvSpPr txBox="1">
            <a:spLocks noChangeArrowheads="1"/>
          </p:cNvSpPr>
          <p:nvPr/>
        </p:nvSpPr>
        <p:spPr bwMode="black">
          <a:xfrm>
            <a:off x="751175" y="2341848"/>
            <a:ext cx="8074718" cy="2020143"/>
          </a:xfrm>
          <a:prstGeom prst="rect">
            <a:avLst/>
          </a:prstGeom>
          <a:noFill/>
          <a:ln w="9525">
            <a:noFill/>
            <a:miter lim="800000"/>
            <a:headEnd/>
            <a:tailEnd/>
          </a:ln>
          <a:effectLst/>
        </p:spPr>
        <p:txBody>
          <a:bodyPr/>
          <a:lstStyle/>
          <a:p>
            <a:pPr marL="800100" indent="-342900">
              <a:spcBef>
                <a:spcPct val="20000"/>
              </a:spcBef>
              <a:buSzPct val="80000"/>
              <a:buFont typeface="Wingdings" panose="05000000000000000000" pitchFamily="2" charset="2"/>
              <a:buChar char="Ø"/>
              <a:defRPr/>
            </a:pPr>
            <a:r>
              <a:rPr lang="en-US" dirty="0">
                <a:latin typeface="Arial" pitchFamily="-107" charset="0"/>
                <a:ea typeface="+mn-ea"/>
              </a:rPr>
              <a:t>MAC is a small fixed-sized block of data</a:t>
            </a:r>
          </a:p>
          <a:p>
            <a:pPr marL="800100" lvl="1" indent="-342900">
              <a:spcBef>
                <a:spcPct val="20000"/>
              </a:spcBef>
              <a:buSzPct val="80000"/>
              <a:buFont typeface="Wingdings" panose="05000000000000000000" pitchFamily="2" charset="2"/>
              <a:buChar char="Ø"/>
              <a:defRPr/>
            </a:pPr>
            <a:r>
              <a:rPr lang="en-US" dirty="0">
                <a:latin typeface="Arial" pitchFamily="-107" charset="0"/>
                <a:ea typeface="+mn-ea"/>
              </a:rPr>
              <a:t>generated from message “M” + secret key “K”</a:t>
            </a:r>
          </a:p>
          <a:p>
            <a:pPr lvl="1" indent="858838">
              <a:spcBef>
                <a:spcPct val="20000"/>
              </a:spcBef>
              <a:buSzPct val="80000"/>
              <a:defRPr/>
            </a:pPr>
            <a:r>
              <a:rPr lang="en-US" dirty="0">
                <a:latin typeface="Arial" pitchFamily="-107" charset="0"/>
                <a:ea typeface="+mn-ea"/>
              </a:rPr>
              <a:t>MAC = C(K,M)</a:t>
            </a:r>
          </a:p>
          <a:p>
            <a:pPr marL="800100" lvl="1" indent="-342900">
              <a:spcBef>
                <a:spcPct val="20000"/>
              </a:spcBef>
              <a:buSzPct val="80000"/>
              <a:buFont typeface="Wingdings" panose="05000000000000000000" pitchFamily="2" charset="2"/>
              <a:buChar char="Ø"/>
              <a:defRPr/>
            </a:pPr>
            <a:r>
              <a:rPr lang="en-US" dirty="0">
                <a:latin typeface="Arial" pitchFamily="-107" charset="0"/>
                <a:ea typeface="+mn-ea"/>
              </a:rPr>
              <a:t>appended to message when sent</a:t>
            </a:r>
          </a:p>
          <a:p>
            <a:pPr marL="800100" lvl="1" indent="-342900">
              <a:spcBef>
                <a:spcPct val="20000"/>
              </a:spcBef>
              <a:buSzPct val="80000"/>
              <a:buFont typeface="Wingdings" panose="05000000000000000000" pitchFamily="2" charset="2"/>
              <a:buChar char="Ø"/>
              <a:defRPr/>
            </a:pPr>
            <a:r>
              <a:rPr lang="en-US" dirty="0">
                <a:latin typeface="Arial" pitchFamily="-107" charset="0"/>
              </a:rPr>
              <a:t>for verification, MAC is recomputed from the received message at destination and then compared with the transmitted MAC</a:t>
            </a:r>
            <a:endParaRPr lang="en-US" dirty="0">
              <a:latin typeface="Arial" pitchFamily="-107" charset="0"/>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10B78C-59A0-4A4A-9BDE-F2B0946502D7}"/>
              </a:ext>
            </a:extLst>
          </p:cNvPr>
          <p:cNvPicPr>
            <a:picLocks noChangeAspect="1"/>
          </p:cNvPicPr>
          <p:nvPr/>
        </p:nvPicPr>
        <p:blipFill>
          <a:blip r:embed="rId2"/>
          <a:stretch>
            <a:fillRect/>
          </a:stretch>
        </p:blipFill>
        <p:spPr>
          <a:xfrm>
            <a:off x="457200" y="152400"/>
            <a:ext cx="8087974" cy="5686425"/>
          </a:xfrm>
          <a:prstGeom prst="rect">
            <a:avLst/>
          </a:prstGeom>
        </p:spPr>
      </p:pic>
      <p:sp>
        <p:nvSpPr>
          <p:cNvPr id="4" name="TextBox 3">
            <a:extLst>
              <a:ext uri="{FF2B5EF4-FFF2-40B4-BE49-F238E27FC236}">
                <a16:creationId xmlns:a16="http://schemas.microsoft.com/office/drawing/2014/main" id="{5D8E1CE5-B26C-4BD2-98CB-D0BC704C1F7B}"/>
              </a:ext>
            </a:extLst>
          </p:cNvPr>
          <p:cNvSpPr txBox="1"/>
          <p:nvPr/>
        </p:nvSpPr>
        <p:spPr>
          <a:xfrm>
            <a:off x="990600" y="5943600"/>
            <a:ext cx="7388290" cy="677108"/>
          </a:xfrm>
          <a:prstGeom prst="rect">
            <a:avLst/>
          </a:prstGeom>
          <a:noFill/>
        </p:spPr>
        <p:txBody>
          <a:bodyPr wrap="square" rtlCol="0">
            <a:spAutoFit/>
          </a:bodyPr>
          <a:lstStyle/>
          <a:p>
            <a:r>
              <a:rPr lang="en-US" sz="2000" dirty="0"/>
              <a:t>Message authentication using a Message Authentication Code (MAC).</a:t>
            </a:r>
          </a:p>
          <a:p>
            <a:endParaRPr lang="en-US" dirty="0"/>
          </a:p>
        </p:txBody>
      </p:sp>
      <p:sp>
        <p:nvSpPr>
          <p:cNvPr id="5" name="TextBox 4">
            <a:extLst>
              <a:ext uri="{FF2B5EF4-FFF2-40B4-BE49-F238E27FC236}">
                <a16:creationId xmlns:a16="http://schemas.microsoft.com/office/drawing/2014/main" id="{5466F786-77EC-4C03-8D92-A0820AB72C4E}"/>
              </a:ext>
            </a:extLst>
          </p:cNvPr>
          <p:cNvSpPr txBox="1"/>
          <p:nvPr/>
        </p:nvSpPr>
        <p:spPr>
          <a:xfrm>
            <a:off x="1877786" y="395579"/>
            <a:ext cx="1219200" cy="646331"/>
          </a:xfrm>
          <a:prstGeom prst="rect">
            <a:avLst/>
          </a:prstGeom>
          <a:noFill/>
        </p:spPr>
        <p:txBody>
          <a:bodyPr wrap="square" rtlCol="0">
            <a:spAutoFit/>
          </a:bodyPr>
          <a:lstStyle/>
          <a:p>
            <a:pPr algn="ctr"/>
            <a:r>
              <a:rPr lang="en-US" dirty="0"/>
              <a:t>MAC generation</a:t>
            </a:r>
          </a:p>
        </p:txBody>
      </p:sp>
      <p:sp>
        <p:nvSpPr>
          <p:cNvPr id="6" name="TextBox 5">
            <a:extLst>
              <a:ext uri="{FF2B5EF4-FFF2-40B4-BE49-F238E27FC236}">
                <a16:creationId xmlns:a16="http://schemas.microsoft.com/office/drawing/2014/main" id="{9E0353AF-C034-4F87-A13A-C82330363F1C}"/>
              </a:ext>
            </a:extLst>
          </p:cNvPr>
          <p:cNvSpPr txBox="1"/>
          <p:nvPr/>
        </p:nvSpPr>
        <p:spPr>
          <a:xfrm>
            <a:off x="6934200" y="395579"/>
            <a:ext cx="1295400" cy="646331"/>
          </a:xfrm>
          <a:prstGeom prst="rect">
            <a:avLst/>
          </a:prstGeom>
          <a:noFill/>
        </p:spPr>
        <p:txBody>
          <a:bodyPr wrap="square" rtlCol="0">
            <a:spAutoFit/>
          </a:bodyPr>
          <a:lstStyle/>
          <a:p>
            <a:pPr algn="ctr"/>
            <a:r>
              <a:rPr lang="en-US" dirty="0"/>
              <a:t>MAC verification</a:t>
            </a:r>
          </a:p>
        </p:txBody>
      </p:sp>
      <p:sp>
        <p:nvSpPr>
          <p:cNvPr id="7" name="TextBox 6">
            <a:extLst>
              <a:ext uri="{FF2B5EF4-FFF2-40B4-BE49-F238E27FC236}">
                <a16:creationId xmlns:a16="http://schemas.microsoft.com/office/drawing/2014/main" id="{03414E2B-4D8E-498F-80EB-2FE86D1DFA9B}"/>
              </a:ext>
            </a:extLst>
          </p:cNvPr>
          <p:cNvSpPr txBox="1"/>
          <p:nvPr/>
        </p:nvSpPr>
        <p:spPr>
          <a:xfrm>
            <a:off x="4998473" y="4921716"/>
            <a:ext cx="3231127" cy="646331"/>
          </a:xfrm>
          <a:prstGeom prst="rect">
            <a:avLst/>
          </a:prstGeom>
          <a:solidFill>
            <a:schemeClr val="accent6">
              <a:lumMod val="20000"/>
              <a:lumOff val="80000"/>
            </a:schemeClr>
          </a:solidFill>
          <a:ln>
            <a:solidFill>
              <a:srgbClr val="FF0000"/>
            </a:solidFill>
          </a:ln>
        </p:spPr>
        <p:txBody>
          <a:bodyPr wrap="square" rtlCol="0">
            <a:spAutoFit/>
          </a:bodyPr>
          <a:lstStyle/>
          <a:p>
            <a:pPr algn="ctr"/>
            <a:r>
              <a:rPr lang="en-US" dirty="0"/>
              <a:t>This is another diagram for the MAC generation and verification</a:t>
            </a:r>
          </a:p>
        </p:txBody>
      </p:sp>
    </p:spTree>
    <p:extLst>
      <p:ext uri="{BB962C8B-B14F-4D97-AF65-F5344CB8AC3E}">
        <p14:creationId xmlns:p14="http://schemas.microsoft.com/office/powerpoint/2010/main" val="1134909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7346"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MAC Properties</a:t>
            </a:r>
            <a:endParaRPr lang="en-AU" sz="3500">
              <a:solidFill>
                <a:srgbClr val="FFFFFF"/>
              </a:solidFill>
              <a:ea typeface="ＭＳ Ｐゴシック" pitchFamily="-107" charset="-128"/>
            </a:endParaRPr>
          </a:p>
        </p:txBody>
      </p:sp>
      <p:sp>
        <p:nvSpPr>
          <p:cNvPr id="57347" name="Rectangle 3"/>
          <p:cNvSpPr>
            <a:spLocks noGrp="1" noChangeArrowheads="1"/>
          </p:cNvSpPr>
          <p:nvPr>
            <p:ph type="body" idx="1"/>
          </p:nvPr>
        </p:nvSpPr>
        <p:spPr>
          <a:xfrm>
            <a:off x="918197" y="2733999"/>
            <a:ext cx="7429829" cy="3567173"/>
          </a:xfrm>
        </p:spPr>
        <p:txBody>
          <a:bodyPr anchor="ctr">
            <a:noAutofit/>
          </a:bodyPr>
          <a:lstStyle/>
          <a:p>
            <a:pPr eaLnBrk="1" hangingPunct="1">
              <a:lnSpc>
                <a:spcPct val="90000"/>
              </a:lnSpc>
            </a:pPr>
            <a:r>
              <a:rPr lang="en-US" sz="2400" dirty="0">
                <a:ea typeface="ＭＳ Ｐゴシック" pitchFamily="-107" charset="-128"/>
              </a:rPr>
              <a:t>a MAC is a cryptographic checksum</a:t>
            </a:r>
          </a:p>
          <a:p>
            <a:pPr lvl="1" eaLnBrk="1" hangingPunct="1">
              <a:lnSpc>
                <a:spcPct val="90000"/>
              </a:lnSpc>
              <a:buFont typeface="Wingdings" pitchFamily="2" charset="2"/>
              <a:buNone/>
            </a:pPr>
            <a:r>
              <a:rPr lang="en-US" sz="2400" dirty="0">
                <a:ea typeface="ＭＳ Ｐゴシック" pitchFamily="-107" charset="-128"/>
              </a:rPr>
              <a:t>	MAC = C</a:t>
            </a:r>
            <a:r>
              <a:rPr lang="en-US" sz="2400" baseline="-25000" dirty="0">
                <a:ea typeface="ＭＳ Ｐゴシック" pitchFamily="-107" charset="-128"/>
              </a:rPr>
              <a:t>K</a:t>
            </a:r>
            <a:r>
              <a:rPr lang="en-US" sz="2400" dirty="0">
                <a:ea typeface="ＭＳ Ｐゴシック" pitchFamily="-107" charset="-128"/>
              </a:rPr>
              <a:t>(M)</a:t>
            </a:r>
          </a:p>
          <a:p>
            <a:pPr lvl="1" eaLnBrk="1" hangingPunct="1">
              <a:lnSpc>
                <a:spcPct val="90000"/>
              </a:lnSpc>
            </a:pPr>
            <a:r>
              <a:rPr lang="en-US" sz="2400" dirty="0">
                <a:ea typeface="ＭＳ Ｐゴシック" pitchFamily="-107" charset="-128"/>
              </a:rPr>
              <a:t>condenses a variable-length message M using a secret key K to a fixed-sized authenticator</a:t>
            </a:r>
          </a:p>
          <a:p>
            <a:pPr eaLnBrk="1" hangingPunct="1">
              <a:lnSpc>
                <a:spcPct val="90000"/>
              </a:lnSpc>
            </a:pPr>
            <a:r>
              <a:rPr lang="en-US" sz="2400" dirty="0">
                <a:ea typeface="ＭＳ Ｐゴシック" pitchFamily="-107" charset="-128"/>
              </a:rPr>
              <a:t>is a many-to-one function</a:t>
            </a:r>
          </a:p>
          <a:p>
            <a:pPr lvl="1" eaLnBrk="1" hangingPunct="1">
              <a:lnSpc>
                <a:spcPct val="90000"/>
              </a:lnSpc>
            </a:pPr>
            <a:r>
              <a:rPr lang="en-US" sz="2400" dirty="0">
                <a:ea typeface="ＭＳ Ｐゴシック" pitchFamily="-107" charset="-128"/>
              </a:rPr>
              <a:t>potentially many messages have same MAC, simply because for an m-bit authenticator there are only 2</a:t>
            </a:r>
            <a:r>
              <a:rPr lang="en-US" sz="2400" baseline="30000" dirty="0">
                <a:ea typeface="ＭＳ Ｐゴシック" pitchFamily="-107" charset="-128"/>
              </a:rPr>
              <a:t>m</a:t>
            </a:r>
            <a:r>
              <a:rPr lang="en-US" sz="2400" dirty="0">
                <a:ea typeface="ＭＳ Ｐゴシック" pitchFamily="-107" charset="-128"/>
              </a:rPr>
              <a:t> values that can map to infinite number of messages.</a:t>
            </a:r>
          </a:p>
          <a:p>
            <a:pPr lvl="1" eaLnBrk="1" hangingPunct="1">
              <a:lnSpc>
                <a:spcPct val="90000"/>
              </a:lnSpc>
            </a:pPr>
            <a:r>
              <a:rPr lang="en-US" sz="2400" dirty="0">
                <a:ea typeface="ＭＳ Ｐゴシック" pitchFamily="-107" charset="-128"/>
              </a:rPr>
              <a:t>but finding two different messages having the same MAC value needs to be very difficult.</a:t>
            </a:r>
            <a:endParaRPr lang="en-AU" sz="2400" dirty="0">
              <a:ea typeface="ＭＳ Ｐゴシック" pitchFamily="-107"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8370"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Requirements for MACs</a:t>
            </a:r>
            <a:endParaRPr lang="en-AU" sz="3500">
              <a:solidFill>
                <a:srgbClr val="FFFFFF"/>
              </a:solidFill>
              <a:ea typeface="ＭＳ Ｐゴシック" pitchFamily="-107" charset="-128"/>
            </a:endParaRPr>
          </a:p>
        </p:txBody>
      </p:sp>
      <p:sp>
        <p:nvSpPr>
          <p:cNvPr id="58371" name="Rectangle 3"/>
          <p:cNvSpPr>
            <a:spLocks noGrp="1" noChangeArrowheads="1"/>
          </p:cNvSpPr>
          <p:nvPr>
            <p:ph type="body" idx="1"/>
          </p:nvPr>
        </p:nvSpPr>
        <p:spPr>
          <a:xfrm>
            <a:off x="982176" y="2287882"/>
            <a:ext cx="7746877" cy="3567173"/>
          </a:xfrm>
        </p:spPr>
        <p:txBody>
          <a:bodyPr anchor="ctr">
            <a:noAutofit/>
          </a:bodyPr>
          <a:lstStyle/>
          <a:p>
            <a:pPr marL="0" indent="0" eaLnBrk="1" hangingPunct="1">
              <a:buNone/>
            </a:pPr>
            <a:r>
              <a:rPr lang="en-US" sz="2400" dirty="0">
                <a:ea typeface="ＭＳ Ｐゴシック" pitchFamily="-107" charset="-128"/>
              </a:rPr>
              <a:t>Considering the types of attacks, the MAC needs to satisfy the following:</a:t>
            </a:r>
          </a:p>
          <a:p>
            <a:pPr lvl="1" indent="-401638" eaLnBrk="1" hangingPunct="1">
              <a:buFontTx/>
              <a:buAutoNum type="arabicPeriod"/>
            </a:pPr>
            <a:r>
              <a:rPr lang="en-US" sz="2400" dirty="0">
                <a:ea typeface="ＭＳ Ｐゴシック" pitchFamily="-107" charset="-128"/>
              </a:rPr>
              <a:t>Knowing a message and MAC, it is infeasible to find another message with same MAC</a:t>
            </a:r>
          </a:p>
          <a:p>
            <a:pPr lvl="1" indent="-401638">
              <a:buFontTx/>
              <a:buAutoNum type="arabicPeriod"/>
            </a:pPr>
            <a:r>
              <a:rPr lang="en-US" sz="2400" dirty="0">
                <a:ea typeface="ＭＳ Ｐゴシック" pitchFamily="-107" charset="-128"/>
              </a:rPr>
              <a:t>For an m-bit authenticator, MACs should be uniformly distributed over the range from 0 to 2</a:t>
            </a:r>
            <a:r>
              <a:rPr lang="en-US" sz="2400" baseline="30000" dirty="0">
                <a:ea typeface="ＭＳ Ｐゴシック" pitchFamily="-107" charset="-128"/>
              </a:rPr>
              <a:t>m</a:t>
            </a:r>
            <a:r>
              <a:rPr lang="en-US" sz="2400" dirty="0">
                <a:ea typeface="ＭＳ Ｐゴシック" pitchFamily="-107" charset="-128"/>
              </a:rPr>
              <a:t> – 1.</a:t>
            </a:r>
          </a:p>
          <a:p>
            <a:pPr lvl="1" indent="-401638" eaLnBrk="1" hangingPunct="1">
              <a:buFontTx/>
              <a:buAutoNum type="arabicPeriod"/>
            </a:pPr>
            <a:r>
              <a:rPr lang="en-US" sz="2400" dirty="0">
                <a:ea typeface="ＭＳ Ｐゴシック" pitchFamily="-107" charset="-128"/>
              </a:rPr>
              <a:t>MAC should depend equally on all bits of the message.</a:t>
            </a:r>
            <a:endParaRPr lang="en-AU" sz="2400" dirty="0">
              <a:ea typeface="ＭＳ Ｐゴシック" pitchFamily="-107"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Rectangle 86">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8370" name="Rectangle 2"/>
          <p:cNvSpPr>
            <a:spLocks noGrp="1" noChangeArrowheads="1"/>
          </p:cNvSpPr>
          <p:nvPr>
            <p:ph type="title"/>
          </p:nvPr>
        </p:nvSpPr>
        <p:spPr>
          <a:xfrm>
            <a:off x="718879" y="800392"/>
            <a:ext cx="7698523" cy="1212102"/>
          </a:xfrm>
        </p:spPr>
        <p:txBody>
          <a:bodyPr vert="horz" lIns="91440" tIns="45720" rIns="91440" bIns="45720" rtlCol="0" anchor="ctr">
            <a:normAutofit/>
          </a:bodyPr>
          <a:lstStyle/>
          <a:p>
            <a:pPr>
              <a:lnSpc>
                <a:spcPct val="90000"/>
              </a:lnSpc>
            </a:pPr>
            <a:r>
              <a:rPr lang="en-US" sz="4900" kern="1200" dirty="0">
                <a:solidFill>
                  <a:srgbClr val="FFFFFF"/>
                </a:solidFill>
                <a:latin typeface="+mj-lt"/>
                <a:ea typeface="+mj-ea"/>
                <a:cs typeface="+mj-cs"/>
              </a:rPr>
              <a:t>Security of MACs</a:t>
            </a:r>
            <a:br>
              <a:rPr lang="en-US" sz="3500" kern="1200" dirty="0">
                <a:solidFill>
                  <a:srgbClr val="FFFFFF"/>
                </a:solidFill>
                <a:latin typeface="+mj-lt"/>
                <a:ea typeface="+mj-ea"/>
                <a:cs typeface="+mj-cs"/>
              </a:rPr>
            </a:br>
            <a:endParaRPr lang="en-US" sz="2400" kern="1200" dirty="0">
              <a:latin typeface="+mj-lt"/>
              <a:ea typeface="+mj-ea"/>
              <a:cs typeface="+mj-cs"/>
            </a:endParaRPr>
          </a:p>
        </p:txBody>
      </p:sp>
      <p:sp>
        <p:nvSpPr>
          <p:cNvPr id="12" name="Rectangle 3">
            <a:extLst>
              <a:ext uri="{FF2B5EF4-FFF2-40B4-BE49-F238E27FC236}">
                <a16:creationId xmlns:a16="http://schemas.microsoft.com/office/drawing/2014/main" id="{B14E1667-B623-4425-8A67-F8C8A1A32334}"/>
              </a:ext>
            </a:extLst>
          </p:cNvPr>
          <p:cNvSpPr txBox="1">
            <a:spLocks noChangeArrowheads="1"/>
          </p:cNvSpPr>
          <p:nvPr/>
        </p:nvSpPr>
        <p:spPr>
          <a:xfrm>
            <a:off x="1146773" y="2542752"/>
            <a:ext cx="7270629" cy="3880472"/>
          </a:xfrm>
          <a:prstGeom prst="rect">
            <a:avLst/>
          </a:prstGeom>
        </p:spPr>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3087" marR="0" indent="0">
              <a:lnSpc>
                <a:spcPct val="107000"/>
              </a:lnSpc>
              <a:spcBef>
                <a:spcPts val="0"/>
              </a:spcBef>
              <a:spcAft>
                <a:spcPts val="0"/>
              </a:spcAft>
              <a:buNone/>
            </a:pPr>
            <a:endParaRPr lang="en-US" sz="2000" dirty="0">
              <a:effectLst/>
              <a:ea typeface="Calibri" panose="020F050202020403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508BED0B-91E5-4ED5-BB90-E03C529940AE}"/>
              </a:ext>
            </a:extLst>
          </p:cNvPr>
          <p:cNvSpPr txBox="1"/>
          <p:nvPr/>
        </p:nvSpPr>
        <p:spPr>
          <a:xfrm>
            <a:off x="916984" y="2411602"/>
            <a:ext cx="7746878" cy="3933384"/>
          </a:xfrm>
          <a:prstGeom prst="rect">
            <a:avLst/>
          </a:prstGeom>
          <a:noFill/>
        </p:spPr>
        <p:txBody>
          <a:bodyPr wrap="square">
            <a:spAutoFit/>
          </a:bodyPr>
          <a:lstStyle/>
          <a:p>
            <a:pPr algn="l"/>
            <a:r>
              <a:rPr lang="en-US" sz="2400" dirty="0"/>
              <a:t>A</a:t>
            </a:r>
            <a:r>
              <a:rPr lang="en-US" sz="2400" b="0" i="0" u="none" strike="noStrike" baseline="0" dirty="0"/>
              <a:t>ttacks on MACs can be grouped into two categories:</a:t>
            </a:r>
          </a:p>
          <a:p>
            <a:pPr algn="l"/>
            <a:endParaRPr lang="en-US" sz="2000" b="0" i="0" u="none" strike="noStrike" baseline="0" dirty="0"/>
          </a:p>
          <a:p>
            <a:pPr marL="342900" indent="-342900" algn="l">
              <a:buFont typeface="Wingdings" panose="05000000000000000000" pitchFamily="2" charset="2"/>
              <a:buChar char="Ø"/>
            </a:pPr>
            <a:r>
              <a:rPr lang="en-US" sz="2000" b="1" dirty="0"/>
              <a:t>Brute-force attacks: </a:t>
            </a:r>
            <a:r>
              <a:rPr lang="en-US" sz="2000" dirty="0"/>
              <a:t>T</a:t>
            </a:r>
            <a:r>
              <a:rPr lang="en-US" sz="2000" b="0" i="0" u="none" strike="noStrike" baseline="0" dirty="0"/>
              <a:t>here are two lines of attack possible: attack the key space and attack the MAC value.</a:t>
            </a:r>
          </a:p>
          <a:p>
            <a:pPr marL="342900" indent="-342900" algn="l">
              <a:buFont typeface="Wingdings" panose="05000000000000000000" pitchFamily="2" charset="2"/>
              <a:buChar char="Ø"/>
            </a:pPr>
            <a:endParaRPr lang="en-US" sz="2000" b="0" i="0" u="none" strike="noStrike" baseline="0" dirty="0"/>
          </a:p>
          <a:p>
            <a:pPr marL="342900" marR="0" indent="-342900">
              <a:lnSpc>
                <a:spcPct val="107000"/>
              </a:lnSpc>
              <a:spcBef>
                <a:spcPts val="0"/>
              </a:spcBef>
              <a:spcAft>
                <a:spcPts val="0"/>
              </a:spcAft>
              <a:buFont typeface="Wingdings" panose="05000000000000000000" pitchFamily="2" charset="2"/>
              <a:buChar char="Ø"/>
            </a:pPr>
            <a:r>
              <a:rPr lang="en-US" sz="2000" b="1" dirty="0">
                <a:effectLst/>
                <a:ea typeface="Calibri" panose="020F0502020204030204" pitchFamily="34" charset="0"/>
                <a:cs typeface="Calibri" panose="020F0502020204030204" pitchFamily="34" charset="0"/>
              </a:rPr>
              <a:t>Cryptanalysis</a:t>
            </a:r>
            <a:r>
              <a:rPr lang="en-US" sz="2000" b="1" dirty="0">
                <a:ea typeface="Calibri" panose="020F0502020204030204" pitchFamily="34" charset="0"/>
                <a:cs typeface="Arial" panose="020B0604020202020204" pitchFamily="34" charset="0"/>
              </a:rPr>
              <a:t>: </a:t>
            </a:r>
            <a:r>
              <a:rPr lang="en-US" sz="2000" dirty="0">
                <a:effectLst/>
                <a:ea typeface="Calibri" panose="020F0502020204030204" pitchFamily="34" charset="0"/>
                <a:cs typeface="Calibri" panose="020F0502020204030204" pitchFamily="34" charset="0"/>
              </a:rPr>
              <a:t>As with encryption algorithms and hash functions, cryptanalytic attacks on MAC algorithms seek to exploit some property of the algorithm to perform some attack other than an exhaustive search.</a:t>
            </a:r>
            <a:endParaRPr lang="en-US" sz="2000" dirty="0">
              <a:effectLst/>
              <a:ea typeface="Calibri" panose="020F0502020204030204" pitchFamily="34" charset="0"/>
              <a:cs typeface="Arial" panose="020B0604020202020204" pitchFamily="34" charset="0"/>
            </a:endParaRPr>
          </a:p>
          <a:p>
            <a:pPr marL="854075" indent="-280988" algn="l">
              <a:buFont typeface="Arial" panose="020B0604020202020204" pitchFamily="34" charset="0"/>
              <a:buChar char="•"/>
            </a:pPr>
            <a:r>
              <a:rPr lang="en-US" sz="2000" dirty="0">
                <a:effectLst/>
                <a:ea typeface="Calibri" panose="020F0502020204030204" pitchFamily="34" charset="0"/>
              </a:rPr>
              <a:t>an ideal MAC algorithm will require a cryptanalytic effort greater than or equal to the brute-force effort.</a:t>
            </a:r>
          </a:p>
          <a:p>
            <a:pPr marL="854075" indent="-280988" algn="l">
              <a:buFont typeface="Arial" panose="020B0604020202020204" pitchFamily="34" charset="0"/>
              <a:buChar char="•"/>
            </a:pPr>
            <a:r>
              <a:rPr lang="en-US" sz="2000" dirty="0"/>
              <a:t>l</a:t>
            </a:r>
            <a:r>
              <a:rPr lang="en-US" sz="2000" b="0" i="0" u="none" strike="noStrike" baseline="0" dirty="0"/>
              <a:t>ittle work has been done on developing </a:t>
            </a:r>
            <a:r>
              <a:rPr lang="en-US" sz="2000" dirty="0">
                <a:effectLst/>
                <a:ea typeface="Calibri" panose="020F0502020204030204" pitchFamily="34" charset="0"/>
                <a:cs typeface="Calibri" panose="020F0502020204030204" pitchFamily="34" charset="0"/>
              </a:rPr>
              <a:t>cryptanalytic</a:t>
            </a:r>
            <a:r>
              <a:rPr lang="en-US" sz="2000" b="0" i="0" u="none" strike="noStrike" baseline="0" dirty="0"/>
              <a:t> attacks</a:t>
            </a:r>
            <a:endParaRPr lang="en-US" sz="2000" dirty="0"/>
          </a:p>
        </p:txBody>
      </p:sp>
    </p:spTree>
    <p:extLst>
      <p:ext uri="{BB962C8B-B14F-4D97-AF65-F5344CB8AC3E}">
        <p14:creationId xmlns:p14="http://schemas.microsoft.com/office/powerpoint/2010/main" val="1681061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Rectangle 86">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8370" name="Rectangle 2"/>
          <p:cNvSpPr>
            <a:spLocks noGrp="1" noChangeArrowheads="1"/>
          </p:cNvSpPr>
          <p:nvPr>
            <p:ph type="title"/>
          </p:nvPr>
        </p:nvSpPr>
        <p:spPr>
          <a:xfrm>
            <a:off x="718879" y="800392"/>
            <a:ext cx="7698523" cy="1212102"/>
          </a:xfrm>
        </p:spPr>
        <p:txBody>
          <a:bodyPr vert="horz" lIns="91440" tIns="45720" rIns="91440" bIns="45720" rtlCol="0" anchor="ctr">
            <a:normAutofit/>
          </a:bodyPr>
          <a:lstStyle/>
          <a:p>
            <a:pPr>
              <a:lnSpc>
                <a:spcPct val="90000"/>
              </a:lnSpc>
            </a:pPr>
            <a:r>
              <a:rPr lang="en-US" sz="4900" kern="1200" dirty="0">
                <a:solidFill>
                  <a:srgbClr val="FFFFFF"/>
                </a:solidFill>
                <a:latin typeface="+mj-lt"/>
                <a:ea typeface="+mj-ea"/>
                <a:cs typeface="+mj-cs"/>
              </a:rPr>
              <a:t>Brute-Force Attacks on MACs</a:t>
            </a:r>
            <a:br>
              <a:rPr lang="en-US" sz="3500" kern="1200" dirty="0">
                <a:solidFill>
                  <a:srgbClr val="FFFFFF"/>
                </a:solidFill>
                <a:latin typeface="+mj-lt"/>
                <a:ea typeface="+mj-ea"/>
                <a:cs typeface="+mj-cs"/>
              </a:rPr>
            </a:br>
            <a:endParaRPr lang="en-US" sz="2400" kern="1200" dirty="0">
              <a:solidFill>
                <a:schemeClr val="bg1"/>
              </a:solidFill>
              <a:latin typeface="+mj-lt"/>
              <a:ea typeface="+mj-ea"/>
              <a:cs typeface="+mj-cs"/>
            </a:endParaRPr>
          </a:p>
        </p:txBody>
      </p:sp>
      <p:sp>
        <p:nvSpPr>
          <p:cNvPr id="12" name="Rectangle 3">
            <a:extLst>
              <a:ext uri="{FF2B5EF4-FFF2-40B4-BE49-F238E27FC236}">
                <a16:creationId xmlns:a16="http://schemas.microsoft.com/office/drawing/2014/main" id="{B14E1667-B623-4425-8A67-F8C8A1A32334}"/>
              </a:ext>
            </a:extLst>
          </p:cNvPr>
          <p:cNvSpPr txBox="1">
            <a:spLocks noChangeArrowheads="1"/>
          </p:cNvSpPr>
          <p:nvPr/>
        </p:nvSpPr>
        <p:spPr>
          <a:xfrm>
            <a:off x="1146773" y="2542752"/>
            <a:ext cx="7270629" cy="3880472"/>
          </a:xfrm>
          <a:prstGeom prst="rect">
            <a:avLst/>
          </a:prstGeom>
        </p:spPr>
        <p:txBody>
          <a:bodyPr vert="horz" lIns="91440" tIns="45720" rIns="91440" bIns="45720" rtlCol="0"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1313" lvl="1" indent="-341313">
              <a:lnSpc>
                <a:spcPct val="90000"/>
              </a:lnSpc>
              <a:buFont typeface="Wingdings" panose="05000000000000000000" pitchFamily="2" charset="2"/>
              <a:buChar char="Ø"/>
            </a:pPr>
            <a:r>
              <a:rPr lang="en-US" sz="2000" dirty="0"/>
              <a:t>Attack on MACs with known message-MAC pairs </a:t>
            </a:r>
            <a:r>
              <a:rPr lang="en-US" sz="2000" b="0" i="0" u="none" strike="noStrike" baseline="0" dirty="0"/>
              <a:t>[</a:t>
            </a:r>
            <a:r>
              <a:rPr lang="en-US" sz="2000" b="0" i="1" u="none" strike="noStrike" baseline="0" dirty="0"/>
              <a:t>x</a:t>
            </a:r>
            <a:r>
              <a:rPr lang="en-US" sz="2000" b="0" i="0" u="none" strike="noStrike" baseline="0" dirty="0"/>
              <a:t>, MAC(</a:t>
            </a:r>
            <a:r>
              <a:rPr lang="en-US" sz="2000" b="0" i="1" u="none" strike="noStrike" baseline="0" dirty="0"/>
              <a:t>K</a:t>
            </a:r>
            <a:r>
              <a:rPr lang="en-US" sz="2000" b="0" i="0" u="none" strike="noStrike" baseline="0" dirty="0"/>
              <a:t>, </a:t>
            </a:r>
            <a:r>
              <a:rPr lang="en-US" sz="2000" b="0" i="1" u="none" strike="noStrike" baseline="0" dirty="0"/>
              <a:t>x</a:t>
            </a:r>
            <a:r>
              <a:rPr lang="en-US" sz="2000" b="0" i="0" u="none" strike="noStrike" baseline="0" dirty="0"/>
              <a:t>)]</a:t>
            </a:r>
          </a:p>
          <a:p>
            <a:pPr marL="633413" indent="-292100" algn="l"/>
            <a:r>
              <a:rPr lang="en-US" sz="2000" dirty="0"/>
              <a:t>either attack key space (by exhaustive key search)</a:t>
            </a:r>
          </a:p>
          <a:p>
            <a:pPr marL="633413" indent="-292100" algn="l"/>
            <a:r>
              <a:rPr lang="en-US" sz="2000" dirty="0"/>
              <a:t>or</a:t>
            </a:r>
            <a:r>
              <a:rPr lang="en-US" sz="2000" b="0" i="0" u="none" strike="noStrike" baseline="0" dirty="0"/>
              <a:t> generate a valid tag for a given message</a:t>
            </a:r>
          </a:p>
          <a:p>
            <a:pPr marL="633413" indent="-292100" algn="l"/>
            <a:r>
              <a:rPr lang="en-US" sz="2000" b="0" i="0" u="none" strike="noStrike" baseline="0" dirty="0"/>
              <a:t>or find a message that matches a given tag</a:t>
            </a:r>
          </a:p>
          <a:p>
            <a:pPr algn="l">
              <a:buFont typeface="Wingdings" panose="05000000000000000000" pitchFamily="2" charset="2"/>
              <a:buChar char="Ø"/>
            </a:pPr>
            <a:r>
              <a:rPr lang="en-US" sz="2000" dirty="0">
                <a:effectLst/>
                <a:ea typeface="Calibri" panose="020F0502020204030204" pitchFamily="34" charset="0"/>
                <a:cs typeface="Arial" panose="020B0604020202020204" pitchFamily="34" charset="0"/>
              </a:rPr>
              <a:t>For a k-bit key and a m-bit MAC authenticator, the level of effort for </a:t>
            </a:r>
            <a:r>
              <a:rPr lang="en-US" sz="2000" b="1" dirty="0">
                <a:effectLst/>
                <a:ea typeface="Calibri" panose="020F0502020204030204" pitchFamily="34" charset="0"/>
                <a:cs typeface="Arial" panose="020B0604020202020204" pitchFamily="34" charset="0"/>
              </a:rPr>
              <a:t>brute-force attack </a:t>
            </a:r>
            <a:r>
              <a:rPr lang="en-US" sz="2000" dirty="0">
                <a:effectLst/>
                <a:ea typeface="Calibri" panose="020F0502020204030204" pitchFamily="34" charset="0"/>
                <a:cs typeface="Arial" panose="020B0604020202020204" pitchFamily="34" charset="0"/>
              </a:rPr>
              <a:t>on a MAC algorithm can be expressed as min(2</a:t>
            </a:r>
            <a:r>
              <a:rPr lang="en-US" sz="2000" baseline="30000" dirty="0">
                <a:effectLst/>
                <a:ea typeface="Calibri" panose="020F0502020204030204" pitchFamily="34" charset="0"/>
                <a:cs typeface="Arial" panose="020B0604020202020204" pitchFamily="34" charset="0"/>
              </a:rPr>
              <a:t>k</a:t>
            </a:r>
            <a:r>
              <a:rPr lang="en-US" sz="2000" dirty="0">
                <a:effectLst/>
                <a:ea typeface="Calibri" panose="020F0502020204030204" pitchFamily="34" charset="0"/>
                <a:cs typeface="Arial" panose="020B0604020202020204" pitchFamily="34" charset="0"/>
              </a:rPr>
              <a:t>,2</a:t>
            </a:r>
            <a:r>
              <a:rPr lang="en-US" sz="2000" baseline="30000" dirty="0">
                <a:effectLst/>
                <a:ea typeface="Calibri" panose="020F0502020204030204" pitchFamily="34" charset="0"/>
                <a:cs typeface="Arial" panose="020B0604020202020204" pitchFamily="34" charset="0"/>
              </a:rPr>
              <a:t>m</a:t>
            </a:r>
            <a:r>
              <a:rPr lang="en-US" sz="2000" dirty="0">
                <a:effectLst/>
                <a:ea typeface="Calibri" panose="020F0502020204030204" pitchFamily="34" charset="0"/>
                <a:cs typeface="Arial" panose="020B0604020202020204" pitchFamily="34" charset="0"/>
              </a:rPr>
              <a:t>).</a:t>
            </a:r>
          </a:p>
          <a:p>
            <a:pPr marL="633413" indent="-292100">
              <a:lnSpc>
                <a:spcPct val="107000"/>
              </a:lnSpc>
              <a:spcBef>
                <a:spcPts val="0"/>
              </a:spcBef>
            </a:pPr>
            <a:r>
              <a:rPr lang="en-US" sz="2000" dirty="0">
                <a:ea typeface="ＭＳ Ｐゴシック" pitchFamily="-107" charset="-128"/>
              </a:rPr>
              <a:t>It is reasonable to require that the key length (k) and MAC length (m) satisfy a relationship such as min(</a:t>
            </a:r>
            <a:r>
              <a:rPr lang="en-US" sz="2000" i="1" dirty="0">
                <a:ea typeface="ＭＳ Ｐゴシック" pitchFamily="-107" charset="-128"/>
              </a:rPr>
              <a:t>k, m) &gt;= N</a:t>
            </a:r>
            <a:r>
              <a:rPr lang="en-US" sz="2000" dirty="0">
                <a:ea typeface="ＭＳ Ｐゴシック" pitchFamily="-107" charset="-128"/>
              </a:rPr>
              <a:t>, where N is in the range of 128 bits. A</a:t>
            </a:r>
            <a:r>
              <a:rPr lang="en-US" sz="2000" dirty="0"/>
              <a:t>t least 128-bit MAC is needed for security, 160-bits better.</a:t>
            </a:r>
            <a:endParaRPr lang="en-US" sz="2000" dirty="0">
              <a:ea typeface="ＭＳ Ｐゴシック" pitchFamily="-107" charset="-128"/>
            </a:endParaRPr>
          </a:p>
          <a:p>
            <a:pPr marL="573087" marR="0" indent="0">
              <a:lnSpc>
                <a:spcPct val="107000"/>
              </a:lnSpc>
              <a:spcBef>
                <a:spcPts val="0"/>
              </a:spcBef>
              <a:spcAft>
                <a:spcPts val="0"/>
              </a:spcAft>
              <a:buNone/>
            </a:pPr>
            <a:endParaRPr lang="en-US" sz="2000" dirty="0">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72667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2946"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ea typeface="ＭＳ Ｐゴシック" pitchFamily="-107" charset="-128"/>
                <a:cs typeface="ＭＳ Ｐゴシック" pitchFamily="-107" charset="-128"/>
              </a:rPr>
              <a:t>Keyed Hash Functions as MACs</a:t>
            </a:r>
          </a:p>
        </p:txBody>
      </p:sp>
      <p:sp>
        <p:nvSpPr>
          <p:cNvPr id="82947"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itchFamily="-107" charset="2"/>
              <a:buChar char="Ø"/>
              <a:defRPr/>
            </a:pPr>
            <a:r>
              <a:rPr lang="en-US" sz="2100" dirty="0">
                <a:ea typeface="ＭＳ Ｐゴシック" pitchFamily="-107" charset="-128"/>
                <a:cs typeface="ＭＳ Ｐゴシック" pitchFamily="-107" charset="-128"/>
              </a:rPr>
              <a:t>want a MAC based on a hash function </a:t>
            </a:r>
          </a:p>
          <a:p>
            <a:pPr lvl="1" eaLnBrk="1" hangingPunct="1">
              <a:buFont typeface="Arial" panose="020B0604020202020204" pitchFamily="34" charset="0"/>
              <a:buChar char="•"/>
              <a:defRPr/>
            </a:pPr>
            <a:r>
              <a:rPr lang="en-US" sz="2100" dirty="0"/>
              <a:t>because hash functions are generally faster</a:t>
            </a:r>
          </a:p>
          <a:p>
            <a:pPr lvl="1" eaLnBrk="1" hangingPunct="1">
              <a:buFont typeface="Arial" panose="020B0604020202020204" pitchFamily="34" charset="0"/>
              <a:buChar char="•"/>
              <a:defRPr/>
            </a:pPr>
            <a:r>
              <a:rPr lang="en-US" sz="2100" dirty="0"/>
              <a:t>crypto hash function code is widely available</a:t>
            </a:r>
          </a:p>
          <a:p>
            <a:pPr eaLnBrk="1" hangingPunct="1">
              <a:buFont typeface="Wingdings" pitchFamily="-107" charset="2"/>
              <a:buChar char="Ø"/>
              <a:defRPr/>
            </a:pPr>
            <a:r>
              <a:rPr lang="en-AU" sz="2100" dirty="0">
                <a:ea typeface="ＭＳ Ｐゴシック" pitchFamily="-107" charset="-128"/>
                <a:cs typeface="ＭＳ Ｐゴシック" pitchFamily="-107" charset="-128"/>
              </a:rPr>
              <a:t>hash includes a key along with message</a:t>
            </a:r>
          </a:p>
          <a:p>
            <a:pPr eaLnBrk="1" hangingPunct="1">
              <a:buFont typeface="Wingdings" pitchFamily="-107" charset="2"/>
              <a:buChar char="Ø"/>
              <a:defRPr/>
            </a:pPr>
            <a:r>
              <a:rPr lang="en-AU" sz="2100" dirty="0">
                <a:ea typeface="ＭＳ Ｐゴシック" pitchFamily="-107" charset="-128"/>
                <a:cs typeface="ＭＳ Ｐゴシック" pitchFamily="-107" charset="-128"/>
              </a:rPr>
              <a:t>original proposal:</a:t>
            </a:r>
          </a:p>
          <a:p>
            <a:pPr lvl="1" eaLnBrk="1" hangingPunct="1">
              <a:buFont typeface="Wingdings" pitchFamily="-107" charset="2"/>
              <a:buNone/>
              <a:defRPr/>
            </a:pPr>
            <a:r>
              <a:rPr lang="en-AU" sz="2100" dirty="0" err="1">
                <a:latin typeface="Courier New" pitchFamily="-107" charset="0"/>
              </a:rPr>
              <a:t>KeyedHash</a:t>
            </a:r>
            <a:r>
              <a:rPr lang="en-AU" sz="2100" dirty="0">
                <a:latin typeface="Courier New" pitchFamily="-107" charset="0"/>
              </a:rPr>
              <a:t> = Hash(</a:t>
            </a:r>
            <a:r>
              <a:rPr lang="en-AU" sz="2100" dirty="0" err="1">
                <a:latin typeface="Courier New" pitchFamily="-107" charset="0"/>
              </a:rPr>
              <a:t>Key|Message</a:t>
            </a:r>
            <a:r>
              <a:rPr lang="en-AU" sz="2100" dirty="0">
                <a:latin typeface="Courier New" pitchFamily="-107" charset="0"/>
              </a:rPr>
              <a:t>) </a:t>
            </a:r>
          </a:p>
          <a:p>
            <a:pPr lvl="1" eaLnBrk="1" hangingPunct="1">
              <a:buFont typeface="Arial" panose="020B0604020202020204" pitchFamily="34" charset="0"/>
              <a:buChar char="•"/>
              <a:defRPr/>
            </a:pPr>
            <a:r>
              <a:rPr lang="en-AU" sz="2100" dirty="0"/>
              <a:t>some weaknesses were found with this </a:t>
            </a:r>
          </a:p>
          <a:p>
            <a:pPr eaLnBrk="1" hangingPunct="1">
              <a:buFont typeface="Wingdings" pitchFamily="-107" charset="2"/>
              <a:buChar char="Ø"/>
              <a:defRPr/>
            </a:pPr>
            <a:r>
              <a:rPr lang="en-AU" sz="2100" dirty="0">
                <a:ea typeface="ＭＳ Ｐゴシック" pitchFamily="-107" charset="-128"/>
                <a:cs typeface="ＭＳ Ｐゴシック" pitchFamily="-107" charset="-128"/>
              </a:rPr>
              <a:t>eventually led to development of HMAC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a:defRPr/>
            </a:pPr>
            <a:r>
              <a:rPr lang="en-US" sz="3500">
                <a:solidFill>
                  <a:srgbClr val="FFFFFF"/>
                </a:solidFill>
                <a:ea typeface="ＭＳ Ｐゴシック" pitchFamily="-107" charset="-128"/>
                <a:cs typeface="ＭＳ Ｐゴシック" pitchFamily="-107" charset="-128"/>
              </a:rPr>
              <a:t>HMAC Design Objectives</a:t>
            </a:r>
          </a:p>
        </p:txBody>
      </p:sp>
      <p:sp>
        <p:nvSpPr>
          <p:cNvPr id="3" name="Content Placeholder 2"/>
          <p:cNvSpPr>
            <a:spLocks noGrp="1"/>
          </p:cNvSpPr>
          <p:nvPr>
            <p:ph idx="1"/>
          </p:nvPr>
        </p:nvSpPr>
        <p:spPr>
          <a:xfrm>
            <a:off x="1025718" y="2490436"/>
            <a:ext cx="7281746" cy="3567173"/>
          </a:xfrm>
        </p:spPr>
        <p:txBody>
          <a:bodyPr anchor="ctr">
            <a:normAutofit/>
          </a:bodyPr>
          <a:lstStyle/>
          <a:p>
            <a:pPr>
              <a:buFont typeface="Wingdings" pitchFamily="-107" charset="2"/>
              <a:buChar char="Ø"/>
              <a:defRPr/>
            </a:pPr>
            <a:r>
              <a:rPr lang="en-US" sz="2100">
                <a:ea typeface="ＭＳ Ｐゴシック" pitchFamily="-107" charset="-128"/>
                <a:cs typeface="ＭＳ Ｐゴシック" pitchFamily="-107" charset="-128"/>
              </a:rPr>
              <a:t>use, without modifications, hash functions</a:t>
            </a:r>
          </a:p>
          <a:p>
            <a:pPr>
              <a:buFont typeface="Wingdings" pitchFamily="-107" charset="2"/>
              <a:buChar char="Ø"/>
              <a:defRPr/>
            </a:pPr>
            <a:r>
              <a:rPr lang="en-US" sz="2100">
                <a:ea typeface="ＭＳ Ｐゴシック" pitchFamily="-107" charset="-128"/>
                <a:cs typeface="ＭＳ Ｐゴシック" pitchFamily="-107" charset="-128"/>
              </a:rPr>
              <a:t>allow for easy replaceability of embedded hash function</a:t>
            </a:r>
          </a:p>
          <a:p>
            <a:pPr>
              <a:buFont typeface="Wingdings" pitchFamily="-107" charset="2"/>
              <a:buChar char="Ø"/>
              <a:defRPr/>
            </a:pPr>
            <a:r>
              <a:rPr lang="en-US" sz="2100">
                <a:ea typeface="ＭＳ Ｐゴシック" pitchFamily="-107" charset="-128"/>
                <a:cs typeface="ＭＳ Ｐゴシック" pitchFamily="-107" charset="-128"/>
              </a:rPr>
              <a:t>preserve original performance of hash function without significant degradation</a:t>
            </a:r>
          </a:p>
          <a:p>
            <a:pPr>
              <a:buFont typeface="Wingdings" pitchFamily="-107" charset="2"/>
              <a:buChar char="Ø"/>
              <a:defRPr/>
            </a:pPr>
            <a:r>
              <a:rPr lang="en-US" sz="2100">
                <a:ea typeface="ＭＳ Ｐゴシック" pitchFamily="-107" charset="-128"/>
                <a:cs typeface="ＭＳ Ｐゴシック" pitchFamily="-107" charset="-128"/>
              </a:rPr>
              <a:t>use and handle keys in a simple way.</a:t>
            </a:r>
          </a:p>
          <a:p>
            <a:pPr>
              <a:buFont typeface="Wingdings" pitchFamily="-107" charset="2"/>
              <a:buChar char="Ø"/>
              <a:defRPr/>
            </a:pPr>
            <a:r>
              <a:rPr lang="en-US" sz="2100">
                <a:ea typeface="ＭＳ Ｐゴシック" pitchFamily="-107" charset="-128"/>
                <a:cs typeface="ＭＳ Ｐゴシック" pitchFamily="-107" charset="-128"/>
              </a:rPr>
              <a:t>have well understood cryptographic analysis of authentication mechanism strength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3970"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HMAC</a:t>
            </a:r>
            <a:endParaRPr lang="en-AU" sz="3500">
              <a:solidFill>
                <a:srgbClr val="FFFFFF"/>
              </a:solidFill>
              <a:ea typeface="ＭＳ Ｐゴシック" pitchFamily="-107" charset="-128"/>
            </a:endParaRPr>
          </a:p>
        </p:txBody>
      </p:sp>
      <p:sp>
        <p:nvSpPr>
          <p:cNvPr id="83971" name="Rectangle 3"/>
          <p:cNvSpPr>
            <a:spLocks noGrp="1" noChangeArrowheads="1"/>
          </p:cNvSpPr>
          <p:nvPr>
            <p:ph type="body" idx="1"/>
          </p:nvPr>
        </p:nvSpPr>
        <p:spPr>
          <a:xfrm>
            <a:off x="1025718" y="2490436"/>
            <a:ext cx="7281746" cy="3567173"/>
          </a:xfrm>
        </p:spPr>
        <p:txBody>
          <a:bodyPr anchor="ctr">
            <a:normAutofit lnSpcReduction="10000"/>
          </a:bodyPr>
          <a:lstStyle/>
          <a:p>
            <a:pPr eaLnBrk="1" hangingPunct="1">
              <a:lnSpc>
                <a:spcPct val="90000"/>
              </a:lnSpc>
              <a:buFont typeface="Wingdings" panose="05000000000000000000" pitchFamily="2" charset="2"/>
              <a:buChar char="Ø"/>
            </a:pPr>
            <a:r>
              <a:rPr lang="en-AU" sz="2100" dirty="0">
                <a:ea typeface="ＭＳ Ｐゴシック" pitchFamily="-107" charset="-128"/>
              </a:rPr>
              <a:t>specified as Internet standard RFC2104 </a:t>
            </a:r>
          </a:p>
          <a:p>
            <a:pPr eaLnBrk="1" hangingPunct="1">
              <a:lnSpc>
                <a:spcPct val="90000"/>
              </a:lnSpc>
              <a:buFont typeface="Wingdings" panose="05000000000000000000" pitchFamily="2" charset="2"/>
              <a:buChar char="Ø"/>
            </a:pPr>
            <a:r>
              <a:rPr lang="en-AU" sz="2100" dirty="0">
                <a:ea typeface="ＭＳ Ｐゴシック" pitchFamily="-107" charset="-128"/>
              </a:rPr>
              <a:t>uses hash function on the message:</a:t>
            </a:r>
          </a:p>
          <a:p>
            <a:pPr lvl="1" eaLnBrk="1" hangingPunct="1">
              <a:lnSpc>
                <a:spcPct val="90000"/>
              </a:lnSpc>
              <a:buFont typeface="Wingdings" pitchFamily="2" charset="2"/>
              <a:buNone/>
            </a:pPr>
            <a:r>
              <a:rPr lang="en-AU" sz="2100" dirty="0">
                <a:latin typeface="Courier New" pitchFamily="49" charset="0"/>
                <a:ea typeface="ＭＳ Ｐゴシック" pitchFamily="-107" charset="-128"/>
              </a:rPr>
              <a:t>HMAC</a:t>
            </a:r>
            <a:r>
              <a:rPr lang="en-AU" sz="2100" baseline="-25000" dirty="0">
                <a:latin typeface="Courier New" pitchFamily="49" charset="0"/>
                <a:ea typeface="ＭＳ Ｐゴシック" pitchFamily="-107" charset="-128"/>
              </a:rPr>
              <a:t>K</a:t>
            </a:r>
            <a:r>
              <a:rPr lang="en-AU" sz="2100" dirty="0">
                <a:latin typeface="Courier New" pitchFamily="49" charset="0"/>
                <a:ea typeface="ＭＳ Ｐゴシック" pitchFamily="-107" charset="-128"/>
              </a:rPr>
              <a:t>(M)= Hash[(K</a:t>
            </a:r>
            <a:r>
              <a:rPr lang="en-AU" sz="2100" baseline="30000" dirty="0">
                <a:latin typeface="Courier New" pitchFamily="49" charset="0"/>
                <a:ea typeface="ＭＳ Ｐゴシック" pitchFamily="-107" charset="-128"/>
              </a:rPr>
              <a:t>+</a:t>
            </a:r>
            <a:r>
              <a:rPr lang="en-AU" sz="2100" dirty="0">
                <a:latin typeface="Courier New" pitchFamily="49" charset="0"/>
                <a:ea typeface="ＭＳ Ｐゴシック" pitchFamily="-107" charset="-128"/>
              </a:rPr>
              <a:t> </a:t>
            </a:r>
            <a:r>
              <a:rPr lang="en-AU" sz="2400" dirty="0">
                <a:ea typeface="ＭＳ Ｐゴシック" pitchFamily="-107" charset="-128"/>
                <a:sym typeface="Symbol" pitchFamily="18" charset="2"/>
              </a:rPr>
              <a:t></a:t>
            </a:r>
            <a:r>
              <a:rPr lang="en-AU" sz="2100" dirty="0">
                <a:latin typeface="Courier New" pitchFamily="49" charset="0"/>
                <a:ea typeface="ＭＳ Ｐゴシック" pitchFamily="-107" charset="-128"/>
              </a:rPr>
              <a:t> opad) || </a:t>
            </a:r>
          </a:p>
          <a:p>
            <a:pPr lvl="1" eaLnBrk="1" hangingPunct="1">
              <a:lnSpc>
                <a:spcPct val="90000"/>
              </a:lnSpc>
              <a:buFont typeface="Wingdings" pitchFamily="2" charset="2"/>
              <a:buNone/>
            </a:pPr>
            <a:r>
              <a:rPr lang="en-AU" sz="2100" dirty="0">
                <a:latin typeface="Courier New" pitchFamily="49" charset="0"/>
                <a:ea typeface="ＭＳ Ｐゴシック" pitchFamily="-107" charset="-128"/>
              </a:rPr>
              <a:t>				Hash[(K</a:t>
            </a:r>
            <a:r>
              <a:rPr lang="en-AU" sz="2100" baseline="30000" dirty="0">
                <a:latin typeface="Courier New" pitchFamily="49" charset="0"/>
                <a:ea typeface="ＭＳ Ｐゴシック" pitchFamily="-107" charset="-128"/>
              </a:rPr>
              <a:t>+</a:t>
            </a:r>
            <a:r>
              <a:rPr lang="en-AU" sz="2100" dirty="0">
                <a:latin typeface="Courier New" pitchFamily="49" charset="0"/>
                <a:ea typeface="ＭＳ Ｐゴシック" pitchFamily="-107" charset="-128"/>
              </a:rPr>
              <a:t> </a:t>
            </a:r>
            <a:r>
              <a:rPr lang="en-AU" sz="2400" dirty="0">
                <a:ea typeface="ＭＳ Ｐゴシック" pitchFamily="-107" charset="-128"/>
                <a:sym typeface="Symbol" pitchFamily="18" charset="2"/>
              </a:rPr>
              <a:t></a:t>
            </a:r>
            <a:r>
              <a:rPr lang="en-AU" sz="2100" dirty="0">
                <a:latin typeface="Courier New" pitchFamily="49" charset="0"/>
                <a:ea typeface="ＭＳ Ｐゴシック" pitchFamily="-107" charset="-128"/>
              </a:rPr>
              <a:t> ipad) || M)] ]</a:t>
            </a:r>
          </a:p>
          <a:p>
            <a:pPr lvl="1" eaLnBrk="1" hangingPunct="1">
              <a:lnSpc>
                <a:spcPct val="90000"/>
              </a:lnSpc>
              <a:buFont typeface="Arial" panose="020B0604020202020204" pitchFamily="34" charset="0"/>
              <a:buChar char="•"/>
            </a:pPr>
            <a:r>
              <a:rPr lang="en-AU" sz="2100" dirty="0">
                <a:ea typeface="ＭＳ Ｐゴシック" pitchFamily="-107" charset="-128"/>
              </a:rPr>
              <a:t>where </a:t>
            </a:r>
            <a:r>
              <a:rPr lang="en-AU" sz="2100" dirty="0">
                <a:latin typeface="Courier New" pitchFamily="49" charset="0"/>
                <a:ea typeface="ＭＳ Ｐゴシック" pitchFamily="-107" charset="-128"/>
                <a:cs typeface="Courier New" pitchFamily="49" charset="0"/>
              </a:rPr>
              <a:t>K</a:t>
            </a:r>
            <a:r>
              <a:rPr lang="en-AU" sz="2100" baseline="30000" dirty="0">
                <a:latin typeface="Courier New" pitchFamily="49" charset="0"/>
                <a:ea typeface="ＭＳ Ｐゴシック" pitchFamily="-107" charset="-128"/>
                <a:cs typeface="Courier New" pitchFamily="49" charset="0"/>
              </a:rPr>
              <a:t>+</a:t>
            </a:r>
            <a:r>
              <a:rPr lang="en-AU" sz="2100" dirty="0">
                <a:latin typeface="Courier New" pitchFamily="49" charset="0"/>
                <a:ea typeface="ＭＳ Ｐゴシック" pitchFamily="-107" charset="-128"/>
                <a:cs typeface="Courier New" pitchFamily="49" charset="0"/>
              </a:rPr>
              <a:t> </a:t>
            </a:r>
            <a:r>
              <a:rPr lang="en-AU" sz="2100" dirty="0">
                <a:ea typeface="ＭＳ Ｐゴシック" pitchFamily="-107" charset="-128"/>
              </a:rPr>
              <a:t>is the key padded out to size </a:t>
            </a:r>
          </a:p>
          <a:p>
            <a:pPr lvl="1" eaLnBrk="1" hangingPunct="1">
              <a:lnSpc>
                <a:spcPct val="90000"/>
              </a:lnSpc>
              <a:buFont typeface="Arial" panose="020B0604020202020204" pitchFamily="34" charset="0"/>
              <a:buChar char="•"/>
            </a:pPr>
            <a:r>
              <a:rPr lang="en-AU" sz="2100" dirty="0">
                <a:latin typeface="Courier New" pitchFamily="49" charset="0"/>
                <a:ea typeface="ＭＳ Ｐゴシック" pitchFamily="-107" charset="-128"/>
                <a:cs typeface="Courier New" pitchFamily="49" charset="0"/>
              </a:rPr>
              <a:t>opad</a:t>
            </a:r>
            <a:r>
              <a:rPr lang="en-AU" sz="2100" dirty="0">
                <a:ea typeface="ＭＳ Ｐゴシック" pitchFamily="-107" charset="-128"/>
              </a:rPr>
              <a:t>, </a:t>
            </a:r>
            <a:r>
              <a:rPr lang="en-AU" sz="2100" dirty="0">
                <a:latin typeface="Courier New" pitchFamily="49" charset="0"/>
                <a:ea typeface="ＭＳ Ｐゴシック" pitchFamily="-107" charset="-128"/>
                <a:cs typeface="Courier New" pitchFamily="49" charset="0"/>
              </a:rPr>
              <a:t>ipad </a:t>
            </a:r>
            <a:r>
              <a:rPr lang="en-AU" sz="2100" dirty="0">
                <a:ea typeface="ＭＳ Ｐゴシック" pitchFamily="-107" charset="-128"/>
              </a:rPr>
              <a:t>are specified padding constants </a:t>
            </a:r>
          </a:p>
          <a:p>
            <a:pPr eaLnBrk="1" hangingPunct="1">
              <a:lnSpc>
                <a:spcPct val="90000"/>
              </a:lnSpc>
              <a:buFont typeface="Wingdings" panose="05000000000000000000" pitchFamily="2" charset="2"/>
              <a:buChar char="Ø"/>
            </a:pPr>
            <a:r>
              <a:rPr lang="en-AU" sz="2100" dirty="0">
                <a:ea typeface="ＭＳ Ｐゴシック" pitchFamily="-107" charset="-128"/>
              </a:rPr>
              <a:t>overhead is just 3 more hash calculations than the message needs alone</a:t>
            </a:r>
          </a:p>
          <a:p>
            <a:pPr eaLnBrk="1" hangingPunct="1">
              <a:lnSpc>
                <a:spcPct val="90000"/>
              </a:lnSpc>
              <a:buFont typeface="Wingdings" panose="05000000000000000000" pitchFamily="2" charset="2"/>
              <a:buChar char="Ø"/>
            </a:pPr>
            <a:r>
              <a:rPr lang="en-AU" sz="2100" dirty="0">
                <a:ea typeface="ＭＳ Ｐゴシック" pitchFamily="-107" charset="-128"/>
              </a:rPr>
              <a:t>any hash function can be used</a:t>
            </a:r>
          </a:p>
          <a:p>
            <a:pPr lvl="1" eaLnBrk="1" hangingPunct="1">
              <a:lnSpc>
                <a:spcPct val="90000"/>
              </a:lnSpc>
              <a:buFont typeface="Arial" panose="020B0604020202020204" pitchFamily="34" charset="0"/>
              <a:buChar char="•"/>
            </a:pPr>
            <a:r>
              <a:rPr lang="en-AU" sz="2100" dirty="0">
                <a:ea typeface="ＭＳ Ｐゴシック" pitchFamily="-107" charset="-128"/>
              </a:rPr>
              <a:t>e.g. MD5, SHA-1, RIPEMD-160, Whirlpool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FFB111C-8CBC-45CA-89A8-E3F72E15A539}"/>
              </a:ext>
            </a:extLst>
          </p:cNvPr>
          <p:cNvPicPr>
            <a:picLocks noChangeAspect="1"/>
          </p:cNvPicPr>
          <p:nvPr/>
        </p:nvPicPr>
        <p:blipFill>
          <a:blip r:embed="rId2"/>
          <a:stretch>
            <a:fillRect/>
          </a:stretch>
        </p:blipFill>
        <p:spPr>
          <a:xfrm>
            <a:off x="1905000" y="10383"/>
            <a:ext cx="6515100" cy="6677025"/>
          </a:xfrm>
          <a:prstGeom prst="rect">
            <a:avLst/>
          </a:prstGeom>
        </p:spPr>
      </p:pic>
      <p:sp>
        <p:nvSpPr>
          <p:cNvPr id="9" name="TextBox 8">
            <a:extLst>
              <a:ext uri="{FF2B5EF4-FFF2-40B4-BE49-F238E27FC236}">
                <a16:creationId xmlns:a16="http://schemas.microsoft.com/office/drawing/2014/main" id="{DC9155DD-04FC-4FA5-BD43-5972226187BF}"/>
              </a:ext>
            </a:extLst>
          </p:cNvPr>
          <p:cNvSpPr txBox="1"/>
          <p:nvPr/>
        </p:nvSpPr>
        <p:spPr>
          <a:xfrm>
            <a:off x="5893837" y="4876800"/>
            <a:ext cx="3276600" cy="1206484"/>
          </a:xfrm>
          <a:prstGeom prst="rect">
            <a:avLst/>
          </a:prstGeom>
          <a:noFill/>
        </p:spPr>
        <p:txBody>
          <a:bodyPr wrap="square" rtlCol="0">
            <a:spAutoFit/>
          </a:bodyPr>
          <a:lstStyle/>
          <a:p>
            <a:pPr marL="112713" lvl="1" eaLnBrk="1" hangingPunct="1">
              <a:lnSpc>
                <a:spcPct val="90000"/>
              </a:lnSpc>
              <a:buFont typeface="Wingdings" pitchFamily="2" charset="2"/>
              <a:buNone/>
            </a:pPr>
            <a:r>
              <a:rPr lang="en-AU" sz="1600" dirty="0">
                <a:latin typeface="Courier New" pitchFamily="49" charset="0"/>
                <a:ea typeface="ＭＳ Ｐゴシック" pitchFamily="-107" charset="-128"/>
              </a:rPr>
              <a:t>HMAC(k,M)= </a:t>
            </a:r>
          </a:p>
          <a:p>
            <a:pPr marL="112713" lvl="1" eaLnBrk="1" hangingPunct="1">
              <a:lnSpc>
                <a:spcPct val="90000"/>
              </a:lnSpc>
              <a:buFont typeface="Wingdings" pitchFamily="2" charset="2"/>
              <a:buNone/>
            </a:pPr>
            <a:r>
              <a:rPr lang="en-AU" sz="1600" dirty="0">
                <a:latin typeface="Courier New" pitchFamily="49" charset="0"/>
                <a:ea typeface="ＭＳ Ｐゴシック" pitchFamily="-107" charset="-128"/>
              </a:rPr>
              <a:t>Hash</a:t>
            </a:r>
          </a:p>
          <a:p>
            <a:pPr marL="112713" lvl="1" eaLnBrk="1" hangingPunct="1">
              <a:lnSpc>
                <a:spcPct val="90000"/>
              </a:lnSpc>
              <a:buFont typeface="Wingdings" pitchFamily="2" charset="2"/>
              <a:buNone/>
            </a:pPr>
            <a:r>
              <a:rPr lang="en-AU" sz="1600" dirty="0">
                <a:latin typeface="Courier New" pitchFamily="49" charset="0"/>
                <a:ea typeface="ＭＳ Ｐゴシック" pitchFamily="-107" charset="-128"/>
              </a:rPr>
              <a:t>[(K</a:t>
            </a:r>
            <a:r>
              <a:rPr lang="en-AU" sz="1600" baseline="30000" dirty="0">
                <a:latin typeface="Courier New" pitchFamily="49" charset="0"/>
                <a:ea typeface="ＭＳ Ｐゴシック" pitchFamily="-107" charset="-128"/>
              </a:rPr>
              <a:t>+</a:t>
            </a:r>
            <a:r>
              <a:rPr lang="en-AU" sz="1600" dirty="0">
                <a:latin typeface="Courier New" pitchFamily="49" charset="0"/>
                <a:ea typeface="ＭＳ Ｐゴシック" pitchFamily="-107" charset="-128"/>
              </a:rPr>
              <a:t> </a:t>
            </a:r>
            <a:r>
              <a:rPr lang="en-AU" sz="1600" dirty="0">
                <a:ea typeface="ＭＳ Ｐゴシック" pitchFamily="-107" charset="-128"/>
                <a:sym typeface="Symbol" pitchFamily="18" charset="2"/>
              </a:rPr>
              <a:t></a:t>
            </a:r>
            <a:r>
              <a:rPr lang="en-AU" sz="1600" dirty="0">
                <a:latin typeface="Courier New" pitchFamily="49" charset="0"/>
                <a:ea typeface="ＭＳ Ｐゴシック" pitchFamily="-107" charset="-128"/>
              </a:rPr>
              <a:t> opad) || </a:t>
            </a:r>
          </a:p>
          <a:p>
            <a:pPr marL="112713" lvl="1" eaLnBrk="1" hangingPunct="1">
              <a:lnSpc>
                <a:spcPct val="90000"/>
              </a:lnSpc>
              <a:buFont typeface="Wingdings" pitchFamily="2" charset="2"/>
              <a:buNone/>
            </a:pPr>
            <a:r>
              <a:rPr lang="en-AU" sz="1600" dirty="0">
                <a:latin typeface="Courier New" pitchFamily="49" charset="0"/>
                <a:ea typeface="ＭＳ Ｐゴシック" pitchFamily="-107" charset="-128"/>
              </a:rPr>
              <a:t> Hash[(K</a:t>
            </a:r>
            <a:r>
              <a:rPr lang="en-AU" sz="1600" baseline="30000" dirty="0">
                <a:latin typeface="Courier New" pitchFamily="49" charset="0"/>
                <a:ea typeface="ＭＳ Ｐゴシック" pitchFamily="-107" charset="-128"/>
              </a:rPr>
              <a:t>+</a:t>
            </a:r>
            <a:r>
              <a:rPr lang="en-AU" sz="1600" dirty="0">
                <a:latin typeface="Courier New" pitchFamily="49" charset="0"/>
                <a:ea typeface="ＭＳ Ｐゴシック" pitchFamily="-107" charset="-128"/>
              </a:rPr>
              <a:t> </a:t>
            </a:r>
            <a:r>
              <a:rPr lang="en-AU" sz="1600" dirty="0">
                <a:ea typeface="ＭＳ Ｐゴシック" pitchFamily="-107" charset="-128"/>
                <a:sym typeface="Symbol" pitchFamily="18" charset="2"/>
              </a:rPr>
              <a:t></a:t>
            </a:r>
            <a:r>
              <a:rPr lang="en-AU" sz="1600" dirty="0">
                <a:latin typeface="Courier New" pitchFamily="49" charset="0"/>
                <a:ea typeface="ＭＳ Ｐゴシック" pitchFamily="-107" charset="-128"/>
              </a:rPr>
              <a:t> ipad) || M)]</a:t>
            </a:r>
          </a:p>
          <a:p>
            <a:pPr marL="112713" lvl="1" eaLnBrk="1" hangingPunct="1">
              <a:lnSpc>
                <a:spcPct val="90000"/>
              </a:lnSpc>
              <a:buFont typeface="Wingdings" pitchFamily="2" charset="2"/>
              <a:buNone/>
            </a:pPr>
            <a:r>
              <a:rPr lang="en-AU" sz="1600" dirty="0">
                <a:latin typeface="Courier New" pitchFamily="49" charset="0"/>
                <a:ea typeface="ＭＳ Ｐゴシック" pitchFamily="-107" charset="-128"/>
              </a:rPr>
              <a:t>]</a:t>
            </a:r>
          </a:p>
        </p:txBody>
      </p:sp>
      <p:sp>
        <p:nvSpPr>
          <p:cNvPr id="12" name="TextBox 11">
            <a:extLst>
              <a:ext uri="{FF2B5EF4-FFF2-40B4-BE49-F238E27FC236}">
                <a16:creationId xmlns:a16="http://schemas.microsoft.com/office/drawing/2014/main" id="{DED369AD-64D1-4C57-8A90-80F033E45C84}"/>
              </a:ext>
            </a:extLst>
          </p:cNvPr>
          <p:cNvSpPr txBox="1"/>
          <p:nvPr/>
        </p:nvSpPr>
        <p:spPr>
          <a:xfrm>
            <a:off x="164063" y="1600200"/>
            <a:ext cx="1981200" cy="1077218"/>
          </a:xfrm>
          <a:prstGeom prst="rect">
            <a:avLst/>
          </a:prstGeom>
          <a:noFill/>
        </p:spPr>
        <p:txBody>
          <a:bodyPr wrap="square" rtlCol="0">
            <a:spAutoFit/>
          </a:bodyPr>
          <a:lstStyle/>
          <a:p>
            <a:pPr algn="ctr"/>
            <a:r>
              <a:rPr lang="en-US" sz="3200" dirty="0">
                <a:latin typeface="+mj-lt"/>
                <a:ea typeface="ＭＳ Ｐゴシック" pitchFamily="-107" charset="-128"/>
              </a:rPr>
              <a:t>HMAC</a:t>
            </a:r>
            <a:br>
              <a:rPr lang="en-US" sz="3200" dirty="0">
                <a:latin typeface="+mj-lt"/>
                <a:ea typeface="ＭＳ Ｐゴシック" pitchFamily="-107" charset="-128"/>
              </a:rPr>
            </a:br>
            <a:r>
              <a:rPr lang="en-US" sz="3200" dirty="0">
                <a:latin typeface="+mj-lt"/>
                <a:ea typeface="ＭＳ Ｐゴシック" pitchFamily="-107" charset="-128"/>
              </a:rPr>
              <a:t>Overview</a:t>
            </a:r>
            <a:endParaRPr lang="en-US" sz="3200" dirty="0">
              <a:latin typeface="+mj-lt"/>
            </a:endParaRPr>
          </a:p>
        </p:txBody>
      </p:sp>
    </p:spTree>
    <p:extLst>
      <p:ext uri="{BB962C8B-B14F-4D97-AF65-F5344CB8AC3E}">
        <p14:creationId xmlns:p14="http://schemas.microsoft.com/office/powerpoint/2010/main" val="478887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C0E854-E998-C89B-594C-79E8A54DA874}"/>
              </a:ext>
            </a:extLst>
          </p:cNvPr>
          <p:cNvPicPr>
            <a:picLocks noChangeAspect="1"/>
          </p:cNvPicPr>
          <p:nvPr/>
        </p:nvPicPr>
        <p:blipFill>
          <a:blip r:embed="rId2"/>
          <a:stretch>
            <a:fillRect/>
          </a:stretch>
        </p:blipFill>
        <p:spPr>
          <a:xfrm>
            <a:off x="1542787" y="224512"/>
            <a:ext cx="6058425" cy="6408975"/>
          </a:xfrm>
          <a:prstGeom prst="rect">
            <a:avLst/>
          </a:prstGeom>
        </p:spPr>
      </p:pic>
    </p:spTree>
    <p:extLst>
      <p:ext uri="{BB962C8B-B14F-4D97-AF65-F5344CB8AC3E}">
        <p14:creationId xmlns:p14="http://schemas.microsoft.com/office/powerpoint/2010/main" val="2081419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7042"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HMAC Security</a:t>
            </a:r>
            <a:endParaRPr lang="en-AU" sz="3500">
              <a:solidFill>
                <a:srgbClr val="FFFFFF"/>
              </a:solidFill>
              <a:ea typeface="ＭＳ Ｐゴシック" pitchFamily="-107" charset="-128"/>
            </a:endParaRPr>
          </a:p>
        </p:txBody>
      </p:sp>
      <p:sp>
        <p:nvSpPr>
          <p:cNvPr id="87043"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100" dirty="0">
                <a:ea typeface="ＭＳ Ｐゴシック" pitchFamily="-107" charset="-128"/>
              </a:rPr>
              <a:t>proved </a:t>
            </a:r>
            <a:r>
              <a:rPr lang="en-AU" sz="2100" dirty="0">
                <a:ea typeface="ＭＳ Ｐゴシック" pitchFamily="-107" charset="-128"/>
              </a:rPr>
              <a:t>security of HMAC relates to that of the underlying hash algorithm</a:t>
            </a:r>
          </a:p>
          <a:p>
            <a:pPr eaLnBrk="1" hangingPunct="1">
              <a:buFont typeface="Wingdings" panose="05000000000000000000" pitchFamily="2" charset="2"/>
              <a:buChar char="Ø"/>
            </a:pPr>
            <a:r>
              <a:rPr lang="en-US" sz="2100" dirty="0">
                <a:ea typeface="ＭＳ Ｐゴシック" pitchFamily="-107" charset="-128"/>
              </a:rPr>
              <a:t>attacking HMAC requires either:</a:t>
            </a:r>
          </a:p>
          <a:p>
            <a:pPr lvl="1" eaLnBrk="1" hangingPunct="1">
              <a:buFont typeface="Arial" panose="020B0604020202020204" pitchFamily="34" charset="0"/>
              <a:buChar char="•"/>
            </a:pPr>
            <a:r>
              <a:rPr lang="en-US" sz="2100" dirty="0">
                <a:ea typeface="ＭＳ Ｐゴシック" pitchFamily="-107" charset="-128"/>
              </a:rPr>
              <a:t>brute force attack on key used</a:t>
            </a:r>
          </a:p>
          <a:p>
            <a:pPr lvl="1" eaLnBrk="1" hangingPunct="1">
              <a:buFont typeface="Arial" panose="020B0604020202020204" pitchFamily="34" charset="0"/>
              <a:buChar char="•"/>
            </a:pPr>
            <a:r>
              <a:rPr lang="en-US" sz="2100" dirty="0">
                <a:ea typeface="ＭＳ Ｐゴシック" pitchFamily="-107" charset="-128"/>
              </a:rPr>
              <a:t>birthday attack (but since keyed would need to observe a very large number of messages)</a:t>
            </a:r>
          </a:p>
          <a:p>
            <a:pPr eaLnBrk="1" hangingPunct="1">
              <a:buFont typeface="Wingdings" panose="05000000000000000000" pitchFamily="2" charset="2"/>
              <a:buChar char="Ø"/>
            </a:pPr>
            <a:r>
              <a:rPr lang="en-US" sz="2100" dirty="0">
                <a:ea typeface="ＭＳ Ｐゴシック" pitchFamily="-107" charset="-128"/>
              </a:rPr>
              <a:t>choose hash function used based on speed verses security constraints</a:t>
            </a:r>
            <a:endParaRPr lang="en-AU" sz="2100" dirty="0">
              <a:ea typeface="ＭＳ Ｐゴシック" pitchFamily="-107" charset="-128"/>
            </a:endParaRPr>
          </a:p>
          <a:p>
            <a:pPr eaLnBrk="1" hangingPunct="1"/>
            <a:endParaRPr lang="en-AU" sz="2100" dirty="0">
              <a:ea typeface="ＭＳ Ｐゴシック" pitchFamily="-107"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9394"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Using Symmetric Ciphers for MACs</a:t>
            </a:r>
            <a:endParaRPr lang="en-AU" sz="3500">
              <a:solidFill>
                <a:srgbClr val="FFFFFF"/>
              </a:solidFill>
              <a:ea typeface="ＭＳ Ｐゴシック" pitchFamily="-107" charset="-128"/>
            </a:endParaRPr>
          </a:p>
        </p:txBody>
      </p:sp>
      <p:sp>
        <p:nvSpPr>
          <p:cNvPr id="59395"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100" dirty="0">
                <a:ea typeface="ＭＳ Ｐゴシック" pitchFamily="-107" charset="-128"/>
              </a:rPr>
              <a:t>can use any block cipher chaining mode and use final block as a MAC</a:t>
            </a:r>
          </a:p>
          <a:p>
            <a:pPr eaLnBrk="1" hangingPunct="1">
              <a:buFont typeface="Wingdings" panose="05000000000000000000" pitchFamily="2" charset="2"/>
              <a:buChar char="Ø"/>
            </a:pPr>
            <a:r>
              <a:rPr lang="en-US" sz="2100" b="1" dirty="0">
                <a:ea typeface="ＭＳ Ｐゴシック" pitchFamily="-107" charset="-128"/>
              </a:rPr>
              <a:t>Data Authentication Algorithm (DAA)</a:t>
            </a:r>
            <a:r>
              <a:rPr lang="en-US" sz="2100" dirty="0">
                <a:ea typeface="ＭＳ Ｐゴシック" pitchFamily="-107" charset="-128"/>
              </a:rPr>
              <a:t> is a widely used MAC based on DES-CBC</a:t>
            </a:r>
          </a:p>
          <a:p>
            <a:pPr lvl="1" eaLnBrk="1" hangingPunct="1"/>
            <a:r>
              <a:rPr lang="en-US" sz="2100" dirty="0">
                <a:ea typeface="ＭＳ Ｐゴシック" pitchFamily="-107" charset="-128"/>
              </a:rPr>
              <a:t>using IV=0 and zero-pad of final block</a:t>
            </a:r>
          </a:p>
          <a:p>
            <a:pPr lvl="1" eaLnBrk="1" hangingPunct="1"/>
            <a:r>
              <a:rPr lang="en-US" sz="2100" dirty="0">
                <a:ea typeface="ＭＳ Ｐゴシック" pitchFamily="-107" charset="-128"/>
              </a:rPr>
              <a:t>encrypt message using DES in CBC mode</a:t>
            </a:r>
          </a:p>
          <a:p>
            <a:pPr lvl="1" eaLnBrk="1" hangingPunct="1"/>
            <a:r>
              <a:rPr lang="en-US" sz="2100" dirty="0">
                <a:ea typeface="ＭＳ Ｐゴシック" pitchFamily="-107" charset="-128"/>
              </a:rPr>
              <a:t>and send just the final block as the MAC</a:t>
            </a:r>
          </a:p>
          <a:p>
            <a:pPr lvl="2" eaLnBrk="1" hangingPunct="1"/>
            <a:r>
              <a:rPr lang="en-US" sz="2100" dirty="0">
                <a:ea typeface="ＭＳ Ｐゴシック" pitchFamily="-107" charset="-128"/>
              </a:rPr>
              <a:t>or the leftmost M bits (16</a:t>
            </a:r>
            <a:r>
              <a:rPr lang="en-US" sz="2100" dirty="0">
                <a:ea typeface="ＭＳ Ｐゴシック" pitchFamily="-107" charset="-128"/>
                <a:cs typeface="Arial" pitchFamily="34" charset="0"/>
              </a:rPr>
              <a:t>≤M≤64) of final block</a:t>
            </a:r>
          </a:p>
          <a:p>
            <a:pPr eaLnBrk="1" hangingPunct="1">
              <a:buFont typeface="Wingdings" panose="05000000000000000000" pitchFamily="2" charset="2"/>
              <a:buChar char="Ø"/>
            </a:pPr>
            <a:r>
              <a:rPr lang="en-US" sz="2100" dirty="0">
                <a:ea typeface="ＭＳ Ｐゴシック" pitchFamily="-107" charset="-128"/>
                <a:cs typeface="Arial" pitchFamily="34" charset="0"/>
              </a:rPr>
              <a:t>but final MAC is now too small for security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6738" name="Rectangle 2"/>
          <p:cNvSpPr>
            <a:spLocks noGrp="1" noChangeArrowheads="1"/>
          </p:cNvSpPr>
          <p:nvPr>
            <p:ph type="title"/>
          </p:nvPr>
        </p:nvSpPr>
        <p:spPr>
          <a:xfrm>
            <a:off x="718879" y="800392"/>
            <a:ext cx="7698523" cy="1212102"/>
          </a:xfrm>
        </p:spPr>
        <p:txBody>
          <a:bodyPr>
            <a:normAutofit/>
          </a:bodyPr>
          <a:lstStyle/>
          <a:p>
            <a:pPr eaLnBrk="1" hangingPunct="1"/>
            <a:r>
              <a:rPr lang="en-US" sz="3500" dirty="0">
                <a:solidFill>
                  <a:srgbClr val="FFFFFF"/>
                </a:solidFill>
                <a:ea typeface="ＭＳ Ｐゴシック" pitchFamily="-107" charset="-128"/>
              </a:rPr>
              <a:t>CMAC</a:t>
            </a:r>
            <a:endParaRPr lang="en-AU" sz="3500" dirty="0">
              <a:solidFill>
                <a:srgbClr val="FFFFFF"/>
              </a:solidFill>
              <a:ea typeface="ＭＳ Ｐゴシック" pitchFamily="-107" charset="-128"/>
            </a:endParaRPr>
          </a:p>
        </p:txBody>
      </p:sp>
      <p:sp>
        <p:nvSpPr>
          <p:cNvPr id="116739"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100" dirty="0">
                <a:ea typeface="ＭＳ Ｐゴシック" pitchFamily="-107" charset="-128"/>
              </a:rPr>
              <a:t>previously saw the DAA (CBC-MAC)</a:t>
            </a:r>
          </a:p>
          <a:p>
            <a:pPr eaLnBrk="1" hangingPunct="1">
              <a:buFont typeface="Wingdings" panose="05000000000000000000" pitchFamily="2" charset="2"/>
              <a:buChar char="Ø"/>
            </a:pPr>
            <a:r>
              <a:rPr lang="en-US" sz="2100" dirty="0">
                <a:ea typeface="ＭＳ Ｐゴシック" pitchFamily="-107" charset="-128"/>
              </a:rPr>
              <a:t>widely used in government &amp; industry</a:t>
            </a:r>
          </a:p>
          <a:p>
            <a:pPr eaLnBrk="1" hangingPunct="1">
              <a:buFont typeface="Wingdings" panose="05000000000000000000" pitchFamily="2" charset="2"/>
              <a:buChar char="Ø"/>
            </a:pPr>
            <a:r>
              <a:rPr lang="en-US" sz="2100" dirty="0">
                <a:ea typeface="ＭＳ Ｐゴシック" pitchFamily="-107" charset="-128"/>
              </a:rPr>
              <a:t>but has message size limitation</a:t>
            </a:r>
          </a:p>
          <a:p>
            <a:pPr eaLnBrk="1" hangingPunct="1">
              <a:buFont typeface="Wingdings" panose="05000000000000000000" pitchFamily="2" charset="2"/>
              <a:buChar char="Ø"/>
            </a:pPr>
            <a:r>
              <a:rPr lang="en-US" sz="2100" dirty="0">
                <a:ea typeface="ＭＳ Ｐゴシック" pitchFamily="-107" charset="-128"/>
              </a:rPr>
              <a:t>can overcome using 2 keys &amp; padding</a:t>
            </a:r>
          </a:p>
          <a:p>
            <a:pPr eaLnBrk="1" hangingPunct="1">
              <a:buFont typeface="Wingdings" panose="05000000000000000000" pitchFamily="2" charset="2"/>
              <a:buChar char="Ø"/>
            </a:pPr>
            <a:r>
              <a:rPr lang="en-US" sz="2100">
                <a:ea typeface="ＭＳ Ｐゴシック" pitchFamily="-107" charset="-128"/>
              </a:rPr>
              <a:t>Thus, </a:t>
            </a:r>
            <a:r>
              <a:rPr lang="en-US" sz="2100" dirty="0">
                <a:ea typeface="ＭＳ Ｐゴシック" pitchFamily="-107" charset="-128"/>
              </a:rPr>
              <a:t>forming the Cipher-based Message Authentication Code (CMAC)</a:t>
            </a:r>
          </a:p>
          <a:p>
            <a:pPr eaLnBrk="1" hangingPunct="1">
              <a:buFont typeface="Wingdings" panose="05000000000000000000" pitchFamily="2" charset="2"/>
              <a:buChar char="Ø"/>
            </a:pPr>
            <a:r>
              <a:rPr lang="en-US" sz="2100" dirty="0">
                <a:ea typeface="ＭＳ Ｐゴシック" pitchFamily="-107" charset="-128"/>
              </a:rPr>
              <a:t>adopted by NIST SP800-38B</a:t>
            </a:r>
          </a:p>
          <a:p>
            <a:pPr lvl="1" eaLnBrk="1" hangingPunct="1"/>
            <a:endParaRPr lang="en-AU" sz="2100" dirty="0">
              <a:ea typeface="ＭＳ Ｐゴシック" pitchFamily="-107" charset="-128"/>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457200" y="0"/>
            <a:ext cx="8229600" cy="1139825"/>
          </a:xfrm>
        </p:spPr>
        <p:txBody>
          <a:bodyPr/>
          <a:lstStyle/>
          <a:p>
            <a:pPr eaLnBrk="1" hangingPunct="1"/>
            <a:r>
              <a:rPr lang="en-US">
                <a:ea typeface="ＭＳ Ｐゴシック" pitchFamily="-107" charset="-128"/>
              </a:rPr>
              <a:t>CMAC Overview</a:t>
            </a:r>
            <a:endParaRPr lang="en-AU">
              <a:ea typeface="ＭＳ Ｐゴシック" pitchFamily="-107" charset="-128"/>
            </a:endParaRPr>
          </a:p>
        </p:txBody>
      </p:sp>
      <p:pic>
        <p:nvPicPr>
          <p:cNvPr id="57347" name="Picture 3"/>
          <p:cNvPicPr>
            <a:picLocks noChangeAspect="1"/>
          </p:cNvPicPr>
          <p:nvPr/>
        </p:nvPicPr>
        <p:blipFill>
          <a:blip r:embed="rId3" cstate="print"/>
          <a:srcRect/>
          <a:stretch>
            <a:fillRect/>
          </a:stretch>
        </p:blipFill>
        <p:spPr bwMode="auto">
          <a:xfrm>
            <a:off x="914400" y="914400"/>
            <a:ext cx="7340600" cy="57975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24">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a:defRPr/>
            </a:pPr>
            <a:r>
              <a:rPr lang="en-US" sz="3500">
                <a:solidFill>
                  <a:srgbClr val="FFFFFF"/>
                </a:solidFill>
                <a:ea typeface="ＭＳ Ｐゴシック" pitchFamily="-107" charset="-128"/>
                <a:cs typeface="ＭＳ Ｐゴシック" pitchFamily="-107" charset="-128"/>
              </a:rPr>
              <a:t>Authenticated Encryption</a:t>
            </a:r>
          </a:p>
        </p:txBody>
      </p:sp>
      <p:sp>
        <p:nvSpPr>
          <p:cNvPr id="3" name="Content Placeholder 2"/>
          <p:cNvSpPr>
            <a:spLocks noGrp="1"/>
          </p:cNvSpPr>
          <p:nvPr>
            <p:ph idx="1"/>
          </p:nvPr>
        </p:nvSpPr>
        <p:spPr>
          <a:xfrm>
            <a:off x="1025718" y="2490436"/>
            <a:ext cx="7281746" cy="3567173"/>
          </a:xfrm>
        </p:spPr>
        <p:txBody>
          <a:bodyPr anchor="ctr">
            <a:normAutofit/>
          </a:bodyPr>
          <a:lstStyle/>
          <a:p>
            <a:pPr>
              <a:lnSpc>
                <a:spcPct val="90000"/>
              </a:lnSpc>
              <a:buFont typeface="Wingdings" pitchFamily="-107" charset="2"/>
              <a:buChar char="Ø"/>
              <a:defRPr/>
            </a:pPr>
            <a:r>
              <a:rPr lang="en-US" sz="2100" dirty="0">
                <a:ea typeface="ＭＳ Ｐゴシック" pitchFamily="-107" charset="-128"/>
                <a:cs typeface="ＭＳ Ｐゴシック" pitchFamily="-107" charset="-128"/>
              </a:rPr>
              <a:t>simultaneously protect confidentiality and authenticity of communications</a:t>
            </a:r>
          </a:p>
          <a:p>
            <a:pPr lvl="1">
              <a:lnSpc>
                <a:spcPct val="90000"/>
              </a:lnSpc>
              <a:buFont typeface="Arial" panose="020B0604020202020204" pitchFamily="34" charset="0"/>
              <a:buChar char="•"/>
              <a:defRPr/>
            </a:pPr>
            <a:r>
              <a:rPr lang="en-US" sz="2100" dirty="0"/>
              <a:t>often required but usually separate</a:t>
            </a:r>
          </a:p>
          <a:p>
            <a:pPr>
              <a:lnSpc>
                <a:spcPct val="90000"/>
              </a:lnSpc>
              <a:buFont typeface="Wingdings" pitchFamily="-107" charset="2"/>
              <a:buChar char="Ø"/>
              <a:defRPr/>
            </a:pPr>
            <a:r>
              <a:rPr lang="en-US" sz="2100" dirty="0">
                <a:ea typeface="ＭＳ Ｐゴシック" pitchFamily="-107" charset="-128"/>
                <a:cs typeface="ＭＳ Ｐゴシック" pitchFamily="-107" charset="-128"/>
              </a:rPr>
              <a:t>approaches</a:t>
            </a:r>
          </a:p>
          <a:p>
            <a:pPr lvl="1">
              <a:lnSpc>
                <a:spcPct val="90000"/>
              </a:lnSpc>
              <a:buFont typeface="Arial" panose="020B0604020202020204" pitchFamily="34" charset="0"/>
              <a:buChar char="•"/>
              <a:defRPr/>
            </a:pPr>
            <a:r>
              <a:rPr lang="en-US" sz="2100" dirty="0">
                <a:ea typeface="ＭＳ Ｐゴシック" pitchFamily="-107" charset="-128"/>
                <a:cs typeface="ＭＳ Ｐゴシック" pitchFamily="-107" charset="-128"/>
              </a:rPr>
              <a:t>Hash-then-encrypt: E(K, (M || H(M))</a:t>
            </a:r>
          </a:p>
          <a:p>
            <a:pPr lvl="1">
              <a:lnSpc>
                <a:spcPct val="90000"/>
              </a:lnSpc>
              <a:buFont typeface="Arial" panose="020B0604020202020204" pitchFamily="34" charset="0"/>
              <a:buChar char="•"/>
              <a:defRPr/>
            </a:pPr>
            <a:r>
              <a:rPr lang="en-US" sz="2100" dirty="0">
                <a:ea typeface="ＭＳ Ｐゴシック" pitchFamily="-107" charset="-128"/>
                <a:cs typeface="ＭＳ Ｐゴシック" pitchFamily="-107" charset="-128"/>
              </a:rPr>
              <a:t>MAC-then-encrypt: E(K2, (M || MAC(K1, M)) </a:t>
            </a:r>
          </a:p>
          <a:p>
            <a:pPr lvl="1">
              <a:lnSpc>
                <a:spcPct val="90000"/>
              </a:lnSpc>
              <a:buFont typeface="Arial" panose="020B0604020202020204" pitchFamily="34" charset="0"/>
              <a:buChar char="•"/>
              <a:defRPr/>
            </a:pPr>
            <a:r>
              <a:rPr lang="en-US" sz="2100" dirty="0">
                <a:ea typeface="ＭＳ Ｐゴシック" pitchFamily="-107" charset="-128"/>
                <a:cs typeface="ＭＳ Ｐゴシック" pitchFamily="-107" charset="-128"/>
              </a:rPr>
              <a:t>Encrypt-then-MAC: (C=E(K2, M), T=MAC(K1, C) </a:t>
            </a:r>
          </a:p>
          <a:p>
            <a:pPr lvl="1">
              <a:lnSpc>
                <a:spcPct val="90000"/>
              </a:lnSpc>
              <a:buFont typeface="Arial" panose="020B0604020202020204" pitchFamily="34" charset="0"/>
              <a:buChar char="•"/>
              <a:defRPr/>
            </a:pPr>
            <a:r>
              <a:rPr lang="en-US" sz="2100" dirty="0">
                <a:ea typeface="ＭＳ Ｐゴシック" pitchFamily="-107" charset="-128"/>
                <a:cs typeface="ＭＳ Ｐゴシック" pitchFamily="-107" charset="-128"/>
              </a:rPr>
              <a:t>Encrypt-and-MAC: (C=E(K2, M), T=MAC(K1, M)</a:t>
            </a:r>
          </a:p>
          <a:p>
            <a:pPr>
              <a:lnSpc>
                <a:spcPct val="90000"/>
              </a:lnSpc>
              <a:buFont typeface="Wingdings" pitchFamily="-107" charset="2"/>
              <a:buChar char="Ø"/>
              <a:defRPr/>
            </a:pPr>
            <a:r>
              <a:rPr lang="en-US" sz="2100" dirty="0">
                <a:ea typeface="ＭＳ Ｐゴシック" pitchFamily="-107" charset="-128"/>
                <a:cs typeface="ＭＳ Ｐゴシック" pitchFamily="-107" charset="-128"/>
              </a:rPr>
              <a:t> decryption /verification straightforward</a:t>
            </a:r>
          </a:p>
          <a:p>
            <a:pPr>
              <a:lnSpc>
                <a:spcPct val="90000"/>
              </a:lnSpc>
              <a:buFont typeface="Wingdings" pitchFamily="-107" charset="2"/>
              <a:buChar char="Ø"/>
              <a:defRPr/>
            </a:pPr>
            <a:r>
              <a:rPr lang="en-US" sz="2100" dirty="0">
                <a:ea typeface="ＭＳ Ｐゴシック" pitchFamily="-107" charset="-128"/>
                <a:cs typeface="ＭＳ Ｐゴシック" pitchFamily="-107" charset="-128"/>
              </a:rPr>
              <a:t>but security vulnerabilities with all these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FAAEE78A-FA9E-4125-A4C7-64B57B7480FE}"/>
              </a:ext>
            </a:extLst>
          </p:cNvPr>
          <p:cNvSpPr>
            <a:spLocks noGrp="1"/>
          </p:cNvSpPr>
          <p:nvPr>
            <p:ph type="title"/>
          </p:nvPr>
        </p:nvSpPr>
        <p:spPr>
          <a:xfrm>
            <a:off x="718879" y="800392"/>
            <a:ext cx="7698523" cy="1212102"/>
          </a:xfrm>
        </p:spPr>
        <p:txBody>
          <a:bodyPr>
            <a:normAutofit/>
          </a:bodyPr>
          <a:lstStyle/>
          <a:p>
            <a:r>
              <a:rPr lang="en-US" sz="3500">
                <a:solidFill>
                  <a:srgbClr val="FFFFFF"/>
                </a:solidFill>
                <a:latin typeface="Arial" pitchFamily="34" charset="0"/>
                <a:ea typeface="ＭＳ Ｐゴシック" pitchFamily="-107" charset="-128"/>
              </a:rPr>
              <a:t>Authenticated Encryption</a:t>
            </a:r>
            <a:endParaRPr lang="en-US" sz="3500">
              <a:solidFill>
                <a:srgbClr val="FFFFFF"/>
              </a:solidFill>
            </a:endParaRPr>
          </a:p>
        </p:txBody>
      </p:sp>
      <p:sp>
        <p:nvSpPr>
          <p:cNvPr id="3" name="Content Placeholder 2">
            <a:extLst>
              <a:ext uri="{FF2B5EF4-FFF2-40B4-BE49-F238E27FC236}">
                <a16:creationId xmlns:a16="http://schemas.microsoft.com/office/drawing/2014/main" id="{8D2B5F7B-282F-4349-82D5-BFDA55A2484B}"/>
              </a:ext>
            </a:extLst>
          </p:cNvPr>
          <p:cNvSpPr>
            <a:spLocks noGrp="1"/>
          </p:cNvSpPr>
          <p:nvPr>
            <p:ph idx="1"/>
          </p:nvPr>
        </p:nvSpPr>
        <p:spPr>
          <a:xfrm>
            <a:off x="1025718" y="2490436"/>
            <a:ext cx="7281746" cy="3567173"/>
          </a:xfrm>
        </p:spPr>
        <p:txBody>
          <a:bodyPr anchor="ctr">
            <a:normAutofit/>
          </a:bodyPr>
          <a:lstStyle/>
          <a:p>
            <a:pPr marL="512763" indent="-512763">
              <a:buFont typeface="Wingdings" panose="05000000000000000000" pitchFamily="2" charset="2"/>
              <a:buChar char="Ø"/>
            </a:pPr>
            <a:r>
              <a:rPr lang="en-US" sz="2100" dirty="0">
                <a:latin typeface="Arial" pitchFamily="34" charset="0"/>
                <a:ea typeface="ＭＳ Ｐゴシック" pitchFamily="-107" charset="-128"/>
              </a:rPr>
              <a:t>Authenticated encryption (AE) is a term used to describe encryption systems that simultaneously protect confidentiality and authenticity (integrity) of communications.</a:t>
            </a:r>
          </a:p>
          <a:p>
            <a:pPr marL="512763" indent="-512763">
              <a:buFont typeface="Wingdings" panose="05000000000000000000" pitchFamily="2" charset="2"/>
              <a:buChar char="Ø"/>
            </a:pPr>
            <a:r>
              <a:rPr lang="en-US" sz="2100" dirty="0">
                <a:latin typeface="Arial" pitchFamily="34" charset="0"/>
                <a:ea typeface="ＭＳ Ｐゴシック" pitchFamily="-107" charset="-128"/>
              </a:rPr>
              <a:t>Many applications and protocols require both forms of security, but until recently the two services have been designed separately.</a:t>
            </a:r>
          </a:p>
          <a:p>
            <a:pPr marL="512763" indent="-512763">
              <a:buFont typeface="Wingdings" panose="05000000000000000000" pitchFamily="2" charset="2"/>
              <a:buChar char="Ø"/>
            </a:pPr>
            <a:r>
              <a:rPr lang="en-US" sz="2100" dirty="0">
                <a:latin typeface="Arial" pitchFamily="34" charset="0"/>
                <a:ea typeface="ＭＳ Ｐゴシック" pitchFamily="-107" charset="-128"/>
              </a:rPr>
              <a:t>There are four common approaches to providing both confidentiality and encryption for a message </a:t>
            </a:r>
            <a:r>
              <a:rPr lang="en-US" sz="2100" i="1" dirty="0">
                <a:latin typeface="Arial" pitchFamily="34" charset="0"/>
                <a:ea typeface="ＭＳ Ｐゴシック" pitchFamily="-107" charset="-128"/>
              </a:rPr>
              <a:t>M</a:t>
            </a:r>
            <a:endParaRPr lang="en-US" sz="2100" dirty="0">
              <a:latin typeface="Arial" pitchFamily="34" charset="0"/>
              <a:ea typeface="ＭＳ Ｐゴシック" pitchFamily="-107" charset="-128"/>
            </a:endParaRPr>
          </a:p>
          <a:p>
            <a:pPr marL="0" indent="0">
              <a:buNone/>
            </a:pPr>
            <a:endParaRPr lang="en-US" sz="2100" dirty="0"/>
          </a:p>
        </p:txBody>
      </p:sp>
    </p:spTree>
    <p:extLst>
      <p:ext uri="{BB962C8B-B14F-4D97-AF65-F5344CB8AC3E}">
        <p14:creationId xmlns:p14="http://schemas.microsoft.com/office/powerpoint/2010/main" val="3184529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81F5B-36ED-69E5-46A8-E6E30BFF45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371CE1-08C5-D184-5F6A-187EC7D0C51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5906AE9-9441-20D5-48E9-95F0E0375AA8}"/>
              </a:ext>
            </a:extLst>
          </p:cNvPr>
          <p:cNvPicPr>
            <a:picLocks noChangeAspect="1"/>
          </p:cNvPicPr>
          <p:nvPr/>
        </p:nvPicPr>
        <p:blipFill>
          <a:blip r:embed="rId2"/>
          <a:stretch>
            <a:fillRect/>
          </a:stretch>
        </p:blipFill>
        <p:spPr>
          <a:xfrm>
            <a:off x="-17106" y="152400"/>
            <a:ext cx="9144000" cy="5793906"/>
          </a:xfrm>
          <a:prstGeom prst="rect">
            <a:avLst/>
          </a:prstGeom>
        </p:spPr>
      </p:pic>
      <p:sp>
        <p:nvSpPr>
          <p:cNvPr id="6" name="TextBox 5">
            <a:extLst>
              <a:ext uri="{FF2B5EF4-FFF2-40B4-BE49-F238E27FC236}">
                <a16:creationId xmlns:a16="http://schemas.microsoft.com/office/drawing/2014/main" id="{C1215151-9F6D-3D92-EE45-604B5EFCCAE1}"/>
              </a:ext>
            </a:extLst>
          </p:cNvPr>
          <p:cNvSpPr txBox="1"/>
          <p:nvPr/>
        </p:nvSpPr>
        <p:spPr>
          <a:xfrm>
            <a:off x="4504353" y="5528404"/>
            <a:ext cx="4402494" cy="338554"/>
          </a:xfrm>
          <a:prstGeom prst="rect">
            <a:avLst/>
          </a:prstGeom>
          <a:noFill/>
        </p:spPr>
        <p:txBody>
          <a:bodyPr wrap="square" rtlCol="0">
            <a:spAutoFit/>
          </a:bodyPr>
          <a:lstStyle/>
          <a:p>
            <a:r>
              <a:rPr lang="en-US" sz="1600"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You can’t be sure who sign the message</a:t>
            </a:r>
          </a:p>
        </p:txBody>
      </p:sp>
      <p:sp>
        <p:nvSpPr>
          <p:cNvPr id="7" name="Rectangle 6">
            <a:extLst>
              <a:ext uri="{FF2B5EF4-FFF2-40B4-BE49-F238E27FC236}">
                <a16:creationId xmlns:a16="http://schemas.microsoft.com/office/drawing/2014/main" id="{BC511227-35A5-FD2A-D6E9-03B279E4F79A}"/>
              </a:ext>
            </a:extLst>
          </p:cNvPr>
          <p:cNvSpPr/>
          <p:nvPr/>
        </p:nvSpPr>
        <p:spPr>
          <a:xfrm>
            <a:off x="1828800" y="4114800"/>
            <a:ext cx="304800" cy="3810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65EC627-CBA1-FBDB-5E96-2CCB078C033F}"/>
              </a:ext>
            </a:extLst>
          </p:cNvPr>
          <p:cNvSpPr txBox="1"/>
          <p:nvPr/>
        </p:nvSpPr>
        <p:spPr>
          <a:xfrm>
            <a:off x="5410200" y="3555080"/>
            <a:ext cx="4402494" cy="276999"/>
          </a:xfrm>
          <a:prstGeom prst="rect">
            <a:avLst/>
          </a:prstGeom>
          <a:noFill/>
        </p:spPr>
        <p:txBody>
          <a:bodyPr wrap="square" rtlCol="0">
            <a:spAutoFit/>
          </a:bodyPr>
          <a:lstStyle/>
          <a:p>
            <a:r>
              <a:rPr lang="en-US" sz="1200"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You know for sure who sign the message</a:t>
            </a:r>
          </a:p>
        </p:txBody>
      </p:sp>
      <p:sp>
        <p:nvSpPr>
          <p:cNvPr id="9" name="TextBox 8">
            <a:extLst>
              <a:ext uri="{FF2B5EF4-FFF2-40B4-BE49-F238E27FC236}">
                <a16:creationId xmlns:a16="http://schemas.microsoft.com/office/drawing/2014/main" id="{46A4A49F-0568-5F7C-4AA6-5D0A88A5CF91}"/>
              </a:ext>
            </a:extLst>
          </p:cNvPr>
          <p:cNvSpPr txBox="1"/>
          <p:nvPr/>
        </p:nvSpPr>
        <p:spPr>
          <a:xfrm>
            <a:off x="1028700" y="4623910"/>
            <a:ext cx="990600" cy="646331"/>
          </a:xfrm>
          <a:prstGeom prst="rect">
            <a:avLst/>
          </a:prstGeom>
          <a:noFill/>
        </p:spPr>
        <p:txBody>
          <a:bodyPr wrap="square" rtlCol="0">
            <a:spAutoFit/>
          </a:bodyPr>
          <a:lstStyle/>
          <a:p>
            <a:r>
              <a:rPr lang="ar-EG" sz="1200" b="1" dirty="0"/>
              <a:t>ممكن حد يكون عدل علي </a:t>
            </a:r>
            <a:r>
              <a:rPr lang="ar-EG" sz="1200" b="1" dirty="0" err="1"/>
              <a:t>السايفر</a:t>
            </a:r>
            <a:r>
              <a:rPr lang="ar-EG" sz="1200" b="1" dirty="0"/>
              <a:t> هنا</a:t>
            </a:r>
            <a:endParaRPr lang="en-US" sz="1200" b="1" dirty="0"/>
          </a:p>
        </p:txBody>
      </p:sp>
      <p:sp>
        <p:nvSpPr>
          <p:cNvPr id="10" name="Rectangle 9">
            <a:extLst>
              <a:ext uri="{FF2B5EF4-FFF2-40B4-BE49-F238E27FC236}">
                <a16:creationId xmlns:a16="http://schemas.microsoft.com/office/drawing/2014/main" id="{22BF68AC-762F-36FA-3DA2-28E14454C006}"/>
              </a:ext>
            </a:extLst>
          </p:cNvPr>
          <p:cNvSpPr/>
          <p:nvPr/>
        </p:nvSpPr>
        <p:spPr>
          <a:xfrm>
            <a:off x="3429000" y="2514600"/>
            <a:ext cx="304800" cy="3810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6380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56248A11-1A60-45D6-A543-3976ADD722DF}"/>
              </a:ext>
            </a:extLst>
          </p:cNvPr>
          <p:cNvSpPr/>
          <p:nvPr/>
        </p:nvSpPr>
        <p:spPr>
          <a:xfrm>
            <a:off x="718879" y="800392"/>
            <a:ext cx="7698523" cy="121210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rgbClr val="FFFFFF"/>
                </a:solidFill>
                <a:latin typeface="+mj-lt"/>
                <a:ea typeface="+mj-ea"/>
                <a:cs typeface="+mj-cs"/>
              </a:rPr>
              <a:t>1- Hash-then-encrypt</a:t>
            </a:r>
          </a:p>
          <a:p>
            <a:pPr>
              <a:lnSpc>
                <a:spcPct val="90000"/>
              </a:lnSpc>
              <a:spcBef>
                <a:spcPct val="0"/>
              </a:spcBef>
              <a:spcAft>
                <a:spcPts val="600"/>
              </a:spcAft>
            </a:pPr>
            <a:endParaRPr lang="en-US" sz="1400" kern="1200" dirty="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F36DBBDA-6E11-4FDF-A4B9-B6E2F3068DAB}"/>
              </a:ext>
            </a:extLst>
          </p:cNvPr>
          <p:cNvSpPr>
            <a:spLocks noGrp="1"/>
          </p:cNvSpPr>
          <p:nvPr>
            <p:ph idx="1"/>
          </p:nvPr>
        </p:nvSpPr>
        <p:spPr>
          <a:xfrm>
            <a:off x="990600" y="3629204"/>
            <a:ext cx="3132203" cy="1776764"/>
          </a:xfrm>
        </p:spPr>
        <p:txBody>
          <a:bodyPr vert="horz" lIns="91440" tIns="45720" rIns="91440" bIns="45720" rtlCol="0" anchor="ctr">
            <a:noAutofit/>
          </a:bodyPr>
          <a:lstStyle/>
          <a:p>
            <a:pPr marL="233363" indent="0">
              <a:lnSpc>
                <a:spcPct val="90000"/>
              </a:lnSpc>
              <a:spcBef>
                <a:spcPct val="0"/>
              </a:spcBef>
              <a:spcAft>
                <a:spcPts val="600"/>
              </a:spcAft>
              <a:buNone/>
            </a:pPr>
            <a:r>
              <a:rPr lang="en-US" sz="2400" dirty="0">
                <a:ea typeface="ＭＳ Ｐゴシック" pitchFamily="-107" charset="-128"/>
                <a:cs typeface="ＭＳ Ｐゴシック" pitchFamily="-107" charset="-128"/>
              </a:rPr>
              <a:t>E(K, (M || H(M))</a:t>
            </a:r>
            <a:endParaRPr lang="en-US" sz="2400" kern="1200" dirty="0">
              <a:latin typeface="+mj-lt"/>
              <a:ea typeface="+mj-ea"/>
              <a:cs typeface="+mj-cs"/>
            </a:endParaRPr>
          </a:p>
          <a:p>
            <a:pPr>
              <a:lnSpc>
                <a:spcPct val="90000"/>
              </a:lnSpc>
              <a:spcBef>
                <a:spcPct val="0"/>
              </a:spcBef>
              <a:spcAft>
                <a:spcPts val="600"/>
              </a:spcAft>
            </a:pPr>
            <a:endParaRPr lang="en-US" sz="2400" kern="1200" dirty="0">
              <a:latin typeface="+mj-lt"/>
              <a:ea typeface="+mj-ea"/>
              <a:cs typeface="+mj-cs"/>
            </a:endParaRPr>
          </a:p>
          <a:p>
            <a:pPr>
              <a:lnSpc>
                <a:spcPct val="90000"/>
              </a:lnSpc>
              <a:spcBef>
                <a:spcPct val="0"/>
              </a:spcBef>
              <a:spcAft>
                <a:spcPts val="600"/>
              </a:spcAft>
            </a:pPr>
            <a:endParaRPr lang="en-US" sz="2400" dirty="0">
              <a:latin typeface="+mj-lt"/>
              <a:ea typeface="+mj-ea"/>
              <a:cs typeface="+mj-cs"/>
            </a:endParaRPr>
          </a:p>
          <a:p>
            <a:pPr>
              <a:lnSpc>
                <a:spcPct val="90000"/>
              </a:lnSpc>
              <a:spcBef>
                <a:spcPct val="0"/>
              </a:spcBef>
              <a:spcAft>
                <a:spcPts val="600"/>
              </a:spcAft>
            </a:pPr>
            <a:r>
              <a:rPr lang="en-US" sz="2000" kern="1200" dirty="0">
                <a:latin typeface="+mj-lt"/>
                <a:ea typeface="+mj-ea"/>
                <a:cs typeface="+mj-cs"/>
              </a:rPr>
              <a:t>First compute the cryptographic hash function over M as:</a:t>
            </a:r>
          </a:p>
          <a:p>
            <a:pPr marL="0" indent="344488">
              <a:lnSpc>
                <a:spcPct val="90000"/>
              </a:lnSpc>
              <a:spcBef>
                <a:spcPct val="0"/>
              </a:spcBef>
              <a:spcAft>
                <a:spcPts val="600"/>
              </a:spcAft>
              <a:buNone/>
            </a:pPr>
            <a:r>
              <a:rPr lang="en-US" sz="2000" kern="1200" dirty="0">
                <a:latin typeface="+mj-lt"/>
                <a:ea typeface="+mj-ea"/>
                <a:cs typeface="+mj-cs"/>
              </a:rPr>
              <a:t>h = H(M).</a:t>
            </a:r>
          </a:p>
          <a:p>
            <a:pPr>
              <a:lnSpc>
                <a:spcPct val="90000"/>
              </a:lnSpc>
              <a:spcBef>
                <a:spcPct val="0"/>
              </a:spcBef>
              <a:spcAft>
                <a:spcPts val="600"/>
              </a:spcAft>
            </a:pPr>
            <a:r>
              <a:rPr lang="en-US" sz="2000" kern="1200" dirty="0">
                <a:latin typeface="+mj-lt"/>
                <a:ea typeface="+mj-ea"/>
                <a:cs typeface="+mj-cs"/>
              </a:rPr>
              <a:t>Then encrypt the message plus hash function: E(K, (M || h)</a:t>
            </a:r>
          </a:p>
        </p:txBody>
      </p:sp>
      <p:pic>
        <p:nvPicPr>
          <p:cNvPr id="4" name="Picture 3">
            <a:extLst>
              <a:ext uri="{FF2B5EF4-FFF2-40B4-BE49-F238E27FC236}">
                <a16:creationId xmlns:a16="http://schemas.microsoft.com/office/drawing/2014/main" id="{DD5B4762-D508-49EB-AA3E-325452069EBF}"/>
              </a:ext>
            </a:extLst>
          </p:cNvPr>
          <p:cNvPicPr>
            <a:picLocks noChangeAspect="1"/>
          </p:cNvPicPr>
          <p:nvPr/>
        </p:nvPicPr>
        <p:blipFill>
          <a:blip r:embed="rId2"/>
          <a:stretch>
            <a:fillRect/>
          </a:stretch>
        </p:blipFill>
        <p:spPr>
          <a:xfrm>
            <a:off x="3968174" y="2432487"/>
            <a:ext cx="5025345" cy="4292662"/>
          </a:xfrm>
          <a:prstGeom prst="rect">
            <a:avLst/>
          </a:prstGeom>
        </p:spPr>
      </p:pic>
    </p:spTree>
    <p:extLst>
      <p:ext uri="{BB962C8B-B14F-4D97-AF65-F5344CB8AC3E}">
        <p14:creationId xmlns:p14="http://schemas.microsoft.com/office/powerpoint/2010/main" val="1202474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56248A11-1A60-45D6-A543-3976ADD722DF}"/>
              </a:ext>
            </a:extLst>
          </p:cNvPr>
          <p:cNvSpPr/>
          <p:nvPr/>
        </p:nvSpPr>
        <p:spPr>
          <a:xfrm>
            <a:off x="718879" y="800392"/>
            <a:ext cx="7698523" cy="121210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dirty="0">
                <a:solidFill>
                  <a:srgbClr val="FFFFFF"/>
                </a:solidFill>
                <a:latin typeface="+mj-lt"/>
                <a:ea typeface="+mj-ea"/>
                <a:cs typeface="+mj-cs"/>
              </a:rPr>
              <a:t>2- MAC</a:t>
            </a:r>
            <a:r>
              <a:rPr lang="en-US" sz="4000" kern="1200" dirty="0">
                <a:solidFill>
                  <a:srgbClr val="FFFFFF"/>
                </a:solidFill>
                <a:latin typeface="+mj-lt"/>
                <a:ea typeface="+mj-ea"/>
                <a:cs typeface="+mj-cs"/>
              </a:rPr>
              <a:t>-then-encrypt</a:t>
            </a:r>
          </a:p>
          <a:p>
            <a:pPr>
              <a:lnSpc>
                <a:spcPct val="90000"/>
              </a:lnSpc>
              <a:spcBef>
                <a:spcPct val="0"/>
              </a:spcBef>
              <a:spcAft>
                <a:spcPts val="600"/>
              </a:spcAft>
            </a:pPr>
            <a:endParaRPr lang="en-US" sz="1400" kern="1200" dirty="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F36DBBDA-6E11-4FDF-A4B9-B6E2F3068DAB}"/>
              </a:ext>
            </a:extLst>
          </p:cNvPr>
          <p:cNvSpPr>
            <a:spLocks noGrp="1"/>
          </p:cNvSpPr>
          <p:nvPr>
            <p:ph idx="1"/>
          </p:nvPr>
        </p:nvSpPr>
        <p:spPr>
          <a:xfrm>
            <a:off x="864373" y="3629204"/>
            <a:ext cx="3255093" cy="1776764"/>
          </a:xfrm>
        </p:spPr>
        <p:txBody>
          <a:bodyPr vert="horz" lIns="91440" tIns="45720" rIns="91440" bIns="45720" rtlCol="0" anchor="ctr">
            <a:noAutofit/>
          </a:bodyPr>
          <a:lstStyle/>
          <a:p>
            <a:pPr marL="233363" indent="-233363">
              <a:lnSpc>
                <a:spcPct val="90000"/>
              </a:lnSpc>
              <a:spcBef>
                <a:spcPct val="0"/>
              </a:spcBef>
              <a:spcAft>
                <a:spcPts val="600"/>
              </a:spcAft>
              <a:buNone/>
            </a:pPr>
            <a:r>
              <a:rPr lang="en-US" sz="2400" dirty="0">
                <a:ea typeface="ＭＳ Ｐゴシック" pitchFamily="-107" charset="-128"/>
                <a:cs typeface="ＭＳ Ｐゴシック" pitchFamily="-107" charset="-128"/>
              </a:rPr>
              <a:t>E(K2, (M || MAC(K1, M))</a:t>
            </a:r>
          </a:p>
          <a:p>
            <a:pPr marL="233363" indent="0">
              <a:lnSpc>
                <a:spcPct val="90000"/>
              </a:lnSpc>
              <a:spcBef>
                <a:spcPct val="0"/>
              </a:spcBef>
              <a:spcAft>
                <a:spcPts val="600"/>
              </a:spcAft>
              <a:buNone/>
            </a:pPr>
            <a:endParaRPr lang="en-US" sz="2400" kern="1200" dirty="0">
              <a:latin typeface="+mj-lt"/>
              <a:ea typeface="+mj-ea"/>
              <a:cs typeface="+mj-cs"/>
            </a:endParaRPr>
          </a:p>
          <a:p>
            <a:pPr>
              <a:lnSpc>
                <a:spcPct val="90000"/>
              </a:lnSpc>
              <a:spcBef>
                <a:spcPct val="0"/>
              </a:spcBef>
              <a:spcAft>
                <a:spcPts val="600"/>
              </a:spcAft>
            </a:pPr>
            <a:r>
              <a:rPr lang="en-US" sz="2000" dirty="0">
                <a:latin typeface="Arial" pitchFamily="34" charset="0"/>
                <a:ea typeface="ＭＳ Ｐゴシック" pitchFamily="-107" charset="-128"/>
              </a:rPr>
              <a:t>Use two keys.</a:t>
            </a:r>
          </a:p>
          <a:p>
            <a:pPr>
              <a:lnSpc>
                <a:spcPct val="90000"/>
              </a:lnSpc>
              <a:spcBef>
                <a:spcPct val="0"/>
              </a:spcBef>
              <a:spcAft>
                <a:spcPts val="600"/>
              </a:spcAft>
            </a:pPr>
            <a:r>
              <a:rPr lang="en-US" sz="2000" dirty="0">
                <a:latin typeface="Arial" pitchFamily="34" charset="0"/>
                <a:ea typeface="ＭＳ Ｐゴシック" pitchFamily="-107" charset="-128"/>
              </a:rPr>
              <a:t>First authenticate the plaintext by computing the MAC value as:</a:t>
            </a:r>
          </a:p>
          <a:p>
            <a:pPr marL="0" indent="344488">
              <a:lnSpc>
                <a:spcPct val="90000"/>
              </a:lnSpc>
              <a:spcBef>
                <a:spcPct val="0"/>
              </a:spcBef>
              <a:spcAft>
                <a:spcPts val="600"/>
              </a:spcAft>
              <a:buNone/>
            </a:pPr>
            <a:r>
              <a:rPr lang="en-US" sz="2000" dirty="0">
                <a:latin typeface="Arial" pitchFamily="34" charset="0"/>
                <a:ea typeface="ＭＳ Ｐゴシック" pitchFamily="-107" charset="-128"/>
              </a:rPr>
              <a:t>T = MAC(K1, M).</a:t>
            </a:r>
          </a:p>
          <a:p>
            <a:pPr>
              <a:lnSpc>
                <a:spcPct val="90000"/>
              </a:lnSpc>
              <a:spcBef>
                <a:spcPct val="0"/>
              </a:spcBef>
              <a:spcAft>
                <a:spcPts val="600"/>
              </a:spcAft>
            </a:pPr>
            <a:r>
              <a:rPr lang="en-US" sz="2000" dirty="0">
                <a:latin typeface="Arial" pitchFamily="34" charset="0"/>
                <a:ea typeface="ＭＳ Ｐゴシック" pitchFamily="-107" charset="-128"/>
              </a:rPr>
              <a:t>Then encrypt the message plus tag:</a:t>
            </a:r>
          </a:p>
          <a:p>
            <a:pPr marL="0" indent="344488">
              <a:lnSpc>
                <a:spcPct val="90000"/>
              </a:lnSpc>
              <a:spcBef>
                <a:spcPct val="0"/>
              </a:spcBef>
              <a:spcAft>
                <a:spcPts val="600"/>
              </a:spcAft>
              <a:buNone/>
            </a:pPr>
            <a:r>
              <a:rPr lang="en-US" sz="2000" dirty="0">
                <a:latin typeface="Arial" pitchFamily="34" charset="0"/>
                <a:ea typeface="ＭＳ Ｐゴシック" pitchFamily="-107" charset="-128"/>
              </a:rPr>
              <a:t>E(K2, (M || T)</a:t>
            </a:r>
          </a:p>
          <a:p>
            <a:pPr marL="0" indent="0">
              <a:lnSpc>
                <a:spcPct val="90000"/>
              </a:lnSpc>
              <a:spcBef>
                <a:spcPct val="0"/>
              </a:spcBef>
              <a:spcAft>
                <a:spcPts val="600"/>
              </a:spcAft>
              <a:buNone/>
            </a:pPr>
            <a:endParaRPr lang="en-US" sz="2400" dirty="0">
              <a:latin typeface="+mj-lt"/>
              <a:ea typeface="+mj-ea"/>
              <a:cs typeface="+mj-cs"/>
            </a:endParaRPr>
          </a:p>
        </p:txBody>
      </p:sp>
      <p:pic>
        <p:nvPicPr>
          <p:cNvPr id="6" name="Picture 5">
            <a:extLst>
              <a:ext uri="{FF2B5EF4-FFF2-40B4-BE49-F238E27FC236}">
                <a16:creationId xmlns:a16="http://schemas.microsoft.com/office/drawing/2014/main" id="{50C73E97-9759-4A97-8875-6CE41618EF38}"/>
              </a:ext>
            </a:extLst>
          </p:cNvPr>
          <p:cNvPicPr>
            <a:picLocks noChangeAspect="1"/>
          </p:cNvPicPr>
          <p:nvPr/>
        </p:nvPicPr>
        <p:blipFill>
          <a:blip r:embed="rId2"/>
          <a:stretch>
            <a:fillRect/>
          </a:stretch>
        </p:blipFill>
        <p:spPr>
          <a:xfrm>
            <a:off x="4066676" y="2562968"/>
            <a:ext cx="4770042" cy="4086225"/>
          </a:xfrm>
          <a:prstGeom prst="rect">
            <a:avLst/>
          </a:prstGeom>
        </p:spPr>
      </p:pic>
    </p:spTree>
    <p:extLst>
      <p:ext uri="{BB962C8B-B14F-4D97-AF65-F5344CB8AC3E}">
        <p14:creationId xmlns:p14="http://schemas.microsoft.com/office/powerpoint/2010/main" val="2298261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56248A11-1A60-45D6-A543-3976ADD722DF}"/>
              </a:ext>
            </a:extLst>
          </p:cNvPr>
          <p:cNvSpPr/>
          <p:nvPr/>
        </p:nvSpPr>
        <p:spPr>
          <a:xfrm>
            <a:off x="718879" y="800392"/>
            <a:ext cx="7698523" cy="121210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rgbClr val="FFFFFF"/>
                </a:solidFill>
                <a:latin typeface="+mj-lt"/>
                <a:ea typeface="+mj-ea"/>
                <a:cs typeface="+mj-cs"/>
              </a:rPr>
              <a:t>3- Encrypt-then-MAC</a:t>
            </a:r>
          </a:p>
          <a:p>
            <a:pPr>
              <a:lnSpc>
                <a:spcPct val="90000"/>
              </a:lnSpc>
              <a:spcBef>
                <a:spcPct val="0"/>
              </a:spcBef>
              <a:spcAft>
                <a:spcPts val="600"/>
              </a:spcAft>
            </a:pPr>
            <a:endParaRPr lang="en-US" sz="1400" kern="1200" dirty="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F36DBBDA-6E11-4FDF-A4B9-B6E2F3068DAB}"/>
              </a:ext>
            </a:extLst>
          </p:cNvPr>
          <p:cNvSpPr>
            <a:spLocks noGrp="1"/>
          </p:cNvSpPr>
          <p:nvPr>
            <p:ph idx="1"/>
          </p:nvPr>
        </p:nvSpPr>
        <p:spPr>
          <a:xfrm>
            <a:off x="823708" y="3629204"/>
            <a:ext cx="3555227" cy="1776764"/>
          </a:xfrm>
        </p:spPr>
        <p:txBody>
          <a:bodyPr vert="horz" lIns="91440" tIns="45720" rIns="91440" bIns="45720" rtlCol="0" anchor="ctr">
            <a:noAutofit/>
          </a:bodyPr>
          <a:lstStyle/>
          <a:p>
            <a:pPr marL="233363" indent="-233363">
              <a:lnSpc>
                <a:spcPct val="90000"/>
              </a:lnSpc>
              <a:spcBef>
                <a:spcPct val="0"/>
              </a:spcBef>
              <a:spcAft>
                <a:spcPts val="600"/>
              </a:spcAft>
              <a:buNone/>
            </a:pPr>
            <a:r>
              <a:rPr lang="en-US" sz="2400" dirty="0">
                <a:ea typeface="ＭＳ Ｐゴシック" pitchFamily="-107" charset="-128"/>
                <a:cs typeface="ＭＳ Ｐゴシック" pitchFamily="-107" charset="-128"/>
              </a:rPr>
              <a:t>(C=E(K2, M), T=MAC(K1, C)</a:t>
            </a:r>
            <a:endParaRPr lang="en-US" sz="2400" kern="1200" dirty="0">
              <a:latin typeface="+mj-lt"/>
              <a:ea typeface="+mj-ea"/>
              <a:cs typeface="+mj-cs"/>
            </a:endParaRPr>
          </a:p>
          <a:p>
            <a:pPr marL="0" indent="0">
              <a:lnSpc>
                <a:spcPct val="90000"/>
              </a:lnSpc>
              <a:spcBef>
                <a:spcPct val="0"/>
              </a:spcBef>
              <a:spcAft>
                <a:spcPts val="600"/>
              </a:spcAft>
              <a:buNone/>
            </a:pPr>
            <a:endParaRPr lang="en-US" sz="2400" dirty="0">
              <a:latin typeface="+mj-lt"/>
              <a:ea typeface="+mj-ea"/>
              <a:cs typeface="+mj-cs"/>
            </a:endParaRPr>
          </a:p>
          <a:p>
            <a:pPr marL="0" indent="0">
              <a:lnSpc>
                <a:spcPct val="90000"/>
              </a:lnSpc>
              <a:spcBef>
                <a:spcPct val="0"/>
              </a:spcBef>
              <a:spcAft>
                <a:spcPts val="600"/>
              </a:spcAft>
              <a:buNone/>
            </a:pPr>
            <a:endParaRPr lang="en-US" sz="2400" dirty="0">
              <a:latin typeface="+mj-lt"/>
              <a:ea typeface="+mj-ea"/>
              <a:cs typeface="+mj-cs"/>
            </a:endParaRPr>
          </a:p>
          <a:p>
            <a:pPr>
              <a:lnSpc>
                <a:spcPct val="90000"/>
              </a:lnSpc>
              <a:spcBef>
                <a:spcPct val="0"/>
              </a:spcBef>
              <a:spcAft>
                <a:spcPts val="600"/>
              </a:spcAft>
            </a:pPr>
            <a:r>
              <a:rPr lang="en-US" sz="2000" dirty="0">
                <a:latin typeface="Arial" pitchFamily="34" charset="0"/>
                <a:ea typeface="ＭＳ Ｐゴシック" pitchFamily="-107" charset="-128"/>
              </a:rPr>
              <a:t>Use two keys.</a:t>
            </a:r>
          </a:p>
          <a:p>
            <a:pPr>
              <a:lnSpc>
                <a:spcPct val="90000"/>
              </a:lnSpc>
              <a:spcBef>
                <a:spcPct val="0"/>
              </a:spcBef>
              <a:spcAft>
                <a:spcPts val="600"/>
              </a:spcAft>
            </a:pPr>
            <a:r>
              <a:rPr lang="en-US" sz="2000" dirty="0">
                <a:latin typeface="Arial" pitchFamily="34" charset="0"/>
                <a:ea typeface="ＭＳ Ｐゴシック" pitchFamily="-107" charset="-128"/>
              </a:rPr>
              <a:t>First encrypt the message to yield the ciphertext:</a:t>
            </a:r>
          </a:p>
          <a:p>
            <a:pPr marL="0" indent="344488">
              <a:lnSpc>
                <a:spcPct val="90000"/>
              </a:lnSpc>
              <a:spcBef>
                <a:spcPct val="0"/>
              </a:spcBef>
              <a:spcAft>
                <a:spcPts val="600"/>
              </a:spcAft>
              <a:buNone/>
            </a:pPr>
            <a:r>
              <a:rPr lang="en-US" sz="2000" dirty="0">
                <a:latin typeface="Arial" pitchFamily="34" charset="0"/>
                <a:ea typeface="ＭＳ Ｐゴシック" pitchFamily="-107" charset="-128"/>
              </a:rPr>
              <a:t>C = E(K2, M).</a:t>
            </a:r>
          </a:p>
          <a:p>
            <a:pPr>
              <a:lnSpc>
                <a:spcPct val="90000"/>
              </a:lnSpc>
              <a:spcBef>
                <a:spcPct val="0"/>
              </a:spcBef>
              <a:spcAft>
                <a:spcPts val="600"/>
              </a:spcAft>
            </a:pPr>
            <a:r>
              <a:rPr lang="en-US" sz="2000" dirty="0">
                <a:latin typeface="Arial" pitchFamily="34" charset="0"/>
                <a:ea typeface="ＭＳ Ｐゴシック" pitchFamily="-107" charset="-128"/>
              </a:rPr>
              <a:t>Then authenticate the ciphertext with</a:t>
            </a:r>
          </a:p>
          <a:p>
            <a:pPr marL="344488" indent="0">
              <a:lnSpc>
                <a:spcPct val="90000"/>
              </a:lnSpc>
              <a:spcBef>
                <a:spcPct val="0"/>
              </a:spcBef>
              <a:spcAft>
                <a:spcPts val="600"/>
              </a:spcAft>
              <a:buNone/>
            </a:pPr>
            <a:r>
              <a:rPr lang="en-US" sz="2000" dirty="0">
                <a:latin typeface="Arial" pitchFamily="34" charset="0"/>
                <a:ea typeface="ＭＳ Ｐゴシック" pitchFamily="-107" charset="-128"/>
              </a:rPr>
              <a:t>T = MAC(K1, C) to yield the pair (C, T)</a:t>
            </a:r>
          </a:p>
          <a:p>
            <a:pPr marL="0" indent="0">
              <a:lnSpc>
                <a:spcPct val="90000"/>
              </a:lnSpc>
              <a:spcBef>
                <a:spcPct val="0"/>
              </a:spcBef>
              <a:spcAft>
                <a:spcPts val="600"/>
              </a:spcAft>
              <a:buNone/>
            </a:pPr>
            <a:endParaRPr lang="en-US" sz="2400" dirty="0">
              <a:latin typeface="+mj-lt"/>
              <a:ea typeface="+mj-ea"/>
              <a:cs typeface="+mj-cs"/>
            </a:endParaRPr>
          </a:p>
        </p:txBody>
      </p:sp>
      <p:pic>
        <p:nvPicPr>
          <p:cNvPr id="4" name="Picture 3">
            <a:extLst>
              <a:ext uri="{FF2B5EF4-FFF2-40B4-BE49-F238E27FC236}">
                <a16:creationId xmlns:a16="http://schemas.microsoft.com/office/drawing/2014/main" id="{35E84134-9F23-46E5-8B2A-DF5FE8866A2A}"/>
              </a:ext>
            </a:extLst>
          </p:cNvPr>
          <p:cNvPicPr>
            <a:picLocks noChangeAspect="1"/>
          </p:cNvPicPr>
          <p:nvPr/>
        </p:nvPicPr>
        <p:blipFill>
          <a:blip r:embed="rId2"/>
          <a:stretch>
            <a:fillRect/>
          </a:stretch>
        </p:blipFill>
        <p:spPr>
          <a:xfrm>
            <a:off x="4294728" y="2594183"/>
            <a:ext cx="4805362" cy="4173291"/>
          </a:xfrm>
          <a:prstGeom prst="rect">
            <a:avLst/>
          </a:prstGeom>
        </p:spPr>
      </p:pic>
    </p:spTree>
    <p:extLst>
      <p:ext uri="{BB962C8B-B14F-4D97-AF65-F5344CB8AC3E}">
        <p14:creationId xmlns:p14="http://schemas.microsoft.com/office/powerpoint/2010/main" val="838253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56248A11-1A60-45D6-A543-3976ADD722DF}"/>
              </a:ext>
            </a:extLst>
          </p:cNvPr>
          <p:cNvSpPr/>
          <p:nvPr/>
        </p:nvSpPr>
        <p:spPr>
          <a:xfrm>
            <a:off x="718879" y="800392"/>
            <a:ext cx="7698523" cy="121210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rgbClr val="FFFFFF"/>
                </a:solidFill>
                <a:latin typeface="+mj-lt"/>
                <a:ea typeface="+mj-ea"/>
                <a:cs typeface="+mj-cs"/>
              </a:rPr>
              <a:t>4- Encrypt-and-MAC</a:t>
            </a:r>
          </a:p>
          <a:p>
            <a:pPr>
              <a:lnSpc>
                <a:spcPct val="90000"/>
              </a:lnSpc>
              <a:spcBef>
                <a:spcPct val="0"/>
              </a:spcBef>
              <a:spcAft>
                <a:spcPts val="600"/>
              </a:spcAft>
            </a:pPr>
            <a:endParaRPr lang="en-US" sz="1400" kern="1200" dirty="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F36DBBDA-6E11-4FDF-A4B9-B6E2F3068DAB}"/>
              </a:ext>
            </a:extLst>
          </p:cNvPr>
          <p:cNvSpPr>
            <a:spLocks noGrp="1"/>
          </p:cNvSpPr>
          <p:nvPr>
            <p:ph idx="1"/>
          </p:nvPr>
        </p:nvSpPr>
        <p:spPr>
          <a:xfrm>
            <a:off x="839491" y="4058886"/>
            <a:ext cx="3748292" cy="1776764"/>
          </a:xfrm>
        </p:spPr>
        <p:txBody>
          <a:bodyPr vert="horz" lIns="91440" tIns="45720" rIns="91440" bIns="45720" rtlCol="0" anchor="ctr">
            <a:noAutofit/>
          </a:bodyPr>
          <a:lstStyle/>
          <a:p>
            <a:pPr marL="0" lvl="1" indent="0">
              <a:lnSpc>
                <a:spcPct val="90000"/>
              </a:lnSpc>
              <a:buNone/>
              <a:defRPr/>
            </a:pPr>
            <a:r>
              <a:rPr lang="en-US" sz="2400" dirty="0">
                <a:ea typeface="ＭＳ Ｐゴシック" pitchFamily="-107" charset="-128"/>
                <a:cs typeface="ＭＳ Ｐゴシック" pitchFamily="-107" charset="-128"/>
              </a:rPr>
              <a:t>(C=E(K2, M), T=MAC(K1, M)</a:t>
            </a:r>
          </a:p>
          <a:p>
            <a:pPr marL="0" indent="0">
              <a:lnSpc>
                <a:spcPct val="90000"/>
              </a:lnSpc>
              <a:spcBef>
                <a:spcPct val="0"/>
              </a:spcBef>
              <a:spcAft>
                <a:spcPts val="600"/>
              </a:spcAft>
              <a:buNone/>
            </a:pPr>
            <a:endParaRPr lang="en-US" sz="2400" dirty="0">
              <a:latin typeface="Arial" pitchFamily="34" charset="0"/>
              <a:ea typeface="ＭＳ Ｐゴシック" pitchFamily="-107" charset="-128"/>
            </a:endParaRPr>
          </a:p>
          <a:p>
            <a:pPr marL="0" indent="0">
              <a:lnSpc>
                <a:spcPct val="90000"/>
              </a:lnSpc>
              <a:spcBef>
                <a:spcPct val="0"/>
              </a:spcBef>
              <a:spcAft>
                <a:spcPts val="600"/>
              </a:spcAft>
              <a:buNone/>
            </a:pPr>
            <a:endParaRPr lang="en-US" sz="2400" dirty="0">
              <a:latin typeface="Arial" pitchFamily="34" charset="0"/>
              <a:ea typeface="ＭＳ Ｐゴシック" pitchFamily="-107" charset="-128"/>
            </a:endParaRPr>
          </a:p>
          <a:p>
            <a:pPr>
              <a:lnSpc>
                <a:spcPct val="90000"/>
              </a:lnSpc>
              <a:spcBef>
                <a:spcPct val="0"/>
              </a:spcBef>
              <a:spcAft>
                <a:spcPts val="600"/>
              </a:spcAft>
            </a:pPr>
            <a:r>
              <a:rPr lang="en-US" sz="2000" dirty="0">
                <a:latin typeface="Arial" pitchFamily="34" charset="0"/>
                <a:ea typeface="ＭＳ Ｐゴシック" pitchFamily="-107" charset="-128"/>
              </a:rPr>
              <a:t>Use two keys.</a:t>
            </a:r>
          </a:p>
          <a:p>
            <a:pPr>
              <a:lnSpc>
                <a:spcPct val="90000"/>
              </a:lnSpc>
              <a:spcBef>
                <a:spcPct val="0"/>
              </a:spcBef>
              <a:spcAft>
                <a:spcPts val="600"/>
              </a:spcAft>
            </a:pPr>
            <a:r>
              <a:rPr lang="en-US" sz="2000" dirty="0">
                <a:latin typeface="Arial" pitchFamily="34" charset="0"/>
                <a:ea typeface="ＭＳ Ｐゴシック" pitchFamily="-107" charset="-128"/>
              </a:rPr>
              <a:t>Encrypt the message to yield the ciphertext:</a:t>
            </a:r>
          </a:p>
          <a:p>
            <a:pPr marL="0" indent="344488">
              <a:lnSpc>
                <a:spcPct val="90000"/>
              </a:lnSpc>
              <a:spcBef>
                <a:spcPct val="0"/>
              </a:spcBef>
              <a:spcAft>
                <a:spcPts val="600"/>
              </a:spcAft>
              <a:buNone/>
            </a:pPr>
            <a:r>
              <a:rPr lang="en-US" sz="2000" dirty="0">
                <a:latin typeface="Arial" pitchFamily="34" charset="0"/>
                <a:ea typeface="ＭＳ Ｐゴシック" pitchFamily="-107" charset="-128"/>
              </a:rPr>
              <a:t>C = E(K2, M).</a:t>
            </a:r>
          </a:p>
          <a:p>
            <a:pPr>
              <a:lnSpc>
                <a:spcPct val="90000"/>
              </a:lnSpc>
              <a:spcBef>
                <a:spcPct val="0"/>
              </a:spcBef>
              <a:spcAft>
                <a:spcPts val="600"/>
              </a:spcAft>
            </a:pPr>
            <a:r>
              <a:rPr lang="en-US" sz="2000" dirty="0">
                <a:latin typeface="Arial" pitchFamily="34" charset="0"/>
                <a:ea typeface="ＭＳ Ｐゴシック" pitchFamily="-107" charset="-128"/>
              </a:rPr>
              <a:t>Authenticate the plaintext with T = MAC(K1, M) to yield the pair (C, T).</a:t>
            </a:r>
          </a:p>
          <a:p>
            <a:pPr marL="0" indent="0">
              <a:lnSpc>
                <a:spcPct val="90000"/>
              </a:lnSpc>
              <a:spcBef>
                <a:spcPct val="0"/>
              </a:spcBef>
              <a:spcAft>
                <a:spcPts val="600"/>
              </a:spcAft>
              <a:buNone/>
            </a:pPr>
            <a:endParaRPr lang="en-US" sz="2400" dirty="0">
              <a:latin typeface="+mj-lt"/>
              <a:ea typeface="+mj-ea"/>
              <a:cs typeface="+mj-cs"/>
            </a:endParaRPr>
          </a:p>
          <a:p>
            <a:pPr marL="0" indent="0">
              <a:lnSpc>
                <a:spcPct val="90000"/>
              </a:lnSpc>
              <a:spcBef>
                <a:spcPct val="0"/>
              </a:spcBef>
              <a:spcAft>
                <a:spcPts val="600"/>
              </a:spcAft>
              <a:buNone/>
            </a:pPr>
            <a:endParaRPr lang="en-US" sz="2400" dirty="0">
              <a:latin typeface="+mj-lt"/>
              <a:ea typeface="+mj-ea"/>
              <a:cs typeface="+mj-cs"/>
            </a:endParaRPr>
          </a:p>
        </p:txBody>
      </p:sp>
      <p:pic>
        <p:nvPicPr>
          <p:cNvPr id="6" name="Picture 5">
            <a:extLst>
              <a:ext uri="{FF2B5EF4-FFF2-40B4-BE49-F238E27FC236}">
                <a16:creationId xmlns:a16="http://schemas.microsoft.com/office/drawing/2014/main" id="{15862645-B6FB-46B8-9ECE-400EB11EC33D}"/>
              </a:ext>
            </a:extLst>
          </p:cNvPr>
          <p:cNvPicPr>
            <a:picLocks noChangeAspect="1"/>
          </p:cNvPicPr>
          <p:nvPr/>
        </p:nvPicPr>
        <p:blipFill>
          <a:blip r:embed="rId2"/>
          <a:stretch>
            <a:fillRect/>
          </a:stretch>
        </p:blipFill>
        <p:spPr>
          <a:xfrm>
            <a:off x="4770760" y="2341848"/>
            <a:ext cx="4257675" cy="4435490"/>
          </a:xfrm>
          <a:prstGeom prst="rect">
            <a:avLst/>
          </a:prstGeom>
        </p:spPr>
      </p:pic>
    </p:spTree>
    <p:extLst>
      <p:ext uri="{BB962C8B-B14F-4D97-AF65-F5344CB8AC3E}">
        <p14:creationId xmlns:p14="http://schemas.microsoft.com/office/powerpoint/2010/main" val="2459148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56248A11-1A60-45D6-A543-3976ADD722DF}"/>
              </a:ext>
            </a:extLst>
          </p:cNvPr>
          <p:cNvSpPr/>
          <p:nvPr/>
        </p:nvSpPr>
        <p:spPr>
          <a:xfrm>
            <a:off x="718879" y="800392"/>
            <a:ext cx="7698523" cy="121210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dirty="0">
                <a:solidFill>
                  <a:schemeClr val="bg1"/>
                </a:solidFill>
                <a:ea typeface="ＭＳ Ｐゴシック" pitchFamily="-107" charset="-128"/>
              </a:rPr>
              <a:t>NIST standard SP 800-38C for Wi-Fi</a:t>
            </a:r>
            <a:endParaRPr lang="en-US" sz="1400" kern="1200" dirty="0">
              <a:solidFill>
                <a:schemeClr val="bg1"/>
              </a:solidFill>
              <a:latin typeface="+mj-lt"/>
              <a:ea typeface="+mj-ea"/>
              <a:cs typeface="+mj-cs"/>
            </a:endParaRPr>
          </a:p>
        </p:txBody>
      </p:sp>
      <p:sp>
        <p:nvSpPr>
          <p:cNvPr id="3" name="Content Placeholder 2">
            <a:extLst>
              <a:ext uri="{FF2B5EF4-FFF2-40B4-BE49-F238E27FC236}">
                <a16:creationId xmlns:a16="http://schemas.microsoft.com/office/drawing/2014/main" id="{F36DBBDA-6E11-4FDF-A4B9-B6E2F3068DAB}"/>
              </a:ext>
            </a:extLst>
          </p:cNvPr>
          <p:cNvSpPr>
            <a:spLocks noGrp="1"/>
          </p:cNvSpPr>
          <p:nvPr>
            <p:ph idx="1"/>
          </p:nvPr>
        </p:nvSpPr>
        <p:spPr>
          <a:xfrm>
            <a:off x="1143001" y="3729656"/>
            <a:ext cx="6858000" cy="1776764"/>
          </a:xfrm>
        </p:spPr>
        <p:txBody>
          <a:bodyPr vert="horz" lIns="91440" tIns="45720" rIns="91440" bIns="45720" rtlCol="0" anchor="ctr">
            <a:noAutofit/>
          </a:bodyPr>
          <a:lstStyle/>
          <a:p>
            <a:pPr>
              <a:lnSpc>
                <a:spcPct val="90000"/>
              </a:lnSpc>
            </a:pPr>
            <a:r>
              <a:rPr lang="en-US" sz="2400" dirty="0">
                <a:ea typeface="ＭＳ Ｐゴシック" pitchFamily="-107" charset="-128"/>
                <a:cs typeface="ＭＳ Ｐゴシック" pitchFamily="-107" charset="-128"/>
              </a:rPr>
              <a:t>Counter with Cipher Block Chaining-Message Authentication Code (CCM) </a:t>
            </a:r>
            <a:endParaRPr lang="en-US" sz="2400" dirty="0">
              <a:ea typeface="ＭＳ Ｐゴシック" pitchFamily="-107" charset="-128"/>
            </a:endParaRPr>
          </a:p>
          <a:p>
            <a:pPr>
              <a:lnSpc>
                <a:spcPct val="90000"/>
              </a:lnSpc>
            </a:pPr>
            <a:r>
              <a:rPr lang="en-US" sz="2400" dirty="0">
                <a:ea typeface="ＭＳ Ｐゴシック" pitchFamily="-107" charset="-128"/>
              </a:rPr>
              <a:t>variation of encrypt-and-MAC approach</a:t>
            </a:r>
          </a:p>
          <a:p>
            <a:pPr>
              <a:lnSpc>
                <a:spcPct val="90000"/>
              </a:lnSpc>
            </a:pPr>
            <a:r>
              <a:rPr lang="en-US" sz="2400" dirty="0">
                <a:ea typeface="ＭＳ Ｐゴシック" pitchFamily="-107" charset="-128"/>
              </a:rPr>
              <a:t> algorithmic ingredients </a:t>
            </a:r>
          </a:p>
          <a:p>
            <a:pPr lvl="1">
              <a:lnSpc>
                <a:spcPct val="90000"/>
              </a:lnSpc>
            </a:pPr>
            <a:r>
              <a:rPr lang="en-US" sz="2400" dirty="0">
                <a:ea typeface="ＭＳ Ｐゴシック" pitchFamily="-107" charset="-128"/>
              </a:rPr>
              <a:t>AES encryption algorithm</a:t>
            </a:r>
          </a:p>
          <a:p>
            <a:pPr lvl="1">
              <a:lnSpc>
                <a:spcPct val="90000"/>
              </a:lnSpc>
            </a:pPr>
            <a:r>
              <a:rPr lang="en-US" sz="2400" dirty="0">
                <a:ea typeface="ＭＳ Ｐゴシック" pitchFamily="-107" charset="-128"/>
              </a:rPr>
              <a:t>CTR mode of operation</a:t>
            </a:r>
          </a:p>
          <a:p>
            <a:pPr lvl="1">
              <a:lnSpc>
                <a:spcPct val="90000"/>
              </a:lnSpc>
            </a:pPr>
            <a:r>
              <a:rPr lang="en-US" sz="2400" dirty="0">
                <a:ea typeface="ＭＳ Ｐゴシック" pitchFamily="-107" charset="-128"/>
              </a:rPr>
              <a:t>CMAC authentication algorithm</a:t>
            </a:r>
          </a:p>
          <a:p>
            <a:pPr>
              <a:lnSpc>
                <a:spcPct val="90000"/>
              </a:lnSpc>
            </a:pPr>
            <a:r>
              <a:rPr lang="en-US" sz="2400" dirty="0">
                <a:ea typeface="ＭＳ Ｐゴシック" pitchFamily="-107" charset="-128"/>
              </a:rPr>
              <a:t>single key used for both encryption &amp; MAC </a:t>
            </a:r>
          </a:p>
          <a:p>
            <a:pPr marL="0" indent="0">
              <a:lnSpc>
                <a:spcPct val="90000"/>
              </a:lnSpc>
              <a:spcBef>
                <a:spcPct val="0"/>
              </a:spcBef>
              <a:spcAft>
                <a:spcPts val="600"/>
              </a:spcAft>
              <a:buNone/>
            </a:pPr>
            <a:endParaRPr lang="en-US" sz="2400" dirty="0">
              <a:latin typeface="+mj-lt"/>
              <a:ea typeface="+mj-ea"/>
              <a:cs typeface="+mj-cs"/>
            </a:endParaRPr>
          </a:p>
          <a:p>
            <a:pPr marL="0" indent="0">
              <a:lnSpc>
                <a:spcPct val="90000"/>
              </a:lnSpc>
              <a:spcBef>
                <a:spcPct val="0"/>
              </a:spcBef>
              <a:spcAft>
                <a:spcPts val="600"/>
              </a:spcAft>
              <a:buNone/>
            </a:pPr>
            <a:endParaRPr lang="en-US" sz="2400" dirty="0">
              <a:latin typeface="+mj-lt"/>
              <a:ea typeface="+mj-ea"/>
              <a:cs typeface="+mj-cs"/>
            </a:endParaRPr>
          </a:p>
        </p:txBody>
      </p:sp>
    </p:spTree>
    <p:extLst>
      <p:ext uri="{BB962C8B-B14F-4D97-AF65-F5344CB8AC3E}">
        <p14:creationId xmlns:p14="http://schemas.microsoft.com/office/powerpoint/2010/main" val="1672609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505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Summary</a:t>
            </a:r>
            <a:endParaRPr lang="en-AU" sz="3500">
              <a:solidFill>
                <a:srgbClr val="FFFFFF"/>
              </a:solidFill>
              <a:ea typeface="ＭＳ Ｐゴシック" pitchFamily="-107" charset="-128"/>
            </a:endParaRPr>
          </a:p>
        </p:txBody>
      </p:sp>
      <p:sp>
        <p:nvSpPr>
          <p:cNvPr id="45059" name="Rectangle 3"/>
          <p:cNvSpPr>
            <a:spLocks noGrp="1" noChangeArrowheads="1"/>
          </p:cNvSpPr>
          <p:nvPr>
            <p:ph type="body" idx="1"/>
          </p:nvPr>
        </p:nvSpPr>
        <p:spPr>
          <a:xfrm>
            <a:off x="1025718" y="2490436"/>
            <a:ext cx="7281746" cy="3567173"/>
          </a:xfrm>
        </p:spPr>
        <p:txBody>
          <a:bodyPr anchor="ctr">
            <a:normAutofit/>
          </a:bodyPr>
          <a:lstStyle/>
          <a:p>
            <a:pPr eaLnBrk="1" hangingPunct="1"/>
            <a:r>
              <a:rPr lang="en-US" sz="2400" dirty="0">
                <a:ea typeface="ＭＳ Ｐゴシック" pitchFamily="-107" charset="-128"/>
              </a:rPr>
              <a:t>have considered:</a:t>
            </a:r>
          </a:p>
          <a:p>
            <a:pPr lvl="1" eaLnBrk="1" hangingPunct="1"/>
            <a:r>
              <a:rPr lang="en-US" sz="2400" dirty="0">
                <a:ea typeface="ＭＳ Ｐゴシック" pitchFamily="-107" charset="-128"/>
              </a:rPr>
              <a:t>message authentication requirements</a:t>
            </a:r>
          </a:p>
          <a:p>
            <a:pPr lvl="1" eaLnBrk="1" hangingPunct="1"/>
            <a:r>
              <a:rPr lang="en-US" sz="2400" dirty="0">
                <a:ea typeface="ＭＳ Ｐゴシック" pitchFamily="-107" charset="-128"/>
              </a:rPr>
              <a:t>message authentication using encryption</a:t>
            </a:r>
          </a:p>
          <a:p>
            <a:pPr lvl="1" eaLnBrk="1" hangingPunct="1"/>
            <a:r>
              <a:rPr lang="en-US" sz="2400" dirty="0">
                <a:ea typeface="ＭＳ Ｐゴシック" pitchFamily="-107" charset="-128"/>
              </a:rPr>
              <a:t>MACs</a:t>
            </a:r>
          </a:p>
          <a:p>
            <a:pPr lvl="1" eaLnBrk="1" hangingPunct="1"/>
            <a:r>
              <a:rPr lang="en-US" sz="2400" dirty="0">
                <a:ea typeface="ＭＳ Ｐゴシック" pitchFamily="-107" charset="-128"/>
              </a:rPr>
              <a:t>HMAC authentication using a hash function</a:t>
            </a:r>
          </a:p>
          <a:p>
            <a:pPr lvl="1" eaLnBrk="1" hangingPunct="1"/>
            <a:r>
              <a:rPr lang="en-US" sz="2400" dirty="0">
                <a:ea typeface="ＭＳ Ｐゴシック" pitchFamily="-107" charset="-128"/>
              </a:rPr>
              <a:t>CMAC authentication using a block cipher</a:t>
            </a:r>
          </a:p>
          <a:p>
            <a:pPr lvl="1" eaLnBrk="1" hangingPunct="1"/>
            <a:r>
              <a:rPr lang="en-US" sz="2400" dirty="0">
                <a:ea typeface="ＭＳ Ｐゴシック" pitchFamily="-107" charset="-128"/>
              </a:rPr>
              <a:t>authenticated encryption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4555</Words>
  <Application>Microsoft Office PowerPoint</Application>
  <PresentationFormat>On-screen Show (4:3)</PresentationFormat>
  <Paragraphs>295</Paragraphs>
  <Slides>34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ＭＳ Ｐゴシック</vt:lpstr>
      <vt:lpstr>ADLaM Display</vt:lpstr>
      <vt:lpstr>Arial</vt:lpstr>
      <vt:lpstr>Calibri</vt:lpstr>
      <vt:lpstr>Courier New</vt:lpstr>
      <vt:lpstr>Times-Roman</vt:lpstr>
      <vt:lpstr>Wingdings</vt:lpstr>
      <vt:lpstr>Office Theme</vt:lpstr>
      <vt:lpstr>Cryptography and Network Security Chapter 12</vt:lpstr>
      <vt:lpstr>Overview</vt:lpstr>
      <vt:lpstr>Message Authentication</vt:lpstr>
      <vt:lpstr>Message Security Requirements</vt:lpstr>
      <vt:lpstr>PowerPoint Presentation</vt:lpstr>
      <vt:lpstr>PowerPoint Presentation</vt:lpstr>
      <vt:lpstr>Symmetric Message Encryption</vt:lpstr>
      <vt:lpstr>Public-Key Message Encryption</vt:lpstr>
      <vt:lpstr>Message Authentication Code (MAC)</vt:lpstr>
      <vt:lpstr>MAC Overview</vt:lpstr>
      <vt:lpstr>MAC Generation and Verification</vt:lpstr>
      <vt:lpstr>PowerPoint Presentation</vt:lpstr>
      <vt:lpstr>MAC Properties</vt:lpstr>
      <vt:lpstr>Requirements for MACs</vt:lpstr>
      <vt:lpstr>Security of MACs </vt:lpstr>
      <vt:lpstr>Brute-Force Attacks on MACs </vt:lpstr>
      <vt:lpstr>Keyed Hash Functions as MACs</vt:lpstr>
      <vt:lpstr>HMAC Design Objectives</vt:lpstr>
      <vt:lpstr>HMAC</vt:lpstr>
      <vt:lpstr>PowerPoint Presentation</vt:lpstr>
      <vt:lpstr>PowerPoint Presentation</vt:lpstr>
      <vt:lpstr>HMAC Security</vt:lpstr>
      <vt:lpstr>Using Symmetric Ciphers for MACs</vt:lpstr>
      <vt:lpstr>CMAC</vt:lpstr>
      <vt:lpstr>CMAC Overview</vt:lpstr>
      <vt:lpstr>Authenticated Encryption</vt:lpstr>
      <vt:lpstr>Authenticated Encryption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Chapter 12</dc:title>
  <dc:creator>Mohamed Ashraf Madkour</dc:creator>
  <cp:lastModifiedBy>Diaa Ali Mohammed</cp:lastModifiedBy>
  <cp:revision>25</cp:revision>
  <dcterms:created xsi:type="dcterms:W3CDTF">2020-11-24T11:09:26Z</dcterms:created>
  <dcterms:modified xsi:type="dcterms:W3CDTF">2025-01-15T16:02:28Z</dcterms:modified>
</cp:coreProperties>
</file>