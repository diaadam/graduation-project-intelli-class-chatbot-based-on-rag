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78" r:id="rId4"/>
    <p:sldId id="279" r:id="rId5"/>
    <p:sldId id="263" r:id="rId6"/>
    <p:sldId id="270" r:id="rId7"/>
    <p:sldId id="280" r:id="rId8"/>
    <p:sldId id="272" r:id="rId9"/>
    <p:sldId id="277"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29" autoAdjust="0"/>
    <p:restoredTop sz="95226" autoAdjust="0"/>
  </p:normalViewPr>
  <p:slideViewPr>
    <p:cSldViewPr>
      <p:cViewPr varScale="1">
        <p:scale>
          <a:sx n="82" d="100"/>
          <a:sy n="82" d="100"/>
        </p:scale>
        <p:origin x="146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02CAD8-9E5A-4526-A04A-D480CDFD6A02}" type="datetimeFigureOut">
              <a:rPr lang="en-US" smtClean="0"/>
              <a:pPr/>
              <a:t>11/24/2020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112E0D-8473-4D51-BE88-430CFF107421}" type="slidenum">
              <a:rPr lang="en-US" smtClean="0"/>
              <a:pPr/>
              <a:t>‹#›</a:t>
            </a:fld>
            <a:endParaRPr lang="en-US"/>
          </a:p>
        </p:txBody>
      </p:sp>
    </p:spTree>
    <p:extLst>
      <p:ext uri="{BB962C8B-B14F-4D97-AF65-F5344CB8AC3E}">
        <p14:creationId xmlns:p14="http://schemas.microsoft.com/office/powerpoint/2010/main" val="77713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EA509AF2-9E5D-487A-913D-945F2A5FA2B5}" type="slidenum">
              <a:rPr lang="en-AU"/>
              <a:pPr/>
              <a:t>1</a:t>
            </a:fld>
            <a:endParaRPr lang="en-AU" dirty="0"/>
          </a:p>
        </p:txBody>
      </p:sp>
      <p:sp>
        <p:nvSpPr>
          <p:cNvPr id="15363" name="Rectangle 2"/>
          <p:cNvSpPr>
            <a:spLocks noGrp="1" noRot="1" noChangeAspect="1" noChangeArrowheads="1"/>
          </p:cNvSpPr>
          <p:nvPr>
            <p:ph type="sldImg"/>
          </p:nvPr>
        </p:nvSpPr>
        <p:spPr>
          <a:solidFill>
            <a:srgbClr val="FFFFFF"/>
          </a:solidFill>
          <a:ln/>
        </p:spPr>
      </p:sp>
      <p:sp>
        <p:nvSpPr>
          <p:cNvPr id="15364"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Lecture slides by Lawrie Brown for “Cryptography and Network Security”, 5/e, by William Stallings, Chapter 12 – “</a:t>
            </a:r>
            <a:r>
              <a:rPr lang="en-AU" dirty="0">
                <a:latin typeface="Arial" pitchFamily="34" charset="0"/>
                <a:ea typeface="ＭＳ Ｐゴシック" pitchFamily="-107" charset="-128"/>
              </a:rPr>
              <a:t>Message Authentication Codes</a:t>
            </a:r>
            <a:r>
              <a:rPr lang="en-US" dirty="0">
                <a:latin typeface="Arial" pitchFamily="34" charset="0"/>
                <a:ea typeface="ＭＳ Ｐゴシック" pitchFamily="-107" charset="-128"/>
              </a:rPr>
              <a:t>”.</a:t>
            </a:r>
            <a:endParaRPr lang="en-AU" dirty="0">
              <a:latin typeface="Arial" pitchFamily="34" charset="0"/>
              <a:ea typeface="ＭＳ Ｐゴシック" pitchFamily="-107" charset="-128"/>
            </a:endParaRPr>
          </a:p>
          <a:p>
            <a:pPr eaLnBrk="1" hangingPunct="1"/>
            <a:endParaRPr lang="en-US" dirty="0">
              <a:latin typeface="Arial" pitchFamily="34" charset="0"/>
              <a:ea typeface="ＭＳ Ｐゴシック" pitchFamily="-107"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2</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3</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extLst>
      <p:ext uri="{BB962C8B-B14F-4D97-AF65-F5344CB8AC3E}">
        <p14:creationId xmlns:p14="http://schemas.microsoft.com/office/powerpoint/2010/main" val="12639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C5E238C-E7C8-4968-9641-9321D72015D5}" type="slidenum">
              <a:rPr lang="en-AU"/>
              <a:pPr/>
              <a:t>4</a:t>
            </a:fld>
            <a:endParaRPr lang="en-AU" dirty="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One of the most fascinating and complex areas of cryptography is that of message authentication and the related area of digital signatures. </a:t>
            </a:r>
            <a:r>
              <a:rPr lang="en-AU" dirty="0">
                <a:latin typeface="Arial" pitchFamily="34" charset="0"/>
                <a:ea typeface="ＭＳ Ｐゴシック" pitchFamily="-107" charset="-128"/>
              </a:rPr>
              <a:t>We now consider how to protect message integrity (</a:t>
            </a:r>
            <a:r>
              <a:rPr lang="en-AU" dirty="0" err="1">
                <a:latin typeface="Arial" pitchFamily="34" charset="0"/>
                <a:ea typeface="ＭＳ Ｐゴシック" pitchFamily="-107" charset="-128"/>
              </a:rPr>
              <a:t>ie</a:t>
            </a:r>
            <a:r>
              <a:rPr lang="en-AU" dirty="0">
                <a:latin typeface="Arial" pitchFamily="34" charset="0"/>
                <a:ea typeface="ＭＳ Ｐゴシック" pitchFamily="-107" charset="-128"/>
              </a:rPr>
              <a:t> protection from modification), as well as confirming the identity of the sender. Generically this is the problem of message authentication, and in eCommerce applications is arguably more important than secrecy. Message Authentication is concerned with: protecting the integrity of a message, validating identity of originator, &amp; non-repudiation of origin (dispute resolution). There are three </a:t>
            </a:r>
            <a:r>
              <a:rPr lang="en-US" dirty="0">
                <a:latin typeface="Times-Roman" charset="0"/>
                <a:ea typeface="ＭＳ Ｐゴシック" pitchFamily="-107" charset="-128"/>
              </a:rPr>
              <a:t>types of functions that may be used to produce an authenticator: </a:t>
            </a:r>
            <a:r>
              <a:rPr lang="en-US" dirty="0">
                <a:latin typeface="Arial" pitchFamily="34" charset="0"/>
                <a:ea typeface="ＭＳ Ｐゴシック" pitchFamily="-107" charset="-128"/>
              </a:rPr>
              <a:t>a hash function, message encryption, message authentication code (MAC). Hash functions, and how they may serve for message authentication, are discussed in Chapter 11. The remainder of this section briefly examines the remaining two topics. The remainder of the chapter elaborates on the topic of MACs. </a:t>
            </a:r>
            <a:endParaRPr lang="en-AU" dirty="0">
              <a:latin typeface="Arial" pitchFamily="34" charset="0"/>
              <a:ea typeface="ＭＳ Ｐゴシック" pitchFamily="-107" charset="-128"/>
            </a:endParaRPr>
          </a:p>
        </p:txBody>
      </p:sp>
    </p:spTree>
    <p:extLst>
      <p:ext uri="{BB962C8B-B14F-4D97-AF65-F5344CB8AC3E}">
        <p14:creationId xmlns:p14="http://schemas.microsoft.com/office/powerpoint/2010/main" val="2884340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28A48C44-6292-4826-831F-0CC783ED0305}" type="slidenum">
              <a:rPr lang="en-AU"/>
              <a:pPr/>
              <a:t>5</a:t>
            </a:fld>
            <a:endParaRPr lang="en-AU"/>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The term </a:t>
            </a:r>
            <a:r>
              <a:rPr lang="en-US" i="1">
                <a:latin typeface="Arial" pitchFamily="34" charset="0"/>
                <a:cs typeface="Arial" pitchFamily="34" charset="0"/>
              </a:rPr>
              <a:t>direct digital </a:t>
            </a:r>
            <a:r>
              <a:rPr lang="en-US">
                <a:latin typeface="Arial" pitchFamily="34" charset="0"/>
                <a:cs typeface="Arial" pitchFamily="34" charset="0"/>
              </a:rPr>
              <a:t>signature refers to a digital signature scheme that involves only the communicating parties (source, destination). It is assumed that the destination knows the public key of the source</a:t>
            </a:r>
            <a:r>
              <a:rPr lang="en-US" i="1">
                <a:latin typeface="Arial" pitchFamily="34" charset="0"/>
                <a:cs typeface="Arial" pitchFamily="34" charset="0"/>
              </a:rPr>
              <a:t>. </a:t>
            </a:r>
            <a:r>
              <a:rPr lang="en-US">
                <a:latin typeface="Arial" pitchFamily="34" charset="0"/>
                <a:cs typeface="Arial" pitchFamily="34" charset="0"/>
              </a:rPr>
              <a:t>Direct Digital Signatures involve the direct application of public-key algorithms involving only the communicating parties. A digital signature may be formed by encrypting the entire message with the sender’s private key, or by encrypting a hash code of the message with the sender’s private key. Confidentiality can be provided by further encrypting the entire message plus signature using either public or private key schemes. It is important to perform the signature function first and then an outer confidentiality function, since in case of dispute, some third party must view the message and its signature. But these approaches are dependent on the security of the sender’s private-key. Will have problems if it is lost/stolen and signatures forged. The universally accepted technique for dealing with these threats is the use of a digital certificate and certificate authorities. We defer a discussion of this topic until Chapter 14, and focus in this chapter on digital signature algorithms. Also need time-stamps and timely key revocation.</a:t>
            </a:r>
            <a:endParaRPr lang="en-AU">
              <a:latin typeface="Arial" pitchFamily="34" charset="0"/>
              <a:cs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7735AB1D-1C04-4A3F-80FF-899F3EE0716D}" type="slidenum">
              <a:rPr lang="en-AU"/>
              <a:pPr/>
              <a:t>6</a:t>
            </a:fld>
            <a:endParaRPr lang="en-AU"/>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AU">
                <a:latin typeface="Arial" pitchFamily="34" charset="0"/>
              </a:rPr>
              <a:t>DSA is the US Govt approved signature scheme, which is designed to provide strong signatures without allowing easy use for encryption.</a:t>
            </a:r>
            <a:r>
              <a:rPr lang="en-US">
                <a:latin typeface="Arial" pitchFamily="34" charset="0"/>
              </a:rPr>
              <a:t> The National Institute of Standards and Technology (NIST) published Federal Information Processing Standard FIPS 186, known as the Digital Signature Standard (DSS). The DSS makes use of the Secure Hash Algorithm (SHA) described in Chapter 12 and presents a new digital signature technique, the Digital Signature Algorithm (DSA). The DSS was originally proposed in 1991 and revised in 1993 in response to public feedback concerning the security of the scheme. There was a further minor revision in 1996. In 2000, an expanded version of the standard was issued as FIPS 186-2. This latest version also incorporates digital signature algorithms based on RSA and on elliptic curve cryptography. In this section, we discuss the original DSS algorithm. The DSS uses an algorithm that is designed to provide only the digital signature function. Unlike RSA, it cannot be used for encryption or key exchange. Nevertheless, it is a public-key technique. </a:t>
            </a:r>
            <a:endParaRPr lang="en-AU">
              <a:latin typeface="Times-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7735AB1D-1C04-4A3F-80FF-899F3EE0716D}" type="slidenum">
              <a:rPr lang="en-AU"/>
              <a:pPr/>
              <a:t>7</a:t>
            </a:fld>
            <a:endParaRPr lang="en-AU"/>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AU">
                <a:latin typeface="Arial" pitchFamily="34" charset="0"/>
              </a:rPr>
              <a:t>DSA is the US Govt approved signature scheme, which is designed to provide strong signatures without allowing easy use for encryption.</a:t>
            </a:r>
            <a:r>
              <a:rPr lang="en-US">
                <a:latin typeface="Arial" pitchFamily="34" charset="0"/>
              </a:rPr>
              <a:t> The National Institute of Standards and Technology (NIST) published Federal Information Processing Standard FIPS 186, known as the Digital Signature Standard (DSS). The DSS makes use of the Secure Hash Algorithm (SHA) described in Chapter 12 and presents a new digital signature technique, the Digital Signature Algorithm (DSA). The DSS was originally proposed in 1991 and revised in 1993 in response to public feedback concerning the security of the scheme. There was a further minor revision in 1996. In 2000, an expanded version of the standard was issued as FIPS 186-2. This latest version also incorporates digital signature algorithms based on RSA and on elliptic curve cryptography. In this section, we discuss the original DSS algorithm. The DSS uses an algorithm that is designed to provide only the digital signature function. Unlike RSA, it cannot be used for encryption or key exchange. Nevertheless, it is a public-key technique. </a:t>
            </a:r>
            <a:endParaRPr lang="en-AU">
              <a:latin typeface="Times-Roman" charset="0"/>
            </a:endParaRPr>
          </a:p>
        </p:txBody>
      </p:sp>
    </p:spTree>
    <p:extLst>
      <p:ext uri="{BB962C8B-B14F-4D97-AF65-F5344CB8AC3E}">
        <p14:creationId xmlns:p14="http://schemas.microsoft.com/office/powerpoint/2010/main" val="394437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1D174CF7-E7EB-435C-93FF-6EF33E7B4367}" type="slidenum">
              <a:rPr lang="en-AU"/>
              <a:pPr/>
              <a:t>8</a:t>
            </a:fld>
            <a:endParaRPr lang="en-AU"/>
          </a:p>
        </p:txBody>
      </p:sp>
      <p:sp>
        <p:nvSpPr>
          <p:cNvPr id="49155" name="Rectangle 2"/>
          <p:cNvSpPr>
            <a:spLocks noGrp="1" noRot="1" noChangeAspect="1" noChangeArrowheads="1" noTextEdit="1"/>
          </p:cNvSpPr>
          <p:nvPr>
            <p:ph type="sldImg"/>
          </p:nvPr>
        </p:nvSpPr>
        <p:spPr>
          <a:solidFill>
            <a:srgbClr val="FFFFFF"/>
          </a:solidFill>
          <a:ln/>
        </p:spPr>
      </p:sp>
      <p:sp>
        <p:nvSpPr>
          <p:cNvPr id="49156"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The DSA is based on the difficulty of computing discrete logarithms (see Chapter 8) and is based on schemes originally presented by ElGamal [ELGA85] and Schnorr [SCHN91]. </a:t>
            </a:r>
            <a:r>
              <a:rPr lang="en-AU">
                <a:latin typeface="Arial" pitchFamily="34" charset="0"/>
                <a:cs typeface="Arial" pitchFamily="34" charset="0"/>
              </a:rPr>
              <a:t>The DSA signature scheme has advantages, being both smaller (320 vs 1024bit) and faster (much of the computation is done modulo a 160 bit number), over RSA. </a:t>
            </a:r>
            <a:r>
              <a:rPr lang="en-US">
                <a:latin typeface="Arial" pitchFamily="34" charset="0"/>
                <a:cs typeface="Arial" pitchFamily="34" charset="0"/>
              </a:rPr>
              <a:t>Unlike RSA, it cannot be used for encryption or key exchange. Nevertheless, it is a public-key technique</a:t>
            </a:r>
            <a:endParaRPr lang="en-AU">
              <a:latin typeface="Arial" pitchFamily="34" charset="0"/>
              <a:cs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CA40D069-9F6D-4F1B-85C4-70A58F2E640B}" type="slidenum">
              <a:rPr lang="en-AU"/>
              <a:pPr/>
              <a:t>9</a:t>
            </a:fld>
            <a:endParaRPr lang="en-AU"/>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r>
              <a:rPr lang="en-US">
                <a:latin typeface="Arial" pitchFamily="34" charset="0"/>
              </a:rPr>
              <a:t>Chapter 13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F52183-0F10-482F-A008-88C859539C24}" type="datetimeFigureOut">
              <a:rPr lang="en-US" smtClean="0"/>
              <a:pPr/>
              <a:t>11/24/2020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3C8417-55E2-4D73-B9D1-0236301837F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52183-0F10-482F-A008-88C859539C24}" type="datetimeFigureOut">
              <a:rPr lang="en-US" smtClean="0"/>
              <a:pPr/>
              <a:t>11/24/2020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3C8417-55E2-4D73-B9D1-0236301837F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2706" name="Rectangle 1026"/>
          <p:cNvSpPr>
            <a:spLocks noGrp="1" noChangeArrowheads="1"/>
          </p:cNvSpPr>
          <p:nvPr>
            <p:ph type="ctrTitle"/>
          </p:nvPr>
        </p:nvSpPr>
        <p:spPr>
          <a:xfrm>
            <a:off x="582930" y="731519"/>
            <a:ext cx="2133893" cy="3237579"/>
          </a:xfrm>
        </p:spPr>
        <p:txBody>
          <a:bodyPr vert="horz" lIns="91440" tIns="45720" rIns="91440" bIns="45720" rtlCol="0" anchor="ctr">
            <a:normAutofit/>
          </a:bodyPr>
          <a:lstStyle/>
          <a:p>
            <a:pPr algn="l">
              <a:lnSpc>
                <a:spcPct val="90000"/>
              </a:lnSpc>
            </a:pPr>
            <a:r>
              <a:rPr lang="en-US" sz="2800" kern="1200" dirty="0">
                <a:solidFill>
                  <a:srgbClr val="FFFFFF"/>
                </a:solidFill>
                <a:latin typeface="+mj-lt"/>
                <a:ea typeface="+mj-ea"/>
                <a:cs typeface="+mj-cs"/>
              </a:rPr>
              <a:t>Cryptography and Network Security</a:t>
            </a:r>
            <a:br>
              <a:rPr lang="en-US" sz="2800" kern="1200" dirty="0">
                <a:solidFill>
                  <a:srgbClr val="FFFFFF"/>
                </a:solidFill>
                <a:latin typeface="+mj-lt"/>
                <a:ea typeface="+mj-ea"/>
                <a:cs typeface="+mj-cs"/>
              </a:rPr>
            </a:br>
            <a:r>
              <a:rPr lang="en-US" sz="2800" kern="1200" dirty="0">
                <a:solidFill>
                  <a:srgbClr val="FFFFFF"/>
                </a:solidFill>
                <a:latin typeface="+mj-lt"/>
                <a:ea typeface="+mj-ea"/>
                <a:cs typeface="+mj-cs"/>
              </a:rPr>
              <a:t>Chapter 13</a:t>
            </a:r>
          </a:p>
        </p:txBody>
      </p:sp>
      <p:sp>
        <p:nvSpPr>
          <p:cNvPr id="74" name="Rectangle 7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6" name="Rectangle 7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72F2E1E-2A80-43EA-B3E7-9E98E7F9970F}"/>
              </a:ext>
            </a:extLst>
          </p:cNvPr>
          <p:cNvSpPr txBox="1"/>
          <p:nvPr/>
        </p:nvSpPr>
        <p:spPr>
          <a:xfrm>
            <a:off x="547895" y="4878238"/>
            <a:ext cx="2118666" cy="1200329"/>
          </a:xfrm>
          <a:prstGeom prst="rect">
            <a:avLst/>
          </a:prstGeom>
          <a:noFill/>
        </p:spPr>
        <p:txBody>
          <a:bodyPr wrap="square">
            <a:spAutoFit/>
          </a:bodyPr>
          <a:lstStyle/>
          <a:p>
            <a:pPr indent="-228600" algn="l">
              <a:lnSpc>
                <a:spcPct val="90000"/>
              </a:lnSpc>
              <a:buFont typeface="Arial" panose="020B0604020202020204" pitchFamily="34" charset="0"/>
              <a:buChar char="•"/>
            </a:pPr>
            <a:r>
              <a:rPr lang="en-US" sz="1600" dirty="0">
                <a:solidFill>
                  <a:schemeClr val="bg1"/>
                </a:solidFill>
              </a:rPr>
              <a:t>Fifth Edition</a:t>
            </a:r>
          </a:p>
          <a:p>
            <a:pPr indent="228600" algn="l">
              <a:lnSpc>
                <a:spcPct val="90000"/>
              </a:lnSpc>
            </a:pPr>
            <a:r>
              <a:rPr lang="en-US" sz="1600" dirty="0">
                <a:solidFill>
                  <a:schemeClr val="bg1"/>
                </a:solidFill>
              </a:rPr>
              <a:t>by William Stallings	</a:t>
            </a:r>
          </a:p>
          <a:p>
            <a:pPr indent="-228600" algn="l">
              <a:lnSpc>
                <a:spcPct val="90000"/>
              </a:lnSpc>
              <a:buFont typeface="Arial" panose="020B0604020202020204" pitchFamily="34" charset="0"/>
              <a:buChar char="•"/>
            </a:pPr>
            <a:endParaRPr lang="en-US" sz="1600" dirty="0">
              <a:solidFill>
                <a:schemeClr val="bg1"/>
              </a:solidFill>
            </a:endParaRPr>
          </a:p>
          <a:p>
            <a:pPr indent="-228600" algn="l">
              <a:lnSpc>
                <a:spcPct val="90000"/>
              </a:lnSpc>
              <a:buFont typeface="Arial" panose="020B0604020202020204" pitchFamily="34" charset="0"/>
              <a:buChar char="•"/>
            </a:pPr>
            <a:r>
              <a:rPr lang="en-US" sz="1600" dirty="0">
                <a:solidFill>
                  <a:schemeClr val="bg1"/>
                </a:solidFill>
              </a:rPr>
              <a:t>Lecture slides by</a:t>
            </a:r>
          </a:p>
          <a:p>
            <a:pPr indent="228600" algn="l">
              <a:lnSpc>
                <a:spcPct val="90000"/>
              </a:lnSpc>
            </a:pPr>
            <a:r>
              <a:rPr lang="en-US" sz="1600" dirty="0">
                <a:solidFill>
                  <a:schemeClr val="bg1"/>
                </a:solidFill>
              </a:rPr>
              <a:t>Lawrie Brown</a:t>
            </a:r>
          </a:p>
        </p:txBody>
      </p:sp>
      <p:sp>
        <p:nvSpPr>
          <p:cNvPr id="9" name="Rectangle 3">
            <a:extLst>
              <a:ext uri="{FF2B5EF4-FFF2-40B4-BE49-F238E27FC236}">
                <a16:creationId xmlns:a16="http://schemas.microsoft.com/office/drawing/2014/main" id="{77D0B7EE-EEE3-49BD-8049-75FFAC14A38A}"/>
              </a:ext>
            </a:extLst>
          </p:cNvPr>
          <p:cNvSpPr>
            <a:spLocks noGrp="1" noChangeArrowheads="1"/>
          </p:cNvSpPr>
          <p:nvPr>
            <p:ph type="subTitle" idx="1"/>
          </p:nvPr>
        </p:nvSpPr>
        <p:spPr>
          <a:xfrm>
            <a:off x="3284781" y="686862"/>
            <a:ext cx="5278194" cy="5475129"/>
          </a:xfrm>
        </p:spPr>
        <p:txBody>
          <a:bodyPr vert="horz" lIns="91440" tIns="45720" rIns="91440" bIns="45720" rtlCol="0" anchor="ctr">
            <a:normAutofit/>
          </a:bodyPr>
          <a:lstStyle/>
          <a:p>
            <a:pPr>
              <a:lnSpc>
                <a:spcPct val="90000"/>
              </a:lnSpc>
            </a:pPr>
            <a:endParaRPr lang="en-US" sz="3600" dirty="0">
              <a:solidFill>
                <a:schemeClr val="tx1"/>
              </a:solidFill>
              <a:ea typeface="ＭＳ Ｐゴシック" pitchFamily="-107" charset="-128"/>
            </a:endParaRPr>
          </a:p>
          <a:p>
            <a:pPr>
              <a:lnSpc>
                <a:spcPct val="90000"/>
              </a:lnSpc>
            </a:pPr>
            <a:r>
              <a:rPr lang="en-US" sz="3600" dirty="0">
                <a:solidFill>
                  <a:schemeClr val="tx1"/>
                </a:solidFill>
                <a:ea typeface="ＭＳ Ｐゴシック" pitchFamily="-107" charset="-128"/>
              </a:rPr>
              <a:t>Digital Signatures</a:t>
            </a:r>
          </a:p>
          <a:p>
            <a:pPr>
              <a:lnSpc>
                <a:spcPct val="90000"/>
              </a:lnSpc>
            </a:pPr>
            <a:endParaRPr lang="en-US" sz="3600" dirty="0">
              <a:solidFill>
                <a:schemeClr val="tx1"/>
              </a:solidFill>
              <a:ea typeface="ＭＳ Ｐゴシック" pitchFamily="-107" charset="-128"/>
            </a:endParaRPr>
          </a:p>
          <a:p>
            <a:pPr>
              <a:spcBef>
                <a:spcPts val="0"/>
              </a:spcBef>
            </a:pPr>
            <a:r>
              <a:rPr lang="en-US" sz="2400" dirty="0">
                <a:solidFill>
                  <a:schemeClr val="tx1"/>
                </a:solidFill>
              </a:rPr>
              <a:t>Arabic Language Audio Comments by</a:t>
            </a:r>
          </a:p>
          <a:p>
            <a:pPr>
              <a:spcBef>
                <a:spcPts val="0"/>
              </a:spcBef>
            </a:pPr>
            <a:r>
              <a:rPr lang="en-US" sz="2400" dirty="0">
                <a:solidFill>
                  <a:schemeClr val="tx1"/>
                </a:solidFill>
              </a:rPr>
              <a:t>Prof. Mohamed Ashraf Madkour</a:t>
            </a:r>
          </a:p>
          <a:p>
            <a:pPr>
              <a:lnSpc>
                <a:spcPct val="90000"/>
              </a:lnSpc>
            </a:pPr>
            <a:endParaRPr lang="en-US" sz="36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dirty="0">
                <a:solidFill>
                  <a:srgbClr val="FFFFFF"/>
                </a:solidFill>
                <a:ea typeface="ＭＳ Ｐゴシック" pitchFamily="-107" charset="-128"/>
                <a:cs typeface="ＭＳ Ｐゴシック" pitchFamily="-107" charset="-128"/>
              </a:rPr>
              <a:t>Overview of Digital Signatures</a:t>
            </a:r>
          </a:p>
        </p:txBody>
      </p:sp>
      <p:sp>
        <p:nvSpPr>
          <p:cNvPr id="10" name="Rectangle 3">
            <a:extLst>
              <a:ext uri="{FF2B5EF4-FFF2-40B4-BE49-F238E27FC236}">
                <a16:creationId xmlns:a16="http://schemas.microsoft.com/office/drawing/2014/main" id="{D433FF51-8E3E-4D04-B474-CD4853818382}"/>
              </a:ext>
            </a:extLst>
          </p:cNvPr>
          <p:cNvSpPr txBox="1">
            <a:spLocks noChangeArrowheads="1"/>
          </p:cNvSpPr>
          <p:nvPr/>
        </p:nvSpPr>
        <p:spPr>
          <a:xfrm>
            <a:off x="1295400" y="2873376"/>
            <a:ext cx="8229600" cy="32884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 typeface="Wingdings" panose="05000000000000000000" pitchFamily="2" charset="2"/>
              <a:buChar char="Ø"/>
            </a:pPr>
            <a:r>
              <a:rPr lang="en-US" sz="2400" dirty="0"/>
              <a:t>have looked at </a:t>
            </a:r>
            <a:r>
              <a:rPr lang="en-AU" sz="2400" dirty="0"/>
              <a:t>message authentication </a:t>
            </a:r>
          </a:p>
          <a:p>
            <a:pPr lvl="1">
              <a:lnSpc>
                <a:spcPct val="90000"/>
              </a:lnSpc>
              <a:buFont typeface="Arial" panose="020B0604020202020204" pitchFamily="34" charset="0"/>
              <a:buChar char="•"/>
            </a:pPr>
            <a:r>
              <a:rPr lang="en-AU" sz="2400" dirty="0">
                <a:ea typeface="ＭＳ Ｐゴシック" pitchFamily="-107" charset="-128"/>
              </a:rPr>
              <a:t>but does not address </a:t>
            </a:r>
            <a:r>
              <a:rPr lang="en-AU" sz="2400" dirty="0">
                <a:solidFill>
                  <a:srgbClr val="FF0000"/>
                </a:solidFill>
                <a:ea typeface="ＭＳ Ｐゴシック" pitchFamily="-107" charset="-128"/>
              </a:rPr>
              <a:t>issues of lack of trust</a:t>
            </a:r>
          </a:p>
          <a:p>
            <a:pPr>
              <a:lnSpc>
                <a:spcPct val="90000"/>
              </a:lnSpc>
              <a:buFont typeface="Wingdings" panose="05000000000000000000" pitchFamily="2" charset="2"/>
              <a:buChar char="Ø"/>
            </a:pPr>
            <a:r>
              <a:rPr lang="en-AU" sz="2400" dirty="0"/>
              <a:t>digital signatures provide the ability to: </a:t>
            </a:r>
          </a:p>
          <a:p>
            <a:pPr lvl="1">
              <a:lnSpc>
                <a:spcPct val="90000"/>
              </a:lnSpc>
              <a:buFont typeface="Arial" panose="020B0604020202020204" pitchFamily="34" charset="0"/>
              <a:buChar char="•"/>
            </a:pPr>
            <a:r>
              <a:rPr lang="en-AU" sz="2400" dirty="0">
                <a:ea typeface="ＭＳ Ｐゴシック" pitchFamily="-107" charset="-128"/>
              </a:rPr>
              <a:t>verify author, date &amp; time of signature</a:t>
            </a:r>
          </a:p>
          <a:p>
            <a:pPr lvl="1">
              <a:lnSpc>
                <a:spcPct val="90000"/>
              </a:lnSpc>
              <a:buFont typeface="Arial" panose="020B0604020202020204" pitchFamily="34" charset="0"/>
              <a:buChar char="•"/>
            </a:pPr>
            <a:r>
              <a:rPr lang="en-AU" sz="2400" dirty="0">
                <a:ea typeface="ＭＳ Ｐゴシック" pitchFamily="-107" charset="-128"/>
              </a:rPr>
              <a:t>authenticate message contents </a:t>
            </a:r>
          </a:p>
          <a:p>
            <a:pPr lvl="1">
              <a:lnSpc>
                <a:spcPct val="90000"/>
              </a:lnSpc>
              <a:buFont typeface="Arial" panose="020B0604020202020204" pitchFamily="34" charset="0"/>
              <a:buChar char="•"/>
            </a:pPr>
            <a:r>
              <a:rPr lang="en-AU" sz="2400" dirty="0">
                <a:ea typeface="ＭＳ Ｐゴシック" pitchFamily="-107" charset="-128"/>
              </a:rPr>
              <a:t>be verified by third parties to resolve disputes</a:t>
            </a:r>
          </a:p>
          <a:p>
            <a:pPr>
              <a:lnSpc>
                <a:spcPct val="90000"/>
              </a:lnSpc>
              <a:buFont typeface="Wingdings" panose="05000000000000000000" pitchFamily="2" charset="2"/>
              <a:buChar char="Ø"/>
            </a:pPr>
            <a:r>
              <a:rPr lang="en-US" sz="2400" dirty="0"/>
              <a:t>hence include authentication function with additional capabilities</a:t>
            </a:r>
            <a:endParaRPr lang="en-AU" sz="2400" dirty="0"/>
          </a:p>
          <a:p>
            <a:pPr>
              <a:lnSpc>
                <a:spcPct val="90000"/>
              </a:lnSpc>
            </a:pPr>
            <a:endParaRPr lang="en-A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dirty="0">
                <a:solidFill>
                  <a:srgbClr val="FFFFFF"/>
                </a:solidFill>
                <a:ea typeface="ＭＳ Ｐゴシック" pitchFamily="-107" charset="-128"/>
                <a:cs typeface="ＭＳ Ｐゴシック" pitchFamily="-107" charset="-128"/>
              </a:rPr>
              <a:t>Digital Signature Model</a:t>
            </a:r>
            <a:br>
              <a:rPr lang="en-AU" sz="3500" dirty="0">
                <a:solidFill>
                  <a:srgbClr val="FFFFFF"/>
                </a:solidFill>
                <a:ea typeface="ＭＳ Ｐゴシック" pitchFamily="-107" charset="-128"/>
                <a:cs typeface="ＭＳ Ｐゴシック" pitchFamily="-107" charset="-128"/>
              </a:rPr>
            </a:br>
            <a:endParaRPr lang="en-AU" sz="3500" dirty="0">
              <a:solidFill>
                <a:srgbClr val="FFFFFF"/>
              </a:solidFill>
              <a:ea typeface="ＭＳ Ｐゴシック" pitchFamily="-107" charset="-128"/>
              <a:cs typeface="ＭＳ Ｐゴシック" pitchFamily="-107" charset="-128"/>
            </a:endParaRPr>
          </a:p>
        </p:txBody>
      </p:sp>
      <p:pic>
        <p:nvPicPr>
          <p:cNvPr id="11" name="Picture 3">
            <a:extLst>
              <a:ext uri="{FF2B5EF4-FFF2-40B4-BE49-F238E27FC236}">
                <a16:creationId xmlns:a16="http://schemas.microsoft.com/office/drawing/2014/main" id="{0FE10F9B-E2B2-4E49-A2CC-E7E4CB886BDC}"/>
              </a:ext>
            </a:extLst>
          </p:cNvPr>
          <p:cNvPicPr>
            <a:picLocks noChangeAspect="1"/>
          </p:cNvPicPr>
          <p:nvPr/>
        </p:nvPicPr>
        <p:blipFill>
          <a:blip r:embed="rId3" cstate="print"/>
          <a:srcRect/>
          <a:stretch>
            <a:fillRect/>
          </a:stretch>
        </p:blipFill>
        <p:spPr bwMode="auto">
          <a:xfrm>
            <a:off x="1664940" y="1447800"/>
            <a:ext cx="5755432" cy="5337329"/>
          </a:xfrm>
          <a:prstGeom prst="rect">
            <a:avLst/>
          </a:prstGeom>
          <a:noFill/>
          <a:ln w="9525">
            <a:noFill/>
            <a:miter lim="800000"/>
            <a:headEnd/>
            <a:tailEnd/>
          </a:ln>
        </p:spPr>
      </p:pic>
    </p:spTree>
    <p:extLst>
      <p:ext uri="{BB962C8B-B14F-4D97-AF65-F5344CB8AC3E}">
        <p14:creationId xmlns:p14="http://schemas.microsoft.com/office/powerpoint/2010/main" val="3980580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082"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dirty="0">
                <a:solidFill>
                  <a:srgbClr val="FFFFFF"/>
                </a:solidFill>
                <a:ea typeface="ＭＳ Ｐゴシック" pitchFamily="-107" charset="-128"/>
                <a:cs typeface="ＭＳ Ｐゴシック" pitchFamily="-107" charset="-128"/>
              </a:rPr>
              <a:t>Digital Signature Requirements</a:t>
            </a:r>
          </a:p>
        </p:txBody>
      </p:sp>
      <p:sp>
        <p:nvSpPr>
          <p:cNvPr id="10" name="Rectangle 3">
            <a:extLst>
              <a:ext uri="{FF2B5EF4-FFF2-40B4-BE49-F238E27FC236}">
                <a16:creationId xmlns:a16="http://schemas.microsoft.com/office/drawing/2014/main" id="{8DCB21C2-95B9-409F-B31D-08EE4E6BBD2B}"/>
              </a:ext>
            </a:extLst>
          </p:cNvPr>
          <p:cNvSpPr txBox="1">
            <a:spLocks noChangeArrowheads="1"/>
          </p:cNvSpPr>
          <p:nvPr/>
        </p:nvSpPr>
        <p:spPr>
          <a:xfrm>
            <a:off x="1524000" y="2542752"/>
            <a:ext cx="8229600" cy="34004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107" charset="2"/>
              <a:buChar char="Ø"/>
              <a:defRPr/>
            </a:pPr>
            <a:r>
              <a:rPr lang="en-AU" sz="2000" dirty="0"/>
              <a:t>must depend on the message signed</a:t>
            </a:r>
          </a:p>
          <a:p>
            <a:pPr>
              <a:buFont typeface="Wingdings" pitchFamily="-107" charset="2"/>
              <a:buChar char="Ø"/>
              <a:defRPr/>
            </a:pPr>
            <a:r>
              <a:rPr lang="en-AU" sz="2000" dirty="0"/>
              <a:t>must use information unique to sender</a:t>
            </a:r>
          </a:p>
          <a:p>
            <a:pPr lvl="1">
              <a:buFont typeface="Arial" panose="020B0604020202020204" pitchFamily="34" charset="0"/>
              <a:buChar char="•"/>
              <a:defRPr/>
            </a:pPr>
            <a:r>
              <a:rPr lang="en-AU" sz="2000" dirty="0">
                <a:ea typeface="ＭＳ Ｐゴシック" pitchFamily="-107" charset="-128"/>
              </a:rPr>
              <a:t>to prevent both forgery and denial</a:t>
            </a:r>
          </a:p>
          <a:p>
            <a:pPr>
              <a:buFont typeface="Wingdings" pitchFamily="-107" charset="2"/>
              <a:buChar char="Ø"/>
              <a:defRPr/>
            </a:pPr>
            <a:r>
              <a:rPr lang="en-AU" sz="2000" dirty="0"/>
              <a:t>must be relatively easy to produce</a:t>
            </a:r>
          </a:p>
          <a:p>
            <a:pPr>
              <a:buFont typeface="Wingdings" pitchFamily="-107" charset="2"/>
              <a:buChar char="Ø"/>
              <a:defRPr/>
            </a:pPr>
            <a:r>
              <a:rPr lang="en-AU" sz="2000" dirty="0"/>
              <a:t>must be relatively easy to recognize &amp; verify</a:t>
            </a:r>
          </a:p>
          <a:p>
            <a:pPr>
              <a:buFont typeface="Wingdings" pitchFamily="-107" charset="2"/>
              <a:buChar char="Ø"/>
              <a:defRPr/>
            </a:pPr>
            <a:r>
              <a:rPr lang="en-AU" sz="2000" dirty="0"/>
              <a:t>be computationally infeasible to forge </a:t>
            </a:r>
          </a:p>
          <a:p>
            <a:pPr lvl="1">
              <a:buFont typeface="Arial" panose="020B0604020202020204" pitchFamily="34" charset="0"/>
              <a:buChar char="•"/>
              <a:defRPr/>
            </a:pPr>
            <a:r>
              <a:rPr lang="en-AU" sz="2000" dirty="0">
                <a:ea typeface="ＭＳ Ｐゴシック" pitchFamily="-107" charset="-128"/>
              </a:rPr>
              <a:t>with new message for existing digital signature</a:t>
            </a:r>
          </a:p>
          <a:p>
            <a:pPr lvl="1">
              <a:buFont typeface="Arial" panose="020B0604020202020204" pitchFamily="34" charset="0"/>
              <a:buChar char="•"/>
              <a:defRPr/>
            </a:pPr>
            <a:r>
              <a:rPr lang="en-AU" sz="2000" dirty="0">
                <a:ea typeface="ＭＳ Ｐゴシック" pitchFamily="-107" charset="-128"/>
              </a:rPr>
              <a:t>with fraudulent digital signature for given message</a:t>
            </a:r>
          </a:p>
          <a:p>
            <a:pPr>
              <a:buFont typeface="Wingdings" pitchFamily="-107" charset="2"/>
              <a:buChar char="Ø"/>
              <a:defRPr/>
            </a:pPr>
            <a:r>
              <a:rPr lang="en-AU" sz="2000" dirty="0"/>
              <a:t>be practical save digital signature in storage</a:t>
            </a:r>
          </a:p>
        </p:txBody>
      </p:sp>
    </p:spTree>
    <p:extLst>
      <p:ext uri="{BB962C8B-B14F-4D97-AF65-F5344CB8AC3E}">
        <p14:creationId xmlns:p14="http://schemas.microsoft.com/office/powerpoint/2010/main" val="3838669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8130"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Direct Digital Signatures</a:t>
            </a:r>
            <a:endParaRPr lang="en-AU" sz="3500">
              <a:solidFill>
                <a:srgbClr val="FFFFFF"/>
              </a:solidFill>
            </a:endParaRPr>
          </a:p>
        </p:txBody>
      </p:sp>
      <p:sp>
        <p:nvSpPr>
          <p:cNvPr id="48131" name="Rectangle 3"/>
          <p:cNvSpPr>
            <a:spLocks noGrp="1" noChangeArrowheads="1"/>
          </p:cNvSpPr>
          <p:nvPr>
            <p:ph type="body" idx="1"/>
          </p:nvPr>
        </p:nvSpPr>
        <p:spPr>
          <a:xfrm>
            <a:off x="1025718" y="2490436"/>
            <a:ext cx="7281746" cy="3567173"/>
          </a:xfrm>
        </p:spPr>
        <p:txBody>
          <a:bodyPr anchor="ctr">
            <a:normAutofit/>
          </a:bodyPr>
          <a:lstStyle/>
          <a:p>
            <a:pPr marL="512763" indent="-512763" eaLnBrk="1" hangingPunct="1">
              <a:buFont typeface="Wingdings" panose="05000000000000000000" pitchFamily="2" charset="2"/>
              <a:buChar char="Ø"/>
            </a:pPr>
            <a:r>
              <a:rPr lang="en-US" sz="2100" dirty="0"/>
              <a:t>involve only sender &amp; receiver</a:t>
            </a:r>
          </a:p>
          <a:p>
            <a:pPr marL="512763" indent="-512763" eaLnBrk="1" hangingPunct="1">
              <a:buFont typeface="Wingdings" panose="05000000000000000000" pitchFamily="2" charset="2"/>
              <a:buChar char="Ø"/>
            </a:pPr>
            <a:r>
              <a:rPr lang="en-US" sz="2100" dirty="0"/>
              <a:t>assumed receiver has sender’s public-key</a:t>
            </a:r>
          </a:p>
          <a:p>
            <a:pPr marL="512763" indent="-512763" eaLnBrk="1" hangingPunct="1">
              <a:buFont typeface="Wingdings" panose="05000000000000000000" pitchFamily="2" charset="2"/>
              <a:buChar char="Ø"/>
            </a:pPr>
            <a:r>
              <a:rPr lang="en-US" sz="2100" dirty="0"/>
              <a:t>digital signature made by sender signing entire message or hash with private-key</a:t>
            </a:r>
          </a:p>
          <a:p>
            <a:pPr marL="512763" indent="-512763" eaLnBrk="1" hangingPunct="1">
              <a:buFont typeface="Wingdings" panose="05000000000000000000" pitchFamily="2" charset="2"/>
              <a:buChar char="Ø"/>
            </a:pPr>
            <a:r>
              <a:rPr lang="en-US" sz="2100" dirty="0"/>
              <a:t>can encrypt using receiver's public-key</a:t>
            </a:r>
          </a:p>
          <a:p>
            <a:pPr marL="512763" indent="-512763" eaLnBrk="1" hangingPunct="1">
              <a:buFont typeface="Wingdings" panose="05000000000000000000" pitchFamily="2" charset="2"/>
              <a:buChar char="Ø"/>
            </a:pPr>
            <a:r>
              <a:rPr lang="en-US" sz="2100" dirty="0"/>
              <a:t>important that sign first then encrypt message &amp; signature</a:t>
            </a:r>
          </a:p>
          <a:p>
            <a:pPr marL="512763" indent="-512763" eaLnBrk="1" hangingPunct="1">
              <a:buFont typeface="Wingdings" panose="05000000000000000000" pitchFamily="2" charset="2"/>
              <a:buChar char="Ø"/>
            </a:pPr>
            <a:r>
              <a:rPr lang="en-US" sz="2100" dirty="0"/>
              <a:t>security depends on sender’s private-key</a:t>
            </a:r>
            <a:endParaRPr lang="en-AU"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4514"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rPr>
              <a:t>Digital Signature </a:t>
            </a:r>
            <a:r>
              <a:rPr lang="en-US" sz="3500">
                <a:solidFill>
                  <a:srgbClr val="FFFFFF"/>
                </a:solidFill>
              </a:rPr>
              <a:t>Standard </a:t>
            </a:r>
            <a:r>
              <a:rPr lang="en-AU" sz="3500">
                <a:solidFill>
                  <a:srgbClr val="FFFFFF"/>
                </a:solidFill>
              </a:rPr>
              <a:t>(DSS)</a:t>
            </a:r>
          </a:p>
        </p:txBody>
      </p:sp>
      <p:sp>
        <p:nvSpPr>
          <p:cNvPr id="64515" name="Rectangle 3"/>
          <p:cNvSpPr>
            <a:spLocks noGrp="1" noChangeArrowheads="1"/>
          </p:cNvSpPr>
          <p:nvPr>
            <p:ph type="body" idx="1"/>
          </p:nvPr>
        </p:nvSpPr>
        <p:spPr>
          <a:xfrm>
            <a:off x="1025718" y="2490436"/>
            <a:ext cx="7281746" cy="3567173"/>
          </a:xfrm>
        </p:spPr>
        <p:txBody>
          <a:bodyPr anchor="ctr">
            <a:normAutofit/>
          </a:bodyPr>
          <a:lstStyle/>
          <a:p>
            <a:pPr marL="457200" indent="-457200" eaLnBrk="1" hangingPunct="1">
              <a:lnSpc>
                <a:spcPct val="90000"/>
              </a:lnSpc>
              <a:buFont typeface="Wingdings" panose="05000000000000000000" pitchFamily="2" charset="2"/>
              <a:buChar char="Ø"/>
            </a:pPr>
            <a:r>
              <a:rPr lang="en-AU" sz="2100" dirty="0"/>
              <a:t>US Government approved the DSS signature scheme designed by NIST &amp; NSA in early 90's </a:t>
            </a:r>
          </a:p>
          <a:p>
            <a:pPr marL="457200" indent="-457200" eaLnBrk="1" hangingPunct="1">
              <a:lnSpc>
                <a:spcPct val="90000"/>
              </a:lnSpc>
              <a:buFont typeface="Wingdings" panose="05000000000000000000" pitchFamily="2" charset="2"/>
              <a:buChar char="Ø"/>
            </a:pPr>
            <a:r>
              <a:rPr lang="en-AU" sz="2100" dirty="0"/>
              <a:t>published as FIPS-186 in 1991 and revised in 1993, 1996 &amp; then 2000</a:t>
            </a:r>
          </a:p>
          <a:p>
            <a:pPr marL="457200" indent="-457200" eaLnBrk="1" hangingPunct="1">
              <a:lnSpc>
                <a:spcPct val="90000"/>
              </a:lnSpc>
              <a:buFont typeface="Wingdings" panose="05000000000000000000" pitchFamily="2" charset="2"/>
              <a:buChar char="Ø"/>
            </a:pPr>
            <a:r>
              <a:rPr lang="en-AU" sz="2100" dirty="0"/>
              <a:t>uses the SHA hash algorithm </a:t>
            </a:r>
          </a:p>
          <a:p>
            <a:pPr marL="457200" indent="-457200" eaLnBrk="1" hangingPunct="1">
              <a:lnSpc>
                <a:spcPct val="90000"/>
              </a:lnSpc>
              <a:buFont typeface="Wingdings" panose="05000000000000000000" pitchFamily="2" charset="2"/>
              <a:buChar char="Ø"/>
            </a:pPr>
            <a:r>
              <a:rPr lang="en-AU" sz="2100" dirty="0"/>
              <a:t>DSS is the standard, DSA is the algorithm</a:t>
            </a:r>
          </a:p>
          <a:p>
            <a:pPr marL="457200" indent="-457200" eaLnBrk="1" hangingPunct="1">
              <a:lnSpc>
                <a:spcPct val="90000"/>
              </a:lnSpc>
              <a:buFont typeface="Wingdings" panose="05000000000000000000" pitchFamily="2" charset="2"/>
              <a:buChar char="Ø"/>
            </a:pPr>
            <a:r>
              <a:rPr lang="en-AU" sz="2100" dirty="0"/>
              <a:t>FIPS 186-2 (2000) includes alternative RSA &amp; elliptic curve signature variants</a:t>
            </a:r>
          </a:p>
          <a:p>
            <a:pPr marL="457200" indent="-457200" eaLnBrk="1" hangingPunct="1">
              <a:lnSpc>
                <a:spcPct val="90000"/>
              </a:lnSpc>
              <a:buFont typeface="Wingdings" panose="05000000000000000000" pitchFamily="2" charset="2"/>
              <a:buChar char="Ø"/>
            </a:pPr>
            <a:r>
              <a:rPr lang="en-AU" sz="2100" dirty="0"/>
              <a:t>DSA is digital signature only unlike RSA which is </a:t>
            </a:r>
            <a:r>
              <a:rPr lang="en-US" sz="2100" dirty="0"/>
              <a:t>a public-key technique</a:t>
            </a:r>
            <a:endParaRPr lang="en-AU" sz="2100" dirty="0"/>
          </a:p>
          <a:p>
            <a:pPr eaLnBrk="1" hangingPunct="1">
              <a:lnSpc>
                <a:spcPct val="90000"/>
              </a:lnSpc>
              <a:buFont typeface="Wingdings" pitchFamily="2" charset="2"/>
              <a:buNone/>
            </a:pPr>
            <a:endParaRPr lang="en-AU"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4514"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US" sz="3600" dirty="0">
                <a:solidFill>
                  <a:schemeClr val="bg1"/>
                </a:solidFill>
              </a:rPr>
              <a:t>DSS vs RSA Signatures</a:t>
            </a:r>
            <a:endParaRPr lang="en-AU" sz="3500" dirty="0">
              <a:solidFill>
                <a:schemeClr val="bg1"/>
              </a:solidFill>
            </a:endParaRPr>
          </a:p>
        </p:txBody>
      </p:sp>
      <p:pic>
        <p:nvPicPr>
          <p:cNvPr id="12" name="Picture 3">
            <a:extLst>
              <a:ext uri="{FF2B5EF4-FFF2-40B4-BE49-F238E27FC236}">
                <a16:creationId xmlns:a16="http://schemas.microsoft.com/office/drawing/2014/main" id="{C3F097FB-A35B-41C2-A9E2-8CEAB9F2546C}"/>
              </a:ext>
            </a:extLst>
          </p:cNvPr>
          <p:cNvPicPr>
            <a:picLocks noChangeAspect="1"/>
          </p:cNvPicPr>
          <p:nvPr/>
        </p:nvPicPr>
        <p:blipFill>
          <a:blip r:embed="rId3" cstate="print"/>
          <a:srcRect/>
          <a:stretch>
            <a:fillRect/>
          </a:stretch>
        </p:blipFill>
        <p:spPr bwMode="auto">
          <a:xfrm>
            <a:off x="1146772" y="2209827"/>
            <a:ext cx="7040839" cy="4597646"/>
          </a:xfrm>
          <a:prstGeom prst="rect">
            <a:avLst/>
          </a:prstGeom>
          <a:noFill/>
          <a:ln w="9525">
            <a:noFill/>
            <a:miter lim="800000"/>
            <a:headEnd/>
            <a:tailEnd/>
          </a:ln>
        </p:spPr>
      </p:pic>
    </p:spTree>
    <p:extLst>
      <p:ext uri="{BB962C8B-B14F-4D97-AF65-F5344CB8AC3E}">
        <p14:creationId xmlns:p14="http://schemas.microsoft.com/office/powerpoint/2010/main" val="688683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8066"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rPr>
              <a:t>Digital Signature </a:t>
            </a:r>
            <a:r>
              <a:rPr lang="en-US" sz="3500">
                <a:solidFill>
                  <a:srgbClr val="FFFFFF"/>
                </a:solidFill>
              </a:rPr>
              <a:t>Algorithm </a:t>
            </a:r>
            <a:r>
              <a:rPr lang="en-AU" sz="3500">
                <a:solidFill>
                  <a:srgbClr val="FFFFFF"/>
                </a:solidFill>
              </a:rPr>
              <a:t>(DSA)</a:t>
            </a:r>
          </a:p>
        </p:txBody>
      </p:sp>
      <p:sp>
        <p:nvSpPr>
          <p:cNvPr id="88067" name="Rectangle 3"/>
          <p:cNvSpPr>
            <a:spLocks noGrp="1" noChangeArrowheads="1"/>
          </p:cNvSpPr>
          <p:nvPr>
            <p:ph type="body" idx="1"/>
          </p:nvPr>
        </p:nvSpPr>
        <p:spPr>
          <a:xfrm>
            <a:off x="1025718" y="2490436"/>
            <a:ext cx="7281746" cy="3567173"/>
          </a:xfrm>
        </p:spPr>
        <p:txBody>
          <a:bodyPr anchor="ctr">
            <a:normAutofit/>
          </a:bodyPr>
          <a:lstStyle/>
          <a:p>
            <a:pPr marL="457200" indent="-457200" eaLnBrk="1" hangingPunct="1">
              <a:buFont typeface="Wingdings" pitchFamily="-107" charset="2"/>
              <a:buChar char="Ø"/>
              <a:defRPr/>
            </a:pPr>
            <a:r>
              <a:rPr lang="en-AU" sz="2400" dirty="0"/>
              <a:t>creates a 320 bit signature</a:t>
            </a:r>
          </a:p>
          <a:p>
            <a:pPr marL="457200" indent="-457200" eaLnBrk="1" hangingPunct="1">
              <a:buFont typeface="Wingdings" pitchFamily="-107" charset="2"/>
              <a:buChar char="Ø"/>
              <a:defRPr/>
            </a:pPr>
            <a:r>
              <a:rPr lang="en-AU" sz="2400" dirty="0"/>
              <a:t>with 512-1024 bit security</a:t>
            </a:r>
          </a:p>
          <a:p>
            <a:pPr marL="457200" indent="-457200" eaLnBrk="1" hangingPunct="1">
              <a:buFont typeface="Wingdings" pitchFamily="-107" charset="2"/>
              <a:buChar char="Ø"/>
              <a:defRPr/>
            </a:pPr>
            <a:r>
              <a:rPr lang="en-AU" sz="2400" dirty="0"/>
              <a:t>smaller and faster than RSA</a:t>
            </a:r>
          </a:p>
          <a:p>
            <a:pPr marL="457200" indent="-457200" eaLnBrk="1" hangingPunct="1">
              <a:buFont typeface="Wingdings" pitchFamily="-107" charset="2"/>
              <a:buChar char="Ø"/>
              <a:defRPr/>
            </a:pPr>
            <a:r>
              <a:rPr lang="en-AU" sz="2400" dirty="0"/>
              <a:t>a digital signature scheme only</a:t>
            </a:r>
          </a:p>
          <a:p>
            <a:pPr marL="457200" indent="-457200" eaLnBrk="1" hangingPunct="1">
              <a:buFont typeface="Wingdings" pitchFamily="-107" charset="2"/>
              <a:buChar char="Ø"/>
              <a:defRPr/>
            </a:pPr>
            <a:r>
              <a:rPr lang="en-AU" sz="2400" dirty="0"/>
              <a:t>security depends on difficulty of computing discrete logarithms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5058" name="Rectangle 2"/>
          <p:cNvSpPr>
            <a:spLocks noGrp="1" noChangeArrowheads="1"/>
          </p:cNvSpPr>
          <p:nvPr>
            <p:ph type="title"/>
          </p:nvPr>
        </p:nvSpPr>
        <p:spPr>
          <a:xfrm>
            <a:off x="718879" y="800392"/>
            <a:ext cx="7698523" cy="1212102"/>
          </a:xfrm>
        </p:spPr>
        <p:txBody>
          <a:bodyPr>
            <a:normAutofit/>
          </a:bodyPr>
          <a:lstStyle/>
          <a:p>
            <a:pPr eaLnBrk="1" hangingPunct="1"/>
            <a:r>
              <a:rPr lang="en-US" sz="3500">
                <a:solidFill>
                  <a:srgbClr val="FFFFFF"/>
                </a:solidFill>
              </a:rPr>
              <a:t>Summary</a:t>
            </a:r>
            <a:endParaRPr lang="en-AU" sz="3500">
              <a:solidFill>
                <a:srgbClr val="FFFFFF"/>
              </a:solidFill>
            </a:endParaRPr>
          </a:p>
        </p:txBody>
      </p:sp>
      <p:sp>
        <p:nvSpPr>
          <p:cNvPr id="45059" name="Rectangle 3"/>
          <p:cNvSpPr>
            <a:spLocks noGrp="1" noChangeArrowheads="1"/>
          </p:cNvSpPr>
          <p:nvPr>
            <p:ph type="body" idx="1"/>
          </p:nvPr>
        </p:nvSpPr>
        <p:spPr>
          <a:xfrm>
            <a:off x="1025718" y="2490436"/>
            <a:ext cx="7281746" cy="3567173"/>
          </a:xfrm>
        </p:spPr>
        <p:txBody>
          <a:bodyPr anchor="ctr">
            <a:normAutofit/>
          </a:bodyPr>
          <a:lstStyle/>
          <a:p>
            <a:pPr eaLnBrk="1" hangingPunct="1">
              <a:buFont typeface="Wingdings" panose="05000000000000000000" pitchFamily="2" charset="2"/>
              <a:buChar char="Ø"/>
            </a:pPr>
            <a:r>
              <a:rPr lang="en-US" sz="2400" dirty="0"/>
              <a:t>have discussed:</a:t>
            </a:r>
          </a:p>
          <a:p>
            <a:pPr lvl="1" eaLnBrk="1" hangingPunct="1">
              <a:buFont typeface="Arial" panose="020B0604020202020204" pitchFamily="34" charset="0"/>
              <a:buChar char="•"/>
            </a:pPr>
            <a:r>
              <a:rPr lang="en-US" sz="2400" dirty="0">
                <a:ea typeface="ＭＳ Ｐゴシック" pitchFamily="-107" charset="-128"/>
              </a:rPr>
              <a:t>digital signatures</a:t>
            </a:r>
          </a:p>
          <a:p>
            <a:pPr lvl="1" eaLnBrk="1" hangingPunct="1">
              <a:buFont typeface="Arial" panose="020B0604020202020204" pitchFamily="34" charset="0"/>
              <a:buChar char="•"/>
            </a:pPr>
            <a:r>
              <a:rPr lang="en-US" sz="2400" dirty="0">
                <a:ea typeface="ＭＳ Ｐゴシック" pitchFamily="-107" charset="-128"/>
              </a:rPr>
              <a:t>digital signature algorithm and standard</a:t>
            </a:r>
          </a:p>
          <a:p>
            <a:pPr lvl="1" eaLnBrk="1" hangingPunct="1"/>
            <a:endParaRPr lang="en-US" sz="2100" dirty="0">
              <a:ea typeface="ＭＳ Ｐゴシック" pitchFamily="-107" charset="-128"/>
            </a:endParaRPr>
          </a:p>
          <a:p>
            <a:pPr lvl="1" eaLnBrk="1" hangingPunct="1"/>
            <a:endParaRPr lang="en-AU" sz="2100" dirty="0">
              <a:ea typeface="ＭＳ Ｐゴシック" pitchFamily="-107"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1525</Words>
  <Application>Microsoft Office PowerPoint</Application>
  <PresentationFormat>On-screen Show (4:3)</PresentationFormat>
  <Paragraphs>73</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Times-Roman</vt:lpstr>
      <vt:lpstr>Wingdings</vt:lpstr>
      <vt:lpstr>Office Theme</vt:lpstr>
      <vt:lpstr>Cryptography and Network Security Chapter 13</vt:lpstr>
      <vt:lpstr>Overview of Digital Signatures</vt:lpstr>
      <vt:lpstr>Digital Signature Model </vt:lpstr>
      <vt:lpstr>Digital Signature Requirements</vt:lpstr>
      <vt:lpstr>Direct Digital Signatures</vt:lpstr>
      <vt:lpstr>Digital Signature Standard (DSS)</vt:lpstr>
      <vt:lpstr>DSS vs RSA Signatures</vt:lpstr>
      <vt:lpstr>Digital Signature Algorithm (DSA)</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13</dc:title>
  <dc:creator>Mohamed Ashraf Madkour</dc:creator>
  <cp:lastModifiedBy>Mohamed Ashraf Madkour</cp:lastModifiedBy>
  <cp:revision>3</cp:revision>
  <dcterms:created xsi:type="dcterms:W3CDTF">2020-11-24T17:07:07Z</dcterms:created>
  <dcterms:modified xsi:type="dcterms:W3CDTF">2020-11-24T17:21:12Z</dcterms:modified>
</cp:coreProperties>
</file>