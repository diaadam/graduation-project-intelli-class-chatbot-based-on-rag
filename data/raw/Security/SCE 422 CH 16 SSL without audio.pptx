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7" r:id="rId2"/>
    <p:sldId id="260" r:id="rId3"/>
    <p:sldId id="275" r:id="rId4"/>
    <p:sldId id="262" r:id="rId5"/>
    <p:sldId id="276" r:id="rId6"/>
    <p:sldId id="264" r:id="rId7"/>
    <p:sldId id="265" r:id="rId8"/>
    <p:sldId id="277" r:id="rId9"/>
    <p:sldId id="267" r:id="rId10"/>
    <p:sldId id="268" r:id="rId11"/>
    <p:sldId id="269" r:id="rId12"/>
    <p:sldId id="278" r:id="rId13"/>
    <p:sldId id="271" r:id="rId14"/>
    <p:sldId id="272" r:id="rId15"/>
    <p:sldId id="273" r:id="rId16"/>
    <p:sldId id="274" r:id="rId17"/>
    <p:sldId id="279"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29" autoAdjust="0"/>
    <p:restoredTop sz="95226" autoAdjust="0"/>
  </p:normalViewPr>
  <p:slideViewPr>
    <p:cSldViewPr>
      <p:cViewPr varScale="1">
        <p:scale>
          <a:sx n="90" d="100"/>
          <a:sy n="90" d="100"/>
        </p:scale>
        <p:origin x="1229"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9057FB-FB44-4A54-9DFE-3F3F67A686D1}"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US"/>
        </a:p>
      </dgm:t>
    </dgm:pt>
    <dgm:pt modelId="{73C87415-5BF2-4A8D-81BF-90F36B3DCD5F}">
      <dgm:prSet/>
      <dgm:spPr/>
      <dgm:t>
        <a:bodyPr/>
        <a:lstStyle/>
        <a:p>
          <a:r>
            <a:rPr lang="en-US"/>
            <a:t>HTTPS (HTTP over SSL) </a:t>
          </a:r>
        </a:p>
      </dgm:t>
    </dgm:pt>
    <dgm:pt modelId="{C97D1D76-7673-4D9A-8476-60DF150065CE}" type="parTrans" cxnId="{D4D88847-EBD9-4BB9-B7A5-6DF27D822630}">
      <dgm:prSet/>
      <dgm:spPr/>
      <dgm:t>
        <a:bodyPr/>
        <a:lstStyle/>
        <a:p>
          <a:endParaRPr lang="en-US"/>
        </a:p>
      </dgm:t>
    </dgm:pt>
    <dgm:pt modelId="{2DA1E53B-F505-43C4-9685-ADB315817401}" type="sibTrans" cxnId="{D4D88847-EBD9-4BB9-B7A5-6DF27D822630}">
      <dgm:prSet/>
      <dgm:spPr/>
      <dgm:t>
        <a:bodyPr/>
        <a:lstStyle/>
        <a:p>
          <a:endParaRPr lang="en-US"/>
        </a:p>
      </dgm:t>
    </dgm:pt>
    <dgm:pt modelId="{AAE41535-B3EE-4A86-BC24-AF6EF597C651}">
      <dgm:prSet/>
      <dgm:spPr/>
      <dgm:t>
        <a:bodyPr/>
        <a:lstStyle/>
        <a:p>
          <a:r>
            <a:rPr lang="en-US"/>
            <a:t>combination of HTTP &amp; SSL/TLS to secure communications between browser &amp; server</a:t>
          </a:r>
        </a:p>
      </dgm:t>
    </dgm:pt>
    <dgm:pt modelId="{B6A92229-58A0-483B-BDC0-6E22EF3220DB}" type="parTrans" cxnId="{76F4EC69-C97B-46A0-902F-B893790BEBC6}">
      <dgm:prSet/>
      <dgm:spPr/>
      <dgm:t>
        <a:bodyPr/>
        <a:lstStyle/>
        <a:p>
          <a:endParaRPr lang="en-US"/>
        </a:p>
      </dgm:t>
    </dgm:pt>
    <dgm:pt modelId="{8D2998A0-49DD-487D-B4D7-1AC7C7CCAA04}" type="sibTrans" cxnId="{76F4EC69-C97B-46A0-902F-B893790BEBC6}">
      <dgm:prSet/>
      <dgm:spPr/>
      <dgm:t>
        <a:bodyPr/>
        <a:lstStyle/>
        <a:p>
          <a:endParaRPr lang="en-US"/>
        </a:p>
      </dgm:t>
    </dgm:pt>
    <dgm:pt modelId="{8045C0EE-9AC3-4CA9-A173-324A2017C29F}">
      <dgm:prSet/>
      <dgm:spPr/>
      <dgm:t>
        <a:bodyPr/>
        <a:lstStyle/>
        <a:p>
          <a:r>
            <a:rPr lang="en-US"/>
            <a:t>documented in RFC2818</a:t>
          </a:r>
        </a:p>
      </dgm:t>
    </dgm:pt>
    <dgm:pt modelId="{B9769ED0-0128-4DAF-984D-680C203AD5B8}" type="parTrans" cxnId="{73DAAD7C-7501-42DE-9A8C-809DF78DFADE}">
      <dgm:prSet/>
      <dgm:spPr/>
      <dgm:t>
        <a:bodyPr/>
        <a:lstStyle/>
        <a:p>
          <a:endParaRPr lang="en-US"/>
        </a:p>
      </dgm:t>
    </dgm:pt>
    <dgm:pt modelId="{50313652-7715-4275-AB82-3C6AC5889539}" type="sibTrans" cxnId="{73DAAD7C-7501-42DE-9A8C-809DF78DFADE}">
      <dgm:prSet/>
      <dgm:spPr/>
      <dgm:t>
        <a:bodyPr/>
        <a:lstStyle/>
        <a:p>
          <a:endParaRPr lang="en-US"/>
        </a:p>
      </dgm:t>
    </dgm:pt>
    <dgm:pt modelId="{6013BF34-5624-46C8-85E1-3437B34FA856}">
      <dgm:prSet/>
      <dgm:spPr/>
      <dgm:t>
        <a:bodyPr/>
        <a:lstStyle/>
        <a:p>
          <a:r>
            <a:rPr lang="en-US"/>
            <a:t>no fundamental change using either SSL or TLS</a:t>
          </a:r>
        </a:p>
      </dgm:t>
    </dgm:pt>
    <dgm:pt modelId="{4AF0D3E8-8F62-4C27-B7D2-60EA0CA8D22B}" type="parTrans" cxnId="{7AEA7C78-E004-4394-9D86-BEE6C024F1AC}">
      <dgm:prSet/>
      <dgm:spPr/>
      <dgm:t>
        <a:bodyPr/>
        <a:lstStyle/>
        <a:p>
          <a:endParaRPr lang="en-US"/>
        </a:p>
      </dgm:t>
    </dgm:pt>
    <dgm:pt modelId="{6CCCE8BB-2E42-4940-9FDD-CB69F8C4BC67}" type="sibTrans" cxnId="{7AEA7C78-E004-4394-9D86-BEE6C024F1AC}">
      <dgm:prSet/>
      <dgm:spPr/>
      <dgm:t>
        <a:bodyPr/>
        <a:lstStyle/>
        <a:p>
          <a:endParaRPr lang="en-US"/>
        </a:p>
      </dgm:t>
    </dgm:pt>
    <dgm:pt modelId="{330D83E3-292E-47CE-AA58-AB130FF7C829}">
      <dgm:prSet/>
      <dgm:spPr/>
      <dgm:t>
        <a:bodyPr/>
        <a:lstStyle/>
        <a:p>
          <a:r>
            <a:rPr lang="en-US"/>
            <a:t>use https:// URL rather than http://</a:t>
          </a:r>
        </a:p>
      </dgm:t>
    </dgm:pt>
    <dgm:pt modelId="{2A1854FC-3153-4039-A953-668D64CB218B}" type="parTrans" cxnId="{26A4629D-40AB-4C45-8061-898C6A520E4D}">
      <dgm:prSet/>
      <dgm:spPr/>
      <dgm:t>
        <a:bodyPr/>
        <a:lstStyle/>
        <a:p>
          <a:endParaRPr lang="en-US"/>
        </a:p>
      </dgm:t>
    </dgm:pt>
    <dgm:pt modelId="{C0B596A4-90D6-41E9-92CF-58DA81E0F901}" type="sibTrans" cxnId="{26A4629D-40AB-4C45-8061-898C6A520E4D}">
      <dgm:prSet/>
      <dgm:spPr/>
      <dgm:t>
        <a:bodyPr/>
        <a:lstStyle/>
        <a:p>
          <a:endParaRPr lang="en-US"/>
        </a:p>
      </dgm:t>
    </dgm:pt>
    <dgm:pt modelId="{7389DA7A-4E2A-40C1-B5F3-961437033FC2}">
      <dgm:prSet/>
      <dgm:spPr/>
      <dgm:t>
        <a:bodyPr/>
        <a:lstStyle/>
        <a:p>
          <a:r>
            <a:rPr lang="en-US"/>
            <a:t>and port 443 rather than 80</a:t>
          </a:r>
        </a:p>
      </dgm:t>
    </dgm:pt>
    <dgm:pt modelId="{36F2FB1A-4C88-4491-B883-35E1E4137D69}" type="parTrans" cxnId="{7AF02DD6-EFE3-4349-95C9-248724786962}">
      <dgm:prSet/>
      <dgm:spPr/>
      <dgm:t>
        <a:bodyPr/>
        <a:lstStyle/>
        <a:p>
          <a:endParaRPr lang="en-US"/>
        </a:p>
      </dgm:t>
    </dgm:pt>
    <dgm:pt modelId="{C4B7CF20-6308-44B6-BE3E-8E3B72F0442F}" type="sibTrans" cxnId="{7AF02DD6-EFE3-4349-95C9-248724786962}">
      <dgm:prSet/>
      <dgm:spPr/>
      <dgm:t>
        <a:bodyPr/>
        <a:lstStyle/>
        <a:p>
          <a:endParaRPr lang="en-US"/>
        </a:p>
      </dgm:t>
    </dgm:pt>
    <dgm:pt modelId="{C67AF38F-ED2B-4AF9-9419-3FCE287C4ABF}">
      <dgm:prSet/>
      <dgm:spPr/>
      <dgm:t>
        <a:bodyPr/>
        <a:lstStyle/>
        <a:p>
          <a:r>
            <a:rPr lang="en-US"/>
            <a:t>encrypts</a:t>
          </a:r>
        </a:p>
      </dgm:t>
    </dgm:pt>
    <dgm:pt modelId="{D30D8C00-E8AB-44F5-8998-65AE126C879A}" type="parTrans" cxnId="{E7BF51B5-6A17-407D-A254-1DCE9ECDB79C}">
      <dgm:prSet/>
      <dgm:spPr/>
      <dgm:t>
        <a:bodyPr/>
        <a:lstStyle/>
        <a:p>
          <a:endParaRPr lang="en-US"/>
        </a:p>
      </dgm:t>
    </dgm:pt>
    <dgm:pt modelId="{34E2CE89-E3E6-428A-A08C-A54E37BA2B47}" type="sibTrans" cxnId="{E7BF51B5-6A17-407D-A254-1DCE9ECDB79C}">
      <dgm:prSet/>
      <dgm:spPr/>
      <dgm:t>
        <a:bodyPr/>
        <a:lstStyle/>
        <a:p>
          <a:endParaRPr lang="en-US"/>
        </a:p>
      </dgm:t>
    </dgm:pt>
    <dgm:pt modelId="{DF715DD7-8007-4973-87A4-5A07D892308A}">
      <dgm:prSet/>
      <dgm:spPr/>
      <dgm:t>
        <a:bodyPr/>
        <a:lstStyle/>
        <a:p>
          <a:r>
            <a:rPr lang="en-US"/>
            <a:t>URL, document contents, form data, cookies, HTTP headers</a:t>
          </a:r>
        </a:p>
      </dgm:t>
    </dgm:pt>
    <dgm:pt modelId="{5D1BBB3D-6A1E-49C7-A429-8B3532E91D2E}" type="parTrans" cxnId="{FB3B4968-ED59-4510-A1A3-C373DD5D97A8}">
      <dgm:prSet/>
      <dgm:spPr/>
      <dgm:t>
        <a:bodyPr/>
        <a:lstStyle/>
        <a:p>
          <a:endParaRPr lang="en-US"/>
        </a:p>
      </dgm:t>
    </dgm:pt>
    <dgm:pt modelId="{B39D49E5-7B0C-40AC-B9F2-8D6634B19C2C}" type="sibTrans" cxnId="{FB3B4968-ED59-4510-A1A3-C373DD5D97A8}">
      <dgm:prSet/>
      <dgm:spPr/>
      <dgm:t>
        <a:bodyPr/>
        <a:lstStyle/>
        <a:p>
          <a:endParaRPr lang="en-US"/>
        </a:p>
      </dgm:t>
    </dgm:pt>
    <dgm:pt modelId="{46A0D000-0C8E-45B6-B1E3-AD0571939110}" type="pres">
      <dgm:prSet presAssocID="{A89057FB-FB44-4A54-9DFE-3F3F67A686D1}" presName="linear" presStyleCnt="0">
        <dgm:presLayoutVars>
          <dgm:dir/>
          <dgm:animLvl val="lvl"/>
          <dgm:resizeHandles val="exact"/>
        </dgm:presLayoutVars>
      </dgm:prSet>
      <dgm:spPr/>
    </dgm:pt>
    <dgm:pt modelId="{9C8D94E6-FE62-4D97-941C-154D8E93353D}" type="pres">
      <dgm:prSet presAssocID="{73C87415-5BF2-4A8D-81BF-90F36B3DCD5F}" presName="parentLin" presStyleCnt="0"/>
      <dgm:spPr/>
    </dgm:pt>
    <dgm:pt modelId="{14DF15C2-73FA-4A35-9F29-268A61D31513}" type="pres">
      <dgm:prSet presAssocID="{73C87415-5BF2-4A8D-81BF-90F36B3DCD5F}" presName="parentLeftMargin" presStyleLbl="node1" presStyleIdx="0" presStyleCnt="3"/>
      <dgm:spPr/>
    </dgm:pt>
    <dgm:pt modelId="{86A7B3C0-B383-47DC-BCA5-394DC117FD01}" type="pres">
      <dgm:prSet presAssocID="{73C87415-5BF2-4A8D-81BF-90F36B3DCD5F}" presName="parentText" presStyleLbl="node1" presStyleIdx="0" presStyleCnt="3">
        <dgm:presLayoutVars>
          <dgm:chMax val="0"/>
          <dgm:bulletEnabled val="1"/>
        </dgm:presLayoutVars>
      </dgm:prSet>
      <dgm:spPr/>
    </dgm:pt>
    <dgm:pt modelId="{4E369FC6-C3D2-4A20-AC07-C42C68874800}" type="pres">
      <dgm:prSet presAssocID="{73C87415-5BF2-4A8D-81BF-90F36B3DCD5F}" presName="negativeSpace" presStyleCnt="0"/>
      <dgm:spPr/>
    </dgm:pt>
    <dgm:pt modelId="{6F18B59D-8AC9-4235-A6F2-BB4834F627D3}" type="pres">
      <dgm:prSet presAssocID="{73C87415-5BF2-4A8D-81BF-90F36B3DCD5F}" presName="childText" presStyleLbl="conFgAcc1" presStyleIdx="0" presStyleCnt="3">
        <dgm:presLayoutVars>
          <dgm:bulletEnabled val="1"/>
        </dgm:presLayoutVars>
      </dgm:prSet>
      <dgm:spPr/>
    </dgm:pt>
    <dgm:pt modelId="{FD4544AB-BF89-4F8B-9D97-6C91C3F6631E}" type="pres">
      <dgm:prSet presAssocID="{2DA1E53B-F505-43C4-9685-ADB315817401}" presName="spaceBetweenRectangles" presStyleCnt="0"/>
      <dgm:spPr/>
    </dgm:pt>
    <dgm:pt modelId="{291B27D2-7777-4C79-AD23-5A726F672DC5}" type="pres">
      <dgm:prSet presAssocID="{330D83E3-292E-47CE-AA58-AB130FF7C829}" presName="parentLin" presStyleCnt="0"/>
      <dgm:spPr/>
    </dgm:pt>
    <dgm:pt modelId="{0B8142D6-AFE8-4992-96C0-246A44E705D1}" type="pres">
      <dgm:prSet presAssocID="{330D83E3-292E-47CE-AA58-AB130FF7C829}" presName="parentLeftMargin" presStyleLbl="node1" presStyleIdx="0" presStyleCnt="3"/>
      <dgm:spPr/>
    </dgm:pt>
    <dgm:pt modelId="{5D132552-4445-41F2-BED9-D7F59982114B}" type="pres">
      <dgm:prSet presAssocID="{330D83E3-292E-47CE-AA58-AB130FF7C829}" presName="parentText" presStyleLbl="node1" presStyleIdx="1" presStyleCnt="3">
        <dgm:presLayoutVars>
          <dgm:chMax val="0"/>
          <dgm:bulletEnabled val="1"/>
        </dgm:presLayoutVars>
      </dgm:prSet>
      <dgm:spPr/>
    </dgm:pt>
    <dgm:pt modelId="{F58FE418-7062-4894-AE7B-35277FF94B67}" type="pres">
      <dgm:prSet presAssocID="{330D83E3-292E-47CE-AA58-AB130FF7C829}" presName="negativeSpace" presStyleCnt="0"/>
      <dgm:spPr/>
    </dgm:pt>
    <dgm:pt modelId="{C37B1772-DC37-44DB-B51F-D3C32CB4B279}" type="pres">
      <dgm:prSet presAssocID="{330D83E3-292E-47CE-AA58-AB130FF7C829}" presName="childText" presStyleLbl="conFgAcc1" presStyleIdx="1" presStyleCnt="3">
        <dgm:presLayoutVars>
          <dgm:bulletEnabled val="1"/>
        </dgm:presLayoutVars>
      </dgm:prSet>
      <dgm:spPr/>
    </dgm:pt>
    <dgm:pt modelId="{6CC324C1-64DD-4A9A-92E0-BA88349545F8}" type="pres">
      <dgm:prSet presAssocID="{C0B596A4-90D6-41E9-92CF-58DA81E0F901}" presName="spaceBetweenRectangles" presStyleCnt="0"/>
      <dgm:spPr/>
    </dgm:pt>
    <dgm:pt modelId="{DBBAFA47-F15C-4A19-B10B-923B61C14E2F}" type="pres">
      <dgm:prSet presAssocID="{C67AF38F-ED2B-4AF9-9419-3FCE287C4ABF}" presName="parentLin" presStyleCnt="0"/>
      <dgm:spPr/>
    </dgm:pt>
    <dgm:pt modelId="{A63A2AF8-6628-4CF8-8B3B-DCCAA9EEB3D3}" type="pres">
      <dgm:prSet presAssocID="{C67AF38F-ED2B-4AF9-9419-3FCE287C4ABF}" presName="parentLeftMargin" presStyleLbl="node1" presStyleIdx="1" presStyleCnt="3"/>
      <dgm:spPr/>
    </dgm:pt>
    <dgm:pt modelId="{DC9CEA91-97C4-4F5D-9083-87A6FE3ACED3}" type="pres">
      <dgm:prSet presAssocID="{C67AF38F-ED2B-4AF9-9419-3FCE287C4ABF}" presName="parentText" presStyleLbl="node1" presStyleIdx="2" presStyleCnt="3">
        <dgm:presLayoutVars>
          <dgm:chMax val="0"/>
          <dgm:bulletEnabled val="1"/>
        </dgm:presLayoutVars>
      </dgm:prSet>
      <dgm:spPr/>
    </dgm:pt>
    <dgm:pt modelId="{CFB39A9C-4A9C-4A39-8165-FDD272CBE7AE}" type="pres">
      <dgm:prSet presAssocID="{C67AF38F-ED2B-4AF9-9419-3FCE287C4ABF}" presName="negativeSpace" presStyleCnt="0"/>
      <dgm:spPr/>
    </dgm:pt>
    <dgm:pt modelId="{7BDF6566-3FA7-491D-83DE-FA10FD34AC38}" type="pres">
      <dgm:prSet presAssocID="{C67AF38F-ED2B-4AF9-9419-3FCE287C4ABF}" presName="childText" presStyleLbl="conFgAcc1" presStyleIdx="2" presStyleCnt="3">
        <dgm:presLayoutVars>
          <dgm:bulletEnabled val="1"/>
        </dgm:presLayoutVars>
      </dgm:prSet>
      <dgm:spPr/>
    </dgm:pt>
  </dgm:ptLst>
  <dgm:cxnLst>
    <dgm:cxn modelId="{FDE8D008-D510-4076-9270-5795993BCAC5}" type="presOf" srcId="{7389DA7A-4E2A-40C1-B5F3-961437033FC2}" destId="{C37B1772-DC37-44DB-B51F-D3C32CB4B279}" srcOrd="0" destOrd="0" presId="urn:microsoft.com/office/officeart/2005/8/layout/list1"/>
    <dgm:cxn modelId="{F6213510-512F-419E-B42F-E0909604BF8C}" type="presOf" srcId="{A89057FB-FB44-4A54-9DFE-3F3F67A686D1}" destId="{46A0D000-0C8E-45B6-B1E3-AD0571939110}" srcOrd="0" destOrd="0" presId="urn:microsoft.com/office/officeart/2005/8/layout/list1"/>
    <dgm:cxn modelId="{53669732-B2F5-42BD-BE0E-932533424742}" type="presOf" srcId="{DF715DD7-8007-4973-87A4-5A07D892308A}" destId="{7BDF6566-3FA7-491D-83DE-FA10FD34AC38}" srcOrd="0" destOrd="0" presId="urn:microsoft.com/office/officeart/2005/8/layout/list1"/>
    <dgm:cxn modelId="{13580B38-57D2-4E77-A866-DB199F79E275}" type="presOf" srcId="{73C87415-5BF2-4A8D-81BF-90F36B3DCD5F}" destId="{14DF15C2-73FA-4A35-9F29-268A61D31513}" srcOrd="0" destOrd="0" presId="urn:microsoft.com/office/officeart/2005/8/layout/list1"/>
    <dgm:cxn modelId="{4B4A813F-1FD6-4093-A2B5-62B81EC08E5B}" type="presOf" srcId="{73C87415-5BF2-4A8D-81BF-90F36B3DCD5F}" destId="{86A7B3C0-B383-47DC-BCA5-394DC117FD01}" srcOrd="1" destOrd="0" presId="urn:microsoft.com/office/officeart/2005/8/layout/list1"/>
    <dgm:cxn modelId="{D4D88847-EBD9-4BB9-B7A5-6DF27D822630}" srcId="{A89057FB-FB44-4A54-9DFE-3F3F67A686D1}" destId="{73C87415-5BF2-4A8D-81BF-90F36B3DCD5F}" srcOrd="0" destOrd="0" parTransId="{C97D1D76-7673-4D9A-8476-60DF150065CE}" sibTransId="{2DA1E53B-F505-43C4-9685-ADB315817401}"/>
    <dgm:cxn modelId="{FB3B4968-ED59-4510-A1A3-C373DD5D97A8}" srcId="{C67AF38F-ED2B-4AF9-9419-3FCE287C4ABF}" destId="{DF715DD7-8007-4973-87A4-5A07D892308A}" srcOrd="0" destOrd="0" parTransId="{5D1BBB3D-6A1E-49C7-A429-8B3532E91D2E}" sibTransId="{B39D49E5-7B0C-40AC-B9F2-8D6634B19C2C}"/>
    <dgm:cxn modelId="{76F4EC69-C97B-46A0-902F-B893790BEBC6}" srcId="{73C87415-5BF2-4A8D-81BF-90F36B3DCD5F}" destId="{AAE41535-B3EE-4A86-BC24-AF6EF597C651}" srcOrd="0" destOrd="0" parTransId="{B6A92229-58A0-483B-BDC0-6E22EF3220DB}" sibTransId="{8D2998A0-49DD-487D-B4D7-1AC7C7CCAA04}"/>
    <dgm:cxn modelId="{8906156B-B195-4ABF-9F30-F907AEF51657}" type="presOf" srcId="{C67AF38F-ED2B-4AF9-9419-3FCE287C4ABF}" destId="{A63A2AF8-6628-4CF8-8B3B-DCCAA9EEB3D3}" srcOrd="0" destOrd="0" presId="urn:microsoft.com/office/officeart/2005/8/layout/list1"/>
    <dgm:cxn modelId="{7AEA7C78-E004-4394-9D86-BEE6C024F1AC}" srcId="{AAE41535-B3EE-4A86-BC24-AF6EF597C651}" destId="{6013BF34-5624-46C8-85E1-3437B34FA856}" srcOrd="1" destOrd="0" parTransId="{4AF0D3E8-8F62-4C27-B7D2-60EA0CA8D22B}" sibTransId="{6CCCE8BB-2E42-4940-9FDD-CB69F8C4BC67}"/>
    <dgm:cxn modelId="{73DAAD7C-7501-42DE-9A8C-809DF78DFADE}" srcId="{AAE41535-B3EE-4A86-BC24-AF6EF597C651}" destId="{8045C0EE-9AC3-4CA9-A173-324A2017C29F}" srcOrd="0" destOrd="0" parTransId="{B9769ED0-0128-4DAF-984D-680C203AD5B8}" sibTransId="{50313652-7715-4275-AB82-3C6AC5889539}"/>
    <dgm:cxn modelId="{E74B2B98-D57D-495A-B231-1F3AA9ECE984}" type="presOf" srcId="{6013BF34-5624-46C8-85E1-3437B34FA856}" destId="{6F18B59D-8AC9-4235-A6F2-BB4834F627D3}" srcOrd="0" destOrd="2" presId="urn:microsoft.com/office/officeart/2005/8/layout/list1"/>
    <dgm:cxn modelId="{26A4629D-40AB-4C45-8061-898C6A520E4D}" srcId="{A89057FB-FB44-4A54-9DFE-3F3F67A686D1}" destId="{330D83E3-292E-47CE-AA58-AB130FF7C829}" srcOrd="1" destOrd="0" parTransId="{2A1854FC-3153-4039-A953-668D64CB218B}" sibTransId="{C0B596A4-90D6-41E9-92CF-58DA81E0F901}"/>
    <dgm:cxn modelId="{E7BF51B5-6A17-407D-A254-1DCE9ECDB79C}" srcId="{A89057FB-FB44-4A54-9DFE-3F3F67A686D1}" destId="{C67AF38F-ED2B-4AF9-9419-3FCE287C4ABF}" srcOrd="2" destOrd="0" parTransId="{D30D8C00-E8AB-44F5-8998-65AE126C879A}" sibTransId="{34E2CE89-E3E6-428A-A08C-A54E37BA2B47}"/>
    <dgm:cxn modelId="{CBECDEC5-2015-46C6-9048-9E45EB9A13E8}" type="presOf" srcId="{8045C0EE-9AC3-4CA9-A173-324A2017C29F}" destId="{6F18B59D-8AC9-4235-A6F2-BB4834F627D3}" srcOrd="0" destOrd="1" presId="urn:microsoft.com/office/officeart/2005/8/layout/list1"/>
    <dgm:cxn modelId="{7AF02DD6-EFE3-4349-95C9-248724786962}" srcId="{330D83E3-292E-47CE-AA58-AB130FF7C829}" destId="{7389DA7A-4E2A-40C1-B5F3-961437033FC2}" srcOrd="0" destOrd="0" parTransId="{36F2FB1A-4C88-4491-B883-35E1E4137D69}" sibTransId="{C4B7CF20-6308-44B6-BE3E-8E3B72F0442F}"/>
    <dgm:cxn modelId="{488581DA-68FE-4B94-BBE6-1CB29C658669}" type="presOf" srcId="{330D83E3-292E-47CE-AA58-AB130FF7C829}" destId="{5D132552-4445-41F2-BED9-D7F59982114B}" srcOrd="1" destOrd="0" presId="urn:microsoft.com/office/officeart/2005/8/layout/list1"/>
    <dgm:cxn modelId="{E0D5C8F2-2F62-4B3F-A588-206FC714D42C}" type="presOf" srcId="{C67AF38F-ED2B-4AF9-9419-3FCE287C4ABF}" destId="{DC9CEA91-97C4-4F5D-9083-87A6FE3ACED3}" srcOrd="1" destOrd="0" presId="urn:microsoft.com/office/officeart/2005/8/layout/list1"/>
    <dgm:cxn modelId="{B4B1C2F9-043A-4F85-BDC4-3EE1B5FAD232}" type="presOf" srcId="{330D83E3-292E-47CE-AA58-AB130FF7C829}" destId="{0B8142D6-AFE8-4992-96C0-246A44E705D1}" srcOrd="0" destOrd="0" presId="urn:microsoft.com/office/officeart/2005/8/layout/list1"/>
    <dgm:cxn modelId="{B7BF9DFD-B925-4906-B766-A96A3D117A98}" type="presOf" srcId="{AAE41535-B3EE-4A86-BC24-AF6EF597C651}" destId="{6F18B59D-8AC9-4235-A6F2-BB4834F627D3}" srcOrd="0" destOrd="0" presId="urn:microsoft.com/office/officeart/2005/8/layout/list1"/>
    <dgm:cxn modelId="{09135D1D-E318-4865-BF22-327B984FDFD3}" type="presParOf" srcId="{46A0D000-0C8E-45B6-B1E3-AD0571939110}" destId="{9C8D94E6-FE62-4D97-941C-154D8E93353D}" srcOrd="0" destOrd="0" presId="urn:microsoft.com/office/officeart/2005/8/layout/list1"/>
    <dgm:cxn modelId="{B28F582E-DAF1-46F4-92FC-D0116BE53FB8}" type="presParOf" srcId="{9C8D94E6-FE62-4D97-941C-154D8E93353D}" destId="{14DF15C2-73FA-4A35-9F29-268A61D31513}" srcOrd="0" destOrd="0" presId="urn:microsoft.com/office/officeart/2005/8/layout/list1"/>
    <dgm:cxn modelId="{F9AED0BE-17B3-4286-B290-CD257D60EDDD}" type="presParOf" srcId="{9C8D94E6-FE62-4D97-941C-154D8E93353D}" destId="{86A7B3C0-B383-47DC-BCA5-394DC117FD01}" srcOrd="1" destOrd="0" presId="urn:microsoft.com/office/officeart/2005/8/layout/list1"/>
    <dgm:cxn modelId="{EC1C9088-8D72-41DD-AA94-52055C96D96C}" type="presParOf" srcId="{46A0D000-0C8E-45B6-B1E3-AD0571939110}" destId="{4E369FC6-C3D2-4A20-AC07-C42C68874800}" srcOrd="1" destOrd="0" presId="urn:microsoft.com/office/officeart/2005/8/layout/list1"/>
    <dgm:cxn modelId="{0B773275-6C21-49B1-8756-C21B48DC86EA}" type="presParOf" srcId="{46A0D000-0C8E-45B6-B1E3-AD0571939110}" destId="{6F18B59D-8AC9-4235-A6F2-BB4834F627D3}" srcOrd="2" destOrd="0" presId="urn:microsoft.com/office/officeart/2005/8/layout/list1"/>
    <dgm:cxn modelId="{4672CC93-18D2-4851-9811-AAA3141F0FCF}" type="presParOf" srcId="{46A0D000-0C8E-45B6-B1E3-AD0571939110}" destId="{FD4544AB-BF89-4F8B-9D97-6C91C3F6631E}" srcOrd="3" destOrd="0" presId="urn:microsoft.com/office/officeart/2005/8/layout/list1"/>
    <dgm:cxn modelId="{2E4F0A7C-D0D0-402E-B7A7-D24AB8D1BFA9}" type="presParOf" srcId="{46A0D000-0C8E-45B6-B1E3-AD0571939110}" destId="{291B27D2-7777-4C79-AD23-5A726F672DC5}" srcOrd="4" destOrd="0" presId="urn:microsoft.com/office/officeart/2005/8/layout/list1"/>
    <dgm:cxn modelId="{94E0F10C-0B62-4BDD-901D-07FFAEE5B435}" type="presParOf" srcId="{291B27D2-7777-4C79-AD23-5A726F672DC5}" destId="{0B8142D6-AFE8-4992-96C0-246A44E705D1}" srcOrd="0" destOrd="0" presId="urn:microsoft.com/office/officeart/2005/8/layout/list1"/>
    <dgm:cxn modelId="{867FAEC4-1D45-424D-8A87-2A67F544AD0B}" type="presParOf" srcId="{291B27D2-7777-4C79-AD23-5A726F672DC5}" destId="{5D132552-4445-41F2-BED9-D7F59982114B}" srcOrd="1" destOrd="0" presId="urn:microsoft.com/office/officeart/2005/8/layout/list1"/>
    <dgm:cxn modelId="{4B605777-ADED-4528-AF85-8D1A559440D0}" type="presParOf" srcId="{46A0D000-0C8E-45B6-B1E3-AD0571939110}" destId="{F58FE418-7062-4894-AE7B-35277FF94B67}" srcOrd="5" destOrd="0" presId="urn:microsoft.com/office/officeart/2005/8/layout/list1"/>
    <dgm:cxn modelId="{A34079FB-0980-47A9-A6D9-03648B8E3D3F}" type="presParOf" srcId="{46A0D000-0C8E-45B6-B1E3-AD0571939110}" destId="{C37B1772-DC37-44DB-B51F-D3C32CB4B279}" srcOrd="6" destOrd="0" presId="urn:microsoft.com/office/officeart/2005/8/layout/list1"/>
    <dgm:cxn modelId="{24238F4B-EA94-4A66-BD2B-D88AC8116B38}" type="presParOf" srcId="{46A0D000-0C8E-45B6-B1E3-AD0571939110}" destId="{6CC324C1-64DD-4A9A-92E0-BA88349545F8}" srcOrd="7" destOrd="0" presId="urn:microsoft.com/office/officeart/2005/8/layout/list1"/>
    <dgm:cxn modelId="{81426074-7ABD-457B-9E61-E84858E522DE}" type="presParOf" srcId="{46A0D000-0C8E-45B6-B1E3-AD0571939110}" destId="{DBBAFA47-F15C-4A19-B10B-923B61C14E2F}" srcOrd="8" destOrd="0" presId="urn:microsoft.com/office/officeart/2005/8/layout/list1"/>
    <dgm:cxn modelId="{B55F9863-F67E-4189-B38F-C2184B9F09BB}" type="presParOf" srcId="{DBBAFA47-F15C-4A19-B10B-923B61C14E2F}" destId="{A63A2AF8-6628-4CF8-8B3B-DCCAA9EEB3D3}" srcOrd="0" destOrd="0" presId="urn:microsoft.com/office/officeart/2005/8/layout/list1"/>
    <dgm:cxn modelId="{556979B4-F09E-4644-B882-AEF86EC32D92}" type="presParOf" srcId="{DBBAFA47-F15C-4A19-B10B-923B61C14E2F}" destId="{DC9CEA91-97C4-4F5D-9083-87A6FE3ACED3}" srcOrd="1" destOrd="0" presId="urn:microsoft.com/office/officeart/2005/8/layout/list1"/>
    <dgm:cxn modelId="{B6482A05-A999-4CAF-AD67-04F03916EE4D}" type="presParOf" srcId="{46A0D000-0C8E-45B6-B1E3-AD0571939110}" destId="{CFB39A9C-4A9C-4A39-8165-FDD272CBE7AE}" srcOrd="9" destOrd="0" presId="urn:microsoft.com/office/officeart/2005/8/layout/list1"/>
    <dgm:cxn modelId="{382EDBE4-D6F6-4E9D-BD4F-4E4DEE8F464B}" type="presParOf" srcId="{46A0D000-0C8E-45B6-B1E3-AD0571939110}" destId="{7BDF6566-3FA7-491D-83DE-FA10FD34AC38}"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18B59D-8AC9-4235-A6F2-BB4834F627D3}">
      <dsp:nvSpPr>
        <dsp:cNvPr id="0" name=""/>
        <dsp:cNvSpPr/>
      </dsp:nvSpPr>
      <dsp:spPr>
        <a:xfrm>
          <a:off x="0" y="254267"/>
          <a:ext cx="7130833" cy="1436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53432" tIns="333248" rIns="553432"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t>combination of HTTP &amp; SSL/TLS to secure communications between browser &amp; server</a:t>
          </a:r>
        </a:p>
        <a:p>
          <a:pPr marL="342900" lvl="2" indent="-171450" algn="l" defTabSz="711200">
            <a:lnSpc>
              <a:spcPct val="90000"/>
            </a:lnSpc>
            <a:spcBef>
              <a:spcPct val="0"/>
            </a:spcBef>
            <a:spcAft>
              <a:spcPct val="15000"/>
            </a:spcAft>
            <a:buChar char="•"/>
          </a:pPr>
          <a:r>
            <a:rPr lang="en-US" sz="1600" kern="1200"/>
            <a:t>documented in RFC2818</a:t>
          </a:r>
        </a:p>
        <a:p>
          <a:pPr marL="342900" lvl="2" indent="-171450" algn="l" defTabSz="711200">
            <a:lnSpc>
              <a:spcPct val="90000"/>
            </a:lnSpc>
            <a:spcBef>
              <a:spcPct val="0"/>
            </a:spcBef>
            <a:spcAft>
              <a:spcPct val="15000"/>
            </a:spcAft>
            <a:buChar char="•"/>
          </a:pPr>
          <a:r>
            <a:rPr lang="en-US" sz="1600" kern="1200"/>
            <a:t>no fundamental change using either SSL or TLS</a:t>
          </a:r>
        </a:p>
      </dsp:txBody>
      <dsp:txXfrm>
        <a:off x="0" y="254267"/>
        <a:ext cx="7130833" cy="1436400"/>
      </dsp:txXfrm>
    </dsp:sp>
    <dsp:sp modelId="{86A7B3C0-B383-47DC-BCA5-394DC117FD01}">
      <dsp:nvSpPr>
        <dsp:cNvPr id="0" name=""/>
        <dsp:cNvSpPr/>
      </dsp:nvSpPr>
      <dsp:spPr>
        <a:xfrm>
          <a:off x="356541" y="18107"/>
          <a:ext cx="4991583"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8670" tIns="0" rIns="188670" bIns="0" numCol="1" spcCol="1270" anchor="ctr" anchorCtr="0">
          <a:noAutofit/>
        </a:bodyPr>
        <a:lstStyle/>
        <a:p>
          <a:pPr marL="0" lvl="0" indent="0" algn="l" defTabSz="711200">
            <a:lnSpc>
              <a:spcPct val="90000"/>
            </a:lnSpc>
            <a:spcBef>
              <a:spcPct val="0"/>
            </a:spcBef>
            <a:spcAft>
              <a:spcPct val="35000"/>
            </a:spcAft>
            <a:buNone/>
          </a:pPr>
          <a:r>
            <a:rPr lang="en-US" sz="1600" kern="1200"/>
            <a:t>HTTPS (HTTP over SSL) </a:t>
          </a:r>
        </a:p>
      </dsp:txBody>
      <dsp:txXfrm>
        <a:off x="379598" y="41164"/>
        <a:ext cx="4945469" cy="426206"/>
      </dsp:txXfrm>
    </dsp:sp>
    <dsp:sp modelId="{C37B1772-DC37-44DB-B51F-D3C32CB4B279}">
      <dsp:nvSpPr>
        <dsp:cNvPr id="0" name=""/>
        <dsp:cNvSpPr/>
      </dsp:nvSpPr>
      <dsp:spPr>
        <a:xfrm>
          <a:off x="0" y="2013227"/>
          <a:ext cx="7130833" cy="680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53432" tIns="333248" rIns="553432"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t>and port 443 rather than 80</a:t>
          </a:r>
        </a:p>
      </dsp:txBody>
      <dsp:txXfrm>
        <a:off x="0" y="2013227"/>
        <a:ext cx="7130833" cy="680400"/>
      </dsp:txXfrm>
    </dsp:sp>
    <dsp:sp modelId="{5D132552-4445-41F2-BED9-D7F59982114B}">
      <dsp:nvSpPr>
        <dsp:cNvPr id="0" name=""/>
        <dsp:cNvSpPr/>
      </dsp:nvSpPr>
      <dsp:spPr>
        <a:xfrm>
          <a:off x="356541" y="1777067"/>
          <a:ext cx="4991583"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8670" tIns="0" rIns="188670" bIns="0" numCol="1" spcCol="1270" anchor="ctr" anchorCtr="0">
          <a:noAutofit/>
        </a:bodyPr>
        <a:lstStyle/>
        <a:p>
          <a:pPr marL="0" lvl="0" indent="0" algn="l" defTabSz="711200">
            <a:lnSpc>
              <a:spcPct val="90000"/>
            </a:lnSpc>
            <a:spcBef>
              <a:spcPct val="0"/>
            </a:spcBef>
            <a:spcAft>
              <a:spcPct val="35000"/>
            </a:spcAft>
            <a:buNone/>
          </a:pPr>
          <a:r>
            <a:rPr lang="en-US" sz="1600" kern="1200"/>
            <a:t>use https:// URL rather than http://</a:t>
          </a:r>
        </a:p>
      </dsp:txBody>
      <dsp:txXfrm>
        <a:off x="379598" y="1800124"/>
        <a:ext cx="4945469" cy="426206"/>
      </dsp:txXfrm>
    </dsp:sp>
    <dsp:sp modelId="{7BDF6566-3FA7-491D-83DE-FA10FD34AC38}">
      <dsp:nvSpPr>
        <dsp:cNvPr id="0" name=""/>
        <dsp:cNvSpPr/>
      </dsp:nvSpPr>
      <dsp:spPr>
        <a:xfrm>
          <a:off x="0" y="3016188"/>
          <a:ext cx="7130833" cy="680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53432" tIns="333248" rIns="553432"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t>URL, document contents, form data, cookies, HTTP headers</a:t>
          </a:r>
        </a:p>
      </dsp:txBody>
      <dsp:txXfrm>
        <a:off x="0" y="3016188"/>
        <a:ext cx="7130833" cy="680400"/>
      </dsp:txXfrm>
    </dsp:sp>
    <dsp:sp modelId="{DC9CEA91-97C4-4F5D-9083-87A6FE3ACED3}">
      <dsp:nvSpPr>
        <dsp:cNvPr id="0" name=""/>
        <dsp:cNvSpPr/>
      </dsp:nvSpPr>
      <dsp:spPr>
        <a:xfrm>
          <a:off x="356541" y="2780028"/>
          <a:ext cx="4991583"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8670" tIns="0" rIns="188670" bIns="0" numCol="1" spcCol="1270" anchor="ctr" anchorCtr="0">
          <a:noAutofit/>
        </a:bodyPr>
        <a:lstStyle/>
        <a:p>
          <a:pPr marL="0" lvl="0" indent="0" algn="l" defTabSz="711200">
            <a:lnSpc>
              <a:spcPct val="90000"/>
            </a:lnSpc>
            <a:spcBef>
              <a:spcPct val="0"/>
            </a:spcBef>
            <a:spcAft>
              <a:spcPct val="35000"/>
            </a:spcAft>
            <a:buNone/>
          </a:pPr>
          <a:r>
            <a:rPr lang="en-US" sz="1600" kern="1200"/>
            <a:t>encrypts</a:t>
          </a:r>
        </a:p>
      </dsp:txBody>
      <dsp:txXfrm>
        <a:off x="379598" y="2803085"/>
        <a:ext cx="4945469" cy="42620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A02CAD8-9E5A-4526-A04A-D480CDFD6A02}" type="datetimeFigureOut">
              <a:rPr lang="en-US" smtClean="0"/>
              <a:pPr/>
              <a:t>12/27/2021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1112E0D-8473-4D51-BE88-430CFF107421}" type="slidenum">
              <a:rPr lang="en-US" smtClean="0"/>
              <a:pPr/>
              <a:t>‹#›</a:t>
            </a:fld>
            <a:endParaRPr lang="en-US"/>
          </a:p>
        </p:txBody>
      </p:sp>
    </p:spTree>
    <p:extLst>
      <p:ext uri="{BB962C8B-B14F-4D97-AF65-F5344CB8AC3E}">
        <p14:creationId xmlns:p14="http://schemas.microsoft.com/office/powerpoint/2010/main" val="777136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EA509AF2-9E5D-487A-913D-945F2A5FA2B5}" type="slidenum">
              <a:rPr lang="en-AU"/>
              <a:pPr/>
              <a:t>1</a:t>
            </a:fld>
            <a:endParaRPr lang="en-AU" dirty="0"/>
          </a:p>
        </p:txBody>
      </p:sp>
      <p:sp>
        <p:nvSpPr>
          <p:cNvPr id="15363" name="Rectangle 2"/>
          <p:cNvSpPr>
            <a:spLocks noGrp="1" noRot="1" noChangeAspect="1" noChangeArrowheads="1"/>
          </p:cNvSpPr>
          <p:nvPr>
            <p:ph type="sldImg"/>
          </p:nvPr>
        </p:nvSpPr>
        <p:spPr>
          <a:solidFill>
            <a:srgbClr val="FFFFFF"/>
          </a:solidFill>
          <a:ln/>
        </p:spPr>
      </p:sp>
      <p:sp>
        <p:nvSpPr>
          <p:cNvPr id="15364" name="Rectangle 3"/>
          <p:cNvSpPr>
            <a:spLocks noGrp="1" noChangeArrowheads="1"/>
          </p:cNvSpPr>
          <p:nvPr>
            <p:ph type="body" idx="1"/>
          </p:nvPr>
        </p:nvSpPr>
        <p:spPr>
          <a:noFill/>
          <a:ln/>
        </p:spPr>
        <p:txBody>
          <a:bodyPr/>
          <a:lstStyle/>
          <a:p>
            <a:pPr eaLnBrk="1" hangingPunct="1"/>
            <a:r>
              <a:rPr lang="en-US" dirty="0">
                <a:latin typeface="Arial" pitchFamily="34" charset="0"/>
                <a:ea typeface="ＭＳ Ｐゴシック" pitchFamily="-107" charset="-128"/>
              </a:rPr>
              <a:t>Lecture slides by Lawrie Brown for “Cryptography and Network Security”, 5/e, by William Stallings, Chapter 12 – “</a:t>
            </a:r>
            <a:r>
              <a:rPr lang="en-AU" dirty="0">
                <a:latin typeface="Arial" pitchFamily="34" charset="0"/>
                <a:ea typeface="ＭＳ Ｐゴシック" pitchFamily="-107" charset="-128"/>
              </a:rPr>
              <a:t>Message Authentication Codes</a:t>
            </a:r>
            <a:r>
              <a:rPr lang="en-US" dirty="0">
                <a:latin typeface="Arial" pitchFamily="34" charset="0"/>
                <a:ea typeface="ＭＳ Ｐゴシック" pitchFamily="-107" charset="-128"/>
              </a:rPr>
              <a:t>”.</a:t>
            </a:r>
            <a:endParaRPr lang="en-AU" dirty="0">
              <a:latin typeface="Arial" pitchFamily="34" charset="0"/>
              <a:ea typeface="ＭＳ Ｐゴシック" pitchFamily="-107" charset="-128"/>
            </a:endParaRPr>
          </a:p>
          <a:p>
            <a:pPr eaLnBrk="1" hangingPunct="1"/>
            <a:endParaRPr lang="en-US" dirty="0">
              <a:latin typeface="Arial" pitchFamily="34" charset="0"/>
              <a:ea typeface="ＭＳ Ｐゴシック" pitchFamily="-107"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p>
            <a:fld id="{E0E487F4-C5FD-48E6-9FAD-1E2CDA7E04C2}" type="slidenum">
              <a:rPr lang="en-AU"/>
              <a:pPr/>
              <a:t>2</a:t>
            </a:fld>
            <a:endParaRPr lang="en-AU"/>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p:spPr>
        <p:txBody>
          <a:bodyPr/>
          <a:lstStyle/>
          <a:p>
            <a:pPr eaLnBrk="1" hangingPunct="1"/>
            <a:r>
              <a:rPr lang="en-US">
                <a:latin typeface="Arial" charset="0"/>
                <a:cs typeface="Arial" charset="0"/>
              </a:rPr>
              <a:t>The World Wide Web is widely used by businesses, government agencies, and many individuals. But the Internet and the Web are extremely vulnerable to compromises of various sorts, with a range of threats as shown briefly above, and in detail in Stallings Table 16.1. These can be described as passive attacks including eavesdropping on network traffic between browser and server and gaining access to information on a Web site that is supposed to be restricted; and active attacks including impersonating another user, altering messages in transit between client and server, and altering information on a Web site. The web needs added security mechanisms to address these threats.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p:cNvSpPr>
          <p:nvPr>
            <p:ph type="sldImg"/>
          </p:nvPr>
        </p:nvSpPr>
        <p:spPr>
          <a:ln/>
        </p:spPr>
      </p:sp>
      <p:sp>
        <p:nvSpPr>
          <p:cNvPr id="22531" name="Notes Placeholder 2"/>
          <p:cNvSpPr>
            <a:spLocks noGrp="1"/>
          </p:cNvSpPr>
          <p:nvPr>
            <p:ph type="body" idx="1"/>
          </p:nvPr>
        </p:nvSpPr>
        <p:spPr>
          <a:xfrm>
            <a:off x="685800" y="4343400"/>
            <a:ext cx="5486400" cy="4341813"/>
          </a:xfrm>
          <a:noFill/>
          <a:ln/>
        </p:spPr>
        <p:txBody>
          <a:bodyPr/>
          <a:lstStyle/>
          <a:p>
            <a:pPr eaLnBrk="1" hangingPunct="1"/>
            <a:r>
              <a:rPr lang="en-US" dirty="0">
                <a:latin typeface="Arial" charset="0"/>
              </a:rPr>
              <a:t>A number of approaches to providing Web security are possible. The various approaches that have been considered are similar in the services they provide and, to some extent, in the mechanisms that they use, but they differ with respect to their scope of applicability and their relative location within the TCP/IP protocol stack.  Stallings Figure 16.1 illustrates this difference. </a:t>
            </a:r>
          </a:p>
          <a:p>
            <a:pPr eaLnBrk="1" hangingPunct="1"/>
            <a:r>
              <a:rPr lang="en-US" dirty="0">
                <a:latin typeface="Arial" charset="0"/>
              </a:rPr>
              <a:t>One way to provide Web security is to use IP Security (Figure 16.1a). The advantage of using IPSec is that it is transparent to end users and applications and provides a general-purpose solution. Further, IPSec includes a filtering capability so only selected traffic need incur the IPSec processing overhead.  </a:t>
            </a:r>
          </a:p>
          <a:p>
            <a:pPr eaLnBrk="1" hangingPunct="1"/>
            <a:r>
              <a:rPr lang="en-US" dirty="0">
                <a:latin typeface="Arial" charset="0"/>
              </a:rPr>
              <a:t>Another relatively general-purpose solution is to implement security just above TCP (Figure 16.1b). The foremost example of this approach is the Secure Sockets Layer (SSL) and the follow-on Internet standard known as Transport Layer Security (TLS). At this level, there are two implementation choices. For full generality, SSL (or TLS) could be provided as part of the underlying protocol suite and therefore be transparent to applications. Alternatively, SSL can be embedded in specific packages, e.g. both the Netscape and Microsoft Explorer browsers come with SSL, &amp; most Web servers have implemented it.  </a:t>
            </a:r>
          </a:p>
          <a:p>
            <a:pPr eaLnBrk="1" hangingPunct="1"/>
            <a:r>
              <a:rPr lang="en-US" dirty="0">
                <a:latin typeface="Arial" charset="0"/>
              </a:rPr>
              <a:t>Application-specific security services are embedded within the particular application. Figure 16.1c shows examples of this architecture. The advantage of this approach is that the service can be tailored to the specific needs of a given application. </a:t>
            </a:r>
          </a:p>
        </p:txBody>
      </p:sp>
      <p:sp>
        <p:nvSpPr>
          <p:cNvPr id="22532" name="Slide Number Placeholder 3"/>
          <p:cNvSpPr>
            <a:spLocks noGrp="1"/>
          </p:cNvSpPr>
          <p:nvPr>
            <p:ph type="sldNum" sz="quarter" idx="5"/>
          </p:nvPr>
        </p:nvSpPr>
        <p:spPr>
          <a:noFill/>
        </p:spPr>
        <p:txBody>
          <a:bodyPr/>
          <a:lstStyle/>
          <a:p>
            <a:fld id="{87DD7F6F-94EE-4D4B-B8E5-66BB443026AC}" type="slidenum">
              <a:rPr lang="en-AU"/>
              <a:pPr/>
              <a:t>3</a:t>
            </a:fld>
            <a:endParaRPr lang="en-AU"/>
          </a:p>
        </p:txBody>
      </p:sp>
    </p:spTree>
    <p:extLst>
      <p:ext uri="{BB962C8B-B14F-4D97-AF65-F5344CB8AC3E}">
        <p14:creationId xmlns:p14="http://schemas.microsoft.com/office/powerpoint/2010/main" val="3576518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p>
            <a:fld id="{B3778FBA-5579-4871-BBFF-B1E76EAC088A}" type="slidenum">
              <a:rPr lang="en-AU"/>
              <a:pPr/>
              <a:t>4</a:t>
            </a:fld>
            <a:endParaRPr lang="en-AU"/>
          </a:p>
        </p:txBody>
      </p:sp>
      <p:sp>
        <p:nvSpPr>
          <p:cNvPr id="24579" name="Rectangle 1026"/>
          <p:cNvSpPr>
            <a:spLocks noGrp="1" noRot="1" noChangeAspect="1" noChangeArrowheads="1" noTextEdit="1"/>
          </p:cNvSpPr>
          <p:nvPr>
            <p:ph type="sldImg"/>
          </p:nvPr>
        </p:nvSpPr>
        <p:spPr>
          <a:ln/>
        </p:spPr>
      </p:sp>
      <p:sp>
        <p:nvSpPr>
          <p:cNvPr id="24580" name="Rectangle 1027"/>
          <p:cNvSpPr>
            <a:spLocks noGrp="1" noChangeArrowheads="1"/>
          </p:cNvSpPr>
          <p:nvPr>
            <p:ph type="body" idx="1"/>
          </p:nvPr>
        </p:nvSpPr>
        <p:spPr>
          <a:noFill/>
          <a:ln/>
        </p:spPr>
        <p:txBody>
          <a:bodyPr/>
          <a:lstStyle/>
          <a:p>
            <a:pPr eaLnBrk="1" hangingPunct="1"/>
            <a:r>
              <a:rPr lang="en-US">
                <a:latin typeface="Arial" charset="0"/>
                <a:cs typeface="Arial" charset="0"/>
              </a:rPr>
              <a:t>SSL probably most widely used Web security mechanism, and it is implemented at the Transport layer (cf. figure 16.1b on previous slide).</a:t>
            </a:r>
          </a:p>
          <a:p>
            <a:pPr eaLnBrk="1" hangingPunct="1"/>
            <a:r>
              <a:rPr lang="en-US">
                <a:latin typeface="Arial" charset="0"/>
                <a:cs typeface="Arial" charset="0"/>
              </a:rPr>
              <a:t>SSL is designed to make use of TCP to provide a reliable end-to-end secure service. Netscape originated SSL. Version 3 of the protocol was designed with public review and input from industry and was published as an Internet draft document. Subsequently, when a consensus was reached to submit the protocol for Internet standardization, the TLS working group was formed within IETF to develop a  common standard. This first published version of TLS can be viewed as essentially an SSLv3.1 and is very close to and backward compatible with SSLv3. SSL is not a single protocol but rather two layers of protocol, as shown next.</a:t>
            </a:r>
            <a:endParaRPr lang="en-AU">
              <a:latin typeface="Arial" charset="0"/>
              <a:cs typeface="Arial"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p>
            <a:fld id="{B3778FBA-5579-4871-BBFF-B1E76EAC088A}" type="slidenum">
              <a:rPr lang="en-AU"/>
              <a:pPr/>
              <a:t>5</a:t>
            </a:fld>
            <a:endParaRPr lang="en-AU"/>
          </a:p>
        </p:txBody>
      </p:sp>
      <p:sp>
        <p:nvSpPr>
          <p:cNvPr id="24579" name="Rectangle 1026"/>
          <p:cNvSpPr>
            <a:spLocks noGrp="1" noRot="1" noChangeAspect="1" noChangeArrowheads="1" noTextEdit="1"/>
          </p:cNvSpPr>
          <p:nvPr>
            <p:ph type="sldImg"/>
          </p:nvPr>
        </p:nvSpPr>
        <p:spPr>
          <a:ln/>
        </p:spPr>
      </p:sp>
      <p:sp>
        <p:nvSpPr>
          <p:cNvPr id="24580" name="Rectangle 1027"/>
          <p:cNvSpPr>
            <a:spLocks noGrp="1" noChangeArrowheads="1"/>
          </p:cNvSpPr>
          <p:nvPr>
            <p:ph type="body" idx="1"/>
          </p:nvPr>
        </p:nvSpPr>
        <p:spPr>
          <a:noFill/>
          <a:ln/>
        </p:spPr>
        <p:txBody>
          <a:bodyPr/>
          <a:lstStyle/>
          <a:p>
            <a:pPr eaLnBrk="1" hangingPunct="1"/>
            <a:r>
              <a:rPr lang="en-US">
                <a:latin typeface="Arial" charset="0"/>
                <a:cs typeface="Arial" charset="0"/>
              </a:rPr>
              <a:t>SSL probably most widely used Web security mechanism, and it is implemented at the Transport layer (cf. figure 16.1b on previous slide).</a:t>
            </a:r>
          </a:p>
          <a:p>
            <a:pPr eaLnBrk="1" hangingPunct="1"/>
            <a:r>
              <a:rPr lang="en-US">
                <a:latin typeface="Arial" charset="0"/>
                <a:cs typeface="Arial" charset="0"/>
              </a:rPr>
              <a:t>SSL is designed to make use of TCP to provide a reliable end-to-end secure service. Netscape originated SSL. Version 3 of the protocol was designed with public review and input from industry and was published as an Internet draft document. Subsequently, when a consensus was reached to submit the protocol for Internet standardization, the TLS working group was formed within IETF to develop a  common standard. This first published version of TLS can be viewed as essentially an SSLv3.1 and is very close to and backward compatible with SSLv3. SSL is not a single protocol but rather two layers of protocol, as shown next.</a:t>
            </a:r>
            <a:endParaRPr lang="en-AU">
              <a:latin typeface="Arial" charset="0"/>
              <a:cs typeface="Arial" charset="0"/>
            </a:endParaRPr>
          </a:p>
        </p:txBody>
      </p:sp>
    </p:spTree>
    <p:extLst>
      <p:ext uri="{BB962C8B-B14F-4D97-AF65-F5344CB8AC3E}">
        <p14:creationId xmlns:p14="http://schemas.microsoft.com/office/powerpoint/2010/main" val="6856276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6B8ADC8C-4ED5-4475-9EA8-C7FABC862499}" type="slidenum">
              <a:rPr lang="en-AU"/>
              <a:pPr/>
              <a:t>6</a:t>
            </a:fld>
            <a:endParaRPr lang="en-AU"/>
          </a:p>
        </p:txBody>
      </p:sp>
      <p:sp>
        <p:nvSpPr>
          <p:cNvPr id="28675" name="Rectangle 1026"/>
          <p:cNvSpPr>
            <a:spLocks noGrp="1" noRot="1" noChangeAspect="1" noChangeArrowheads="1" noTextEdit="1"/>
          </p:cNvSpPr>
          <p:nvPr>
            <p:ph type="sldImg"/>
          </p:nvPr>
        </p:nvSpPr>
        <p:spPr>
          <a:ln/>
        </p:spPr>
      </p:sp>
      <p:sp>
        <p:nvSpPr>
          <p:cNvPr id="28676" name="Rectangle 1027"/>
          <p:cNvSpPr>
            <a:spLocks noGrp="1" noChangeArrowheads="1"/>
          </p:cNvSpPr>
          <p:nvPr>
            <p:ph type="body" idx="1"/>
          </p:nvPr>
        </p:nvSpPr>
        <p:spPr>
          <a:noFill/>
          <a:ln/>
        </p:spPr>
        <p:txBody>
          <a:bodyPr/>
          <a:lstStyle/>
          <a:p>
            <a:pPr eaLnBrk="1" hangingPunct="1"/>
            <a:r>
              <a:rPr lang="en-US" dirty="0">
                <a:latin typeface="Arial" charset="0"/>
                <a:cs typeface="Arial" charset="0"/>
              </a:rPr>
              <a:t>Two important SSL concepts are the SSL connection and the SSL session:</a:t>
            </a:r>
          </a:p>
          <a:p>
            <a:pPr eaLnBrk="1" hangingPunct="1"/>
            <a:r>
              <a:rPr lang="en-US" dirty="0">
                <a:latin typeface="Arial" charset="0"/>
                <a:cs typeface="Arial" charset="0"/>
              </a:rPr>
              <a:t>• Connection: A connection is a network transport that provides a suitable type of service, such connections are transient, peer-to-peer relationships, associated with one session</a:t>
            </a:r>
          </a:p>
          <a:p>
            <a:pPr eaLnBrk="1" hangingPunct="1"/>
            <a:r>
              <a:rPr lang="en-US" dirty="0">
                <a:latin typeface="Arial" charset="0"/>
                <a:cs typeface="Arial" charset="0"/>
              </a:rPr>
              <a:t>• Session: An SSL session is an association between a client and a server, created by the Handshake Protocol. Sessions define a set of cryptographic security parameters, which can be shared among multiple connections. Sessions are used to avoid the expensive negotiation of new security parameters for each connection. </a:t>
            </a:r>
          </a:p>
          <a:p>
            <a:pPr eaLnBrk="1" hangingPunct="1"/>
            <a:r>
              <a:rPr lang="en-US" dirty="0">
                <a:latin typeface="Arial" charset="0"/>
                <a:cs typeface="Arial" charset="0"/>
              </a:rPr>
              <a:t>Between any pair of parties (applications such as HTTP on client and server), there may be multiple secure connections. In theory, there may also be multiple simultaneous sessions between parties, but this feature is not used in practice. </a:t>
            </a:r>
          </a:p>
          <a:p>
            <a:pPr eaLnBrk="1" hangingPunct="1"/>
            <a:r>
              <a:rPr lang="en-US" dirty="0">
                <a:latin typeface="Arial" charset="0"/>
                <a:cs typeface="Arial" charset="0"/>
              </a:rPr>
              <a:t>There are a number of states associated with each session. Once a session is established, there is a current operating state for both read and write (i.e., receive and send). In addition, during the Handshake Protocol, pending read and write states are created. Upon successful conclusion of the Handshake Protocol, the pending states become the current states.  A session state and a connection state are defined by sets of parameters, see text for details.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0716A761-F6A6-4C2B-A1AD-CE542994CB59}" type="slidenum">
              <a:rPr lang="en-AU"/>
              <a:pPr/>
              <a:t>7</a:t>
            </a:fld>
            <a:endParaRPr lang="en-AU"/>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pPr eaLnBrk="1" hangingPunct="1"/>
            <a:r>
              <a:rPr lang="en-US">
                <a:latin typeface="Arial" charset="0"/>
                <a:cs typeface="Arial" charset="0"/>
              </a:rPr>
              <a:t>SSL Record Protocol defines two services for SSL connections:</a:t>
            </a:r>
          </a:p>
          <a:p>
            <a:pPr eaLnBrk="1" hangingPunct="1"/>
            <a:r>
              <a:rPr lang="en-US">
                <a:latin typeface="Arial" charset="0"/>
                <a:cs typeface="Arial" charset="0"/>
              </a:rPr>
              <a:t>• Confidentiality: The Handshake Protocol defines a shared secret key that is used for conventional encryption of SSL payloads. The message is compressed before being concatenated with the MAC and encrypted, with a range of ciphers being supported as shown.</a:t>
            </a:r>
          </a:p>
          <a:p>
            <a:pPr eaLnBrk="1" hangingPunct="1"/>
            <a:r>
              <a:rPr lang="en-US">
                <a:latin typeface="Arial" charset="0"/>
                <a:cs typeface="Arial" charset="0"/>
              </a:rPr>
              <a:t>• Message Integrity: The Handshake Protocol also defines a shared secret key that is used to form a message authentication code (MAC), which is similar to HMAC</a:t>
            </a:r>
          </a:p>
          <a:p>
            <a:pPr eaLnBrk="1" hangingPunct="1"/>
            <a:endParaRPr lang="en-US">
              <a:latin typeface="Arial" charset="0"/>
              <a:cs typeface="Arial" charset="0"/>
            </a:endParaRPr>
          </a:p>
          <a:p>
            <a:pPr eaLnBrk="1" hangingPunct="1"/>
            <a:endParaRPr lang="en-AU">
              <a:latin typeface="Arial" charset="0"/>
              <a:cs typeface="Arial"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0716A761-F6A6-4C2B-A1AD-CE542994CB59}" type="slidenum">
              <a:rPr lang="en-AU"/>
              <a:pPr/>
              <a:t>8</a:t>
            </a:fld>
            <a:endParaRPr lang="en-AU"/>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pPr eaLnBrk="1" hangingPunct="1"/>
            <a:r>
              <a:rPr lang="en-US">
                <a:latin typeface="Arial" charset="0"/>
                <a:cs typeface="Arial" charset="0"/>
              </a:rPr>
              <a:t>SSL Record Protocol defines two services for SSL connections:</a:t>
            </a:r>
          </a:p>
          <a:p>
            <a:pPr eaLnBrk="1" hangingPunct="1"/>
            <a:r>
              <a:rPr lang="en-US">
                <a:latin typeface="Arial" charset="0"/>
                <a:cs typeface="Arial" charset="0"/>
              </a:rPr>
              <a:t>• Confidentiality: The Handshake Protocol defines a shared secret key that is used for conventional encryption of SSL payloads. The message is compressed before being concatenated with the MAC and encrypted, with a range of ciphers being supported as shown.</a:t>
            </a:r>
          </a:p>
          <a:p>
            <a:pPr eaLnBrk="1" hangingPunct="1"/>
            <a:r>
              <a:rPr lang="en-US">
                <a:latin typeface="Arial" charset="0"/>
                <a:cs typeface="Arial" charset="0"/>
              </a:rPr>
              <a:t>• Message Integrity: The Handshake Protocol also defines a shared secret key that is used to form a message authentication code (MAC), which is similar to HMAC</a:t>
            </a:r>
          </a:p>
          <a:p>
            <a:pPr eaLnBrk="1" hangingPunct="1"/>
            <a:endParaRPr lang="en-US">
              <a:latin typeface="Arial" charset="0"/>
              <a:cs typeface="Arial" charset="0"/>
            </a:endParaRPr>
          </a:p>
          <a:p>
            <a:pPr eaLnBrk="1" hangingPunct="1"/>
            <a:endParaRPr lang="en-AU">
              <a:latin typeface="Arial" charset="0"/>
              <a:cs typeface="Arial" charset="0"/>
            </a:endParaRPr>
          </a:p>
        </p:txBody>
      </p:sp>
    </p:spTree>
    <p:extLst>
      <p:ext uri="{BB962C8B-B14F-4D97-AF65-F5344CB8AC3E}">
        <p14:creationId xmlns:p14="http://schemas.microsoft.com/office/powerpoint/2010/main" val="39585431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F930BD13-3D77-48F5-B338-3064E633B62E}" type="slidenum">
              <a:rPr lang="en-AU"/>
              <a:pPr/>
              <a:t>9</a:t>
            </a:fld>
            <a:endParaRPr lang="en-AU"/>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eaLnBrk="1" hangingPunct="1"/>
            <a:r>
              <a:rPr lang="en-US">
                <a:latin typeface="Arial" charset="0"/>
                <a:cs typeface="Arial" charset="0"/>
              </a:rPr>
              <a:t>The Change Cipher Spec Protocol is one of the three SSL-specific protocols that use the SSL Record Protocol, and it is the simplest, consisting of a single message (shown in Stallings Figure 16.5a), which consists of a single byte with the value 1. The sole purpose of this message is to cause the pending state to be copied into the current state, which updates the cipher suite to be used on this connection.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923E92F0-9334-409E-AC09-0D59D240E5E2}" type="slidenum">
              <a:rPr lang="en-AU"/>
              <a:pPr/>
              <a:t>10</a:t>
            </a:fld>
            <a:endParaRPr lang="en-AU"/>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pPr eaLnBrk="1" hangingPunct="1"/>
            <a:r>
              <a:rPr lang="en-US">
                <a:latin typeface="Arial" charset="0"/>
                <a:cs typeface="Arial" charset="0"/>
              </a:rPr>
              <a:t>The Alert Protocol is used to convey SSL-related alerts to the peer entity. As with other applications that use SSL, alert messages are compressed and encrypted, as specified by the current state.</a:t>
            </a:r>
          </a:p>
          <a:p>
            <a:pPr eaLnBrk="1" hangingPunct="1"/>
            <a:r>
              <a:rPr lang="en-US">
                <a:latin typeface="Arial" charset="0"/>
                <a:cs typeface="Arial" charset="0"/>
              </a:rPr>
              <a:t>Each message in this protocol consists of two bytes (as shown in Stallings Figure 16.5b), the first takes the value warning(1) or fatal(2) to convey the severity of the message. The second byte contains a code that indicates the specific alert. The first group shown are the fatal alerts, the others are warnings.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184C2235-B537-4D9E-A2D1-0EE88D625D62}" type="slidenum">
              <a:rPr lang="en-AU"/>
              <a:pPr/>
              <a:t>11</a:t>
            </a:fld>
            <a:endParaRPr lang="en-AU"/>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a:latin typeface="Arial" charset="0"/>
                <a:cs typeface="Arial" charset="0"/>
              </a:rPr>
              <a:t>The most complex part of SSL is the Handshake Protocol. This protocol allows the server and client to authenticate each other and to negotiate an encryption and MAC algorithm and cryptographic keys to be used to protect data sent in an SSL record. The Handshake Protocol is used before any application data is transmitted. The Handshake Protocol consists of a series of messages exchanged by client and server, which have the format shown in Stallings Figure 16.5c, and which can be viewed in 4 phases:</a:t>
            </a:r>
          </a:p>
          <a:p>
            <a:pPr eaLnBrk="1" hangingPunct="1">
              <a:buFontTx/>
              <a:buChar char="•"/>
            </a:pPr>
            <a:r>
              <a:rPr lang="en-US">
                <a:latin typeface="Arial" charset="0"/>
                <a:cs typeface="Arial" charset="0"/>
              </a:rPr>
              <a:t>Phase 1. Establish Security Capabilities - this phase is used  by the client to initiate a logical connection and to establish the security capabilities that will be associated with it</a:t>
            </a:r>
          </a:p>
          <a:p>
            <a:pPr eaLnBrk="1" hangingPunct="1">
              <a:buFontTx/>
              <a:buChar char="•"/>
            </a:pPr>
            <a:r>
              <a:rPr lang="en-US">
                <a:latin typeface="Arial" charset="0"/>
                <a:cs typeface="Arial" charset="0"/>
              </a:rPr>
              <a:t>Phase 2. Server Authentication and Key Exchange - the server begins this phase by sending its certificate if it needs to be authenticated.</a:t>
            </a:r>
          </a:p>
          <a:p>
            <a:pPr eaLnBrk="1" hangingPunct="1">
              <a:buFontTx/>
              <a:buChar char="•"/>
            </a:pPr>
            <a:r>
              <a:rPr lang="en-US">
                <a:latin typeface="Arial" charset="0"/>
                <a:cs typeface="Arial" charset="0"/>
              </a:rPr>
              <a:t>Phase 3. Client Authentication and Key Exchange - the client should verify that the server provided a valid certificate if required and check that the server_hello parameters are acceptable</a:t>
            </a:r>
          </a:p>
          <a:p>
            <a:pPr eaLnBrk="1" hangingPunct="1">
              <a:buFontTx/>
              <a:buChar char="•"/>
            </a:pPr>
            <a:r>
              <a:rPr lang="en-US">
                <a:latin typeface="Arial" charset="0"/>
                <a:cs typeface="Arial" charset="0"/>
              </a:rPr>
              <a:t>Phase 4. Finish - this phase completes the setting up of a secure connection. The client sends a change_cipher_spec message and copies the pending CipherSpec into the current CipherSpec. At this point the handshake is complete and the client and server may begin to exchange application layer data. </a:t>
            </a:r>
          </a:p>
          <a:p>
            <a:pPr eaLnBrk="1" hangingPunct="1"/>
            <a:endParaRPr lang="en-US">
              <a:latin typeface="Arial" charset="0"/>
              <a:cs typeface="Arial"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7A84B49E-75E4-4D8B-A5BB-FA7BF64FB916}" type="slidenum">
              <a:rPr lang="en-AU"/>
              <a:pPr/>
              <a:t>12</a:t>
            </a:fld>
            <a:endParaRPr lang="en-AU"/>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pPr eaLnBrk="1" hangingPunct="1"/>
            <a:r>
              <a:rPr lang="en-US">
                <a:latin typeface="Arial" charset="0"/>
                <a:cs typeface="Arial" charset="0"/>
              </a:rPr>
              <a:t>Stallings Figure16.6 shows the initial exchange needed to establish a logical connection between client and server. The exchange can be viewed as having the four phases discussed previously. Additional details on the operation of these phases is given in the text.</a:t>
            </a:r>
            <a:endParaRPr lang="en-AU">
              <a:latin typeface="Arial" charset="0"/>
              <a:cs typeface="Arial" charset="0"/>
            </a:endParaRPr>
          </a:p>
        </p:txBody>
      </p:sp>
    </p:spTree>
    <p:extLst>
      <p:ext uri="{BB962C8B-B14F-4D97-AF65-F5344CB8AC3E}">
        <p14:creationId xmlns:p14="http://schemas.microsoft.com/office/powerpoint/2010/main" val="13224946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p:cNvSpPr>
          <p:nvPr>
            <p:ph type="sldImg"/>
          </p:nvPr>
        </p:nvSpPr>
        <p:spPr>
          <a:ln/>
        </p:spPr>
      </p:sp>
      <p:sp>
        <p:nvSpPr>
          <p:cNvPr id="43011" name="Notes Placeholder 2"/>
          <p:cNvSpPr>
            <a:spLocks noGrp="1"/>
          </p:cNvSpPr>
          <p:nvPr>
            <p:ph type="body" idx="1"/>
          </p:nvPr>
        </p:nvSpPr>
        <p:spPr>
          <a:noFill/>
          <a:ln/>
        </p:spPr>
        <p:txBody>
          <a:bodyPr/>
          <a:lstStyle/>
          <a:p>
            <a:pPr eaLnBrk="1" hangingPunct="1"/>
            <a:r>
              <a:rPr lang="en-US">
                <a:latin typeface="Arial" charset="0"/>
              </a:rPr>
              <a:t>Two further items are of interest: the creation of a shared master secret by means of the key exchange, and the generation of cryptographic parameters from the master secret. </a:t>
            </a:r>
          </a:p>
          <a:p>
            <a:pPr eaLnBrk="1" hangingPunct="1"/>
            <a:r>
              <a:rPr lang="en-US">
                <a:latin typeface="Arial" charset="0"/>
              </a:rPr>
              <a:t>The shared master secret is a one-time 48-byte value (384 bits) generated for this session by means of secure key exchange. The creation is in two stages. First, a pre_master_secret is exchanged. Second, the master_secret is calculated by both parties. For pre_master_secret exchange, there are two possibilities, using either RSA or Diffie-Hellman. Both sides now compute the master_secret by hashing the relevant information, as detailed in the text.</a:t>
            </a:r>
          </a:p>
          <a:p>
            <a:pPr eaLnBrk="1" hangingPunct="1"/>
            <a:r>
              <a:rPr lang="en-US">
                <a:latin typeface="Arial" charset="0"/>
              </a:rPr>
              <a:t>CipherSpecs require a client write MAC secret, a server write MAC secret, a client write key, a server write key, a client write IV, and a server write IV, which are generated from the master secret in that order. These parameters are generated from the master secret by hashing the master secret into a sequence of secure bytes of sufficient length for all needed parameters.</a:t>
            </a:r>
          </a:p>
        </p:txBody>
      </p:sp>
      <p:sp>
        <p:nvSpPr>
          <p:cNvPr id="43012" name="Slide Number Placeholder 3"/>
          <p:cNvSpPr>
            <a:spLocks noGrp="1"/>
          </p:cNvSpPr>
          <p:nvPr>
            <p:ph type="sldNum" sz="quarter" idx="5"/>
          </p:nvPr>
        </p:nvSpPr>
        <p:spPr>
          <a:noFill/>
        </p:spPr>
        <p:txBody>
          <a:bodyPr/>
          <a:lstStyle/>
          <a:p>
            <a:fld id="{72FD9BA2-FC33-4DB0-AF7C-DD2489715342}" type="slidenum">
              <a:rPr lang="en-AU"/>
              <a:pPr/>
              <a:t>13</a:t>
            </a:fld>
            <a:endParaRPr lang="en-AU"/>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A6F219B9-8671-417B-A6BB-C124F7961D55}" type="slidenum">
              <a:rPr lang="en-AU"/>
              <a:pPr/>
              <a:t>14</a:t>
            </a:fld>
            <a:endParaRPr lang="en-AU"/>
          </a:p>
        </p:txBody>
      </p:sp>
      <p:sp>
        <p:nvSpPr>
          <p:cNvPr id="45059" name="Rectangle 1026"/>
          <p:cNvSpPr>
            <a:spLocks noGrp="1" noRot="1" noChangeAspect="1" noChangeArrowheads="1" noTextEdit="1"/>
          </p:cNvSpPr>
          <p:nvPr>
            <p:ph type="sldImg"/>
          </p:nvPr>
        </p:nvSpPr>
        <p:spPr>
          <a:ln/>
        </p:spPr>
      </p:sp>
      <p:sp>
        <p:nvSpPr>
          <p:cNvPr id="45060" name="Rectangle 1027"/>
          <p:cNvSpPr>
            <a:spLocks noGrp="1" noChangeArrowheads="1"/>
          </p:cNvSpPr>
          <p:nvPr>
            <p:ph type="body" idx="1"/>
          </p:nvPr>
        </p:nvSpPr>
        <p:spPr>
          <a:noFill/>
          <a:ln/>
        </p:spPr>
        <p:txBody>
          <a:bodyPr/>
          <a:lstStyle/>
          <a:p>
            <a:pPr eaLnBrk="1" hangingPunct="1"/>
            <a:r>
              <a:rPr lang="en-US">
                <a:latin typeface="Arial" charset="0"/>
                <a:cs typeface="Arial" charset="0"/>
              </a:rPr>
              <a:t>TLS is an IETF standardization initiative whose goal is to produce an Internet standard version of SSL. TLS is defined as a Proposed Internet Standard in RFC 2246. RFC 2246 is very similar to SSLv3, but with a number of minor differences in the areas shown, as discussed in the text.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p:cNvSpPr>
          <p:nvPr>
            <p:ph type="sldImg"/>
          </p:nvPr>
        </p:nvSpPr>
        <p:spPr>
          <a:ln/>
        </p:spPr>
      </p:sp>
      <p:sp>
        <p:nvSpPr>
          <p:cNvPr id="47107" name="Notes Placeholder 2"/>
          <p:cNvSpPr>
            <a:spLocks noGrp="1"/>
          </p:cNvSpPr>
          <p:nvPr>
            <p:ph type="body" idx="1"/>
          </p:nvPr>
        </p:nvSpPr>
        <p:spPr>
          <a:noFill/>
          <a:ln/>
        </p:spPr>
        <p:txBody>
          <a:bodyPr/>
          <a:lstStyle/>
          <a:p>
            <a:pPr eaLnBrk="1" hangingPunct="1"/>
            <a:r>
              <a:rPr lang="en-US">
                <a:latin typeface="Arial" charset="0"/>
                <a:cs typeface="Arial" charset="0"/>
              </a:rPr>
              <a:t>HTTPS (HTTP over SSL) refers to the combination of HTTP and SSL to implement secure communication between a Web browser and a Web server. The HTTPS capability is built into all modern Web browsers. Its use depends on the Web server supporting HTTPS communication. The principal difference seen by a user of a web browser is that URL (uniform resource locator) addresses begin with https:// rather than http://. A normal HTTP connection uses port 80. If HTTPS is specified, port 443 is specified, which invokes SSL.  When HTTPS is used, the following elements of the communication are encrypted:  URL of the requested document, Contents of the document, Contents of browser forms (filled in by browser user), Cookies sent from browser to server and from server to browser, and Contents of HTTP header. HTTPS is documented in RFC 2818, </a:t>
            </a:r>
            <a:r>
              <a:rPr lang="en-US" i="1">
                <a:latin typeface="Arial" charset="0"/>
                <a:cs typeface="Arial" charset="0"/>
              </a:rPr>
              <a:t>HTTP Over TLS</a:t>
            </a:r>
            <a:r>
              <a:rPr lang="en-US">
                <a:latin typeface="Arial" charset="0"/>
                <a:cs typeface="Arial" charset="0"/>
              </a:rPr>
              <a:t>. There is no fundamental change in using HTTP over either SSL or TLS, and both implementations are referred to as HTTPS. </a:t>
            </a:r>
          </a:p>
        </p:txBody>
      </p:sp>
      <p:sp>
        <p:nvSpPr>
          <p:cNvPr id="47108" name="Slide Number Placeholder 3"/>
          <p:cNvSpPr>
            <a:spLocks noGrp="1"/>
          </p:cNvSpPr>
          <p:nvPr>
            <p:ph type="sldNum" sz="quarter" idx="5"/>
          </p:nvPr>
        </p:nvSpPr>
        <p:spPr>
          <a:noFill/>
        </p:spPr>
        <p:txBody>
          <a:bodyPr/>
          <a:lstStyle/>
          <a:p>
            <a:fld id="{3EFBFB72-3236-480B-8334-2A392BC905B6}" type="slidenum">
              <a:rPr lang="en-AU"/>
              <a:pPr/>
              <a:t>15</a:t>
            </a:fld>
            <a:endParaRPr lang="en-AU"/>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a:bodyPr>
          <a:lstStyle/>
          <a:p>
            <a:pPr eaLnBrk="1" hangingPunct="1"/>
            <a:r>
              <a:rPr lang="en-US" sz="1100" dirty="0">
                <a:latin typeface="Arial" charset="0"/>
              </a:rPr>
              <a:t>For HTTPS, the agent acting as the HTTP client also acts as the TLS client. The client initiates a connection to the server on the appropriate port and then sends the TLS </a:t>
            </a:r>
            <a:r>
              <a:rPr lang="en-US" sz="1100" dirty="0" err="1">
                <a:latin typeface="Arial" charset="0"/>
              </a:rPr>
              <a:t>ClientHello</a:t>
            </a:r>
            <a:r>
              <a:rPr lang="en-US" sz="1100" dirty="0">
                <a:latin typeface="Arial" charset="0"/>
              </a:rPr>
              <a:t> to begin the TLS handshake. When the TLS handshake has finished. The client may then initiate the first HTTP request. All HTTP data is to be sent as TLS application data. Normal HTTP behavior, including retained connections is followed. </a:t>
            </a:r>
          </a:p>
          <a:p>
            <a:pPr eaLnBrk="1" hangingPunct="1"/>
            <a:r>
              <a:rPr lang="en-US" sz="1100" dirty="0">
                <a:latin typeface="Arial" charset="0"/>
              </a:rPr>
              <a:t>An HTTP client or server can indicate the closing of a connection by including in an HTTP record: “Connection: close”. This indicates that the connection will be closed after this record is delivered. The closure of an HTTPS connection requires that TLS close the connection with the peer TLS entity on the remote side, which will involve closing the underlying TCP connection. At the TLS level, the proper way to close a connection is for each side to use the TLS alert protocol to send a </a:t>
            </a:r>
            <a:r>
              <a:rPr lang="en-US" sz="1100" dirty="0" err="1">
                <a:latin typeface="Arial" charset="0"/>
              </a:rPr>
              <a:t>close_notify</a:t>
            </a:r>
            <a:r>
              <a:rPr lang="en-US" sz="1100" dirty="0">
                <a:latin typeface="Arial" charset="0"/>
              </a:rPr>
              <a:t> alert. TLS implementations must initiate an exchange of closure alerts before closing a connection. A TLS implementation may, after sending a closure alert, close the connection without waiting for the peer to send its closure alert, generating an "incomplete close". Note that an implementation that does this may choose to reuse the session. This should only be done when the application knows (typically through detecting HTTP message boundaries) that it has received all the message data that it cares about.  HTTP clients must also be able to cope with a situation in which the underlying TCP connection is terminated without a prior </a:t>
            </a:r>
            <a:r>
              <a:rPr lang="en-US" sz="1100" dirty="0" err="1">
                <a:latin typeface="Arial" charset="0"/>
              </a:rPr>
              <a:t>close_notify</a:t>
            </a:r>
            <a:r>
              <a:rPr lang="en-US" sz="1100" dirty="0">
                <a:latin typeface="Arial" charset="0"/>
              </a:rPr>
              <a:t> alert and without a Connection: close indicator. Such a situation could be due to a programming error on the server, or a communication error that causes the TCP connection to drop. However, the unannounced TCP closure could be evidence of some sort of attack. So the HTTPS client should issue some sort of security warning when this occurs. </a:t>
            </a:r>
          </a:p>
        </p:txBody>
      </p:sp>
      <p:sp>
        <p:nvSpPr>
          <p:cNvPr id="49156" name="Slide Number Placeholder 3"/>
          <p:cNvSpPr>
            <a:spLocks noGrp="1"/>
          </p:cNvSpPr>
          <p:nvPr>
            <p:ph type="sldNum" sz="quarter" idx="5"/>
          </p:nvPr>
        </p:nvSpPr>
        <p:spPr>
          <a:noFill/>
        </p:spPr>
        <p:txBody>
          <a:bodyPr/>
          <a:lstStyle/>
          <a:p>
            <a:fld id="{35D7E1E8-5AB4-431D-9C3C-29E933FFF100}" type="slidenum">
              <a:rPr lang="en-AU"/>
              <a:pPr/>
              <a:t>16</a:t>
            </a:fld>
            <a:endParaRPr lang="en-AU"/>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a:bodyPr>
          <a:lstStyle/>
          <a:p>
            <a:pPr eaLnBrk="1" hangingPunct="1"/>
            <a:r>
              <a:rPr lang="en-US" sz="1100">
                <a:latin typeface="Arial" charset="0"/>
              </a:rPr>
              <a:t>For HTTPS, the agent acting as the HTTP client also acts as the TLS client. The client initiates a connection to the server on the appropriate port and then sends the TLS ClientHello to begin the TLS handshake. When the TLS handshake has finished. The client may then initiate the first HTTP request. All HTTP data is to be sent as TLS application data. Normal HTTP behavior, including retained connections is followed. </a:t>
            </a:r>
          </a:p>
          <a:p>
            <a:pPr eaLnBrk="1" hangingPunct="1"/>
            <a:r>
              <a:rPr lang="en-US" sz="1100">
                <a:latin typeface="Arial" charset="0"/>
              </a:rPr>
              <a:t>An HTTP client or server can indicate the closing of a connection by including in an HTTP record: “Connection: close”. This indicates that the connection will be closed after this record is delivered. The closure of an HTTPS connection requires that TLS close the connection with the peer TLS entity on the remote side, which will involve closing the underlying TCP connection. At the TLS level, the proper way to close a connection is for each side to use the TLS alert protocol to send a close_notify alert. TLS implementations must initiate an exchange of closure alerts before closing a connection. A TLS implementation may, after sending a closure alert, close the connection without waiting for the peer to send its closure alert, generating an "incomplete close". Note that an implementation that does this may choose to reuse the session. This should only be done when the application knows (typically through detecting HTTP message boundaries) that it has received all the message data that it cares about.  HTTP clients must also be able to cope with a situation in which the underlying TCP connection is terminated without a prior close_notify alert and without a Connection: close indicator. Such a situation could be due to a programming error on the server, or a communication error that causes the TCP connection to drop. However, the unannounced TCP closure could be evidence of some sort of attack. So the HTTPS client should issue some sort of security warning when this occurs. </a:t>
            </a:r>
          </a:p>
        </p:txBody>
      </p:sp>
      <p:sp>
        <p:nvSpPr>
          <p:cNvPr id="49156" name="Slide Number Placeholder 3"/>
          <p:cNvSpPr>
            <a:spLocks noGrp="1"/>
          </p:cNvSpPr>
          <p:nvPr>
            <p:ph type="sldNum" sz="quarter" idx="5"/>
          </p:nvPr>
        </p:nvSpPr>
        <p:spPr>
          <a:noFill/>
        </p:spPr>
        <p:txBody>
          <a:bodyPr/>
          <a:lstStyle/>
          <a:p>
            <a:fld id="{35D7E1E8-5AB4-431D-9C3C-29E933FFF100}" type="slidenum">
              <a:rPr lang="en-AU"/>
              <a:pPr/>
              <a:t>17</a:t>
            </a:fld>
            <a:endParaRPr lang="en-AU"/>
          </a:p>
        </p:txBody>
      </p:sp>
    </p:spTree>
    <p:extLst>
      <p:ext uri="{BB962C8B-B14F-4D97-AF65-F5344CB8AC3E}">
        <p14:creationId xmlns:p14="http://schemas.microsoft.com/office/powerpoint/2010/main" val="2501033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3F52183-0F10-482F-A008-88C859539C24}" type="datetimeFigureOut">
              <a:rPr lang="en-US" smtClean="0"/>
              <a:pPr/>
              <a:t>12/27/2021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F52183-0F10-482F-A008-88C859539C24}" type="datetimeFigureOut">
              <a:rPr lang="en-US" smtClean="0"/>
              <a:pPr/>
              <a:t>12/27/2021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F52183-0F10-482F-A008-88C859539C24}" type="datetimeFigureOut">
              <a:rPr lang="en-US" smtClean="0"/>
              <a:pPr/>
              <a:t>12/27/2021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3F52183-0F10-482F-A008-88C859539C24}" type="datetimeFigureOut">
              <a:rPr lang="en-US" smtClean="0"/>
              <a:pPr/>
              <a:t>12/27/2021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3F52183-0F10-482F-A008-88C859539C24}" type="datetimeFigureOut">
              <a:rPr lang="en-US" smtClean="0"/>
              <a:pPr/>
              <a:t>12/27/2021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3F52183-0F10-482F-A008-88C859539C24}" type="datetimeFigureOut">
              <a:rPr lang="en-US" smtClean="0"/>
              <a:pPr/>
              <a:t>12/27/2021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F52183-0F10-482F-A008-88C859539C24}" type="datetimeFigureOut">
              <a:rPr lang="en-US" smtClean="0"/>
              <a:pPr/>
              <a:t>12/27/2021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3F52183-0F10-482F-A008-88C859539C24}" type="datetimeFigureOut">
              <a:rPr lang="en-US" smtClean="0"/>
              <a:pPr/>
              <a:t>12/27/2021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3F52183-0F10-482F-A008-88C859539C24}" type="datetimeFigureOut">
              <a:rPr lang="en-US" smtClean="0"/>
              <a:pPr/>
              <a:t>12/27/2021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F52183-0F10-482F-A008-88C859539C24}" type="datetimeFigureOut">
              <a:rPr lang="en-US" smtClean="0"/>
              <a:pPr/>
              <a:t>12/27/2021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F52183-0F10-482F-A008-88C859539C24}" type="datetimeFigureOut">
              <a:rPr lang="en-US" smtClean="0"/>
              <a:pPr/>
              <a:t>12/27/2021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F52183-0F10-482F-A008-88C859539C24}" type="datetimeFigureOut">
              <a:rPr lang="en-US" smtClean="0"/>
              <a:pPr/>
              <a:t>12/27/2021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3C8417-55E2-4D73-B9D1-0236301837F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 name="Rectangle 71">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2706" name="Rectangle 1026"/>
          <p:cNvSpPr>
            <a:spLocks noGrp="1" noChangeArrowheads="1"/>
          </p:cNvSpPr>
          <p:nvPr>
            <p:ph type="ctrTitle"/>
          </p:nvPr>
        </p:nvSpPr>
        <p:spPr>
          <a:xfrm>
            <a:off x="582930" y="731519"/>
            <a:ext cx="2133893" cy="3237579"/>
          </a:xfrm>
        </p:spPr>
        <p:txBody>
          <a:bodyPr vert="horz" lIns="91440" tIns="45720" rIns="91440" bIns="45720" rtlCol="0" anchor="ctr">
            <a:normAutofit/>
          </a:bodyPr>
          <a:lstStyle/>
          <a:p>
            <a:pPr algn="l">
              <a:lnSpc>
                <a:spcPct val="90000"/>
              </a:lnSpc>
            </a:pPr>
            <a:r>
              <a:rPr lang="en-US" sz="2800" kern="1200" dirty="0">
                <a:solidFill>
                  <a:srgbClr val="FFFFFF"/>
                </a:solidFill>
                <a:latin typeface="+mj-lt"/>
                <a:ea typeface="+mj-ea"/>
                <a:cs typeface="+mj-cs"/>
              </a:rPr>
              <a:t>Cryptography and Network Security</a:t>
            </a:r>
            <a:br>
              <a:rPr lang="en-US" sz="2800" kern="1200" dirty="0">
                <a:solidFill>
                  <a:srgbClr val="FFFFFF"/>
                </a:solidFill>
                <a:latin typeface="+mj-lt"/>
                <a:ea typeface="+mj-ea"/>
                <a:cs typeface="+mj-cs"/>
              </a:rPr>
            </a:br>
            <a:r>
              <a:rPr lang="en-US" sz="2800" kern="1200" dirty="0">
                <a:solidFill>
                  <a:srgbClr val="FFFFFF"/>
                </a:solidFill>
                <a:latin typeface="+mj-lt"/>
                <a:ea typeface="+mj-ea"/>
                <a:cs typeface="+mj-cs"/>
              </a:rPr>
              <a:t>Chapter 16</a:t>
            </a:r>
          </a:p>
        </p:txBody>
      </p:sp>
      <p:sp>
        <p:nvSpPr>
          <p:cNvPr id="74" name="Rectangle 73">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76" name="Rectangle 75">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72F2E1E-2A80-43EA-B3E7-9E98E7F9970F}"/>
              </a:ext>
            </a:extLst>
          </p:cNvPr>
          <p:cNvSpPr txBox="1"/>
          <p:nvPr/>
        </p:nvSpPr>
        <p:spPr>
          <a:xfrm>
            <a:off x="547895" y="4878238"/>
            <a:ext cx="2118666" cy="1200329"/>
          </a:xfrm>
          <a:prstGeom prst="rect">
            <a:avLst/>
          </a:prstGeom>
          <a:noFill/>
        </p:spPr>
        <p:txBody>
          <a:bodyPr wrap="square">
            <a:spAutoFit/>
          </a:bodyPr>
          <a:lstStyle/>
          <a:p>
            <a:pPr indent="-228600" algn="l">
              <a:lnSpc>
                <a:spcPct val="90000"/>
              </a:lnSpc>
              <a:buFont typeface="Arial" panose="020B0604020202020204" pitchFamily="34" charset="0"/>
              <a:buChar char="•"/>
            </a:pPr>
            <a:r>
              <a:rPr lang="en-US" sz="1600" dirty="0">
                <a:solidFill>
                  <a:schemeClr val="bg1"/>
                </a:solidFill>
              </a:rPr>
              <a:t>Fifth Edition</a:t>
            </a:r>
          </a:p>
          <a:p>
            <a:pPr indent="228600" algn="l">
              <a:lnSpc>
                <a:spcPct val="90000"/>
              </a:lnSpc>
            </a:pPr>
            <a:r>
              <a:rPr lang="en-US" sz="1600" dirty="0">
                <a:solidFill>
                  <a:schemeClr val="bg1"/>
                </a:solidFill>
              </a:rPr>
              <a:t>by William Stallings	</a:t>
            </a:r>
          </a:p>
          <a:p>
            <a:pPr indent="-228600" algn="l">
              <a:lnSpc>
                <a:spcPct val="90000"/>
              </a:lnSpc>
              <a:buFont typeface="Arial" panose="020B0604020202020204" pitchFamily="34" charset="0"/>
              <a:buChar char="•"/>
            </a:pPr>
            <a:endParaRPr lang="en-US" sz="1600" dirty="0">
              <a:solidFill>
                <a:schemeClr val="bg1"/>
              </a:solidFill>
            </a:endParaRPr>
          </a:p>
          <a:p>
            <a:pPr indent="-228600" algn="l">
              <a:lnSpc>
                <a:spcPct val="90000"/>
              </a:lnSpc>
              <a:buFont typeface="Arial" panose="020B0604020202020204" pitchFamily="34" charset="0"/>
              <a:buChar char="•"/>
            </a:pPr>
            <a:r>
              <a:rPr lang="en-US" sz="1600" dirty="0">
                <a:solidFill>
                  <a:schemeClr val="bg1"/>
                </a:solidFill>
              </a:rPr>
              <a:t>Lecture slides by</a:t>
            </a:r>
          </a:p>
          <a:p>
            <a:pPr indent="228600" algn="l">
              <a:lnSpc>
                <a:spcPct val="90000"/>
              </a:lnSpc>
            </a:pPr>
            <a:r>
              <a:rPr lang="en-US" sz="1600" dirty="0">
                <a:solidFill>
                  <a:schemeClr val="bg1"/>
                </a:solidFill>
              </a:rPr>
              <a:t>Lawrie Brown</a:t>
            </a:r>
          </a:p>
        </p:txBody>
      </p:sp>
      <p:sp>
        <p:nvSpPr>
          <p:cNvPr id="9" name="Rectangle 3">
            <a:extLst>
              <a:ext uri="{FF2B5EF4-FFF2-40B4-BE49-F238E27FC236}">
                <a16:creationId xmlns:a16="http://schemas.microsoft.com/office/drawing/2014/main" id="{77D0B7EE-EEE3-49BD-8049-75FFAC14A38A}"/>
              </a:ext>
            </a:extLst>
          </p:cNvPr>
          <p:cNvSpPr>
            <a:spLocks noGrp="1" noChangeArrowheads="1"/>
          </p:cNvSpPr>
          <p:nvPr>
            <p:ph type="subTitle" idx="1"/>
          </p:nvPr>
        </p:nvSpPr>
        <p:spPr>
          <a:xfrm>
            <a:off x="3284781" y="686862"/>
            <a:ext cx="5278194" cy="5475129"/>
          </a:xfrm>
        </p:spPr>
        <p:txBody>
          <a:bodyPr vert="horz" lIns="91440" tIns="45720" rIns="91440" bIns="45720" rtlCol="0" anchor="ctr">
            <a:normAutofit/>
          </a:bodyPr>
          <a:lstStyle/>
          <a:p>
            <a:pPr>
              <a:lnSpc>
                <a:spcPct val="90000"/>
              </a:lnSpc>
            </a:pPr>
            <a:endParaRPr lang="en-US" sz="3600" dirty="0">
              <a:solidFill>
                <a:schemeClr val="tx1"/>
              </a:solidFill>
              <a:ea typeface="ＭＳ Ｐゴシック" pitchFamily="-107" charset="-128"/>
            </a:endParaRPr>
          </a:p>
          <a:p>
            <a:pPr>
              <a:lnSpc>
                <a:spcPct val="90000"/>
              </a:lnSpc>
            </a:pPr>
            <a:r>
              <a:rPr lang="en-US" sz="3600" dirty="0">
                <a:solidFill>
                  <a:schemeClr val="tx1"/>
                </a:solidFill>
              </a:rPr>
              <a:t>Transport-Level Security</a:t>
            </a:r>
            <a:endParaRPr lang="en-US" sz="3600" dirty="0">
              <a:solidFill>
                <a:schemeClr val="tx1"/>
              </a:solidFill>
              <a:ea typeface="ＭＳ Ｐゴシック" pitchFamily="-107" charset="-128"/>
            </a:endParaRPr>
          </a:p>
          <a:p>
            <a:pPr>
              <a:spcBef>
                <a:spcPts val="0"/>
              </a:spcBef>
            </a:pPr>
            <a:endParaRPr lang="en-US" sz="2400" dirty="0">
              <a:solidFill>
                <a:schemeClr val="tx1"/>
              </a:solidFill>
            </a:endParaRPr>
          </a:p>
          <a:p>
            <a:pPr>
              <a:spcBef>
                <a:spcPts val="0"/>
              </a:spcBef>
            </a:pPr>
            <a:endParaRPr lang="en-US" sz="2400" dirty="0">
              <a:solidFill>
                <a:schemeClr val="tx1"/>
              </a:solidFill>
            </a:endParaRPr>
          </a:p>
          <a:p>
            <a:pPr>
              <a:spcBef>
                <a:spcPts val="0"/>
              </a:spcBef>
            </a:pPr>
            <a:endParaRPr lang="en-US" sz="2400" dirty="0">
              <a:solidFill>
                <a:schemeClr val="tx1"/>
              </a:solidFill>
            </a:endParaRPr>
          </a:p>
          <a:p>
            <a:pPr>
              <a:spcBef>
                <a:spcPts val="0"/>
              </a:spcBef>
            </a:pPr>
            <a:r>
              <a:rPr lang="en-US" sz="2400" dirty="0">
                <a:solidFill>
                  <a:schemeClr val="tx1"/>
                </a:solidFill>
              </a:rPr>
              <a:t>Arabic Language Audio Comments by</a:t>
            </a:r>
          </a:p>
          <a:p>
            <a:pPr>
              <a:spcBef>
                <a:spcPts val="0"/>
              </a:spcBef>
            </a:pPr>
            <a:r>
              <a:rPr lang="en-US" sz="2400" dirty="0">
                <a:solidFill>
                  <a:schemeClr val="tx1"/>
                </a:solidFill>
              </a:rPr>
              <a:t>Prof. Mohamed Ashraf Madkour</a:t>
            </a:r>
          </a:p>
          <a:p>
            <a:pPr>
              <a:lnSpc>
                <a:spcPct val="90000"/>
              </a:lnSpc>
            </a:pPr>
            <a:endParaRPr lang="en-US" sz="36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6082" name="Rectangle 2"/>
          <p:cNvSpPr>
            <a:spLocks noGrp="1" noChangeArrowheads="1"/>
          </p:cNvSpPr>
          <p:nvPr>
            <p:ph type="title"/>
          </p:nvPr>
        </p:nvSpPr>
        <p:spPr>
          <a:xfrm>
            <a:off x="718879" y="800392"/>
            <a:ext cx="7698523" cy="1212102"/>
          </a:xfrm>
        </p:spPr>
        <p:txBody>
          <a:bodyPr>
            <a:normAutofit/>
          </a:bodyPr>
          <a:lstStyle/>
          <a:p>
            <a:pPr eaLnBrk="1" hangingPunct="1"/>
            <a:r>
              <a:rPr lang="en-US" sz="3500">
                <a:solidFill>
                  <a:srgbClr val="FFFFFF"/>
                </a:solidFill>
              </a:rPr>
              <a:t>Web Security</a:t>
            </a:r>
            <a:endParaRPr lang="en-AU" sz="3500">
              <a:solidFill>
                <a:srgbClr val="FFFFFF"/>
              </a:solidFill>
            </a:endParaRPr>
          </a:p>
        </p:txBody>
      </p:sp>
      <p:sp>
        <p:nvSpPr>
          <p:cNvPr id="46083" name="Rectangle 3"/>
          <p:cNvSpPr>
            <a:spLocks noGrp="1" noChangeArrowheads="1"/>
          </p:cNvSpPr>
          <p:nvPr>
            <p:ph type="body" idx="1"/>
          </p:nvPr>
        </p:nvSpPr>
        <p:spPr>
          <a:xfrm>
            <a:off x="1025718" y="2490436"/>
            <a:ext cx="7281746" cy="3567173"/>
          </a:xfrm>
        </p:spPr>
        <p:txBody>
          <a:bodyPr anchor="ctr">
            <a:normAutofit/>
          </a:bodyPr>
          <a:lstStyle/>
          <a:p>
            <a:pPr eaLnBrk="1" hangingPunct="1">
              <a:buFont typeface="Wingdings" panose="05000000000000000000" pitchFamily="2" charset="2"/>
              <a:buChar char="Ø"/>
            </a:pPr>
            <a:r>
              <a:rPr lang="en-US" sz="2100" dirty="0"/>
              <a:t>Web now widely used by business, government, individuals</a:t>
            </a:r>
          </a:p>
          <a:p>
            <a:pPr eaLnBrk="1" hangingPunct="1">
              <a:buFont typeface="Wingdings" panose="05000000000000000000" pitchFamily="2" charset="2"/>
              <a:buChar char="Ø"/>
            </a:pPr>
            <a:r>
              <a:rPr lang="en-US" sz="2100" dirty="0"/>
              <a:t>but Internet &amp; Web are vulnerable</a:t>
            </a:r>
          </a:p>
          <a:p>
            <a:pPr eaLnBrk="1" hangingPunct="1">
              <a:buFont typeface="Wingdings" panose="05000000000000000000" pitchFamily="2" charset="2"/>
              <a:buChar char="Ø"/>
            </a:pPr>
            <a:r>
              <a:rPr lang="en-US" sz="2100" dirty="0"/>
              <a:t>have a variety of threats</a:t>
            </a:r>
          </a:p>
          <a:p>
            <a:pPr lvl="1" eaLnBrk="1" hangingPunct="1">
              <a:buFont typeface="Arial" panose="020B0604020202020204" pitchFamily="34" charset="0"/>
              <a:buChar char="•"/>
            </a:pPr>
            <a:r>
              <a:rPr lang="en-US" sz="2100" dirty="0"/>
              <a:t>integrity</a:t>
            </a:r>
          </a:p>
          <a:p>
            <a:pPr lvl="1" eaLnBrk="1" hangingPunct="1">
              <a:buFont typeface="Arial" panose="020B0604020202020204" pitchFamily="34" charset="0"/>
              <a:buChar char="•"/>
            </a:pPr>
            <a:r>
              <a:rPr lang="en-US" sz="2100" dirty="0"/>
              <a:t>confidentiality</a:t>
            </a:r>
          </a:p>
          <a:p>
            <a:pPr lvl="1" eaLnBrk="1" hangingPunct="1">
              <a:buFont typeface="Arial" panose="020B0604020202020204" pitchFamily="34" charset="0"/>
              <a:buChar char="•"/>
            </a:pPr>
            <a:r>
              <a:rPr lang="en-US" sz="2100" dirty="0"/>
              <a:t>denial of service</a:t>
            </a:r>
          </a:p>
          <a:p>
            <a:pPr lvl="1" eaLnBrk="1" hangingPunct="1">
              <a:buFont typeface="Arial" panose="020B0604020202020204" pitchFamily="34" charset="0"/>
              <a:buChar char="•"/>
            </a:pPr>
            <a:r>
              <a:rPr lang="en-US" sz="2100" dirty="0"/>
              <a:t>authentication</a:t>
            </a:r>
          </a:p>
          <a:p>
            <a:pPr eaLnBrk="1" hangingPunct="1">
              <a:buFont typeface="Wingdings" panose="05000000000000000000" pitchFamily="2" charset="2"/>
              <a:buChar char="Ø"/>
            </a:pPr>
            <a:r>
              <a:rPr lang="en-US" sz="2100" dirty="0"/>
              <a:t>need added security mechanisms</a:t>
            </a:r>
            <a:endParaRPr lang="en-AU"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F4C0B10B-D2C4-4A54-AFAD-3D27DF88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4" name="Group 73">
            <a:extLst>
              <a:ext uri="{FF2B5EF4-FFF2-40B4-BE49-F238E27FC236}">
                <a16:creationId xmlns:a16="http://schemas.microsoft.com/office/drawing/2014/main" id="{B6BADB90-C74B-40D6-86DC-503F65FCE8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7282" y="635715"/>
            <a:ext cx="8356656" cy="2482136"/>
            <a:chOff x="409710" y="635715"/>
            <a:chExt cx="11142208" cy="2482136"/>
          </a:xfrm>
        </p:grpSpPr>
        <p:sp>
          <p:nvSpPr>
            <p:cNvPr id="75" name="Freeform 44">
              <a:extLst>
                <a:ext uri="{FF2B5EF4-FFF2-40B4-BE49-F238E27FC236}">
                  <a16:creationId xmlns:a16="http://schemas.microsoft.com/office/drawing/2014/main" id="{6559431D-1886-4AE0-9B87-9AD2ECAB843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5">
              <a:extLst>
                <a:ext uri="{FF2B5EF4-FFF2-40B4-BE49-F238E27FC236}">
                  <a16:creationId xmlns:a16="http://schemas.microsoft.com/office/drawing/2014/main" id="{373850A5-B04A-4FCD-9E73-EE322167FB3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46">
              <a:extLst>
                <a:ext uri="{FF2B5EF4-FFF2-40B4-BE49-F238E27FC236}">
                  <a16:creationId xmlns:a16="http://schemas.microsoft.com/office/drawing/2014/main" id="{82C18C67-80FA-4738-AA53-0AF2419F98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8543B1A-8BF5-4C63-8404-41B2EA70B3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Rectangle 78">
              <a:extLst>
                <a:ext uri="{FF2B5EF4-FFF2-40B4-BE49-F238E27FC236}">
                  <a16:creationId xmlns:a16="http://schemas.microsoft.com/office/drawing/2014/main" id="{92DF5096-E051-498C-A3ED-CBA77A813AA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785460" y="759805"/>
            <a:ext cx="7729890" cy="1325563"/>
          </a:xfrm>
        </p:spPr>
        <p:txBody>
          <a:bodyPr vert="horz" lIns="91440" tIns="45720" rIns="91440" bIns="45720" rtlCol="0" anchor="ctr">
            <a:normAutofit/>
          </a:bodyPr>
          <a:lstStyle/>
          <a:p>
            <a:pPr>
              <a:lnSpc>
                <a:spcPct val="90000"/>
              </a:lnSpc>
              <a:defRPr/>
            </a:pPr>
            <a:r>
              <a:rPr lang="en-US" sz="3500" dirty="0">
                <a:solidFill>
                  <a:srgbClr val="FFFFFF"/>
                </a:solidFill>
              </a:rPr>
              <a:t>Web Traffic Security Approaches</a:t>
            </a:r>
          </a:p>
        </p:txBody>
      </p:sp>
      <p:sp>
        <p:nvSpPr>
          <p:cNvPr id="3" name="TextBox 2"/>
          <p:cNvSpPr txBox="1"/>
          <p:nvPr/>
        </p:nvSpPr>
        <p:spPr>
          <a:xfrm>
            <a:off x="1068678" y="4858834"/>
            <a:ext cx="7595183" cy="1391750"/>
          </a:xfrm>
          <a:prstGeom prst="rect">
            <a:avLst/>
          </a:prstGeom>
        </p:spPr>
        <p:txBody>
          <a:bodyPr vert="horz" lIns="91440" tIns="45720" rIns="91440" bIns="45720" rtlCol="0">
            <a:noAutofit/>
          </a:bodyPr>
          <a:lstStyle/>
          <a:p>
            <a:pPr>
              <a:lnSpc>
                <a:spcPct val="90000"/>
              </a:lnSpc>
              <a:spcAft>
                <a:spcPts val="600"/>
              </a:spcAft>
            </a:pPr>
            <a:r>
              <a:rPr lang="en-US" sz="2000" dirty="0"/>
              <a:t>Several approaches to providing Web security are possible. The various approaches that have been considered are similar in the services they provide and, to some extent, in the mechanisms that they use, but they differ with respect to their scope of applicability and their relative location within the TCP/IP protocol stack. </a:t>
            </a:r>
          </a:p>
        </p:txBody>
      </p:sp>
      <p:pic>
        <p:nvPicPr>
          <p:cNvPr id="12" name="Picture 3">
            <a:extLst>
              <a:ext uri="{FF2B5EF4-FFF2-40B4-BE49-F238E27FC236}">
                <a16:creationId xmlns:a16="http://schemas.microsoft.com/office/drawing/2014/main" id="{81D225BD-85F8-4616-B5E1-E5CEB259343E}"/>
              </a:ext>
            </a:extLst>
          </p:cNvPr>
          <p:cNvPicPr>
            <a:picLocks noChangeAspect="1"/>
          </p:cNvPicPr>
          <p:nvPr/>
        </p:nvPicPr>
        <p:blipFill>
          <a:blip r:embed="rId3" cstate="print"/>
          <a:srcRect/>
          <a:stretch>
            <a:fillRect/>
          </a:stretch>
        </p:blipFill>
        <p:spPr bwMode="auto">
          <a:xfrm>
            <a:off x="533400" y="2489200"/>
            <a:ext cx="8247084" cy="2146300"/>
          </a:xfrm>
          <a:prstGeom prst="rect">
            <a:avLst/>
          </a:prstGeom>
          <a:noFill/>
          <a:ln w="9525">
            <a:noFill/>
            <a:miter lim="800000"/>
            <a:headEnd/>
            <a:tailEnd/>
          </a:ln>
        </p:spPr>
      </p:pic>
    </p:spTree>
    <p:extLst>
      <p:ext uri="{BB962C8B-B14F-4D97-AF65-F5344CB8AC3E}">
        <p14:creationId xmlns:p14="http://schemas.microsoft.com/office/powerpoint/2010/main" val="794553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7106" name="Rectangle 2"/>
          <p:cNvSpPr>
            <a:spLocks noGrp="1" noChangeArrowheads="1"/>
          </p:cNvSpPr>
          <p:nvPr>
            <p:ph type="title"/>
          </p:nvPr>
        </p:nvSpPr>
        <p:spPr>
          <a:xfrm>
            <a:off x="718879" y="800392"/>
            <a:ext cx="7698523" cy="1212102"/>
          </a:xfrm>
        </p:spPr>
        <p:txBody>
          <a:bodyPr>
            <a:normAutofit/>
          </a:bodyPr>
          <a:lstStyle/>
          <a:p>
            <a:pPr eaLnBrk="1" hangingPunct="1"/>
            <a:r>
              <a:rPr lang="en-US" sz="3600" dirty="0">
                <a:solidFill>
                  <a:schemeClr val="bg1"/>
                </a:solidFill>
              </a:rPr>
              <a:t>SSL (Secure Socket Layer)</a:t>
            </a:r>
            <a:endParaRPr lang="en-AU" sz="3500" dirty="0">
              <a:solidFill>
                <a:schemeClr val="bg1"/>
              </a:solidFill>
            </a:endParaRPr>
          </a:p>
        </p:txBody>
      </p:sp>
      <p:sp>
        <p:nvSpPr>
          <p:cNvPr id="47107" name="Rectangle 3"/>
          <p:cNvSpPr>
            <a:spLocks noGrp="1" noChangeArrowheads="1"/>
          </p:cNvSpPr>
          <p:nvPr>
            <p:ph type="body" idx="1"/>
          </p:nvPr>
        </p:nvSpPr>
        <p:spPr>
          <a:xfrm>
            <a:off x="1025718" y="2490436"/>
            <a:ext cx="7281746" cy="3567173"/>
          </a:xfrm>
        </p:spPr>
        <p:txBody>
          <a:bodyPr anchor="ctr">
            <a:normAutofit/>
          </a:bodyPr>
          <a:lstStyle/>
          <a:p>
            <a:pPr marL="461963" indent="-461963" eaLnBrk="1" hangingPunct="1">
              <a:buFont typeface="Wingdings" panose="05000000000000000000" pitchFamily="2" charset="2"/>
              <a:buChar char="Ø"/>
            </a:pPr>
            <a:r>
              <a:rPr lang="en-US" sz="2100" dirty="0"/>
              <a:t>transport layer security service</a:t>
            </a:r>
          </a:p>
          <a:p>
            <a:pPr marL="461963" indent="-461963" eaLnBrk="1" hangingPunct="1">
              <a:buFont typeface="Wingdings" panose="05000000000000000000" pitchFamily="2" charset="2"/>
              <a:buChar char="Ø"/>
            </a:pPr>
            <a:r>
              <a:rPr lang="en-US" sz="2100" dirty="0"/>
              <a:t>originally developed by Netscape</a:t>
            </a:r>
          </a:p>
          <a:p>
            <a:pPr marL="461963" indent="-461963" eaLnBrk="1" hangingPunct="1">
              <a:buFont typeface="Wingdings" panose="05000000000000000000" pitchFamily="2" charset="2"/>
              <a:buChar char="Ø"/>
            </a:pPr>
            <a:r>
              <a:rPr lang="en-US" sz="2100" dirty="0"/>
              <a:t>version 3 designed with public input</a:t>
            </a:r>
          </a:p>
          <a:p>
            <a:pPr marL="461963" indent="-461963" eaLnBrk="1" hangingPunct="1">
              <a:buFont typeface="Wingdings" panose="05000000000000000000" pitchFamily="2" charset="2"/>
              <a:buChar char="Ø"/>
            </a:pPr>
            <a:r>
              <a:rPr lang="en-US" sz="2100" dirty="0"/>
              <a:t>subsequently became Internet standard known as TLS (Transport Layer Security)</a:t>
            </a:r>
          </a:p>
          <a:p>
            <a:pPr marL="461963" indent="-461963" eaLnBrk="1" hangingPunct="1">
              <a:buFont typeface="Wingdings" panose="05000000000000000000" pitchFamily="2" charset="2"/>
              <a:buChar char="Ø"/>
            </a:pPr>
            <a:r>
              <a:rPr lang="en-US" sz="2100" dirty="0"/>
              <a:t>uses TCP to provide a reliable end-to-end service</a:t>
            </a:r>
          </a:p>
          <a:p>
            <a:pPr marL="461963" indent="-461963" eaLnBrk="1" hangingPunct="1">
              <a:buFont typeface="Wingdings" panose="05000000000000000000" pitchFamily="2" charset="2"/>
              <a:buChar char="Ø"/>
            </a:pPr>
            <a:r>
              <a:rPr lang="en-US" sz="2100" dirty="0"/>
              <a:t>SSL has two layers of protocols</a:t>
            </a:r>
            <a:endParaRPr lang="en-AU"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7106" name="Rectangle 2"/>
          <p:cNvSpPr>
            <a:spLocks noGrp="1" noChangeArrowheads="1"/>
          </p:cNvSpPr>
          <p:nvPr>
            <p:ph type="title"/>
          </p:nvPr>
        </p:nvSpPr>
        <p:spPr>
          <a:xfrm>
            <a:off x="718879" y="800392"/>
            <a:ext cx="7698523" cy="1212102"/>
          </a:xfrm>
        </p:spPr>
        <p:txBody>
          <a:bodyPr>
            <a:normAutofit/>
          </a:bodyPr>
          <a:lstStyle/>
          <a:p>
            <a:pPr eaLnBrk="1" hangingPunct="1"/>
            <a:r>
              <a:rPr lang="en-US" sz="3600" dirty="0">
                <a:solidFill>
                  <a:schemeClr val="bg1"/>
                </a:solidFill>
              </a:rPr>
              <a:t>SSL Architecture</a:t>
            </a:r>
            <a:endParaRPr lang="en-AU" sz="3500" dirty="0">
              <a:solidFill>
                <a:schemeClr val="bg1"/>
              </a:solidFill>
            </a:endParaRPr>
          </a:p>
        </p:txBody>
      </p:sp>
      <p:pic>
        <p:nvPicPr>
          <p:cNvPr id="12" name="Picture 5" descr="Ch17. SSL Protocol Stack.pdf                                   00156198  Mnementh                      BEAE7A2F:">
            <a:extLst>
              <a:ext uri="{FF2B5EF4-FFF2-40B4-BE49-F238E27FC236}">
                <a16:creationId xmlns:a16="http://schemas.microsoft.com/office/drawing/2014/main" id="{0A79679D-17DD-4E67-95EE-BD35B9492BCF}"/>
              </a:ext>
            </a:extLst>
          </p:cNvPr>
          <p:cNvPicPr>
            <a:picLocks noChangeAspect="1" noChangeArrowheads="1"/>
          </p:cNvPicPr>
          <p:nvPr/>
        </p:nvPicPr>
        <p:blipFill>
          <a:blip r:embed="rId3" cstate="print"/>
          <a:srcRect l="21477" t="18529" r="21477" b="37059"/>
          <a:stretch>
            <a:fillRect/>
          </a:stretch>
        </p:blipFill>
        <p:spPr bwMode="auto">
          <a:xfrm>
            <a:off x="628094" y="2347103"/>
            <a:ext cx="7510645" cy="4518025"/>
          </a:xfrm>
          <a:prstGeom prst="rect">
            <a:avLst/>
          </a:prstGeom>
          <a:noFill/>
          <a:ln w="9525">
            <a:noFill/>
            <a:miter lim="800000"/>
            <a:headEnd/>
            <a:tailEnd/>
          </a:ln>
        </p:spPr>
      </p:pic>
    </p:spTree>
    <p:extLst>
      <p:ext uri="{BB962C8B-B14F-4D97-AF65-F5344CB8AC3E}">
        <p14:creationId xmlns:p14="http://schemas.microsoft.com/office/powerpoint/2010/main" val="220829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1202" name="Rectangle 2"/>
          <p:cNvSpPr>
            <a:spLocks noGrp="1" noChangeArrowheads="1"/>
          </p:cNvSpPr>
          <p:nvPr>
            <p:ph type="title"/>
          </p:nvPr>
        </p:nvSpPr>
        <p:spPr>
          <a:xfrm>
            <a:off x="718879" y="800392"/>
            <a:ext cx="7698523" cy="1212102"/>
          </a:xfrm>
        </p:spPr>
        <p:txBody>
          <a:bodyPr>
            <a:normAutofit/>
          </a:bodyPr>
          <a:lstStyle/>
          <a:p>
            <a:pPr eaLnBrk="1" hangingPunct="1"/>
            <a:r>
              <a:rPr lang="en-US" sz="3500">
                <a:solidFill>
                  <a:srgbClr val="FFFFFF"/>
                </a:solidFill>
                <a:latin typeface="Arial" charset="0"/>
                <a:cs typeface="Arial" charset="0"/>
              </a:rPr>
              <a:t>Two Important SSL Concepts </a:t>
            </a:r>
            <a:endParaRPr lang="en-AU" sz="3500">
              <a:solidFill>
                <a:srgbClr val="FFFFFF"/>
              </a:solidFill>
            </a:endParaRPr>
          </a:p>
        </p:txBody>
      </p:sp>
      <p:sp>
        <p:nvSpPr>
          <p:cNvPr id="51203" name="Rectangle 3"/>
          <p:cNvSpPr>
            <a:spLocks noGrp="1" noChangeArrowheads="1"/>
          </p:cNvSpPr>
          <p:nvPr>
            <p:ph type="body" idx="1"/>
          </p:nvPr>
        </p:nvSpPr>
        <p:spPr>
          <a:xfrm>
            <a:off x="1025718" y="2490436"/>
            <a:ext cx="7281746" cy="3567173"/>
          </a:xfrm>
        </p:spPr>
        <p:txBody>
          <a:bodyPr anchor="ctr">
            <a:normAutofit/>
          </a:bodyPr>
          <a:lstStyle/>
          <a:p>
            <a:pPr eaLnBrk="1" hangingPunct="1">
              <a:buFont typeface="Wingdings" panose="05000000000000000000" pitchFamily="2" charset="2"/>
              <a:buChar char="Ø"/>
              <a:defRPr/>
            </a:pPr>
            <a:r>
              <a:rPr lang="en-US" sz="2100" b="1" dirty="0">
                <a:ea typeface="+mn-ea"/>
                <a:cs typeface="+mn-cs"/>
              </a:rPr>
              <a:t>SSL connection</a:t>
            </a:r>
          </a:p>
          <a:p>
            <a:pPr lvl="1" eaLnBrk="1" hangingPunct="1">
              <a:buFont typeface="Arial" panose="020B0604020202020204" pitchFamily="34" charset="0"/>
              <a:buChar char="•"/>
              <a:defRPr/>
            </a:pPr>
            <a:r>
              <a:rPr lang="en-US" sz="2100" dirty="0"/>
              <a:t>a transient, peer-to-peer, communications link</a:t>
            </a:r>
          </a:p>
          <a:p>
            <a:pPr lvl="1" eaLnBrk="1" hangingPunct="1">
              <a:buFont typeface="Arial" panose="020B0604020202020204" pitchFamily="34" charset="0"/>
              <a:buChar char="•"/>
              <a:defRPr/>
            </a:pPr>
            <a:r>
              <a:rPr lang="en-US" sz="2100" dirty="0"/>
              <a:t>associated with one SSL session</a:t>
            </a:r>
            <a:endParaRPr lang="en-AU" sz="2100" dirty="0"/>
          </a:p>
          <a:p>
            <a:pPr eaLnBrk="1" hangingPunct="1">
              <a:buFont typeface="Wingdings" panose="05000000000000000000" pitchFamily="2" charset="2"/>
              <a:buChar char="Ø"/>
              <a:defRPr/>
            </a:pPr>
            <a:r>
              <a:rPr lang="en-US" sz="2100" b="1" dirty="0">
                <a:ea typeface="+mn-ea"/>
                <a:cs typeface="+mn-cs"/>
              </a:rPr>
              <a:t>SSL session</a:t>
            </a:r>
          </a:p>
          <a:p>
            <a:pPr lvl="1" eaLnBrk="1" hangingPunct="1">
              <a:buFont typeface="Arial" panose="020B0604020202020204" pitchFamily="34" charset="0"/>
              <a:buChar char="•"/>
              <a:defRPr/>
            </a:pPr>
            <a:r>
              <a:rPr lang="en-US" sz="2100" dirty="0"/>
              <a:t>an association between client &amp; server</a:t>
            </a:r>
          </a:p>
          <a:p>
            <a:pPr lvl="1" eaLnBrk="1" hangingPunct="1">
              <a:buFont typeface="Arial" panose="020B0604020202020204" pitchFamily="34" charset="0"/>
              <a:buChar char="•"/>
              <a:defRPr/>
            </a:pPr>
            <a:r>
              <a:rPr lang="en-US" sz="2100" dirty="0"/>
              <a:t>created by the Handshake Protocol</a:t>
            </a:r>
          </a:p>
          <a:p>
            <a:pPr lvl="1" eaLnBrk="1" hangingPunct="1">
              <a:buFont typeface="Arial" panose="020B0604020202020204" pitchFamily="34" charset="0"/>
              <a:buChar char="•"/>
              <a:defRPr/>
            </a:pPr>
            <a:r>
              <a:rPr lang="en-US" sz="2100" dirty="0"/>
              <a:t>define a set of cryptographic parameters</a:t>
            </a:r>
          </a:p>
          <a:p>
            <a:pPr lvl="1" eaLnBrk="1" hangingPunct="1">
              <a:buFont typeface="Arial" panose="020B0604020202020204" pitchFamily="34" charset="0"/>
              <a:buChar char="•"/>
              <a:defRPr/>
            </a:pPr>
            <a:r>
              <a:rPr lang="en-US" sz="2100" dirty="0"/>
              <a:t>may be shared by multiple SSL connections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2226" name="Rectangle 2"/>
          <p:cNvSpPr>
            <a:spLocks noGrp="1" noChangeArrowheads="1"/>
          </p:cNvSpPr>
          <p:nvPr>
            <p:ph type="title"/>
          </p:nvPr>
        </p:nvSpPr>
        <p:spPr>
          <a:xfrm>
            <a:off x="718879" y="800392"/>
            <a:ext cx="7698523" cy="1212102"/>
          </a:xfrm>
        </p:spPr>
        <p:txBody>
          <a:bodyPr>
            <a:normAutofit/>
          </a:bodyPr>
          <a:lstStyle/>
          <a:p>
            <a:pPr eaLnBrk="1" hangingPunct="1"/>
            <a:r>
              <a:rPr lang="en-US" sz="3500">
                <a:solidFill>
                  <a:srgbClr val="FFFFFF"/>
                </a:solidFill>
              </a:rPr>
              <a:t>SSL Record Protocol Services</a:t>
            </a:r>
            <a:endParaRPr lang="en-AU" sz="3500">
              <a:solidFill>
                <a:srgbClr val="FFFFFF"/>
              </a:solidFill>
            </a:endParaRPr>
          </a:p>
        </p:txBody>
      </p:sp>
      <p:sp>
        <p:nvSpPr>
          <p:cNvPr id="52227" name="Rectangle 3"/>
          <p:cNvSpPr>
            <a:spLocks noGrp="1" noChangeArrowheads="1"/>
          </p:cNvSpPr>
          <p:nvPr>
            <p:ph type="body" idx="1"/>
          </p:nvPr>
        </p:nvSpPr>
        <p:spPr>
          <a:xfrm>
            <a:off x="1025718" y="2490436"/>
            <a:ext cx="7281746" cy="3567173"/>
          </a:xfrm>
        </p:spPr>
        <p:txBody>
          <a:bodyPr anchor="ctr">
            <a:normAutofit/>
          </a:bodyPr>
          <a:lstStyle/>
          <a:p>
            <a:pPr eaLnBrk="1" hangingPunct="1">
              <a:buFont typeface="Wingdings" panose="05000000000000000000" pitchFamily="2" charset="2"/>
              <a:buChar char="Ø"/>
            </a:pPr>
            <a:r>
              <a:rPr lang="en-US" sz="2100" b="1" dirty="0"/>
              <a:t>confidentiality</a:t>
            </a:r>
          </a:p>
          <a:p>
            <a:pPr lvl="1" eaLnBrk="1" hangingPunct="1">
              <a:buFont typeface="Arial" panose="020B0604020202020204" pitchFamily="34" charset="0"/>
              <a:buChar char="•"/>
            </a:pPr>
            <a:r>
              <a:rPr lang="en-US" sz="2100" dirty="0"/>
              <a:t>using symmetric encryption with a shared secret key defined by Handshake Protocol</a:t>
            </a:r>
          </a:p>
          <a:p>
            <a:pPr lvl="1" eaLnBrk="1" hangingPunct="1">
              <a:buFont typeface="Arial" panose="020B0604020202020204" pitchFamily="34" charset="0"/>
              <a:buChar char="•"/>
            </a:pPr>
            <a:r>
              <a:rPr lang="en-US" sz="2100" dirty="0"/>
              <a:t>can use several encryption ciphers such as: AES, IDEA, RC2-40, DES-40, DES, 3DES, Fortezza, RC4-40, RC4-128</a:t>
            </a:r>
          </a:p>
          <a:p>
            <a:pPr lvl="1" eaLnBrk="1" hangingPunct="1">
              <a:buFont typeface="Arial" panose="020B0604020202020204" pitchFamily="34" charset="0"/>
              <a:buChar char="•"/>
            </a:pPr>
            <a:r>
              <a:rPr lang="en-US" sz="2100" dirty="0"/>
              <a:t>message is compressed before encryption</a:t>
            </a:r>
          </a:p>
          <a:p>
            <a:pPr eaLnBrk="1" hangingPunct="1">
              <a:buFont typeface="Wingdings" panose="05000000000000000000" pitchFamily="2" charset="2"/>
              <a:buChar char="Ø"/>
            </a:pPr>
            <a:r>
              <a:rPr lang="en-US" sz="2100" b="1" dirty="0"/>
              <a:t>message integrity</a:t>
            </a:r>
          </a:p>
          <a:p>
            <a:pPr lvl="1" eaLnBrk="1" hangingPunct="1">
              <a:buFont typeface="Arial" panose="020B0604020202020204" pitchFamily="34" charset="0"/>
              <a:buChar char="•"/>
            </a:pPr>
            <a:r>
              <a:rPr lang="en-US" sz="2100" dirty="0"/>
              <a:t>using a MAC with shared secret key</a:t>
            </a:r>
          </a:p>
          <a:p>
            <a:pPr lvl="1" eaLnBrk="1" hangingPunct="1">
              <a:buFont typeface="Arial" panose="020B0604020202020204" pitchFamily="34" charset="0"/>
              <a:buChar char="•"/>
            </a:pPr>
            <a:r>
              <a:rPr lang="en-US" sz="2100" dirty="0"/>
              <a:t>like HMAC but with different padding</a:t>
            </a:r>
            <a:endParaRPr lang="en-AU"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2226" name="Rectangle 2"/>
          <p:cNvSpPr>
            <a:spLocks noGrp="1" noChangeArrowheads="1"/>
          </p:cNvSpPr>
          <p:nvPr>
            <p:ph type="title"/>
          </p:nvPr>
        </p:nvSpPr>
        <p:spPr>
          <a:xfrm>
            <a:off x="718879" y="800392"/>
            <a:ext cx="7698523" cy="1212102"/>
          </a:xfrm>
        </p:spPr>
        <p:txBody>
          <a:bodyPr>
            <a:normAutofit/>
          </a:bodyPr>
          <a:lstStyle/>
          <a:p>
            <a:pPr eaLnBrk="1" hangingPunct="1"/>
            <a:r>
              <a:rPr lang="en-US" sz="3600" dirty="0">
                <a:solidFill>
                  <a:schemeClr val="bg1"/>
                </a:solidFill>
              </a:rPr>
              <a:t>SSL Record Protocol Operation</a:t>
            </a:r>
            <a:endParaRPr lang="en-AU" sz="3500" dirty="0">
              <a:solidFill>
                <a:schemeClr val="bg1"/>
              </a:solidFill>
            </a:endParaRPr>
          </a:p>
        </p:txBody>
      </p:sp>
      <p:pic>
        <p:nvPicPr>
          <p:cNvPr id="12" name="Picture 6" descr="Ch17. SSL Protocol O#1A558B.pdf                                00156198  Mnementh                      BEAE7A2F:">
            <a:extLst>
              <a:ext uri="{FF2B5EF4-FFF2-40B4-BE49-F238E27FC236}">
                <a16:creationId xmlns:a16="http://schemas.microsoft.com/office/drawing/2014/main" id="{C29622F4-F18C-44AE-961A-D7700DF7E3C0}"/>
              </a:ext>
            </a:extLst>
          </p:cNvPr>
          <p:cNvPicPr>
            <a:picLocks noChangeAspect="1" noChangeArrowheads="1"/>
          </p:cNvPicPr>
          <p:nvPr/>
        </p:nvPicPr>
        <p:blipFill>
          <a:blip r:embed="rId3" cstate="print"/>
          <a:srcRect t="9265" b="18529"/>
          <a:stretch>
            <a:fillRect/>
          </a:stretch>
        </p:blipFill>
        <p:spPr bwMode="auto">
          <a:xfrm>
            <a:off x="907652" y="2326918"/>
            <a:ext cx="7607724" cy="4244531"/>
          </a:xfrm>
          <a:prstGeom prst="rect">
            <a:avLst/>
          </a:prstGeom>
          <a:noFill/>
          <a:ln w="9525">
            <a:noFill/>
            <a:miter lim="800000"/>
            <a:headEnd/>
            <a:tailEnd/>
          </a:ln>
        </p:spPr>
      </p:pic>
    </p:spTree>
    <p:extLst>
      <p:ext uri="{BB962C8B-B14F-4D97-AF65-F5344CB8AC3E}">
        <p14:creationId xmlns:p14="http://schemas.microsoft.com/office/powerpoint/2010/main" val="969784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4274" name="Rectangle 2"/>
          <p:cNvSpPr>
            <a:spLocks noGrp="1" noChangeArrowheads="1"/>
          </p:cNvSpPr>
          <p:nvPr>
            <p:ph type="title"/>
          </p:nvPr>
        </p:nvSpPr>
        <p:spPr>
          <a:xfrm>
            <a:off x="718879" y="800392"/>
            <a:ext cx="7698523" cy="1212102"/>
          </a:xfrm>
        </p:spPr>
        <p:txBody>
          <a:bodyPr>
            <a:normAutofit/>
          </a:bodyPr>
          <a:lstStyle/>
          <a:p>
            <a:pPr eaLnBrk="1" hangingPunct="1"/>
            <a:r>
              <a:rPr lang="en-US" sz="3500" dirty="0">
                <a:solidFill>
                  <a:srgbClr val="FFFFFF"/>
                </a:solidFill>
              </a:rPr>
              <a:t>SSL Change Cipher Spec Protocol</a:t>
            </a:r>
            <a:endParaRPr lang="en-AU" sz="3500" dirty="0">
              <a:solidFill>
                <a:srgbClr val="FFFFFF"/>
              </a:solidFill>
            </a:endParaRPr>
          </a:p>
        </p:txBody>
      </p:sp>
      <p:sp>
        <p:nvSpPr>
          <p:cNvPr id="54275" name="Rectangle 3"/>
          <p:cNvSpPr>
            <a:spLocks noGrp="1" noChangeArrowheads="1"/>
          </p:cNvSpPr>
          <p:nvPr>
            <p:ph type="body" idx="1"/>
          </p:nvPr>
        </p:nvSpPr>
        <p:spPr>
          <a:xfrm>
            <a:off x="1025718" y="2490437"/>
            <a:ext cx="7281746" cy="2310164"/>
          </a:xfrm>
        </p:spPr>
        <p:txBody>
          <a:bodyPr anchor="ctr">
            <a:normAutofit/>
          </a:bodyPr>
          <a:lstStyle/>
          <a:p>
            <a:pPr marL="457200" indent="-457200" eaLnBrk="1" hangingPunct="1">
              <a:buFont typeface="Wingdings" panose="05000000000000000000" pitchFamily="2" charset="2"/>
              <a:buChar char="Ø"/>
            </a:pPr>
            <a:r>
              <a:rPr lang="en-US" sz="2400" dirty="0"/>
              <a:t>one of 3 SSL specific protocols which use the SSL Record protocol</a:t>
            </a:r>
          </a:p>
          <a:p>
            <a:pPr marL="457200" indent="-457200" eaLnBrk="1" hangingPunct="1">
              <a:buFont typeface="Wingdings" panose="05000000000000000000" pitchFamily="2" charset="2"/>
              <a:buChar char="Ø"/>
            </a:pPr>
            <a:r>
              <a:rPr lang="en-US" sz="2400" dirty="0"/>
              <a:t>a single message</a:t>
            </a:r>
          </a:p>
          <a:p>
            <a:pPr marL="457200" indent="-457200" eaLnBrk="1" hangingPunct="1">
              <a:buFont typeface="Wingdings" panose="05000000000000000000" pitchFamily="2" charset="2"/>
              <a:buChar char="Ø"/>
            </a:pPr>
            <a:r>
              <a:rPr lang="en-US" sz="2400" dirty="0"/>
              <a:t>causes pending state to become current</a:t>
            </a:r>
          </a:p>
          <a:p>
            <a:pPr marL="457200" indent="-457200" eaLnBrk="1" hangingPunct="1">
              <a:buFont typeface="Wingdings" panose="05000000000000000000" pitchFamily="2" charset="2"/>
              <a:buChar char="Ø"/>
            </a:pPr>
            <a:r>
              <a:rPr lang="en-US" sz="2400" dirty="0"/>
              <a:t>hence updating the cipher suite in use</a:t>
            </a:r>
            <a:endParaRPr lang="en-AU" sz="2400" dirty="0"/>
          </a:p>
        </p:txBody>
      </p:sp>
      <p:pic>
        <p:nvPicPr>
          <p:cNvPr id="11" name="Picture 5">
            <a:extLst>
              <a:ext uri="{FF2B5EF4-FFF2-40B4-BE49-F238E27FC236}">
                <a16:creationId xmlns:a16="http://schemas.microsoft.com/office/drawing/2014/main" id="{2B39D03E-5F39-4957-AD70-58229D0570BD}"/>
              </a:ext>
            </a:extLst>
          </p:cNvPr>
          <p:cNvPicPr>
            <a:picLocks noChangeAspect="1"/>
          </p:cNvPicPr>
          <p:nvPr/>
        </p:nvPicPr>
        <p:blipFill>
          <a:blip r:embed="rId3" cstate="print"/>
          <a:srcRect/>
          <a:stretch>
            <a:fillRect/>
          </a:stretch>
        </p:blipFill>
        <p:spPr bwMode="auto">
          <a:xfrm>
            <a:off x="3200400" y="4900083"/>
            <a:ext cx="2362200" cy="14097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5298" name="Rectangle 2"/>
          <p:cNvSpPr>
            <a:spLocks noGrp="1" noChangeArrowheads="1"/>
          </p:cNvSpPr>
          <p:nvPr>
            <p:ph type="title"/>
          </p:nvPr>
        </p:nvSpPr>
        <p:spPr>
          <a:xfrm>
            <a:off x="718879" y="800392"/>
            <a:ext cx="7698523" cy="1212102"/>
          </a:xfrm>
        </p:spPr>
        <p:txBody>
          <a:bodyPr>
            <a:normAutofit/>
          </a:bodyPr>
          <a:lstStyle/>
          <a:p>
            <a:pPr eaLnBrk="1" hangingPunct="1"/>
            <a:r>
              <a:rPr lang="en-US" sz="3500">
                <a:solidFill>
                  <a:srgbClr val="FFFFFF"/>
                </a:solidFill>
              </a:rPr>
              <a:t>SSL Alert Protocol</a:t>
            </a:r>
            <a:endParaRPr lang="en-AU" sz="3500">
              <a:solidFill>
                <a:srgbClr val="FFFFFF"/>
              </a:solidFill>
            </a:endParaRPr>
          </a:p>
        </p:txBody>
      </p:sp>
      <p:sp>
        <p:nvSpPr>
          <p:cNvPr id="55299" name="Rectangle 3"/>
          <p:cNvSpPr>
            <a:spLocks noGrp="1" noChangeArrowheads="1"/>
          </p:cNvSpPr>
          <p:nvPr>
            <p:ph type="body" idx="1"/>
          </p:nvPr>
        </p:nvSpPr>
        <p:spPr>
          <a:xfrm>
            <a:off x="1025718" y="2490436"/>
            <a:ext cx="7281746" cy="3567173"/>
          </a:xfrm>
        </p:spPr>
        <p:txBody>
          <a:bodyPr anchor="ctr">
            <a:normAutofit/>
          </a:bodyPr>
          <a:lstStyle/>
          <a:p>
            <a:pPr eaLnBrk="1" hangingPunct="1">
              <a:buFont typeface="Wingdings" panose="05000000000000000000" pitchFamily="2" charset="2"/>
              <a:buChar char="Ø"/>
              <a:defRPr/>
            </a:pPr>
            <a:r>
              <a:rPr lang="en-US" sz="1900" dirty="0">
                <a:ea typeface="+mn-ea"/>
                <a:cs typeface="+mn-cs"/>
              </a:rPr>
              <a:t>conveys SSL-related alerts to peer entity</a:t>
            </a:r>
          </a:p>
          <a:p>
            <a:pPr eaLnBrk="1" hangingPunct="1">
              <a:buFont typeface="Wingdings" panose="05000000000000000000" pitchFamily="2" charset="2"/>
              <a:buChar char="Ø"/>
              <a:defRPr/>
            </a:pPr>
            <a:r>
              <a:rPr lang="en-US" sz="1900" dirty="0">
                <a:ea typeface="+mn-ea"/>
                <a:cs typeface="+mn-cs"/>
              </a:rPr>
              <a:t>severity</a:t>
            </a:r>
          </a:p>
          <a:p>
            <a:pPr lvl="2" eaLnBrk="1" hangingPunct="1">
              <a:defRPr/>
            </a:pPr>
            <a:r>
              <a:rPr lang="en-US" sz="1900" dirty="0"/>
              <a:t>warning or fatal</a:t>
            </a:r>
          </a:p>
          <a:p>
            <a:pPr eaLnBrk="1" hangingPunct="1">
              <a:buFont typeface="Wingdings" panose="05000000000000000000" pitchFamily="2" charset="2"/>
              <a:buChar char="Ø"/>
              <a:defRPr/>
            </a:pPr>
            <a:r>
              <a:rPr lang="en-US" sz="1900" dirty="0">
                <a:ea typeface="+mn-ea"/>
                <a:cs typeface="+mn-cs"/>
              </a:rPr>
              <a:t>specific alert</a:t>
            </a:r>
          </a:p>
          <a:p>
            <a:pPr lvl="2" eaLnBrk="1" hangingPunct="1">
              <a:defRPr/>
            </a:pPr>
            <a:r>
              <a:rPr lang="en-AU" sz="1900" dirty="0"/>
              <a:t>fatal: unexpected message, bad record mac, decompression failure, handshake failure, illegal parameter</a:t>
            </a:r>
          </a:p>
          <a:p>
            <a:pPr lvl="2" eaLnBrk="1" hangingPunct="1">
              <a:defRPr/>
            </a:pPr>
            <a:r>
              <a:rPr lang="en-AU" sz="1900" dirty="0"/>
              <a:t>warning: close notify, no certificate, bad certificate, unsupported certificate, certificate revoked, certificate expired, certificate unknown</a:t>
            </a:r>
          </a:p>
          <a:p>
            <a:pPr eaLnBrk="1" hangingPunct="1">
              <a:buFont typeface="Wingdings" panose="05000000000000000000" pitchFamily="2" charset="2"/>
              <a:buChar char="Ø"/>
              <a:defRPr/>
            </a:pPr>
            <a:r>
              <a:rPr lang="en-US" sz="1900" dirty="0">
                <a:ea typeface="+mn-ea"/>
                <a:cs typeface="+mn-cs"/>
              </a:rPr>
              <a:t>compressed &amp; encrypted like all SSL data</a:t>
            </a:r>
          </a:p>
        </p:txBody>
      </p:sp>
      <p:pic>
        <p:nvPicPr>
          <p:cNvPr id="11" name="Picture 5">
            <a:extLst>
              <a:ext uri="{FF2B5EF4-FFF2-40B4-BE49-F238E27FC236}">
                <a16:creationId xmlns:a16="http://schemas.microsoft.com/office/drawing/2014/main" id="{A04DBF97-6121-4510-AD8F-8E3299C2C52B}"/>
              </a:ext>
            </a:extLst>
          </p:cNvPr>
          <p:cNvPicPr>
            <a:picLocks noChangeAspect="1"/>
          </p:cNvPicPr>
          <p:nvPr/>
        </p:nvPicPr>
        <p:blipFill>
          <a:blip r:embed="rId3" cstate="print"/>
          <a:srcRect/>
          <a:stretch>
            <a:fillRect/>
          </a:stretch>
        </p:blipFill>
        <p:spPr bwMode="auto">
          <a:xfrm>
            <a:off x="6781800" y="2631636"/>
            <a:ext cx="1422400" cy="125730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6322" name="Rectangle 2"/>
          <p:cNvSpPr>
            <a:spLocks noGrp="1" noChangeArrowheads="1"/>
          </p:cNvSpPr>
          <p:nvPr>
            <p:ph type="title"/>
          </p:nvPr>
        </p:nvSpPr>
        <p:spPr>
          <a:xfrm>
            <a:off x="718879" y="800392"/>
            <a:ext cx="7698523" cy="1212102"/>
          </a:xfrm>
        </p:spPr>
        <p:txBody>
          <a:bodyPr>
            <a:normAutofit/>
          </a:bodyPr>
          <a:lstStyle/>
          <a:p>
            <a:pPr eaLnBrk="1" hangingPunct="1"/>
            <a:r>
              <a:rPr lang="en-US" sz="3500">
                <a:solidFill>
                  <a:srgbClr val="FFFFFF"/>
                </a:solidFill>
              </a:rPr>
              <a:t>SSL Handshake Protocol</a:t>
            </a:r>
            <a:endParaRPr lang="en-AU" sz="3500">
              <a:solidFill>
                <a:srgbClr val="FFFFFF"/>
              </a:solidFill>
            </a:endParaRPr>
          </a:p>
        </p:txBody>
      </p:sp>
      <p:sp>
        <p:nvSpPr>
          <p:cNvPr id="56323" name="Rectangle 3"/>
          <p:cNvSpPr>
            <a:spLocks noGrp="1" noChangeArrowheads="1"/>
          </p:cNvSpPr>
          <p:nvPr>
            <p:ph type="body" idx="1"/>
          </p:nvPr>
        </p:nvSpPr>
        <p:spPr>
          <a:xfrm>
            <a:off x="1025718" y="2490436"/>
            <a:ext cx="7281746" cy="3567173"/>
          </a:xfrm>
        </p:spPr>
        <p:txBody>
          <a:bodyPr anchor="ctr">
            <a:normAutofit/>
          </a:bodyPr>
          <a:lstStyle/>
          <a:p>
            <a:pPr eaLnBrk="1" hangingPunct="1">
              <a:buFont typeface="Wingdings" panose="05000000000000000000" pitchFamily="2" charset="2"/>
              <a:buChar char="Ø"/>
              <a:defRPr/>
            </a:pPr>
            <a:r>
              <a:rPr lang="en-AU" sz="2000" dirty="0">
                <a:ea typeface="+mn-ea"/>
                <a:cs typeface="+mn-cs"/>
              </a:rPr>
              <a:t>allows server &amp; client to:</a:t>
            </a:r>
          </a:p>
          <a:p>
            <a:pPr lvl="1" eaLnBrk="1" hangingPunct="1">
              <a:buFont typeface="Arial" panose="020B0604020202020204" pitchFamily="34" charset="0"/>
              <a:buChar char="•"/>
              <a:defRPr/>
            </a:pPr>
            <a:r>
              <a:rPr lang="en-AU" sz="2000" dirty="0"/>
              <a:t>authenticate each other</a:t>
            </a:r>
          </a:p>
          <a:p>
            <a:pPr lvl="1" eaLnBrk="1" hangingPunct="1">
              <a:buFont typeface="Arial" panose="020B0604020202020204" pitchFamily="34" charset="0"/>
              <a:buChar char="•"/>
              <a:defRPr/>
            </a:pPr>
            <a:r>
              <a:rPr lang="en-AU" sz="2000" dirty="0"/>
              <a:t>to negotiate encryption &amp; MAC algorithms</a:t>
            </a:r>
          </a:p>
          <a:p>
            <a:pPr lvl="1" eaLnBrk="1" hangingPunct="1">
              <a:buFont typeface="Arial" panose="020B0604020202020204" pitchFamily="34" charset="0"/>
              <a:buChar char="•"/>
              <a:defRPr/>
            </a:pPr>
            <a:r>
              <a:rPr lang="en-AU" sz="2000" dirty="0"/>
              <a:t>to negotiate cryptographic keys to be used</a:t>
            </a:r>
          </a:p>
          <a:p>
            <a:pPr eaLnBrk="1" hangingPunct="1">
              <a:buFont typeface="Wingdings" panose="05000000000000000000" pitchFamily="2" charset="2"/>
              <a:buChar char="Ø"/>
              <a:defRPr/>
            </a:pPr>
            <a:r>
              <a:rPr lang="en-US" sz="2000" dirty="0">
                <a:ea typeface="+mn-ea"/>
                <a:cs typeface="+mn-cs"/>
              </a:rPr>
              <a:t>comprises a series of messages in four phases</a:t>
            </a:r>
          </a:p>
          <a:p>
            <a:pPr marL="990600" lvl="1" indent="-533400" eaLnBrk="1" hangingPunct="1">
              <a:buFont typeface="Times" pitchFamily="-107" charset="0"/>
              <a:buAutoNum type="arabicPeriod"/>
              <a:defRPr/>
            </a:pPr>
            <a:r>
              <a:rPr lang="en-AU" sz="2000" dirty="0"/>
              <a:t>Establish Security Capabilities</a:t>
            </a:r>
          </a:p>
          <a:p>
            <a:pPr marL="990600" lvl="1" indent="-533400" eaLnBrk="1" hangingPunct="1">
              <a:buFont typeface="Times" pitchFamily="-107" charset="0"/>
              <a:buAutoNum type="arabicPeriod"/>
              <a:defRPr/>
            </a:pPr>
            <a:r>
              <a:rPr lang="en-AU" sz="2000" dirty="0"/>
              <a:t>Server Authentication and Key Exchange</a:t>
            </a:r>
          </a:p>
          <a:p>
            <a:pPr marL="990600" lvl="1" indent="-533400" eaLnBrk="1" hangingPunct="1">
              <a:buFont typeface="Times" pitchFamily="-107" charset="0"/>
              <a:buAutoNum type="arabicPeriod"/>
              <a:defRPr/>
            </a:pPr>
            <a:r>
              <a:rPr lang="en-AU" sz="2000" dirty="0"/>
              <a:t>Client Authentication and Key Exchange</a:t>
            </a:r>
          </a:p>
          <a:p>
            <a:pPr marL="990600" lvl="1" indent="-533400" eaLnBrk="1" hangingPunct="1">
              <a:buFont typeface="Times" pitchFamily="-107" charset="0"/>
              <a:buAutoNum type="arabicPeriod"/>
              <a:defRPr/>
            </a:pPr>
            <a:r>
              <a:rPr lang="en-AU" sz="2000" dirty="0"/>
              <a:t>Finish</a:t>
            </a:r>
          </a:p>
        </p:txBody>
      </p:sp>
      <p:pic>
        <p:nvPicPr>
          <p:cNvPr id="11" name="Picture 5">
            <a:extLst>
              <a:ext uri="{FF2B5EF4-FFF2-40B4-BE49-F238E27FC236}">
                <a16:creationId xmlns:a16="http://schemas.microsoft.com/office/drawing/2014/main" id="{30CC103C-FCD3-4A39-9D1A-48DBB88DAF04}"/>
              </a:ext>
            </a:extLst>
          </p:cNvPr>
          <p:cNvPicPr>
            <a:picLocks noChangeAspect="1"/>
          </p:cNvPicPr>
          <p:nvPr/>
        </p:nvPicPr>
        <p:blipFill>
          <a:blip r:embed="rId3" cstate="print"/>
          <a:srcRect/>
          <a:stretch>
            <a:fillRect/>
          </a:stretch>
        </p:blipFill>
        <p:spPr bwMode="auto">
          <a:xfrm>
            <a:off x="4002164" y="5562765"/>
            <a:ext cx="4305300" cy="121920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Rectangle 80">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7346" name="Rectangle 2"/>
          <p:cNvSpPr>
            <a:spLocks noGrp="1" noChangeArrowheads="1"/>
          </p:cNvSpPr>
          <p:nvPr>
            <p:ph type="title"/>
          </p:nvPr>
        </p:nvSpPr>
        <p:spPr>
          <a:xfrm>
            <a:off x="718879" y="800392"/>
            <a:ext cx="7698523" cy="1212102"/>
          </a:xfrm>
        </p:spPr>
        <p:txBody>
          <a:bodyPr vert="horz" lIns="91440" tIns="45720" rIns="91440" bIns="45720" rtlCol="0" anchor="ctr">
            <a:normAutofit/>
          </a:bodyPr>
          <a:lstStyle/>
          <a:p>
            <a:pPr algn="l">
              <a:lnSpc>
                <a:spcPct val="90000"/>
              </a:lnSpc>
            </a:pPr>
            <a:r>
              <a:rPr lang="en-US" sz="3500" kern="1200" dirty="0">
                <a:solidFill>
                  <a:srgbClr val="FFFFFF"/>
                </a:solidFill>
                <a:latin typeface="+mj-lt"/>
                <a:ea typeface="+mj-ea"/>
                <a:cs typeface="+mj-cs"/>
              </a:rPr>
              <a:t>SSL Handshake</a:t>
            </a:r>
            <a:br>
              <a:rPr lang="en-US" sz="3500" kern="1200" dirty="0">
                <a:solidFill>
                  <a:srgbClr val="FFFFFF"/>
                </a:solidFill>
                <a:latin typeface="+mj-lt"/>
                <a:ea typeface="+mj-ea"/>
                <a:cs typeface="+mj-cs"/>
              </a:rPr>
            </a:br>
            <a:r>
              <a:rPr lang="en-US" sz="3500" kern="1200" dirty="0">
                <a:solidFill>
                  <a:srgbClr val="FFFFFF"/>
                </a:solidFill>
                <a:latin typeface="+mj-lt"/>
                <a:ea typeface="+mj-ea"/>
                <a:cs typeface="+mj-cs"/>
              </a:rPr>
              <a:t>Protocol</a:t>
            </a:r>
          </a:p>
        </p:txBody>
      </p:sp>
      <p:pic>
        <p:nvPicPr>
          <p:cNvPr id="11" name="Picture 5">
            <a:extLst>
              <a:ext uri="{FF2B5EF4-FFF2-40B4-BE49-F238E27FC236}">
                <a16:creationId xmlns:a16="http://schemas.microsoft.com/office/drawing/2014/main" id="{D85F6245-A210-4577-B65E-03F8C0C88ABC}"/>
              </a:ext>
            </a:extLst>
          </p:cNvPr>
          <p:cNvPicPr>
            <a:picLocks noChangeAspect="1"/>
          </p:cNvPicPr>
          <p:nvPr/>
        </p:nvPicPr>
        <p:blipFill>
          <a:blip r:embed="rId3" cstate="print"/>
          <a:srcRect/>
          <a:stretch>
            <a:fillRect/>
          </a:stretch>
        </p:blipFill>
        <p:spPr bwMode="auto">
          <a:xfrm>
            <a:off x="3495675" y="0"/>
            <a:ext cx="5648325" cy="6888163"/>
          </a:xfrm>
          <a:prstGeom prst="rect">
            <a:avLst/>
          </a:prstGeom>
          <a:noFill/>
          <a:ln w="9525">
            <a:noFill/>
            <a:miter lim="800000"/>
            <a:headEnd/>
            <a:tailEnd/>
          </a:ln>
        </p:spPr>
      </p:pic>
    </p:spTree>
    <p:extLst>
      <p:ext uri="{BB962C8B-B14F-4D97-AF65-F5344CB8AC3E}">
        <p14:creationId xmlns:p14="http://schemas.microsoft.com/office/powerpoint/2010/main" val="3448864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718879" y="800392"/>
            <a:ext cx="7698523" cy="1212102"/>
          </a:xfrm>
        </p:spPr>
        <p:txBody>
          <a:bodyPr>
            <a:normAutofit/>
          </a:bodyPr>
          <a:lstStyle/>
          <a:p>
            <a:pPr eaLnBrk="1" hangingPunct="1">
              <a:defRPr/>
            </a:pPr>
            <a:r>
              <a:rPr lang="en-US" sz="3500">
                <a:solidFill>
                  <a:srgbClr val="FFFFFF"/>
                </a:solidFill>
                <a:ea typeface="+mj-ea"/>
                <a:cs typeface="+mj-cs"/>
              </a:rPr>
              <a:t>Cryptographic Computations</a:t>
            </a:r>
          </a:p>
        </p:txBody>
      </p:sp>
      <p:sp>
        <p:nvSpPr>
          <p:cNvPr id="3" name="Content Placeholder 2"/>
          <p:cNvSpPr>
            <a:spLocks noGrp="1"/>
          </p:cNvSpPr>
          <p:nvPr>
            <p:ph idx="1"/>
          </p:nvPr>
        </p:nvSpPr>
        <p:spPr>
          <a:xfrm>
            <a:off x="1025718" y="2490436"/>
            <a:ext cx="7281746" cy="3567173"/>
          </a:xfrm>
        </p:spPr>
        <p:txBody>
          <a:bodyPr anchor="ctr">
            <a:normAutofit/>
          </a:bodyPr>
          <a:lstStyle/>
          <a:p>
            <a:pPr eaLnBrk="1" hangingPunct="1">
              <a:buFont typeface="Wingdings" panose="05000000000000000000" pitchFamily="2" charset="2"/>
              <a:buChar char="Ø"/>
              <a:defRPr/>
            </a:pPr>
            <a:r>
              <a:rPr lang="en-US" sz="1900" kern="1200" dirty="0">
                <a:ea typeface="+mn-ea"/>
                <a:cs typeface="+mn-cs"/>
              </a:rPr>
              <a:t>master secret creation</a:t>
            </a:r>
          </a:p>
          <a:p>
            <a:pPr lvl="1" eaLnBrk="1" hangingPunct="1">
              <a:buFont typeface="Arial" panose="020B0604020202020204" pitchFamily="34" charset="0"/>
              <a:buChar char="•"/>
              <a:defRPr/>
            </a:pPr>
            <a:r>
              <a:rPr lang="en-US" sz="1900" kern="1200" dirty="0"/>
              <a:t>a one-time 48-byte value</a:t>
            </a:r>
          </a:p>
          <a:p>
            <a:pPr lvl="1" eaLnBrk="1" hangingPunct="1">
              <a:buFont typeface="Arial" panose="020B0604020202020204" pitchFamily="34" charset="0"/>
              <a:buChar char="•"/>
              <a:defRPr/>
            </a:pPr>
            <a:r>
              <a:rPr lang="en-US" sz="1900" kern="1200" dirty="0"/>
              <a:t>generated using secure key exchange (RSA / Diffie-Hellman) and then hashing information.</a:t>
            </a:r>
            <a:endParaRPr lang="en-US" sz="1900" kern="1200" dirty="0">
              <a:ea typeface="+mn-ea"/>
              <a:cs typeface="+mn-cs"/>
            </a:endParaRPr>
          </a:p>
          <a:p>
            <a:pPr eaLnBrk="1" hangingPunct="1">
              <a:buFont typeface="Wingdings" panose="05000000000000000000" pitchFamily="2" charset="2"/>
              <a:buChar char="Ø"/>
              <a:defRPr/>
            </a:pPr>
            <a:r>
              <a:rPr lang="en-US" sz="1900" kern="1200" dirty="0">
                <a:ea typeface="+mn-ea"/>
                <a:cs typeface="+mn-cs"/>
              </a:rPr>
              <a:t>generation of cryptographic parameters (</a:t>
            </a:r>
            <a:r>
              <a:rPr lang="en-US" sz="1900" kern="1200" dirty="0">
                <a:highlight>
                  <a:srgbClr val="FFFF00"/>
                </a:highlight>
                <a:ea typeface="+mn-ea"/>
                <a:cs typeface="+mn-cs"/>
              </a:rPr>
              <a:t>6 secret values as follows</a:t>
            </a:r>
            <a:r>
              <a:rPr lang="en-US" sz="1900" kern="1200" dirty="0">
                <a:ea typeface="+mn-ea"/>
                <a:cs typeface="+mn-cs"/>
              </a:rPr>
              <a:t>)</a:t>
            </a:r>
          </a:p>
          <a:p>
            <a:pPr lvl="1" eaLnBrk="1" hangingPunct="1">
              <a:buFont typeface="Arial" panose="020B0604020202020204" pitchFamily="34" charset="0"/>
              <a:buChar char="•"/>
              <a:defRPr/>
            </a:pPr>
            <a:r>
              <a:rPr lang="en-US" sz="1900" kern="1200" dirty="0"/>
              <a:t>client write MAC secret, a server write MAC secret, a client write key, a server write key, a client write IV, and a server write IV</a:t>
            </a:r>
          </a:p>
          <a:p>
            <a:pPr lvl="1" eaLnBrk="1" hangingPunct="1">
              <a:buFont typeface="Arial" panose="020B0604020202020204" pitchFamily="34" charset="0"/>
              <a:buChar char="•"/>
              <a:defRPr/>
            </a:pPr>
            <a:r>
              <a:rPr lang="en-US" sz="1900" kern="1200" dirty="0">
                <a:ea typeface="+mn-ea"/>
                <a:cs typeface="+mn-cs"/>
              </a:rPr>
              <a:t> these 6 secrets are </a:t>
            </a:r>
            <a:r>
              <a:rPr lang="en-US" sz="1900" kern="1200" dirty="0"/>
              <a:t>generated by hashing the master secret using a simple algorithm and a hash function.</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9394" name="Rectangle 2"/>
          <p:cNvSpPr>
            <a:spLocks noGrp="1" noChangeArrowheads="1"/>
          </p:cNvSpPr>
          <p:nvPr>
            <p:ph type="title"/>
          </p:nvPr>
        </p:nvSpPr>
        <p:spPr>
          <a:xfrm>
            <a:off x="718879" y="800392"/>
            <a:ext cx="7698523" cy="1212102"/>
          </a:xfrm>
        </p:spPr>
        <p:txBody>
          <a:bodyPr>
            <a:normAutofit/>
          </a:bodyPr>
          <a:lstStyle/>
          <a:p>
            <a:pPr eaLnBrk="1" hangingPunct="1"/>
            <a:r>
              <a:rPr lang="en-US" sz="3500">
                <a:solidFill>
                  <a:srgbClr val="FFFFFF"/>
                </a:solidFill>
              </a:rPr>
              <a:t>TLS (Transport Layer Security)</a:t>
            </a:r>
            <a:endParaRPr lang="en-AU" sz="3500">
              <a:solidFill>
                <a:srgbClr val="FFFFFF"/>
              </a:solidFill>
            </a:endParaRPr>
          </a:p>
        </p:txBody>
      </p:sp>
      <p:sp>
        <p:nvSpPr>
          <p:cNvPr id="59395" name="Rectangle 3"/>
          <p:cNvSpPr>
            <a:spLocks noGrp="1" noChangeArrowheads="1"/>
          </p:cNvSpPr>
          <p:nvPr>
            <p:ph type="body" idx="1"/>
          </p:nvPr>
        </p:nvSpPr>
        <p:spPr>
          <a:xfrm>
            <a:off x="1025718" y="2490436"/>
            <a:ext cx="7281746" cy="3567173"/>
          </a:xfrm>
        </p:spPr>
        <p:txBody>
          <a:bodyPr anchor="ctr">
            <a:normAutofit/>
          </a:bodyPr>
          <a:lstStyle/>
          <a:p>
            <a:pPr eaLnBrk="1" hangingPunct="1">
              <a:lnSpc>
                <a:spcPct val="90000"/>
              </a:lnSpc>
              <a:buFont typeface="Wingdings" panose="05000000000000000000" pitchFamily="2" charset="2"/>
              <a:buChar char="Ø"/>
            </a:pPr>
            <a:r>
              <a:rPr lang="en-US" sz="2100" dirty="0"/>
              <a:t>IETF standard RFC 2246 like SSLv3</a:t>
            </a:r>
          </a:p>
          <a:p>
            <a:pPr eaLnBrk="1" hangingPunct="1">
              <a:lnSpc>
                <a:spcPct val="90000"/>
              </a:lnSpc>
              <a:buFont typeface="Wingdings" panose="05000000000000000000" pitchFamily="2" charset="2"/>
              <a:buChar char="Ø"/>
            </a:pPr>
            <a:r>
              <a:rPr lang="en-US" sz="2100" dirty="0"/>
              <a:t>with minor differences</a:t>
            </a:r>
          </a:p>
          <a:p>
            <a:pPr lvl="1" eaLnBrk="1" hangingPunct="1">
              <a:lnSpc>
                <a:spcPct val="90000"/>
              </a:lnSpc>
              <a:buFont typeface="Arial" panose="020B0604020202020204" pitchFamily="34" charset="0"/>
              <a:buChar char="•"/>
            </a:pPr>
            <a:r>
              <a:rPr lang="en-US" sz="2100" dirty="0"/>
              <a:t>in record format version number</a:t>
            </a:r>
          </a:p>
          <a:p>
            <a:pPr lvl="1" eaLnBrk="1" hangingPunct="1">
              <a:lnSpc>
                <a:spcPct val="90000"/>
              </a:lnSpc>
              <a:buFont typeface="Arial" panose="020B0604020202020204" pitchFamily="34" charset="0"/>
              <a:buChar char="•"/>
            </a:pPr>
            <a:r>
              <a:rPr lang="en-US" sz="2100" dirty="0"/>
              <a:t>uses HMAC for MAC</a:t>
            </a:r>
          </a:p>
          <a:p>
            <a:pPr lvl="1" eaLnBrk="1" hangingPunct="1">
              <a:lnSpc>
                <a:spcPct val="90000"/>
              </a:lnSpc>
              <a:buFont typeface="Arial" panose="020B0604020202020204" pitchFamily="34" charset="0"/>
              <a:buChar char="•"/>
            </a:pPr>
            <a:r>
              <a:rPr lang="en-US" sz="2100" dirty="0"/>
              <a:t>a pseudo-random function expands secrets</a:t>
            </a:r>
          </a:p>
          <a:p>
            <a:pPr lvl="2" eaLnBrk="1" hangingPunct="1">
              <a:lnSpc>
                <a:spcPct val="90000"/>
              </a:lnSpc>
              <a:buFont typeface="Wingdings" panose="05000000000000000000" pitchFamily="2" charset="2"/>
              <a:buChar char="§"/>
            </a:pPr>
            <a:r>
              <a:rPr lang="en-US" sz="2100" dirty="0"/>
              <a:t>based on HMAC using SHA-1 or MD5</a:t>
            </a:r>
          </a:p>
          <a:p>
            <a:pPr lvl="1" eaLnBrk="1" hangingPunct="1">
              <a:lnSpc>
                <a:spcPct val="90000"/>
              </a:lnSpc>
              <a:buFont typeface="Arial" panose="020B0604020202020204" pitchFamily="34" charset="0"/>
              <a:buChar char="•"/>
            </a:pPr>
            <a:r>
              <a:rPr lang="en-US" sz="2100" dirty="0"/>
              <a:t>has additional alert codes</a:t>
            </a:r>
          </a:p>
          <a:p>
            <a:pPr lvl="1" eaLnBrk="1" hangingPunct="1">
              <a:lnSpc>
                <a:spcPct val="90000"/>
              </a:lnSpc>
              <a:buFont typeface="Arial" panose="020B0604020202020204" pitchFamily="34" charset="0"/>
              <a:buChar char="•"/>
            </a:pPr>
            <a:r>
              <a:rPr lang="en-US" sz="2100" dirty="0"/>
              <a:t>some changes in supported ciphers</a:t>
            </a:r>
          </a:p>
          <a:p>
            <a:pPr lvl="1" eaLnBrk="1" hangingPunct="1">
              <a:lnSpc>
                <a:spcPct val="90000"/>
              </a:lnSpc>
              <a:buFont typeface="Arial" panose="020B0604020202020204" pitchFamily="34" charset="0"/>
              <a:buChar char="•"/>
            </a:pPr>
            <a:r>
              <a:rPr lang="en-US" sz="2100" dirty="0"/>
              <a:t>changes in certificate types &amp; negotiations</a:t>
            </a:r>
          </a:p>
          <a:p>
            <a:pPr lvl="1" eaLnBrk="1" hangingPunct="1">
              <a:lnSpc>
                <a:spcPct val="90000"/>
              </a:lnSpc>
              <a:buFont typeface="Arial" panose="020B0604020202020204" pitchFamily="34" charset="0"/>
              <a:buChar char="•"/>
            </a:pPr>
            <a:r>
              <a:rPr lang="en-US" sz="2100" dirty="0"/>
              <a:t>changes in cryptographic computations &amp; padding</a:t>
            </a:r>
            <a:endParaRPr lang="en-AU"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E4F293-0A40-4AA3-8747-1C7D9F3EE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D1CC8B8-2CD1-45F6-9CED-CA31040022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7282" y="635715"/>
            <a:ext cx="8356656" cy="2482136"/>
            <a:chOff x="409710" y="635715"/>
            <a:chExt cx="11142208" cy="2482136"/>
          </a:xfrm>
        </p:grpSpPr>
        <p:sp>
          <p:nvSpPr>
            <p:cNvPr id="20" name="Freeform 44">
              <a:extLst>
                <a:ext uri="{FF2B5EF4-FFF2-40B4-BE49-F238E27FC236}">
                  <a16:creationId xmlns:a16="http://schemas.microsoft.com/office/drawing/2014/main" id="{D0486316-3F2D-434E-AF23-A8EDD6E78DD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45">
              <a:extLst>
                <a:ext uri="{FF2B5EF4-FFF2-40B4-BE49-F238E27FC236}">
                  <a16:creationId xmlns:a16="http://schemas.microsoft.com/office/drawing/2014/main" id="{2AF5945E-96EF-472A-8B30-5AC427AA40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46">
              <a:extLst>
                <a:ext uri="{FF2B5EF4-FFF2-40B4-BE49-F238E27FC236}">
                  <a16:creationId xmlns:a16="http://schemas.microsoft.com/office/drawing/2014/main" id="{F43F39F5-753C-4BA6-AF2B-6F0EEE25AD4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7">
              <a:extLst>
                <a:ext uri="{FF2B5EF4-FFF2-40B4-BE49-F238E27FC236}">
                  <a16:creationId xmlns:a16="http://schemas.microsoft.com/office/drawing/2014/main" id="{2CC5073C-8188-4DE4-B2AB-9C87DDA4F0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Rectangle 15">
              <a:extLst>
                <a:ext uri="{FF2B5EF4-FFF2-40B4-BE49-F238E27FC236}">
                  <a16:creationId xmlns:a16="http://schemas.microsoft.com/office/drawing/2014/main" id="{AEF2074A-D7D4-4AF6-866A-31DDF66B1F7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1015249" y="759805"/>
            <a:ext cx="7500100" cy="1325563"/>
          </a:xfrm>
        </p:spPr>
        <p:txBody>
          <a:bodyPr>
            <a:normAutofit/>
          </a:bodyPr>
          <a:lstStyle/>
          <a:p>
            <a:pPr eaLnBrk="1" hangingPunct="1">
              <a:defRPr/>
            </a:pPr>
            <a:r>
              <a:rPr lang="en-US" sz="3500">
                <a:solidFill>
                  <a:srgbClr val="FFFFFF"/>
                </a:solidFill>
                <a:ea typeface="+mj-ea"/>
                <a:cs typeface="+mj-cs"/>
              </a:rPr>
              <a:t>HTTPS</a:t>
            </a:r>
          </a:p>
        </p:txBody>
      </p:sp>
      <p:graphicFrame>
        <p:nvGraphicFramePr>
          <p:cNvPr id="5" name="Content Placeholder 2">
            <a:extLst>
              <a:ext uri="{FF2B5EF4-FFF2-40B4-BE49-F238E27FC236}">
                <a16:creationId xmlns:a16="http://schemas.microsoft.com/office/drawing/2014/main" id="{3D726985-5FAC-4B17-AA9E-A726053B8E08}"/>
              </a:ext>
            </a:extLst>
          </p:cNvPr>
          <p:cNvGraphicFramePr>
            <a:graphicFrameLocks noGrp="1"/>
          </p:cNvGraphicFramePr>
          <p:nvPr>
            <p:ph idx="1"/>
            <p:extLst>
              <p:ext uri="{D42A27DB-BD31-4B8C-83A1-F6EECF244321}">
                <p14:modId xmlns:p14="http://schemas.microsoft.com/office/powerpoint/2010/main" val="3941710834"/>
              </p:ext>
            </p:extLst>
          </p:nvPr>
        </p:nvGraphicFramePr>
        <p:xfrm>
          <a:off x="1066869" y="2499837"/>
          <a:ext cx="7130833" cy="371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718879" y="800392"/>
            <a:ext cx="7698523" cy="1212102"/>
          </a:xfrm>
        </p:spPr>
        <p:txBody>
          <a:bodyPr>
            <a:normAutofit/>
          </a:bodyPr>
          <a:lstStyle/>
          <a:p>
            <a:pPr eaLnBrk="1" hangingPunct="1">
              <a:defRPr/>
            </a:pPr>
            <a:r>
              <a:rPr lang="en-US" sz="3500">
                <a:solidFill>
                  <a:srgbClr val="FFFFFF"/>
                </a:solidFill>
                <a:ea typeface="+mj-ea"/>
                <a:cs typeface="+mj-cs"/>
              </a:rPr>
              <a:t>HTTPS Use</a:t>
            </a:r>
          </a:p>
        </p:txBody>
      </p:sp>
      <p:sp>
        <p:nvSpPr>
          <p:cNvPr id="3" name="Content Placeholder 2"/>
          <p:cNvSpPr>
            <a:spLocks noGrp="1"/>
          </p:cNvSpPr>
          <p:nvPr>
            <p:ph idx="1"/>
          </p:nvPr>
        </p:nvSpPr>
        <p:spPr>
          <a:xfrm>
            <a:off x="1025718" y="2490436"/>
            <a:ext cx="7281746" cy="3567173"/>
          </a:xfrm>
        </p:spPr>
        <p:txBody>
          <a:bodyPr anchor="ctr">
            <a:normAutofit/>
          </a:bodyPr>
          <a:lstStyle/>
          <a:p>
            <a:pPr eaLnBrk="1" hangingPunct="1">
              <a:buFont typeface="Wingdings" panose="05000000000000000000" pitchFamily="2" charset="2"/>
              <a:buChar char="Ø"/>
            </a:pPr>
            <a:r>
              <a:rPr lang="en-US" sz="2000" dirty="0"/>
              <a:t>For HTTPS, the agent acting as the HTTP client also acts as the TLS client. </a:t>
            </a:r>
          </a:p>
          <a:p>
            <a:pPr eaLnBrk="1" hangingPunct="1">
              <a:buFont typeface="Wingdings" panose="05000000000000000000" pitchFamily="2" charset="2"/>
              <a:buChar char="Ø"/>
            </a:pPr>
            <a:r>
              <a:rPr lang="en-US" sz="2000" dirty="0"/>
              <a:t>connection initiation</a:t>
            </a:r>
          </a:p>
          <a:p>
            <a:pPr lvl="1" eaLnBrk="1" hangingPunct="1">
              <a:buFont typeface="Arial" panose="020B0604020202020204" pitchFamily="34" charset="0"/>
              <a:buChar char="•"/>
            </a:pPr>
            <a:r>
              <a:rPr lang="en-US" sz="2000" dirty="0"/>
              <a:t>TLS handshake then HTTP request(s)</a:t>
            </a:r>
          </a:p>
          <a:p>
            <a:pPr eaLnBrk="1" hangingPunct="1">
              <a:buFont typeface="Wingdings" panose="05000000000000000000" pitchFamily="2" charset="2"/>
              <a:buChar char="Ø"/>
            </a:pPr>
            <a:r>
              <a:rPr lang="en-US" sz="2000" dirty="0"/>
              <a:t>connection closure</a:t>
            </a:r>
          </a:p>
          <a:p>
            <a:pPr lvl="1" eaLnBrk="1" hangingPunct="1">
              <a:buFont typeface="Arial" panose="020B0604020202020204" pitchFamily="34" charset="0"/>
              <a:buChar char="•"/>
            </a:pPr>
            <a:r>
              <a:rPr lang="en-US" sz="2000" dirty="0"/>
              <a:t>have “Connection: close” in HTTP record</a:t>
            </a:r>
          </a:p>
          <a:p>
            <a:pPr lvl="1" eaLnBrk="1" hangingPunct="1">
              <a:buFont typeface="Arial" panose="020B0604020202020204" pitchFamily="34" charset="0"/>
              <a:buChar char="•"/>
            </a:pPr>
            <a:r>
              <a:rPr lang="en-US" sz="2000" dirty="0"/>
              <a:t>TLS level exchange </a:t>
            </a:r>
            <a:r>
              <a:rPr lang="en-US" sz="2000" dirty="0" err="1"/>
              <a:t>close_notify</a:t>
            </a:r>
            <a:r>
              <a:rPr lang="en-US" sz="2000" dirty="0"/>
              <a:t> alerts</a:t>
            </a:r>
          </a:p>
          <a:p>
            <a:pPr lvl="1" eaLnBrk="1" hangingPunct="1">
              <a:buFont typeface="Arial" panose="020B0604020202020204" pitchFamily="34" charset="0"/>
              <a:buChar char="•"/>
            </a:pPr>
            <a:r>
              <a:rPr lang="en-US" sz="2000" dirty="0"/>
              <a:t>can then close TCP connection</a:t>
            </a:r>
          </a:p>
          <a:p>
            <a:pPr lvl="1" eaLnBrk="1" hangingPunct="1">
              <a:buFont typeface="Arial" panose="020B0604020202020204" pitchFamily="34" charset="0"/>
              <a:buChar char="•"/>
            </a:pPr>
            <a:r>
              <a:rPr lang="en-US" sz="2000" dirty="0"/>
              <a:t>must handle TCP close before alert exchange sent or completed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718879" y="800392"/>
            <a:ext cx="7698523" cy="1212102"/>
          </a:xfrm>
        </p:spPr>
        <p:txBody>
          <a:bodyPr>
            <a:normAutofit/>
          </a:bodyPr>
          <a:lstStyle/>
          <a:p>
            <a:pPr eaLnBrk="1" hangingPunct="1">
              <a:defRPr/>
            </a:pPr>
            <a:r>
              <a:rPr lang="en-US" sz="3500" dirty="0">
                <a:solidFill>
                  <a:srgbClr val="FFFFFF"/>
                </a:solidFill>
                <a:ea typeface="+mj-ea"/>
                <a:cs typeface="+mj-cs"/>
              </a:rPr>
              <a:t>Summary</a:t>
            </a:r>
          </a:p>
        </p:txBody>
      </p:sp>
      <p:sp>
        <p:nvSpPr>
          <p:cNvPr id="3" name="Content Placeholder 2"/>
          <p:cNvSpPr>
            <a:spLocks noGrp="1"/>
          </p:cNvSpPr>
          <p:nvPr>
            <p:ph idx="1"/>
          </p:nvPr>
        </p:nvSpPr>
        <p:spPr>
          <a:xfrm>
            <a:off x="1025718" y="2490437"/>
            <a:ext cx="7281746" cy="2462564"/>
          </a:xfrm>
        </p:spPr>
        <p:txBody>
          <a:bodyPr anchor="ctr">
            <a:normAutofit/>
          </a:bodyPr>
          <a:lstStyle/>
          <a:p>
            <a:pPr eaLnBrk="1" hangingPunct="1">
              <a:buFont typeface="Wingdings" panose="05000000000000000000" pitchFamily="2" charset="2"/>
              <a:buChar char="Ø"/>
            </a:pPr>
            <a:r>
              <a:rPr lang="en-US" sz="2400" dirty="0"/>
              <a:t>Have considered:</a:t>
            </a:r>
          </a:p>
          <a:p>
            <a:pPr lvl="1" eaLnBrk="1" hangingPunct="1">
              <a:buFont typeface="Arial" panose="020B0604020202020204" pitchFamily="34" charset="0"/>
              <a:buChar char="•"/>
            </a:pPr>
            <a:r>
              <a:rPr lang="en-US" sz="2400" dirty="0"/>
              <a:t>Web security</a:t>
            </a:r>
          </a:p>
          <a:p>
            <a:pPr lvl="1" eaLnBrk="1" hangingPunct="1">
              <a:buFont typeface="Arial" panose="020B0604020202020204" pitchFamily="34" charset="0"/>
              <a:buChar char="•"/>
            </a:pPr>
            <a:r>
              <a:rPr lang="en-US" sz="2400" dirty="0"/>
              <a:t>TLS / SSL protocol</a:t>
            </a:r>
          </a:p>
          <a:p>
            <a:pPr lvl="1" eaLnBrk="1" hangingPunct="1">
              <a:buFont typeface="Arial" panose="020B0604020202020204" pitchFamily="34" charset="0"/>
              <a:buChar char="•"/>
            </a:pPr>
            <a:r>
              <a:rPr lang="en-US" sz="2400" dirty="0"/>
              <a:t>HTTPS</a:t>
            </a:r>
          </a:p>
        </p:txBody>
      </p:sp>
    </p:spTree>
    <p:extLst>
      <p:ext uri="{BB962C8B-B14F-4D97-AF65-F5344CB8AC3E}">
        <p14:creationId xmlns:p14="http://schemas.microsoft.com/office/powerpoint/2010/main" val="15062954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TotalTime>
  <Words>3429</Words>
  <Application>Microsoft Office PowerPoint</Application>
  <PresentationFormat>On-screen Show (4:3)</PresentationFormat>
  <Paragraphs>171</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Times</vt:lpstr>
      <vt:lpstr>Wingdings</vt:lpstr>
      <vt:lpstr>Office Theme</vt:lpstr>
      <vt:lpstr>Cryptography and Network Security Chapter 16</vt:lpstr>
      <vt:lpstr>Web Security</vt:lpstr>
      <vt:lpstr>Web Traffic Security Approaches</vt:lpstr>
      <vt:lpstr>SSL (Secure Socket Layer)</vt:lpstr>
      <vt:lpstr>SSL Architecture</vt:lpstr>
      <vt:lpstr>Two Important SSL Concepts </vt:lpstr>
      <vt:lpstr>SSL Record Protocol Services</vt:lpstr>
      <vt:lpstr>SSL Record Protocol Operation</vt:lpstr>
      <vt:lpstr>SSL Change Cipher Spec Protocol</vt:lpstr>
      <vt:lpstr>SSL Alert Protocol</vt:lpstr>
      <vt:lpstr>SSL Handshake Protocol</vt:lpstr>
      <vt:lpstr>SSL Handshake Protocol</vt:lpstr>
      <vt:lpstr>Cryptographic Computations</vt:lpstr>
      <vt:lpstr>TLS (Transport Layer Security)</vt:lpstr>
      <vt:lpstr>HTTPS</vt:lpstr>
      <vt:lpstr>HTTPS Use</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Cryptography and Network Security Chapter 16</dc:title>
  <dc:creator>Mohamed Ashraf Madkour</dc:creator>
  <cp:lastModifiedBy>Mohamed Ashraf Madkour</cp:lastModifiedBy>
  <cp:revision>5</cp:revision>
  <dcterms:created xsi:type="dcterms:W3CDTF">2020-11-25T08:45:45Z</dcterms:created>
  <dcterms:modified xsi:type="dcterms:W3CDTF">2021-12-27T08:06:55Z</dcterms:modified>
</cp:coreProperties>
</file>