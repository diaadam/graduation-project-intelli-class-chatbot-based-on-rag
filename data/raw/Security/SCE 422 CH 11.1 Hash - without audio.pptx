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83" r:id="rId4"/>
    <p:sldId id="279" r:id="rId5"/>
    <p:sldId id="280" r:id="rId6"/>
    <p:sldId id="284" r:id="rId7"/>
    <p:sldId id="262" r:id="rId8"/>
    <p:sldId id="285" r:id="rId9"/>
    <p:sldId id="265" r:id="rId10"/>
    <p:sldId id="266" r:id="rId11"/>
    <p:sldId id="291" r:id="rId12"/>
    <p:sldId id="286" r:id="rId13"/>
    <p:sldId id="287" r:id="rId14"/>
    <p:sldId id="269" r:id="rId15"/>
    <p:sldId id="270" r:id="rId16"/>
    <p:sldId id="288" r:id="rId17"/>
    <p:sldId id="289" r:id="rId18"/>
    <p:sldId id="290" r:id="rId19"/>
    <p:sldId id="276"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95" autoAdjust="0"/>
  </p:normalViewPr>
  <p:slideViewPr>
    <p:cSldViewPr>
      <p:cViewPr varScale="1">
        <p:scale>
          <a:sx n="77" d="100"/>
          <a:sy n="77" d="100"/>
        </p:scale>
        <p:origin x="161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shraf" userId="ef4047a82958c61e" providerId="LiveId" clId="{FDBC9CBE-617B-4FEE-BA7C-C27CBC5D04FC}"/>
    <pc:docChg chg="undo custSel modSld">
      <pc:chgData name="Mohamed Ashraf" userId="ef4047a82958c61e" providerId="LiveId" clId="{FDBC9CBE-617B-4FEE-BA7C-C27CBC5D04FC}" dt="2023-01-02T07:27:25.332" v="1" actId="13926"/>
      <pc:docMkLst>
        <pc:docMk/>
      </pc:docMkLst>
      <pc:sldChg chg="modSp mod">
        <pc:chgData name="Mohamed Ashraf" userId="ef4047a82958c61e" providerId="LiveId" clId="{FDBC9CBE-617B-4FEE-BA7C-C27CBC5D04FC}" dt="2023-01-02T07:27:25.332" v="1" actId="13926"/>
        <pc:sldMkLst>
          <pc:docMk/>
          <pc:sldMk cId="0" sldId="265"/>
        </pc:sldMkLst>
        <pc:spChg chg="mod">
          <ac:chgData name="Mohamed Ashraf" userId="ef4047a82958c61e" providerId="LiveId" clId="{FDBC9CBE-617B-4FEE-BA7C-C27CBC5D04FC}" dt="2023-01-02T07:27:25.332" v="1" actId="13926"/>
          <ac:spMkLst>
            <pc:docMk/>
            <pc:sldMk cId="0" sldId="26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D0F08F-ECB4-46D2-B0C2-2281EBFF9A41}" type="datetimeFigureOut">
              <a:rPr lang="en-US" smtClean="0"/>
              <a:pPr/>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050D65-9EE1-476A-85D1-3B3ECD1E7476}" type="slidenum">
              <a:rPr lang="en-US" smtClean="0"/>
              <a:pPr/>
              <a:t>‹#›</a:t>
            </a:fld>
            <a:endParaRPr lang="en-US"/>
          </a:p>
        </p:txBody>
      </p:sp>
    </p:spTree>
    <p:extLst>
      <p:ext uri="{BB962C8B-B14F-4D97-AF65-F5344CB8AC3E}">
        <p14:creationId xmlns:p14="http://schemas.microsoft.com/office/powerpoint/2010/main" val="3970725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31"/>
          <p:cNvSpPr>
            <a:spLocks noGrp="1" noChangeArrowheads="1"/>
          </p:cNvSpPr>
          <p:nvPr>
            <p:ph type="sldNum" sz="quarter" idx="5"/>
          </p:nvPr>
        </p:nvSpPr>
        <p:spPr>
          <a:noFill/>
        </p:spPr>
        <p:txBody>
          <a:bodyPr/>
          <a:lstStyle/>
          <a:p>
            <a:fld id="{3B64EEF6-2174-4657-BA88-750E9BEE89B2}" type="slidenum">
              <a:rPr lang="en-AU"/>
              <a:pPr/>
              <a:t>1</a:t>
            </a:fld>
            <a:endParaRPr lang="en-AU"/>
          </a:p>
        </p:txBody>
      </p:sp>
      <p:sp>
        <p:nvSpPr>
          <p:cNvPr id="15363" name="Rectangle 2"/>
          <p:cNvSpPr>
            <a:spLocks noGrp="1" noRot="1" noChangeAspect="1" noChangeArrowheads="1"/>
          </p:cNvSpPr>
          <p:nvPr>
            <p:ph type="sldImg"/>
          </p:nvPr>
        </p:nvSpPr>
        <p:spPr>
          <a:solidFill>
            <a:srgbClr val="FFFFFF"/>
          </a:solidFill>
          <a:ln/>
        </p:spPr>
      </p:sp>
      <p:sp>
        <p:nvSpPr>
          <p:cNvPr id="15364" name="Rectangle 3"/>
          <p:cNvSpPr>
            <a:spLocks noGrp="1" noChangeArrowheads="1"/>
          </p:cNvSpPr>
          <p:nvPr>
            <p:ph type="body" idx="1"/>
          </p:nvPr>
        </p:nvSpPr>
        <p:spPr>
          <a:noFill/>
          <a:ln/>
        </p:spPr>
        <p:txBody>
          <a:bodyPr/>
          <a:lstStyle/>
          <a:p>
            <a:pPr eaLnBrk="1" hangingPunct="1"/>
            <a:r>
              <a:rPr lang="en-US" dirty="0">
                <a:ea typeface="ＭＳ Ｐゴシック" pitchFamily="-107" charset="-128"/>
              </a:rPr>
              <a:t>Lecture slides by Lawrie Brown for “Cryptography and Network Security”, 5/e, by William Stallings, Chapter 11 – “Cryptographic Hash Functions”.</a:t>
            </a:r>
            <a:endParaRPr lang="en-AU" dirty="0">
              <a:ea typeface="ＭＳ Ｐゴシック" pitchFamily="-107" charset="-128"/>
            </a:endParaRPr>
          </a:p>
          <a:p>
            <a:pPr eaLnBrk="1" hangingPunct="1"/>
            <a:endParaRPr lang="en-US" dirty="0">
              <a:ea typeface="ＭＳ Ｐゴシック" pitchFamily="-107"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466F6506-9FA2-4667-9DF9-D0344BC33304}" type="slidenum">
              <a:rPr lang="en-AU"/>
              <a:pPr/>
              <a:t>2</a:t>
            </a:fld>
            <a:endParaRPr lang="en-AU"/>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a:ea typeface="ＭＳ Ｐゴシック" pitchFamily="-107" charset="-128"/>
              </a:rPr>
              <a:t>A hash function H accepts a variable-length block of data M as input and produces a fixed-size hash value h = H(M). A "good" hash function has the property that the results of applying the function to a large set of inputs will produce outputs that are evenly distributed, and apparently random. In general terms, the principal object of a hash function is data integrity. A change to any bit or bits in M results, with high probability, in a change to the hash code. The kind of hash function needed for security applications is referred to as a cryptographic hash function. A cryptographic hash function is an algorithm for which it is computationally infeasible (because no attack is significantly more efficient than brute force) to find either (a) a data object that maps to a pre-specified hash result (the one-way property) or (b) two data objects that map to the same hash result (the collision-free property). Because of these characteristics, hash functions are often used to determine whether or not data has changed.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466F6506-9FA2-4667-9DF9-D0344BC33304}" type="slidenum">
              <a:rPr lang="en-AU"/>
              <a:pPr/>
              <a:t>3</a:t>
            </a:fld>
            <a:endParaRPr lang="en-AU"/>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a:ea typeface="ＭＳ Ｐゴシック" pitchFamily="-107" charset="-128"/>
              </a:rPr>
              <a:t>A hash function H accepts a variable-length block of data M as input and produces a fixed-size hash value h = H(M). A "good" hash function has the property that the results of applying the function to a large set of inputs will produce outputs that are evenly distributed, and apparently random. In general terms, the principal object of a hash function is data integrity. A change to any bit or bits in M results, with high probability, in a change to the hash code. The kind of hash function needed for security applications is referred to as a cryptographic hash function. A cryptographic hash function is an algorithm for which it is computationally infeasible (because no attack is significantly more efficient than brute force) to find either (a) a data object that maps to a pre-specified hash result (the one-way property) or (b) two data objects that map to the same hash result (the collision-free property). Because of these characteristics, hash functions are often used to determine whether or not data has changed. </a:t>
            </a:r>
          </a:p>
        </p:txBody>
      </p:sp>
    </p:spTree>
    <p:extLst>
      <p:ext uri="{BB962C8B-B14F-4D97-AF65-F5344CB8AC3E}">
        <p14:creationId xmlns:p14="http://schemas.microsoft.com/office/powerpoint/2010/main" val="23914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a:ln/>
        </p:spPr>
      </p:sp>
      <p:sp>
        <p:nvSpPr>
          <p:cNvPr id="21507" name="Notes Placeholder 2"/>
          <p:cNvSpPr>
            <a:spLocks noGrp="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Figure 11.1 depicts the general operation of a cryptographic hash function.</a:t>
            </a:r>
          </a:p>
          <a:p>
            <a:r>
              <a:rPr lang="en-US" sz="1200" kern="1200" baseline="0" dirty="0">
                <a:solidFill>
                  <a:schemeClr val="tx1"/>
                </a:solidFill>
                <a:latin typeface="Arial" charset="0"/>
                <a:ea typeface="ＭＳ Ｐゴシック" charset="-128"/>
                <a:cs typeface="ＭＳ Ｐゴシック" charset="-128"/>
              </a:rPr>
              <a:t>Typically, the input is padded out to an integer multiple of some fixed length</a:t>
            </a:r>
          </a:p>
          <a:p>
            <a:r>
              <a:rPr lang="en-US" sz="1200" kern="1200" baseline="0" dirty="0">
                <a:solidFill>
                  <a:schemeClr val="tx1"/>
                </a:solidFill>
                <a:latin typeface="Arial" charset="0"/>
                <a:ea typeface="ＭＳ Ｐゴシック" charset="-128"/>
                <a:cs typeface="ＭＳ Ｐゴシック" charset="-128"/>
              </a:rPr>
              <a:t>(e.g., 1024 bits), and the padding includes the value of the length of the original message</a:t>
            </a:r>
          </a:p>
          <a:p>
            <a:r>
              <a:rPr lang="en-US" sz="1200" kern="1200" baseline="0" dirty="0">
                <a:solidFill>
                  <a:schemeClr val="tx1"/>
                </a:solidFill>
                <a:latin typeface="Arial" charset="0"/>
                <a:ea typeface="ＭＳ Ｐゴシック" charset="-128"/>
                <a:cs typeface="ＭＳ Ｐゴシック" charset="-128"/>
              </a:rPr>
              <a:t>in bits. The length field is a security measure to increase the difficulty for an</a:t>
            </a:r>
          </a:p>
          <a:p>
            <a:r>
              <a:rPr lang="en-US" sz="1200" kern="1200" baseline="0" dirty="0">
                <a:solidFill>
                  <a:schemeClr val="tx1"/>
                </a:solidFill>
                <a:latin typeface="Arial" charset="0"/>
                <a:ea typeface="ＭＳ Ｐゴシック" charset="-128"/>
                <a:cs typeface="ＭＳ Ｐゴシック" charset="-128"/>
              </a:rPr>
              <a:t>attacker to produce an alternative message with the same hash value.</a:t>
            </a:r>
            <a:endParaRPr lang="en-US" dirty="0">
              <a:latin typeface="Arial" pitchFamily="-84" charset="0"/>
              <a:ea typeface="ＭＳ Ｐゴシック" pitchFamily="-84" charset="-128"/>
              <a:cs typeface="ＭＳ Ｐゴシック" pitchFamily="-84" charset="-128"/>
            </a:endParaRPr>
          </a:p>
        </p:txBody>
      </p:sp>
      <p:sp>
        <p:nvSpPr>
          <p:cNvPr id="21508" name="Slide Number Placeholder 3"/>
          <p:cNvSpPr>
            <a:spLocks noGrp="1"/>
          </p:cNvSpPr>
          <p:nvPr>
            <p:ph type="sldNum" sz="quarter" idx="5"/>
          </p:nvPr>
        </p:nvSpPr>
        <p:spPr>
          <a:noFill/>
        </p:spPr>
        <p:txBody>
          <a:bodyPr/>
          <a:lstStyle/>
          <a:p>
            <a:fld id="{5C5B7352-273A-EB4C-8779-60CE0036EC84}" type="slidenum">
              <a:rPr lang="en-AU" smtClean="0">
                <a:latin typeface="Arial" pitchFamily="-84" charset="0"/>
              </a:rPr>
              <a:pPr/>
              <a:t>4</a:t>
            </a:fld>
            <a:endParaRPr lang="en-AU" dirty="0">
              <a:latin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0284054-E12D-3C42-9621-A1064B46B9DD}" type="slidenum">
              <a:rPr lang="en-AU">
                <a:latin typeface="Arial" pitchFamily="-84" charset="0"/>
              </a:rPr>
              <a:pPr/>
              <a:t>5</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normAutofit fontScale="92500"/>
          </a:bodyPr>
          <a:lstStyle/>
          <a:p>
            <a:r>
              <a:rPr lang="en-US" sz="1200" kern="1200" baseline="0" dirty="0">
                <a:solidFill>
                  <a:schemeClr val="tx1"/>
                </a:solidFill>
                <a:latin typeface="Arial" charset="0"/>
                <a:ea typeface="ＭＳ Ｐゴシック" charset="-128"/>
                <a:cs typeface="ＭＳ Ｐゴシック" charset="-128"/>
              </a:rPr>
              <a:t> Message authentication is a mechanism or service used to verify the integrity of</a:t>
            </a:r>
          </a:p>
          <a:p>
            <a:r>
              <a:rPr lang="en-US" sz="1200" kern="1200" baseline="0" dirty="0">
                <a:solidFill>
                  <a:schemeClr val="tx1"/>
                </a:solidFill>
                <a:latin typeface="Arial" charset="0"/>
                <a:ea typeface="ＭＳ Ｐゴシック" charset="-128"/>
                <a:cs typeface="ＭＳ Ｐゴシック" charset="-128"/>
              </a:rPr>
              <a:t>a message. Message authentication assures that data received are exactly as sent</a:t>
            </a:r>
          </a:p>
          <a:p>
            <a:r>
              <a:rPr lang="en-US" sz="1200" kern="1200" baseline="0" dirty="0">
                <a:solidFill>
                  <a:schemeClr val="tx1"/>
                </a:solidFill>
                <a:latin typeface="Arial" charset="0"/>
                <a:ea typeface="ＭＳ Ｐゴシック" charset="-128"/>
                <a:cs typeface="ＭＳ Ｐゴシック" charset="-128"/>
              </a:rPr>
              <a:t>(i.e., contain no modification, insertion, deletion, or replay). In many cases, there is</a:t>
            </a:r>
          </a:p>
          <a:p>
            <a:r>
              <a:rPr lang="en-US" sz="1200" kern="1200" baseline="0" dirty="0">
                <a:solidFill>
                  <a:schemeClr val="tx1"/>
                </a:solidFill>
                <a:latin typeface="Arial" charset="0"/>
                <a:ea typeface="ＭＳ Ｐゴシック" charset="-128"/>
                <a:cs typeface="ＭＳ Ｐゴシック" charset="-128"/>
              </a:rPr>
              <a:t> a requirement that the authentication mechanism assures that purported identity of</a:t>
            </a:r>
          </a:p>
          <a:p>
            <a:r>
              <a:rPr lang="en-US" sz="1200" kern="1200" baseline="0" dirty="0">
                <a:solidFill>
                  <a:schemeClr val="tx1"/>
                </a:solidFill>
                <a:latin typeface="Arial" charset="0"/>
                <a:ea typeface="ＭＳ Ｐゴシック" charset="-128"/>
                <a:cs typeface="ＭＳ Ｐゴシック" charset="-128"/>
              </a:rPr>
              <a:t>the sender is valid. When a hash function is used to provide message authentication,</a:t>
            </a:r>
          </a:p>
          <a:p>
            <a:r>
              <a:rPr lang="en-US" sz="1200" kern="1200" baseline="0" dirty="0">
                <a:solidFill>
                  <a:schemeClr val="tx1"/>
                </a:solidFill>
                <a:latin typeface="Arial" charset="0"/>
                <a:ea typeface="ＭＳ Ｐゴシック" charset="-128"/>
                <a:cs typeface="ＭＳ Ｐゴシック" charset="-128"/>
              </a:rPr>
              <a:t>the hash function value is often referred to as a message digest .</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essence of the use of a hash function for message authentication is as</a:t>
            </a:r>
          </a:p>
          <a:p>
            <a:r>
              <a:rPr lang="en-US" sz="1200" kern="1200" baseline="0" dirty="0">
                <a:solidFill>
                  <a:schemeClr val="tx1"/>
                </a:solidFill>
                <a:latin typeface="Arial" charset="0"/>
                <a:ea typeface="ＭＳ Ｐゴシック" charset="-128"/>
                <a:cs typeface="ＭＳ Ｐゴシック" charset="-128"/>
              </a:rPr>
              <a:t>follows. The sender computes a hash value as a function of the bits in the message</a:t>
            </a:r>
          </a:p>
          <a:p>
            <a:r>
              <a:rPr lang="en-US" sz="1200" kern="1200" baseline="0" dirty="0">
                <a:solidFill>
                  <a:schemeClr val="tx1"/>
                </a:solidFill>
                <a:latin typeface="Arial" charset="0"/>
                <a:ea typeface="ＭＳ Ｐゴシック" charset="-128"/>
                <a:cs typeface="ＭＳ Ｐゴシック" charset="-128"/>
              </a:rPr>
              <a:t>and transmits both the hash value and the message. The receiver performs the same</a:t>
            </a:r>
          </a:p>
          <a:p>
            <a:r>
              <a:rPr lang="en-US" sz="1200" kern="1200" baseline="0" dirty="0">
                <a:solidFill>
                  <a:schemeClr val="tx1"/>
                </a:solidFill>
                <a:latin typeface="Arial" charset="0"/>
                <a:ea typeface="ＭＳ Ｐゴシック" charset="-128"/>
                <a:cs typeface="ＭＳ Ｐゴシック" charset="-128"/>
              </a:rPr>
              <a:t>hash calculation on the message bits and compares this value with the incoming</a:t>
            </a:r>
          </a:p>
          <a:p>
            <a:r>
              <a:rPr lang="en-US" sz="1200" kern="1200" baseline="0" dirty="0">
                <a:solidFill>
                  <a:schemeClr val="tx1"/>
                </a:solidFill>
                <a:latin typeface="Arial" charset="0"/>
                <a:ea typeface="ＭＳ Ｐゴシック" charset="-128"/>
                <a:cs typeface="ＭＳ Ｐゴシック" charset="-128"/>
              </a:rPr>
              <a:t>hash value. If there is a mismatch, the receiver knows that the message (or possibly</a:t>
            </a:r>
          </a:p>
          <a:p>
            <a:r>
              <a:rPr lang="en-US" sz="1200" kern="1200" baseline="0" dirty="0">
                <a:solidFill>
                  <a:schemeClr val="tx1"/>
                </a:solidFill>
                <a:latin typeface="Arial" charset="0"/>
                <a:ea typeface="ＭＳ Ｐゴシック" charset="-128"/>
                <a:cs typeface="ＭＳ Ｐゴシック" charset="-128"/>
              </a:rPr>
              <a:t>the hash value) has been altered (Figure 11.2a).</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The hash function must be transmitted in a secure fashion. That is, the hash</a:t>
            </a:r>
          </a:p>
          <a:p>
            <a:r>
              <a:rPr lang="en-US" sz="1200" kern="1200" baseline="0" dirty="0">
                <a:solidFill>
                  <a:schemeClr val="tx1"/>
                </a:solidFill>
                <a:latin typeface="Arial" charset="0"/>
                <a:ea typeface="ＭＳ Ｐゴシック" charset="-128"/>
                <a:cs typeface="ＭＳ Ｐゴシック" charset="-128"/>
              </a:rPr>
              <a:t>function must be protected so that if an adversary alters or replaces the message,</a:t>
            </a:r>
          </a:p>
          <a:p>
            <a:r>
              <a:rPr lang="en-US" sz="1200" kern="1200" baseline="0" dirty="0">
                <a:solidFill>
                  <a:schemeClr val="tx1"/>
                </a:solidFill>
                <a:latin typeface="Arial" charset="0"/>
                <a:ea typeface="ＭＳ Ｐゴシック" charset="-128"/>
                <a:cs typeface="ＭＳ Ｐゴシック" charset="-128"/>
              </a:rPr>
              <a:t>it is not feasible for adversary to also alter the hash value to fool the receiver. This</a:t>
            </a:r>
          </a:p>
          <a:p>
            <a:r>
              <a:rPr lang="en-US" sz="1200" kern="1200" baseline="0" dirty="0">
                <a:solidFill>
                  <a:schemeClr val="tx1"/>
                </a:solidFill>
                <a:latin typeface="Arial" charset="0"/>
                <a:ea typeface="ＭＳ Ｐゴシック" charset="-128"/>
                <a:cs typeface="ＭＳ Ｐゴシック" charset="-128"/>
              </a:rPr>
              <a:t>type of attack is shown in Figure 11.2b. In this example, Alice transmits a data block</a:t>
            </a:r>
          </a:p>
          <a:p>
            <a:r>
              <a:rPr lang="en-US" sz="1200" kern="1200" baseline="0" dirty="0">
                <a:solidFill>
                  <a:schemeClr val="tx1"/>
                </a:solidFill>
                <a:latin typeface="Arial" charset="0"/>
                <a:ea typeface="ＭＳ Ｐゴシック" charset="-128"/>
                <a:cs typeface="ＭＳ Ｐゴシック" charset="-128"/>
              </a:rPr>
              <a:t>and attaches a hash value. Darth intercepts the message, alters or replaces the data</a:t>
            </a:r>
          </a:p>
          <a:p>
            <a:r>
              <a:rPr lang="en-US" sz="1200" kern="1200" baseline="0" dirty="0">
                <a:solidFill>
                  <a:schemeClr val="tx1"/>
                </a:solidFill>
                <a:latin typeface="Arial" charset="0"/>
                <a:ea typeface="ＭＳ Ｐゴシック" charset="-128"/>
                <a:cs typeface="ＭＳ Ｐゴシック" charset="-128"/>
              </a:rPr>
              <a:t>block, and calculates and attaches a new hash value. Bob receives the altered data</a:t>
            </a:r>
          </a:p>
          <a:p>
            <a:r>
              <a:rPr lang="en-US" sz="1200" kern="1200" baseline="0" dirty="0">
                <a:solidFill>
                  <a:schemeClr val="tx1"/>
                </a:solidFill>
                <a:latin typeface="Arial" charset="0"/>
                <a:ea typeface="ＭＳ Ｐゴシック" charset="-128"/>
                <a:cs typeface="ＭＳ Ｐゴシック" charset="-128"/>
              </a:rPr>
              <a:t>with the new hash value and does not detect the change. To prevent this attack, the</a:t>
            </a:r>
          </a:p>
          <a:p>
            <a:r>
              <a:rPr lang="en-US" sz="1200" kern="1200" baseline="0" dirty="0">
                <a:solidFill>
                  <a:schemeClr val="tx1"/>
                </a:solidFill>
                <a:latin typeface="Arial" charset="0"/>
                <a:ea typeface="ＭＳ Ｐゴシック" charset="-128"/>
                <a:cs typeface="ＭＳ Ｐゴシック" charset="-128"/>
              </a:rPr>
              <a:t>hash value generated by Alice must be protected.</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466F6506-9FA2-4667-9DF9-D0344BC33304}" type="slidenum">
              <a:rPr lang="en-AU"/>
              <a:pPr/>
              <a:t>6</a:t>
            </a:fld>
            <a:endParaRPr lang="en-AU"/>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ea typeface="ＭＳ Ｐゴシック" pitchFamily="-107" charset="-128"/>
              </a:rPr>
              <a:t>Another important application, which is similar to the message authentication application, is the digital signature. The operation of the digital signature is similar to that of the MAC. In the case of the digital signature, the hash value of a message is encrypted with a user's private key. Anyone who knows the user's public key can verify the integrity of the message that is associated with the digital signature. In this case an attacker who wishes to alter the message would need to know the user's private key. As we shall see in Chapter 14, the implications of digital signatures go beyond just message authentication.   Stallings Figure 11.3 illustrates, in a simplified fashion, how a hash code is used to provide a digital signature: </a:t>
            </a:r>
          </a:p>
          <a:p>
            <a:pPr eaLnBrk="1" hangingPunct="1">
              <a:buFontTx/>
              <a:buAutoNum type="alphaLcPeriod"/>
            </a:pPr>
            <a:r>
              <a:rPr lang="en-US" dirty="0">
                <a:ea typeface="ＭＳ Ｐゴシック" pitchFamily="-107" charset="-128"/>
              </a:rPr>
              <a:t>The hash code is encrypted, using public-key encryption and using the sender's private key. As with Figure 11.2b, this provides authentication. It also provides a digital signature, because only the sender could have produced the encrypted hash code. In fact, this is the essence of the digital signature technique.  </a:t>
            </a:r>
          </a:p>
          <a:p>
            <a:pPr eaLnBrk="1" hangingPunct="1">
              <a:buFontTx/>
              <a:buAutoNum type="alphaLcPeriod"/>
            </a:pPr>
            <a:r>
              <a:rPr lang="en-US" dirty="0">
                <a:ea typeface="ＭＳ Ｐゴシック" pitchFamily="-107" charset="-128"/>
              </a:rPr>
              <a:t>If confidentiality as well as a digital signature is desired, then the message plus the private-key-encrypted hash code can be encrypted using a symmetric secret key. This is a common technique. </a:t>
            </a:r>
          </a:p>
        </p:txBody>
      </p:sp>
    </p:spTree>
    <p:extLst>
      <p:ext uri="{BB962C8B-B14F-4D97-AF65-F5344CB8AC3E}">
        <p14:creationId xmlns:p14="http://schemas.microsoft.com/office/powerpoint/2010/main" val="3836015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p:cNvSpPr>
          <p:nvPr>
            <p:ph type="sldImg"/>
          </p:nvPr>
        </p:nvSpPr>
        <p:spPr>
          <a:ln/>
        </p:spPr>
      </p:sp>
      <p:sp>
        <p:nvSpPr>
          <p:cNvPr id="27651" name="Notes Placeholder 2"/>
          <p:cNvSpPr>
            <a:spLocks noGrp="1"/>
          </p:cNvSpPr>
          <p:nvPr>
            <p:ph type="body" idx="1"/>
          </p:nvPr>
        </p:nvSpPr>
        <p:spPr>
          <a:noFill/>
          <a:ln/>
        </p:spPr>
        <p:txBody>
          <a:bodyPr/>
          <a:lstStyle/>
          <a:p>
            <a:pPr eaLnBrk="1" hangingPunct="1"/>
            <a:r>
              <a:rPr lang="en-US">
                <a:ea typeface="ＭＳ Ｐゴシック" pitchFamily="-107" charset="-128"/>
              </a:rPr>
              <a:t>Hash functions are commonly used to create a one-way password file. Chapter 20 explains a scheme in which a hash of a password is stored by an operating system rather than the password itself. Thus, the actual password is not retrievable by a hacker who gains access to the password file. In simple terms, when a user enters a password, the hash of that password is compared to the stored hash value for verification. This approach to password protection is used by most operating systems.  </a:t>
            </a:r>
          </a:p>
          <a:p>
            <a:pPr eaLnBrk="1" hangingPunct="1"/>
            <a:r>
              <a:rPr lang="en-US">
                <a:ea typeface="ＭＳ Ｐゴシック" pitchFamily="-107" charset="-128"/>
              </a:rPr>
              <a:t>Hash functions can be used for intrusion detection and virus detection. Store H(F) for each file on a system and secure the hash values (e.g., on a CD-R that is kept secure). One can later determine if a file has been modified by recomputing H(F). An intruder would need to change F without changing H(F).  </a:t>
            </a:r>
          </a:p>
          <a:p>
            <a:pPr eaLnBrk="1" hangingPunct="1"/>
            <a:r>
              <a:rPr lang="en-US">
                <a:ea typeface="ＭＳ Ｐゴシック" pitchFamily="-107" charset="-128"/>
              </a:rPr>
              <a:t>A cryptographic hash function can be used to construct a pseudorandom function (PRF) or a pseudorandom number generator (PRNG). A common application for a hash-based PRF is for the generation of symmetric keys. We discuss this application in Chapter 12.</a:t>
            </a:r>
          </a:p>
        </p:txBody>
      </p:sp>
      <p:sp>
        <p:nvSpPr>
          <p:cNvPr id="27652" name="Slide Number Placeholder 3"/>
          <p:cNvSpPr>
            <a:spLocks noGrp="1"/>
          </p:cNvSpPr>
          <p:nvPr>
            <p:ph type="sldNum" sz="quarter" idx="5"/>
          </p:nvPr>
        </p:nvSpPr>
        <p:spPr>
          <a:noFill/>
        </p:spPr>
        <p:txBody>
          <a:bodyPr/>
          <a:lstStyle/>
          <a:p>
            <a:fld id="{81AC9679-FEE4-4768-82FD-2FB292E62711}" type="slidenum">
              <a:rPr lang="en-AU"/>
              <a:pPr/>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p:cNvSpPr>
          <p:nvPr>
            <p:ph type="sldImg"/>
          </p:nvPr>
        </p:nvSpPr>
        <p:spPr>
          <a:ln/>
        </p:spPr>
      </p:sp>
      <p:sp>
        <p:nvSpPr>
          <p:cNvPr id="27651" name="Notes Placeholder 2"/>
          <p:cNvSpPr>
            <a:spLocks noGrp="1"/>
          </p:cNvSpPr>
          <p:nvPr>
            <p:ph type="body" idx="1"/>
          </p:nvPr>
        </p:nvSpPr>
        <p:spPr>
          <a:noFill/>
          <a:ln/>
        </p:spPr>
        <p:txBody>
          <a:bodyPr/>
          <a:lstStyle/>
          <a:p>
            <a:pPr eaLnBrk="1" hangingPunct="1"/>
            <a:r>
              <a:rPr lang="en-AU" dirty="0">
                <a:ea typeface="ＭＳ Ｐゴシック" pitchFamily="-107" charset="-128"/>
              </a:rPr>
              <a:t>Stallings </a:t>
            </a:r>
            <a:r>
              <a:rPr lang="en-US" dirty="0">
                <a:ea typeface="ＭＳ Ｐゴシック" pitchFamily="-107" charset="-128"/>
              </a:rPr>
              <a:t>Table 11.1 lists the generally accepted requirements for a cryptographic hash function. The first three properties are requirements for the practical application of a hash function. The fourth property, preimage (for a hash value </a:t>
            </a:r>
            <a:r>
              <a:rPr lang="en-US" i="1" dirty="0">
                <a:ea typeface="ＭＳ Ｐゴシック" pitchFamily="-107" charset="-128"/>
              </a:rPr>
              <a:t>h = H(x), </a:t>
            </a:r>
            <a:r>
              <a:rPr lang="en-US" dirty="0">
                <a:ea typeface="ＭＳ Ｐゴシック" pitchFamily="-107" charset="-128"/>
              </a:rPr>
              <a:t>we say that x is the </a:t>
            </a:r>
            <a:r>
              <a:rPr lang="en-US" b="1" dirty="0">
                <a:ea typeface="ＭＳ Ｐゴシック" pitchFamily="-107" charset="-128"/>
              </a:rPr>
              <a:t>preimage </a:t>
            </a:r>
            <a:r>
              <a:rPr lang="en-US" dirty="0">
                <a:ea typeface="ＭＳ Ｐゴシック" pitchFamily="-107" charset="-128"/>
              </a:rPr>
              <a:t>of</a:t>
            </a:r>
            <a:r>
              <a:rPr lang="en-US" b="1" dirty="0">
                <a:ea typeface="ＭＳ Ｐゴシック" pitchFamily="-107" charset="-128"/>
              </a:rPr>
              <a:t> </a:t>
            </a:r>
            <a:r>
              <a:rPr lang="en-US" b="1" i="1" dirty="0">
                <a:ea typeface="ＭＳ Ｐゴシック" pitchFamily="-107" charset="-128"/>
              </a:rPr>
              <a:t>h</a:t>
            </a:r>
            <a:r>
              <a:rPr lang="en-US" dirty="0">
                <a:ea typeface="ＭＳ Ｐゴシック" pitchFamily="-107" charset="-128"/>
              </a:rPr>
              <a:t>) resistant, is the one-way property: it is easy to generate a code given a message, but virtually impossible to generate a message given a code. This property is important if the authentication technique involves the use of a secret value (Figure 11.2c). The fifth property, second preimage resistant, guarantees that it is impossible to find an alternative message with the same hash value as a given message. This prevents forgery when an encrypted hash code is used (Figure 11.2b and Figure 11.3a). A hash function that satisfies the first five properties in Table 11.1 is referred to as a weak hash function. If the sixth property, collision resistant, is also satisfied, then it is referred to as a strong hash function. A strong hash function protects against an attack in which one party generates a message for another party to sign. The final requirement, </a:t>
            </a:r>
            <a:r>
              <a:rPr lang="en-US" b="1" dirty="0" err="1">
                <a:ea typeface="ＭＳ Ｐゴシック" pitchFamily="-107" charset="-128"/>
              </a:rPr>
              <a:t>pseudorandomness</a:t>
            </a:r>
            <a:r>
              <a:rPr lang="en-US" dirty="0">
                <a:ea typeface="ＭＳ Ｐゴシック" pitchFamily="-107" charset="-128"/>
              </a:rPr>
              <a:t>, has not traditionally been listed as a requirement of cryptographic hash functions, but is more or less implied.</a:t>
            </a:r>
            <a:endParaRPr lang="en-AU" dirty="0">
              <a:ea typeface="ＭＳ Ｐゴシック" pitchFamily="-107" charset="-128"/>
            </a:endParaRPr>
          </a:p>
        </p:txBody>
      </p:sp>
      <p:sp>
        <p:nvSpPr>
          <p:cNvPr id="27652" name="Slide Number Placeholder 3"/>
          <p:cNvSpPr>
            <a:spLocks noGrp="1"/>
          </p:cNvSpPr>
          <p:nvPr>
            <p:ph type="sldNum" sz="quarter" idx="5"/>
          </p:nvPr>
        </p:nvSpPr>
        <p:spPr>
          <a:noFill/>
        </p:spPr>
        <p:txBody>
          <a:bodyPr/>
          <a:lstStyle/>
          <a:p>
            <a:fld id="{81AC9679-FEE4-4768-82FD-2FB292E62711}" type="slidenum">
              <a:rPr lang="en-AU"/>
              <a:pPr/>
              <a:t>8</a:t>
            </a:fld>
            <a:endParaRPr lang="en-AU"/>
          </a:p>
        </p:txBody>
      </p:sp>
    </p:spTree>
    <p:extLst>
      <p:ext uri="{BB962C8B-B14F-4D97-AF65-F5344CB8AC3E}">
        <p14:creationId xmlns:p14="http://schemas.microsoft.com/office/powerpoint/2010/main" val="1075464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p:cNvSpPr>
          <p:nvPr>
            <p:ph type="sldImg"/>
          </p:nvPr>
        </p:nvSpPr>
        <p:spPr>
          <a:ln/>
        </p:spPr>
      </p:sp>
      <p:sp>
        <p:nvSpPr>
          <p:cNvPr id="33795" name="Notes Placeholder 2"/>
          <p:cNvSpPr>
            <a:spLocks noGrp="1"/>
          </p:cNvSpPr>
          <p:nvPr>
            <p:ph type="body" idx="1"/>
          </p:nvPr>
        </p:nvSpPr>
        <p:spPr>
          <a:xfrm>
            <a:off x="457200" y="4343400"/>
            <a:ext cx="6019800" cy="4341813"/>
          </a:xfrm>
          <a:noFill/>
          <a:ln/>
        </p:spPr>
        <p:txBody>
          <a:bodyPr/>
          <a:lstStyle/>
          <a:p>
            <a:pPr eaLnBrk="1" hangingPunct="1"/>
            <a:r>
              <a:rPr lang="en-US" dirty="0">
                <a:ea typeface="ＭＳ Ｐゴシック" pitchFamily="-107" charset="-128"/>
              </a:rPr>
              <a:t>As with encryption algorithms, there are two categories of attacks on hash functions: brute-force attacks and cryptanalysis. A brute-force attack does not depend on the specific algorithm but depends only on bit length. In the case of a hash function, a brute-force attack depends only on the bit length of the hash value. A cryptanalysis, in contrast, is an attack based on weaknesses in a particular cryptographic algorithm. </a:t>
            </a:r>
          </a:p>
          <a:p>
            <a:pPr eaLnBrk="1" hangingPunct="1"/>
            <a:r>
              <a:rPr lang="en-US" dirty="0">
                <a:ea typeface="ＭＳ Ｐゴシック" pitchFamily="-107" charset="-128"/>
              </a:rPr>
              <a:t>For a preimage or second preimage attack, an adversary wishes to find a value </a:t>
            </a:r>
            <a:r>
              <a:rPr lang="en-US" i="1" dirty="0">
                <a:ea typeface="ＭＳ Ｐゴシック" pitchFamily="-107" charset="-128"/>
              </a:rPr>
              <a:t>y </a:t>
            </a:r>
            <a:r>
              <a:rPr lang="en-US" dirty="0">
                <a:ea typeface="ＭＳ Ｐゴシック" pitchFamily="-107" charset="-128"/>
              </a:rPr>
              <a:t>such that </a:t>
            </a:r>
            <a:r>
              <a:rPr lang="en-US" i="1" dirty="0">
                <a:ea typeface="ＭＳ Ｐゴシック" pitchFamily="-107" charset="-128"/>
              </a:rPr>
              <a:t>H(y) </a:t>
            </a:r>
            <a:r>
              <a:rPr lang="en-US" dirty="0">
                <a:ea typeface="ＭＳ Ｐゴシック" pitchFamily="-107" charset="-128"/>
              </a:rPr>
              <a:t>is equal to a given hash value h. The brute force method is to pick values of y at random and try each value until a collision occurs. For an </a:t>
            </a:r>
            <a:r>
              <a:rPr lang="en-US" i="1" dirty="0">
                <a:ea typeface="ＭＳ Ｐゴシック" pitchFamily="-107" charset="-128"/>
              </a:rPr>
              <a:t>m-bit </a:t>
            </a:r>
            <a:r>
              <a:rPr lang="en-US" dirty="0">
                <a:ea typeface="ＭＳ Ｐゴシック" pitchFamily="-107" charset="-128"/>
              </a:rPr>
              <a:t>hash value, the level of effort is proportional to 2</a:t>
            </a:r>
            <a:r>
              <a:rPr lang="en-US" baseline="30000" dirty="0">
                <a:ea typeface="ＭＳ Ｐゴシック" pitchFamily="-107" charset="-128"/>
              </a:rPr>
              <a:t>m</a:t>
            </a:r>
            <a:r>
              <a:rPr lang="en-US" dirty="0">
                <a:ea typeface="ＭＳ Ｐゴシック" pitchFamily="-107" charset="-128"/>
              </a:rPr>
              <a:t>. Specifically, the adversary would have to try, on average, 2</a:t>
            </a:r>
            <a:r>
              <a:rPr lang="en-US" baseline="30000" dirty="0">
                <a:ea typeface="ＭＳ Ｐゴシック" pitchFamily="-107" charset="-128"/>
              </a:rPr>
              <a:t>m–1 </a:t>
            </a:r>
            <a:r>
              <a:rPr lang="en-US" dirty="0">
                <a:ea typeface="ＭＳ Ｐゴシック" pitchFamily="-107" charset="-128"/>
              </a:rPr>
              <a:t>values of y to find one that generates a given hash value h</a:t>
            </a:r>
            <a:r>
              <a:rPr lang="en-US" i="1" dirty="0">
                <a:ea typeface="ＭＳ Ｐゴシック" pitchFamily="-107" charset="-128"/>
              </a:rPr>
              <a:t>. </a:t>
            </a:r>
          </a:p>
          <a:p>
            <a:pPr eaLnBrk="1" hangingPunct="1"/>
            <a:r>
              <a:rPr lang="en-US" dirty="0">
                <a:ea typeface="ＭＳ Ｐゴシック" pitchFamily="-107" charset="-128"/>
              </a:rPr>
              <a:t>For a collision resistant attack, an adversary wishes to find two messages or data blocks, x and </a:t>
            </a:r>
            <a:r>
              <a:rPr lang="en-US" i="1" dirty="0">
                <a:ea typeface="ＭＳ Ｐゴシック" pitchFamily="-107" charset="-128"/>
              </a:rPr>
              <a:t>y, </a:t>
            </a:r>
            <a:r>
              <a:rPr lang="en-US" dirty="0">
                <a:ea typeface="ＭＳ Ｐゴシック" pitchFamily="-107" charset="-128"/>
              </a:rPr>
              <a:t>that yield the same hash function: H(x) = H(y). This requires much less effort than a preimage or second preimage attack. The effort required is explained by a mathematical result referred to as the birthday paradox (next slide).</a:t>
            </a:r>
          </a:p>
          <a:p>
            <a:pPr eaLnBrk="1" hangingPunct="1"/>
            <a:r>
              <a:rPr lang="en-US" dirty="0">
                <a:ea typeface="ＭＳ Ｐゴシック" pitchFamily="-107" charset="-128"/>
              </a:rPr>
              <a:t>If collision resistance is required, then the value 2</a:t>
            </a:r>
            <a:r>
              <a:rPr lang="en-US" i="1" baseline="30000" dirty="0">
                <a:ea typeface="ＭＳ Ｐゴシック" pitchFamily="-107" charset="-128"/>
              </a:rPr>
              <a:t>m/2 </a:t>
            </a:r>
            <a:r>
              <a:rPr lang="en-US" dirty="0">
                <a:ea typeface="ＭＳ Ｐゴシック" pitchFamily="-107" charset="-128"/>
              </a:rPr>
              <a:t>determines the strength of the hash code against brute-force attacks. Van </a:t>
            </a:r>
            <a:r>
              <a:rPr lang="en-US" dirty="0" err="1">
                <a:ea typeface="ＭＳ Ｐゴシック" pitchFamily="-107" charset="-128"/>
              </a:rPr>
              <a:t>Oorschot</a:t>
            </a:r>
            <a:r>
              <a:rPr lang="en-US" dirty="0">
                <a:ea typeface="ＭＳ Ｐゴシック" pitchFamily="-107" charset="-128"/>
              </a:rPr>
              <a:t> and Wiener presented a design for a $10 million collision search machine for MD5, which has a 128-bit hash length, that could find a collision in 24 days. Thus a 128-bit code may be viewed as inadequate. The next step up, if a hash code is treated as a sequence of 32 bits, is a 160-bit hash length. With a hash length of 160 bits, the same search machine would require over four thousand years to find a collision. With today's technology, the time would be much shorter, so that 160 bits now appears suspect. </a:t>
            </a:r>
          </a:p>
        </p:txBody>
      </p:sp>
      <p:sp>
        <p:nvSpPr>
          <p:cNvPr id="33796" name="Slide Number Placeholder 3"/>
          <p:cNvSpPr>
            <a:spLocks noGrp="1"/>
          </p:cNvSpPr>
          <p:nvPr>
            <p:ph type="sldNum" sz="quarter" idx="5"/>
          </p:nvPr>
        </p:nvSpPr>
        <p:spPr>
          <a:noFill/>
        </p:spPr>
        <p:txBody>
          <a:bodyPr/>
          <a:lstStyle/>
          <a:p>
            <a:fld id="{0C040DFA-1494-4288-9845-2578FDABDFDE}" type="slidenum">
              <a:rPr lang="en-AU"/>
              <a:pPr/>
              <a:t>9</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AEA7543A-81C0-4EEA-AD0E-E02AD6DEB9C0}" type="slidenum">
              <a:rPr lang="en-AU"/>
              <a:pPr/>
              <a:t>10</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a:ea typeface="ＭＳ Ｐゴシック" pitchFamily="-107" charset="-128"/>
              </a:rPr>
              <a:t>The Birthday Attack exploits the birthday paradox – the chance that in a group of people two will share the same birthday – only 23 people are needed for a Pr&gt;0.5 of this. Can generalize the problem to one wanting a matching pair from any two sets, and show need 2</a:t>
            </a:r>
            <a:r>
              <a:rPr lang="en-US" baseline="60000">
                <a:ea typeface="ＭＳ Ｐゴシック" pitchFamily="-107" charset="-128"/>
              </a:rPr>
              <a:t>m</a:t>
            </a:r>
            <a:r>
              <a:rPr lang="en-US" baseline="40000">
                <a:ea typeface="ＭＳ Ｐゴシック" pitchFamily="-107" charset="-128"/>
              </a:rPr>
              <a:t>/</a:t>
            </a:r>
            <a:r>
              <a:rPr lang="en-US" baseline="20000">
                <a:ea typeface="ＭＳ Ｐゴシック" pitchFamily="-107" charset="-128"/>
              </a:rPr>
              <a:t>2</a:t>
            </a:r>
            <a:r>
              <a:rPr lang="en-US">
                <a:ea typeface="ＭＳ Ｐゴシック" pitchFamily="-107" charset="-128"/>
              </a:rPr>
              <a:t> in each to get a matching m-bit hash.</a:t>
            </a:r>
          </a:p>
          <a:p>
            <a:pPr eaLnBrk="1" hangingPunct="1"/>
            <a:r>
              <a:rPr lang="en-US">
                <a:ea typeface="ＭＳ Ｐゴシック" pitchFamily="-107" charset="-128"/>
              </a:rPr>
              <a:t>Yuval proposed the strategy shown to exploit the birthday paradox in a collision resistant attack. Note that creating many message variants is relatively easy, either by rewording or just varying the amount of white-space in the message. All of which indicates that larger MACs/Hashes are needed.</a:t>
            </a:r>
            <a:endParaRPr lang="en-AU">
              <a:ea typeface="ＭＳ Ｐゴシック" pitchFamily="-107"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Class Activity Assignment</a:t>
            </a:r>
          </a:p>
          <a:p>
            <a:r>
              <a:rPr lang="en-US" dirty="0"/>
              <a:t>Write a short C.V. in about 5 lines to summarize your educational path. There should be at least 1024 variations (i.e., use 10 groups as shown above). </a:t>
            </a:r>
          </a:p>
        </p:txBody>
      </p:sp>
      <p:sp>
        <p:nvSpPr>
          <p:cNvPr id="4" name="Slide Number Placeholder 3"/>
          <p:cNvSpPr>
            <a:spLocks noGrp="1"/>
          </p:cNvSpPr>
          <p:nvPr>
            <p:ph type="sldNum" sz="quarter" idx="5"/>
          </p:nvPr>
        </p:nvSpPr>
        <p:spPr/>
        <p:txBody>
          <a:bodyPr/>
          <a:lstStyle/>
          <a:p>
            <a:fld id="{2A050D65-9EE1-476A-85D1-3B3ECD1E7476}" type="slidenum">
              <a:rPr lang="en-US" smtClean="0"/>
              <a:pPr/>
              <a:t>11</a:t>
            </a:fld>
            <a:endParaRPr lang="en-US"/>
          </a:p>
        </p:txBody>
      </p:sp>
    </p:spTree>
    <p:extLst>
      <p:ext uri="{BB962C8B-B14F-4D97-AF65-F5344CB8AC3E}">
        <p14:creationId xmlns:p14="http://schemas.microsoft.com/office/powerpoint/2010/main" val="1195094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AEA7543A-81C0-4EEA-AD0E-E02AD6DEB9C0}" type="slidenum">
              <a:rPr lang="en-AU"/>
              <a:pPr/>
              <a:t>12</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normAutofit fontScale="47500" lnSpcReduction="20000"/>
          </a:bodyPr>
          <a:lstStyle/>
          <a:p>
            <a:r>
              <a:rPr lang="en-US" dirty="0">
                <a:latin typeface="Arial" pitchFamily="-110" charset="0"/>
                <a:ea typeface="ＭＳ Ｐゴシック" pitchFamily="-110" charset="-128"/>
                <a:cs typeface="ＭＳ Ｐゴシック" pitchFamily="-110" charset="-128"/>
              </a:rPr>
              <a:t>As with symmetric encryption, there are two</a:t>
            </a:r>
          </a:p>
          <a:p>
            <a:r>
              <a:rPr lang="en-US" dirty="0">
                <a:latin typeface="Arial" pitchFamily="-110" charset="0"/>
                <a:ea typeface="ＭＳ Ｐゴシック" pitchFamily="-110" charset="-128"/>
                <a:cs typeface="ＭＳ Ｐゴシック" pitchFamily="-110" charset="-128"/>
              </a:rPr>
              <a:t>approaches to attacking a secure hash function: cryptanalysis and brute-force attack.</a:t>
            </a:r>
          </a:p>
          <a:p>
            <a:r>
              <a:rPr lang="en-US" dirty="0">
                <a:latin typeface="Arial" pitchFamily="-110" charset="0"/>
                <a:ea typeface="ＭＳ Ｐゴシック" pitchFamily="-110" charset="-128"/>
                <a:cs typeface="ＭＳ Ｐゴシック" pitchFamily="-110" charset="-128"/>
              </a:rPr>
              <a:t>As with symmetric encryption algorithms, cryptanalysis of a hash function involves</a:t>
            </a:r>
          </a:p>
          <a:p>
            <a:r>
              <a:rPr lang="en-US" dirty="0">
                <a:latin typeface="Arial" pitchFamily="-110" charset="0"/>
                <a:ea typeface="ＭＳ Ｐゴシック" pitchFamily="-110" charset="-128"/>
                <a:cs typeface="ＭＳ Ｐゴシック" pitchFamily="-110" charset="-128"/>
              </a:rPr>
              <a:t>exploiting logical weaknesses in the algorithm.</a:t>
            </a:r>
          </a:p>
          <a:p>
            <a:r>
              <a:rPr lang="en-US" dirty="0">
                <a:latin typeface="Arial" pitchFamily="-110" charset="0"/>
                <a:ea typeface="ＭＳ Ｐゴシック" pitchFamily="-110" charset="-128"/>
                <a:cs typeface="ＭＳ Ｐゴシック" pitchFamily="-110" charset="-128"/>
              </a:rPr>
              <a:t>The strength of a hash function against brute-force attacks depends solely on</a:t>
            </a:r>
          </a:p>
          <a:p>
            <a:r>
              <a:rPr lang="en-US" dirty="0">
                <a:latin typeface="Arial" pitchFamily="-110" charset="0"/>
                <a:ea typeface="ＭＳ Ｐゴシック" pitchFamily="-110" charset="-128"/>
                <a:cs typeface="ＭＳ Ｐゴシック" pitchFamily="-110" charset="-128"/>
              </a:rPr>
              <a:t>the length of the hash code produced by the algorithm.</a:t>
            </a:r>
          </a:p>
          <a:p>
            <a:r>
              <a:rPr lang="en-US" dirty="0">
                <a:latin typeface="Arial" pitchFamily="-110" charset="0"/>
                <a:ea typeface="ＭＳ Ｐゴシック" pitchFamily="-110" charset="-128"/>
                <a:cs typeface="ＭＳ Ｐゴシック" pitchFamily="-110" charset="-128"/>
              </a:rPr>
              <a:t>For a hash code of length </a:t>
            </a:r>
            <a:r>
              <a:rPr lang="en-US" i="1" dirty="0">
                <a:latin typeface="Arial" pitchFamily="-110" charset="0"/>
                <a:ea typeface="ＭＳ Ｐゴシック" pitchFamily="-110" charset="-128"/>
                <a:cs typeface="ＭＳ Ｐゴシック" pitchFamily="-110" charset="-128"/>
              </a:rPr>
              <a:t>n,</a:t>
            </a:r>
          </a:p>
          <a:p>
            <a:r>
              <a:rPr lang="en-US" dirty="0">
                <a:latin typeface="Arial" pitchFamily="-110" charset="0"/>
                <a:ea typeface="ＭＳ Ｐゴシック" pitchFamily="-110" charset="-128"/>
                <a:cs typeface="ＭＳ Ｐゴシック" pitchFamily="-110" charset="-128"/>
              </a:rPr>
              <a:t>the level of effort required is proportional to the following:</a:t>
            </a:r>
          </a:p>
          <a:p>
            <a:r>
              <a:rPr lang="en-US" dirty="0">
                <a:latin typeface="Arial" pitchFamily="-110" charset="0"/>
                <a:ea typeface="ＭＳ Ｐゴシック" pitchFamily="-110" charset="-128"/>
                <a:cs typeface="ＭＳ Ｐゴシック" pitchFamily="-110" charset="-128"/>
              </a:rPr>
              <a:t>Preimage resistant 2</a:t>
            </a:r>
            <a:r>
              <a:rPr lang="en-US" i="1" dirty="0">
                <a:latin typeface="Arial" pitchFamily="-110" charset="0"/>
                <a:ea typeface="ＭＳ Ｐゴシック" pitchFamily="-110" charset="-128"/>
                <a:cs typeface="ＭＳ Ｐゴシック" pitchFamily="-110" charset="-128"/>
              </a:rPr>
              <a:t>n</a:t>
            </a:r>
          </a:p>
          <a:p>
            <a:r>
              <a:rPr lang="en-US" dirty="0">
                <a:latin typeface="Arial" pitchFamily="-110" charset="0"/>
                <a:ea typeface="ＭＳ Ｐゴシック" pitchFamily="-110" charset="-128"/>
                <a:cs typeface="ＭＳ Ｐゴシック" pitchFamily="-110" charset="-128"/>
              </a:rPr>
              <a:t>Second preimage resistant 2</a:t>
            </a:r>
            <a:r>
              <a:rPr lang="en-US" i="1" dirty="0">
                <a:latin typeface="Arial" pitchFamily="-110" charset="0"/>
                <a:ea typeface="ＭＳ Ｐゴシック" pitchFamily="-110" charset="-128"/>
                <a:cs typeface="ＭＳ Ｐゴシック" pitchFamily="-110" charset="-128"/>
              </a:rPr>
              <a:t>n</a:t>
            </a:r>
          </a:p>
          <a:p>
            <a:r>
              <a:rPr lang="en-US" dirty="0">
                <a:latin typeface="Arial" pitchFamily="-110" charset="0"/>
                <a:ea typeface="ＭＳ Ｐゴシック" pitchFamily="-110" charset="-128"/>
                <a:cs typeface="ＭＳ Ｐゴシック" pitchFamily="-110" charset="-128"/>
              </a:rPr>
              <a:t>Collision resistant 2</a:t>
            </a:r>
            <a:r>
              <a:rPr lang="en-US" i="1" dirty="0">
                <a:latin typeface="Arial" pitchFamily="-110" charset="0"/>
                <a:ea typeface="ＭＳ Ｐゴシック" pitchFamily="-110" charset="-128"/>
                <a:cs typeface="ＭＳ Ｐゴシック" pitchFamily="-110" charset="-128"/>
              </a:rPr>
              <a:t>n/2</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If collision resistance is required (and this is desirable for a general-purpose</a:t>
            </a:r>
          </a:p>
          <a:p>
            <a:r>
              <a:rPr lang="en-US" dirty="0">
                <a:latin typeface="Arial" pitchFamily="-110" charset="0"/>
                <a:ea typeface="ＭＳ Ｐゴシック" pitchFamily="-110" charset="-128"/>
                <a:cs typeface="ＭＳ Ｐゴシック" pitchFamily="-110" charset="-128"/>
              </a:rPr>
              <a:t>secure hash code), then the value 2</a:t>
            </a:r>
            <a:r>
              <a:rPr lang="en-US" i="1" dirty="0">
                <a:latin typeface="Arial" pitchFamily="-110" charset="0"/>
                <a:ea typeface="ＭＳ Ｐゴシック" pitchFamily="-110" charset="-128"/>
                <a:cs typeface="ＭＳ Ｐゴシック" pitchFamily="-110" charset="-128"/>
              </a:rPr>
              <a:t>n/2 determines the strength of the hash code against</a:t>
            </a:r>
          </a:p>
          <a:p>
            <a:r>
              <a:rPr lang="en-US" dirty="0">
                <a:latin typeface="Arial" pitchFamily="-110" charset="0"/>
                <a:ea typeface="ＭＳ Ｐゴシック" pitchFamily="-110" charset="-128"/>
                <a:cs typeface="ＭＳ Ｐゴシック" pitchFamily="-110" charset="-128"/>
              </a:rPr>
              <a:t>brute-force attacks. Van Oorschot and Wiener [VANO94] pre </a:t>
            </a:r>
            <a:r>
              <a:rPr lang="en-US" dirty="0" err="1">
                <a:latin typeface="Arial" pitchFamily="-110" charset="0"/>
                <a:ea typeface="ＭＳ Ｐゴシック" pitchFamily="-110" charset="-128"/>
                <a:cs typeface="ＭＳ Ｐゴシック" pitchFamily="-110" charset="-128"/>
              </a:rPr>
              <a:t>sented</a:t>
            </a:r>
            <a:r>
              <a:rPr lang="en-US" dirty="0">
                <a:latin typeface="Arial" pitchFamily="-110" charset="0"/>
                <a:ea typeface="ＭＳ Ｐゴシック" pitchFamily="-110" charset="-128"/>
                <a:cs typeface="ＭＳ Ｐゴシック" pitchFamily="-110" charset="-128"/>
              </a:rPr>
              <a:t> a design for a</a:t>
            </a:r>
          </a:p>
          <a:p>
            <a:r>
              <a:rPr lang="en-US" dirty="0">
                <a:latin typeface="Arial" pitchFamily="-110" charset="0"/>
                <a:ea typeface="ＭＳ Ｐゴシック" pitchFamily="-110" charset="-128"/>
                <a:cs typeface="ＭＳ Ｐゴシック" pitchFamily="-110" charset="-128"/>
              </a:rPr>
              <a:t>$10 million collision search machine for MD5, which has a 128-bit hash length, that</a:t>
            </a:r>
          </a:p>
          <a:p>
            <a:r>
              <a:rPr lang="en-US" dirty="0">
                <a:latin typeface="Arial" pitchFamily="-110" charset="0"/>
                <a:ea typeface="ＭＳ Ｐゴシック" pitchFamily="-110" charset="-128"/>
                <a:cs typeface="ＭＳ Ｐゴシック" pitchFamily="-110" charset="-128"/>
              </a:rPr>
              <a:t>could find a collision in 24 days. Thus a 128-bit code may be viewed as inadequate.</a:t>
            </a:r>
          </a:p>
          <a:p>
            <a:r>
              <a:rPr lang="en-US" dirty="0">
                <a:latin typeface="Arial" pitchFamily="-110" charset="0"/>
                <a:ea typeface="ＭＳ Ｐゴシック" pitchFamily="-110" charset="-128"/>
                <a:cs typeface="ＭＳ Ｐゴシック" pitchFamily="-110" charset="-128"/>
              </a:rPr>
              <a:t>The next step up, if a hash code is treated as a sequence of 32 bits, is a 160-bit hash</a:t>
            </a:r>
          </a:p>
          <a:p>
            <a:r>
              <a:rPr lang="en-US" dirty="0">
                <a:latin typeface="Arial" pitchFamily="-110" charset="0"/>
                <a:ea typeface="ＭＳ Ｐゴシック" pitchFamily="-110" charset="-128"/>
                <a:cs typeface="ＭＳ Ｐゴシック" pitchFamily="-110" charset="-128"/>
              </a:rPr>
              <a:t>length. With a hash length of 160 bits, the same search machine would require over</a:t>
            </a:r>
          </a:p>
          <a:p>
            <a:r>
              <a:rPr lang="en-US" dirty="0">
                <a:latin typeface="Arial" pitchFamily="-110" charset="0"/>
                <a:ea typeface="ＭＳ Ｐゴシック" pitchFamily="-110" charset="-128"/>
                <a:cs typeface="ＭＳ Ｐゴシック" pitchFamily="-110" charset="-128"/>
              </a:rPr>
              <a:t>four thousand years to find a collision. With today’s technology, the time would be</a:t>
            </a:r>
          </a:p>
          <a:p>
            <a:r>
              <a:rPr lang="en-US" dirty="0">
                <a:latin typeface="Arial" pitchFamily="-110" charset="0"/>
                <a:ea typeface="ＭＳ Ｐゴシック" pitchFamily="-110" charset="-128"/>
                <a:cs typeface="ＭＳ Ｐゴシック" pitchFamily="-110" charset="-128"/>
              </a:rPr>
              <a:t>much shorter, so that 160 bits now appears suspect.</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In recent years, the most widely used</a:t>
            </a:r>
          </a:p>
          <a:p>
            <a:r>
              <a:rPr lang="en-US" dirty="0">
                <a:latin typeface="Arial" pitchFamily="-110" charset="0"/>
                <a:ea typeface="ＭＳ Ｐゴシック" pitchFamily="-110" charset="-128"/>
                <a:cs typeface="ＭＳ Ｐゴシック" pitchFamily="-110" charset="-128"/>
              </a:rPr>
              <a:t>hash function has been the Secure Hash Algorithm (SHA). SHA was developed</a:t>
            </a:r>
          </a:p>
          <a:p>
            <a:r>
              <a:rPr lang="en-US" dirty="0">
                <a:latin typeface="Arial" pitchFamily="-110" charset="0"/>
                <a:ea typeface="ＭＳ Ｐゴシック" pitchFamily="-110" charset="-128"/>
                <a:cs typeface="ＭＳ Ｐゴシック" pitchFamily="-110" charset="-128"/>
              </a:rPr>
              <a:t>by the National Institute of Standards and Technology (NIST) and published as</a:t>
            </a:r>
          </a:p>
          <a:p>
            <a:r>
              <a:rPr lang="en-US" dirty="0">
                <a:latin typeface="Arial" pitchFamily="-110" charset="0"/>
                <a:ea typeface="ＭＳ Ｐゴシック" pitchFamily="-110" charset="-128"/>
                <a:cs typeface="ＭＳ Ｐゴシック" pitchFamily="-110" charset="-128"/>
              </a:rPr>
              <a:t>a federal information processing standard (FIPS 180) in 1993. When weaknesses</a:t>
            </a:r>
          </a:p>
          <a:p>
            <a:r>
              <a:rPr lang="en-US" dirty="0">
                <a:latin typeface="Arial" pitchFamily="-110" charset="0"/>
                <a:ea typeface="ＭＳ Ｐゴシック" pitchFamily="-110" charset="-128"/>
                <a:cs typeface="ＭＳ Ｐゴシック" pitchFamily="-110" charset="-128"/>
              </a:rPr>
              <a:t>were discovered in SHA, a revised version was issued as FIPS 180-1 in 1995 and is</a:t>
            </a:r>
          </a:p>
          <a:p>
            <a:r>
              <a:rPr lang="en-US" dirty="0">
                <a:latin typeface="Arial" pitchFamily="-110" charset="0"/>
                <a:ea typeface="ＭＳ Ｐゴシック" pitchFamily="-110" charset="-128"/>
                <a:cs typeface="ＭＳ Ｐゴシック" pitchFamily="-110" charset="-128"/>
              </a:rPr>
              <a:t>generally referred to as SHA-1. SHA-1 produces a hash value of 160 bits. In 2002,</a:t>
            </a:r>
          </a:p>
          <a:p>
            <a:r>
              <a:rPr lang="en-US" dirty="0">
                <a:latin typeface="Arial" pitchFamily="-110" charset="0"/>
                <a:ea typeface="ＭＳ Ｐゴシック" pitchFamily="-110" charset="-128"/>
                <a:cs typeface="ＭＳ Ｐゴシック" pitchFamily="-110" charset="-128"/>
              </a:rPr>
              <a:t>NIST produced a revised version of the standard, FIPS 180–2, that defined three</a:t>
            </a:r>
          </a:p>
          <a:p>
            <a:r>
              <a:rPr lang="en-US" dirty="0">
                <a:latin typeface="Arial" pitchFamily="-110" charset="0"/>
                <a:ea typeface="ＭＳ Ｐゴシック" pitchFamily="-110" charset="-128"/>
                <a:cs typeface="ＭＳ Ｐゴシック" pitchFamily="-110" charset="-128"/>
              </a:rPr>
              <a:t>new versions of SHA, with hash value lengths of 256, 384, and 512 bits, known as</a:t>
            </a:r>
          </a:p>
          <a:p>
            <a:r>
              <a:rPr lang="en-US" dirty="0">
                <a:latin typeface="Arial" pitchFamily="-110" charset="0"/>
                <a:ea typeface="ＭＳ Ｐゴシック" pitchFamily="-110" charset="-128"/>
                <a:cs typeface="ＭＳ Ｐゴシック" pitchFamily="-110" charset="-128"/>
              </a:rPr>
              <a:t>SHA-256, SHA-384, and SHA-512. These new versions have the same underlying</a:t>
            </a:r>
          </a:p>
          <a:p>
            <a:r>
              <a:rPr lang="en-US" dirty="0">
                <a:latin typeface="Arial" pitchFamily="-110" charset="0"/>
                <a:ea typeface="ＭＳ Ｐゴシック" pitchFamily="-110" charset="-128"/>
                <a:cs typeface="ＭＳ Ｐゴシック" pitchFamily="-110" charset="-128"/>
              </a:rPr>
              <a:t>structure and use the same types of modular arithmetic and logical binary operations</a:t>
            </a:r>
          </a:p>
          <a:p>
            <a:r>
              <a:rPr lang="en-US" dirty="0">
                <a:latin typeface="Arial" pitchFamily="-110" charset="0"/>
                <a:ea typeface="ＭＳ Ｐゴシック" pitchFamily="-110" charset="-128"/>
                <a:cs typeface="ＭＳ Ｐゴシック" pitchFamily="-110" charset="-128"/>
              </a:rPr>
              <a:t>as SHA-1. In 2005, NIST announced the intention to phase out approval of SHA-1</a:t>
            </a:r>
          </a:p>
          <a:p>
            <a:r>
              <a:rPr lang="en-US" dirty="0">
                <a:latin typeface="Arial" pitchFamily="-110" charset="0"/>
                <a:ea typeface="ＭＳ Ｐゴシック" pitchFamily="-110" charset="-128"/>
                <a:cs typeface="ＭＳ Ｐゴシック" pitchFamily="-110" charset="-128"/>
              </a:rPr>
              <a:t>and move to a reliance on the other SHA versions by 2010. As discussed in Chapter</a:t>
            </a:r>
          </a:p>
          <a:p>
            <a:r>
              <a:rPr lang="en-US" dirty="0">
                <a:latin typeface="Arial" pitchFamily="-110" charset="0"/>
                <a:ea typeface="ＭＳ Ｐゴシック" pitchFamily="-110" charset="-128"/>
                <a:cs typeface="ＭＳ Ｐゴシック" pitchFamily="-110" charset="-128"/>
              </a:rPr>
              <a:t>21, researchers have demonstrated that SHA-1 is far weaker than its 160-bit hash</a:t>
            </a:r>
          </a:p>
          <a:p>
            <a:r>
              <a:rPr lang="en-US" dirty="0">
                <a:latin typeface="Arial" pitchFamily="-110" charset="0"/>
                <a:ea typeface="ＭＳ Ｐゴシック" pitchFamily="-110" charset="-128"/>
                <a:cs typeface="ＭＳ Ｐゴシック" pitchFamily="-110" charset="-128"/>
              </a:rPr>
              <a:t>length suggests, necessitating the move to the newer versions of SHA.</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We have discussed the use of hash functions for message authentication and for the</a:t>
            </a:r>
          </a:p>
          <a:p>
            <a:r>
              <a:rPr lang="en-US" dirty="0">
                <a:latin typeface="Arial" pitchFamily="-110" charset="0"/>
                <a:ea typeface="ＭＳ Ｐゴシック" pitchFamily="-110" charset="-128"/>
                <a:cs typeface="ＭＳ Ｐゴシック" pitchFamily="-110" charset="-128"/>
              </a:rPr>
              <a:t>creation of digital signatures (the latter is discussed in more detail later in this chapter).</a:t>
            </a:r>
          </a:p>
          <a:p>
            <a:r>
              <a:rPr lang="en-US" dirty="0">
                <a:latin typeface="Arial" pitchFamily="-110" charset="0"/>
                <a:ea typeface="ＭＳ Ｐゴシック" pitchFamily="-110" charset="-128"/>
                <a:cs typeface="ＭＳ Ｐゴシック" pitchFamily="-110" charset="-128"/>
              </a:rPr>
              <a:t>Here are two other examples of secure hash function applications:</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 </a:t>
            </a:r>
            <a:r>
              <a:rPr lang="en-US" b="1" dirty="0">
                <a:latin typeface="Arial" pitchFamily="-110" charset="0"/>
                <a:ea typeface="ＭＳ Ｐゴシック" pitchFamily="-110" charset="-128"/>
                <a:cs typeface="ＭＳ Ｐゴシック" pitchFamily="-110" charset="-128"/>
              </a:rPr>
              <a:t>Passwords: Chapter 3 explains a scheme in which a hash of a password is</a:t>
            </a:r>
          </a:p>
          <a:p>
            <a:r>
              <a:rPr lang="en-US" dirty="0">
                <a:latin typeface="Arial" pitchFamily="-110" charset="0"/>
                <a:ea typeface="ＭＳ Ｐゴシック" pitchFamily="-110" charset="-128"/>
                <a:cs typeface="ＭＳ Ｐゴシック" pitchFamily="-110" charset="-128"/>
              </a:rPr>
              <a:t>stored by an operating system rather than the password itself. Thus, the actual</a:t>
            </a:r>
          </a:p>
          <a:p>
            <a:r>
              <a:rPr lang="en-US" dirty="0">
                <a:latin typeface="Arial" pitchFamily="-110" charset="0"/>
                <a:ea typeface="ＭＳ Ｐゴシック" pitchFamily="-110" charset="-128"/>
                <a:cs typeface="ＭＳ Ｐゴシック" pitchFamily="-110" charset="-128"/>
              </a:rPr>
              <a:t>password is not retrievable by a hacker who gains access to the password file.</a:t>
            </a:r>
          </a:p>
          <a:p>
            <a:r>
              <a:rPr lang="en-US" dirty="0">
                <a:latin typeface="Arial" pitchFamily="-110" charset="0"/>
                <a:ea typeface="ＭＳ Ｐゴシック" pitchFamily="-110" charset="-128"/>
                <a:cs typeface="ＭＳ Ｐゴシック" pitchFamily="-110" charset="-128"/>
              </a:rPr>
              <a:t>In simple terms, when a user enters a password, the hash of that password is</a:t>
            </a:r>
          </a:p>
          <a:p>
            <a:r>
              <a:rPr lang="en-US" dirty="0">
                <a:latin typeface="Arial" pitchFamily="-110" charset="0"/>
                <a:ea typeface="ＭＳ Ｐゴシック" pitchFamily="-110" charset="-128"/>
                <a:cs typeface="ＭＳ Ｐゴシック" pitchFamily="-110" charset="-128"/>
              </a:rPr>
              <a:t>compared to the stored hash value for verification. This application requires</a:t>
            </a:r>
          </a:p>
          <a:p>
            <a:r>
              <a:rPr lang="en-US" dirty="0">
                <a:latin typeface="Arial" pitchFamily="-110" charset="0"/>
                <a:ea typeface="ＭＳ Ｐゴシック" pitchFamily="-110" charset="-128"/>
                <a:cs typeface="ＭＳ Ｐゴシック" pitchFamily="-110" charset="-128"/>
              </a:rPr>
              <a:t>preimage resistance and perhaps second preimage resistance.</a:t>
            </a:r>
          </a:p>
          <a:p>
            <a:endParaRPr lang="en-US" dirty="0">
              <a:latin typeface="Arial" pitchFamily="-110" charset="0"/>
              <a:ea typeface="ＭＳ Ｐゴシック" pitchFamily="-110" charset="-128"/>
              <a:cs typeface="ＭＳ Ｐゴシック" pitchFamily="-110" charset="-128"/>
            </a:endParaRPr>
          </a:p>
          <a:p>
            <a:r>
              <a:rPr lang="en-US" dirty="0">
                <a:latin typeface="Arial" pitchFamily="-110" charset="0"/>
                <a:ea typeface="ＭＳ Ｐゴシック" pitchFamily="-110" charset="-128"/>
                <a:cs typeface="ＭＳ Ｐゴシック" pitchFamily="-110" charset="-128"/>
              </a:rPr>
              <a:t>• </a:t>
            </a:r>
            <a:r>
              <a:rPr lang="en-US" b="1" dirty="0">
                <a:latin typeface="Arial" pitchFamily="-110" charset="0"/>
                <a:ea typeface="ＭＳ Ｐゴシック" pitchFamily="-110" charset="-128"/>
                <a:cs typeface="ＭＳ Ｐゴシック" pitchFamily="-110" charset="-128"/>
              </a:rPr>
              <a:t>Intrusion detection: Store H(F) for each file on a system and secure the hash</a:t>
            </a:r>
          </a:p>
          <a:p>
            <a:r>
              <a:rPr lang="en-US" dirty="0">
                <a:latin typeface="Arial" pitchFamily="-110" charset="0"/>
                <a:ea typeface="ＭＳ Ｐゴシック" pitchFamily="-110" charset="-128"/>
                <a:cs typeface="ＭＳ Ｐゴシック" pitchFamily="-110" charset="-128"/>
              </a:rPr>
              <a:t>values (e.g., on a CD-R that is kept secure). One can later determine if a file has</a:t>
            </a:r>
          </a:p>
          <a:p>
            <a:r>
              <a:rPr lang="en-US" dirty="0">
                <a:latin typeface="Arial" pitchFamily="-110" charset="0"/>
                <a:ea typeface="ＭＳ Ｐゴシック" pitchFamily="-110" charset="-128"/>
                <a:cs typeface="ＭＳ Ｐゴシック" pitchFamily="-110" charset="-128"/>
              </a:rPr>
              <a:t>been modified by recomputing H(F). An intruder would need to change F without</a:t>
            </a:r>
          </a:p>
          <a:p>
            <a:r>
              <a:rPr lang="en-US" dirty="0">
                <a:latin typeface="Arial" pitchFamily="-110" charset="0"/>
                <a:ea typeface="ＭＳ Ｐゴシック" pitchFamily="-110" charset="-128"/>
                <a:cs typeface="ＭＳ Ｐゴシック" pitchFamily="-110" charset="-128"/>
              </a:rPr>
              <a:t>changing H(F). This application requires weak second preimage resistance</a:t>
            </a:r>
          </a:p>
        </p:txBody>
      </p:sp>
    </p:spTree>
    <p:extLst>
      <p:ext uri="{BB962C8B-B14F-4D97-AF65-F5344CB8AC3E}">
        <p14:creationId xmlns:p14="http://schemas.microsoft.com/office/powerpoint/2010/main" val="4055786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AEA7543A-81C0-4EEA-AD0E-E02AD6DEB9C0}" type="slidenum">
              <a:rPr lang="en-AU"/>
              <a:pPr/>
              <a:t>13</a:t>
            </a:fld>
            <a:endParaRPr lang="en-AU"/>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AU" dirty="0">
              <a:ea typeface="ＭＳ Ｐゴシック" pitchFamily="-107" charset="-128"/>
            </a:endParaRPr>
          </a:p>
        </p:txBody>
      </p:sp>
    </p:spTree>
    <p:extLst>
      <p:ext uri="{BB962C8B-B14F-4D97-AF65-F5344CB8AC3E}">
        <p14:creationId xmlns:p14="http://schemas.microsoft.com/office/powerpoint/2010/main" val="4106379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63939BEB-F7D7-4AA1-B607-D4D3DB3837B1}" type="slidenum">
              <a:rPr lang="en-AU"/>
              <a:pPr/>
              <a:t>14</a:t>
            </a:fld>
            <a:endParaRPr lang="en-AU"/>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en-US">
                <a:ea typeface="ＭＳ Ｐゴシック" pitchFamily="-107" charset="-128"/>
              </a:rPr>
              <a:t>In recent years, the most widely used hash function has been the Secure Hash Algorithm (SHA). The Secure Hash Algorithm (SHA) was developed by the National Institute of Standards and Technology (NIST) and published as a federal information processing standard (FIPS 180) in 1993; a revised version was issued as FIPS 180-1 in 1995 and is generally referred to as SHA-1. The actual standards document is entitled Secure Hash Standard. SHA is based on the hash function MD4 and its design closely models MD4. SHA-1 produces a hash value of 160 bits. In 2005, a research team described an attack in which two separate messages could be found that deliver the same SHA-1 hash using 2^69 operations, far fewer than the 2^80 operations previously thought needed to find a collision with an SHA-1 hash [WANG05]. This result has hastened the transition to newer, longer versions of SHA.</a:t>
            </a:r>
            <a:endParaRPr lang="en-AU">
              <a:ea typeface="ＭＳ Ｐゴシック" pitchFamily="-107"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360DCD04-B641-4AA3-8D08-0BEC7E6FE4C7}" type="slidenum">
              <a:rPr lang="en-AU"/>
              <a:pPr/>
              <a:t>15</a:t>
            </a:fld>
            <a:endParaRPr lang="en-AU"/>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pPr eaLnBrk="1" hangingPunct="1"/>
            <a:r>
              <a:rPr lang="en-US">
                <a:ea typeface="ＭＳ Ｐゴシック" pitchFamily="-107" charset="-128"/>
              </a:rPr>
              <a:t>In 2002, NIST produced a revised version of the standard, FIPS 180-2, that defined three new versions of SHA, with hash value lengths of 256, 384, and 512 bits, known as SHA-256, SHA-384, and SHA-512. Collectively,  these hash algorithms are known as SHA-2. These new versions have the same underlying structure and use the same types of modular arithmetic and logical binary operations as SHA-1, hence analyses should be similar. A revised document was issued as FIP PUB 180-3 in 2008, which added a 224-bit version. SHA-2 is also specified in RFC 4634, which essentially duplicates the material in FIPS 180-3, but adds a C code implementation. </a:t>
            </a:r>
          </a:p>
          <a:p>
            <a:pPr eaLnBrk="1" hangingPunct="1"/>
            <a:r>
              <a:rPr lang="en-US">
                <a:ea typeface="ＭＳ Ｐゴシック" pitchFamily="-107" charset="-128"/>
              </a:rPr>
              <a:t>In 2005, NIST announced the intention to phase out approval of SHA-1 and move to a reliance on the other SHA versions by 2010. </a:t>
            </a:r>
            <a:endParaRPr lang="en-AU">
              <a:ea typeface="ＭＳ Ｐゴシック" pitchFamily="-107"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360DCD04-B641-4AA3-8D08-0BEC7E6FE4C7}" type="slidenum">
              <a:rPr lang="en-AU"/>
              <a:pPr/>
              <a:t>16</a:t>
            </a:fld>
            <a:endParaRPr lang="en-AU"/>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r>
              <a:rPr lang="en-US" dirty="0">
                <a:ea typeface="ＭＳ Ｐゴシック" pitchFamily="-107" charset="-128"/>
              </a:rPr>
              <a:t>Stallings Table 11.3 provides a comparison of the various parameters for the SHA hash functions.</a:t>
            </a:r>
          </a:p>
        </p:txBody>
      </p:sp>
    </p:spTree>
    <p:extLst>
      <p:ext uri="{BB962C8B-B14F-4D97-AF65-F5344CB8AC3E}">
        <p14:creationId xmlns:p14="http://schemas.microsoft.com/office/powerpoint/2010/main" val="917490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360DCD04-B641-4AA3-8D08-0BEC7E6FE4C7}" type="slidenum">
              <a:rPr lang="en-AU"/>
              <a:pPr/>
              <a:t>17</a:t>
            </a:fld>
            <a:endParaRPr lang="en-AU"/>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pPr eaLnBrk="1" hangingPunct="1"/>
            <a:r>
              <a:rPr lang="en-AU" dirty="0">
                <a:ea typeface="ＭＳ Ｐゴシック" pitchFamily="-107" charset="-128"/>
              </a:rPr>
              <a:t>Now examine the structure of </a:t>
            </a:r>
            <a:r>
              <a:rPr lang="en-US" dirty="0">
                <a:ea typeface="ＭＳ Ｐゴシック" pitchFamily="-107" charset="-128"/>
              </a:rPr>
              <a:t>SHA-512, noting that the other versions are quite similar.</a:t>
            </a:r>
          </a:p>
          <a:p>
            <a:pPr eaLnBrk="1" hangingPunct="1"/>
            <a:r>
              <a:rPr lang="en-US" dirty="0">
                <a:ea typeface="ＭＳ Ｐゴシック" pitchFamily="-107" charset="-128"/>
              </a:rPr>
              <a:t>SHA-512 follows the structure depicted in Stallings Figure 11.8. The processing consists of the following steps: </a:t>
            </a:r>
          </a:p>
          <a:p>
            <a:pPr eaLnBrk="1" hangingPunct="1"/>
            <a:r>
              <a:rPr lang="en-US" dirty="0">
                <a:ea typeface="ＭＳ Ｐゴシック" pitchFamily="-107" charset="-128"/>
              </a:rPr>
              <a:t>• Step 1: Append padding bits, consists of a single 1-bit followed by the necessary number of 0-bits, so that its length is congruent to 896 modulo 1024</a:t>
            </a:r>
          </a:p>
          <a:p>
            <a:pPr eaLnBrk="1" hangingPunct="1"/>
            <a:r>
              <a:rPr lang="en-US" dirty="0">
                <a:ea typeface="ＭＳ Ｐゴシック" pitchFamily="-107" charset="-128"/>
              </a:rPr>
              <a:t>• Step 2: Append length as an (big-endian) unsigned 128-bit integer</a:t>
            </a:r>
          </a:p>
          <a:p>
            <a:pPr eaLnBrk="1" hangingPunct="1"/>
            <a:r>
              <a:rPr lang="en-US" dirty="0">
                <a:ea typeface="ＭＳ Ｐゴシック" pitchFamily="-107" charset="-128"/>
              </a:rPr>
              <a:t>• Step 3: Initialize hash buffer to a set of 64-bit integer constants (see text) </a:t>
            </a:r>
          </a:p>
          <a:p>
            <a:pPr eaLnBrk="1" hangingPunct="1"/>
            <a:r>
              <a:rPr lang="en-US" dirty="0">
                <a:ea typeface="ＭＳ Ｐゴシック" pitchFamily="-107" charset="-128"/>
              </a:rPr>
              <a:t>• Step 4: Process the message in 1024-bit (128-word) blocks, which forms the heart of the algorithm. Each round takes as input the 512-bit buffer value H</a:t>
            </a:r>
            <a:r>
              <a:rPr lang="en-US" baseline="-25000" dirty="0">
                <a:ea typeface="ＭＳ Ｐゴシック" pitchFamily="-107" charset="-128"/>
              </a:rPr>
              <a:t>i</a:t>
            </a:r>
            <a:r>
              <a:rPr lang="en-US" dirty="0">
                <a:ea typeface="ＭＳ Ｐゴシック" pitchFamily="-107" charset="-128"/>
              </a:rPr>
              <a:t>, and updates the contents of that buffer. </a:t>
            </a:r>
          </a:p>
          <a:p>
            <a:pPr eaLnBrk="1" hangingPunct="1"/>
            <a:r>
              <a:rPr lang="en-US" dirty="0">
                <a:ea typeface="ＭＳ Ｐゴシック" pitchFamily="-107" charset="-128"/>
              </a:rPr>
              <a:t>• Step 5: Output the final state value as the resulting hash</a:t>
            </a:r>
          </a:p>
          <a:p>
            <a:pPr eaLnBrk="1" hangingPunct="1"/>
            <a:r>
              <a:rPr lang="en-US" dirty="0">
                <a:ea typeface="ＭＳ Ｐゴシック" pitchFamily="-107" charset="-128"/>
              </a:rPr>
              <a:t>See text for more details.</a:t>
            </a:r>
            <a:endParaRPr lang="en-AU" dirty="0">
              <a:ea typeface="ＭＳ Ｐゴシック" pitchFamily="-107" charset="-128"/>
            </a:endParaRPr>
          </a:p>
        </p:txBody>
      </p:sp>
    </p:spTree>
    <p:extLst>
      <p:ext uri="{BB962C8B-B14F-4D97-AF65-F5344CB8AC3E}">
        <p14:creationId xmlns:p14="http://schemas.microsoft.com/office/powerpoint/2010/main" val="730826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360DCD04-B641-4AA3-8D08-0BEC7E6FE4C7}" type="slidenum">
              <a:rPr lang="en-AU"/>
              <a:pPr/>
              <a:t>18</a:t>
            </a:fld>
            <a:endParaRPr lang="en-AU"/>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noFill/>
          <a:ln/>
        </p:spPr>
        <p:txBody>
          <a:bodyPr/>
          <a:lstStyle/>
          <a:p>
            <a:pPr eaLnBrk="1" hangingPunct="1"/>
            <a:r>
              <a:rPr lang="en-US" dirty="0">
                <a:ea typeface="ＭＳ Ｐゴシック" pitchFamily="-107" charset="-128"/>
              </a:rPr>
              <a:t>The </a:t>
            </a:r>
            <a:r>
              <a:rPr lang="en-AU" dirty="0">
                <a:ea typeface="ＭＳ Ｐゴシック" pitchFamily="-107" charset="-128"/>
              </a:rPr>
              <a:t>SHA-512 Compression Function</a:t>
            </a:r>
            <a:r>
              <a:rPr lang="en-US" dirty="0">
                <a:ea typeface="ＭＳ Ｐゴシック" pitchFamily="-107" charset="-128"/>
              </a:rPr>
              <a:t> is the </a:t>
            </a:r>
            <a:r>
              <a:rPr lang="en-AU" dirty="0">
                <a:ea typeface="ＭＳ Ｐゴシック" pitchFamily="-107" charset="-128"/>
              </a:rPr>
              <a:t>heart of the algorithm. In this</a:t>
            </a:r>
            <a:r>
              <a:rPr lang="en-US" dirty="0">
                <a:ea typeface="ＭＳ Ｐゴシック" pitchFamily="-107" charset="-128"/>
              </a:rPr>
              <a:t> Step 4, it processes the message in 1024-bit (128-word) blocks, using a module that consists of 80 rounds, labeled F in Stallings Figure 11.8, and is shown in detail in Figure 11.9. Each round takes as input the 512-bit buffer value, and updates the contents of the buffer. At input to the first round, the buffer has the value of the intermediate hash value. Each round </a:t>
            </a:r>
            <a:r>
              <a:rPr lang="en-US" i="1" dirty="0">
                <a:ea typeface="ＭＳ Ｐゴシック" pitchFamily="-107" charset="-128"/>
              </a:rPr>
              <a:t>t</a:t>
            </a:r>
            <a:r>
              <a:rPr lang="en-US" dirty="0">
                <a:ea typeface="ＭＳ Ｐゴシック" pitchFamily="-107" charset="-128"/>
              </a:rPr>
              <a:t> makes use of a 64-bit value </a:t>
            </a:r>
            <a:r>
              <a:rPr lang="en-US" i="1" dirty="0" err="1">
                <a:ea typeface="ＭＳ Ｐゴシック" pitchFamily="-107" charset="-128"/>
              </a:rPr>
              <a:t>Wt</a:t>
            </a:r>
            <a:r>
              <a:rPr lang="en-US" dirty="0">
                <a:ea typeface="ＭＳ Ｐゴシック" pitchFamily="-107" charset="-128"/>
              </a:rPr>
              <a:t> derived using a message schedule from the current 1024-bit block being processed. Each round also makes use of an additive constant </a:t>
            </a:r>
            <a:r>
              <a:rPr lang="en-US" i="1" dirty="0">
                <a:ea typeface="ＭＳ Ｐゴシック" pitchFamily="-107" charset="-128"/>
              </a:rPr>
              <a:t>Kt</a:t>
            </a:r>
            <a:r>
              <a:rPr lang="en-US" dirty="0">
                <a:ea typeface="ＭＳ Ｐゴシック" pitchFamily="-107" charset="-128"/>
              </a:rPr>
              <a:t>, based on the fractional parts of the cube roots of the first eighty prime numbers. The constants provide a “randomized” set of 64-bit patterns, which should eliminate any regularities in the input data. The output of the eightieth round is added to the input to the first round to produce the final hash value for this message block, which forms the input to the next iteration of this compression function, as shown on the previous slide.</a:t>
            </a:r>
            <a:endParaRPr lang="en-AU" dirty="0">
              <a:ea typeface="ＭＳ Ｐゴシック" pitchFamily="-107" charset="-128"/>
            </a:endParaRPr>
          </a:p>
        </p:txBody>
      </p:sp>
    </p:spTree>
    <p:extLst>
      <p:ext uri="{BB962C8B-B14F-4D97-AF65-F5344CB8AC3E}">
        <p14:creationId xmlns:p14="http://schemas.microsoft.com/office/powerpoint/2010/main" val="40008034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ln/>
        </p:spPr>
      </p:sp>
      <p:sp>
        <p:nvSpPr>
          <p:cNvPr id="56323" name="Notes Placeholder 2"/>
          <p:cNvSpPr>
            <a:spLocks noGrp="1"/>
          </p:cNvSpPr>
          <p:nvPr>
            <p:ph type="body" idx="1"/>
          </p:nvPr>
        </p:nvSpPr>
        <p:spPr>
          <a:noFill/>
          <a:ln/>
        </p:spPr>
        <p:txBody>
          <a:bodyPr/>
          <a:lstStyle/>
          <a:p>
            <a:r>
              <a:rPr lang="en-US">
                <a:ea typeface="ＭＳ Ｐゴシック" pitchFamily="-107" charset="-128"/>
              </a:rPr>
              <a:t>As yet, SHA-1 has not yet been "broken". That is, no one has demonstrated a technique for producing collisions in less than brute-force time. However, because SHA-1 is very similar in structure and in the basic mathematical operations used to MD5 and SHA-0, both of which have been broken, SHA-1 is considered insecure and has been phased out for SHA-2.</a:t>
            </a:r>
          </a:p>
          <a:p>
            <a:r>
              <a:rPr lang="en-US">
                <a:ea typeface="ＭＳ Ｐゴシック" pitchFamily="-107" charset="-128"/>
              </a:rPr>
              <a:t>SHA-2, particularly the 512-bit version, would appear to provide unassailable security. However, SHA-2 shares the same structure and mathematical operations as its predecessors, and this is a cause for concern. Because it will take years to find a suitable replacement for SHA-2, should it become vulnerable, NIST decided to begin the process of developing a new hash standard.  Accordingly, NIST announced in 2007 a competition to produce the next generation NIST hash function, to be called SHA-3. NIST would like to have a new standard in place by the end of 2012, but emphasizes that this is not a fixed timeline.</a:t>
            </a:r>
          </a:p>
        </p:txBody>
      </p:sp>
      <p:sp>
        <p:nvSpPr>
          <p:cNvPr id="56324" name="Slide Number Placeholder 3"/>
          <p:cNvSpPr>
            <a:spLocks noGrp="1"/>
          </p:cNvSpPr>
          <p:nvPr>
            <p:ph type="sldNum" sz="quarter" idx="5"/>
          </p:nvPr>
        </p:nvSpPr>
        <p:spPr>
          <a:noFill/>
        </p:spPr>
        <p:txBody>
          <a:bodyPr/>
          <a:lstStyle/>
          <a:p>
            <a:fld id="{98217356-90DB-4F90-BD85-9D033E1DD83F}" type="slidenum">
              <a:rPr lang="en-AU"/>
              <a:pPr/>
              <a:t>19</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p>
            <a:fld id="{98FCBB2C-A2A0-41B0-84B3-67C8D210795B}" type="slidenum">
              <a:rPr lang="en-AU"/>
              <a:pPr/>
              <a:t>20</a:t>
            </a:fld>
            <a:endParaRPr lang="en-AU"/>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r>
              <a:rPr lang="en-US">
                <a:ea typeface="ＭＳ Ｐゴシック" pitchFamily="-107" charset="-128"/>
              </a:rPr>
              <a:t>Chapter 11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2CD42AA-458F-4617-804D-4C14E3040DD1}"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D42AA-458F-4617-804D-4C14E3040DD1}"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CD42AA-458F-4617-804D-4C14E3040DD1}"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CD42AA-458F-4617-804D-4C14E3040DD1}"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CD42AA-458F-4617-804D-4C14E3040DD1}"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2CD42AA-458F-4617-804D-4C14E3040DD1}"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CD42AA-458F-4617-804D-4C14E3040DD1}"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CD42AA-458F-4617-804D-4C14E3040DD1}"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CD42AA-458F-4617-804D-4C14E3040DD1}"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D42AA-458F-4617-804D-4C14E3040DD1}"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CD42AA-458F-4617-804D-4C14E3040DD1}"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B4B4EF-67DF-46B9-9418-C29B0257E6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D42AA-458F-4617-804D-4C14E3040DD1}"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B4B4EF-67DF-46B9-9418-C29B0257E6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0114" name="Rectangle 2"/>
          <p:cNvSpPr>
            <a:spLocks noGrp="1" noChangeArrowheads="1"/>
          </p:cNvSpPr>
          <p:nvPr>
            <p:ph type="ctrTitle"/>
          </p:nvPr>
        </p:nvSpPr>
        <p:spPr>
          <a:xfrm>
            <a:off x="582930" y="731519"/>
            <a:ext cx="2133893" cy="3237579"/>
          </a:xfrm>
        </p:spPr>
        <p:txBody>
          <a:bodyPr vert="horz" lIns="91440" tIns="45720" rIns="91440" bIns="45720" rtlCol="0" anchor="ctr">
            <a:normAutofit/>
          </a:bodyPr>
          <a:lstStyle/>
          <a:p>
            <a:pPr algn="l">
              <a:lnSpc>
                <a:spcPct val="90000"/>
              </a:lnSpc>
            </a:pPr>
            <a:r>
              <a:rPr lang="en-US" sz="2800" kern="1200">
                <a:solidFill>
                  <a:srgbClr val="FFFFFF"/>
                </a:solidFill>
                <a:latin typeface="+mj-lt"/>
                <a:ea typeface="+mj-ea"/>
                <a:cs typeface="+mj-cs"/>
              </a:rPr>
              <a:t>Cryptography and Network Security</a:t>
            </a:r>
            <a:br>
              <a:rPr lang="en-US" sz="2800" kern="1200">
                <a:solidFill>
                  <a:srgbClr val="FFFFFF"/>
                </a:solidFill>
                <a:latin typeface="+mj-lt"/>
                <a:ea typeface="+mj-ea"/>
                <a:cs typeface="+mj-cs"/>
              </a:rPr>
            </a:br>
            <a:r>
              <a:rPr lang="en-US" sz="2800" kern="1200">
                <a:solidFill>
                  <a:srgbClr val="FFFFFF"/>
                </a:solidFill>
                <a:latin typeface="+mj-lt"/>
                <a:ea typeface="+mj-ea"/>
                <a:cs typeface="+mj-cs"/>
              </a:rPr>
              <a:t>Chapter 11</a:t>
            </a:r>
          </a:p>
        </p:txBody>
      </p:sp>
      <p:sp>
        <p:nvSpPr>
          <p:cNvPr id="75" name="Rectangle 7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7" name="Rectangle 7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15" name="Rectangle 3"/>
          <p:cNvSpPr>
            <a:spLocks noGrp="1" noChangeArrowheads="1"/>
          </p:cNvSpPr>
          <p:nvPr>
            <p:ph type="subTitle" idx="1"/>
          </p:nvPr>
        </p:nvSpPr>
        <p:spPr>
          <a:xfrm>
            <a:off x="3284781" y="686862"/>
            <a:ext cx="5278194" cy="5475129"/>
          </a:xfrm>
        </p:spPr>
        <p:txBody>
          <a:bodyPr vert="horz" lIns="91440" tIns="45720" rIns="91440" bIns="45720" rtlCol="0" anchor="ctr">
            <a:normAutofit/>
          </a:bodyPr>
          <a:lstStyle/>
          <a:p>
            <a:pPr>
              <a:lnSpc>
                <a:spcPct val="90000"/>
              </a:lnSpc>
            </a:pPr>
            <a:endParaRPr lang="en-US" sz="3600" dirty="0">
              <a:solidFill>
                <a:schemeClr val="tx1"/>
              </a:solidFill>
              <a:ea typeface="ＭＳ Ｐゴシック" pitchFamily="-107" charset="-128"/>
            </a:endParaRPr>
          </a:p>
          <a:p>
            <a:pPr>
              <a:lnSpc>
                <a:spcPct val="90000"/>
              </a:lnSpc>
            </a:pPr>
            <a:r>
              <a:rPr lang="en-US" sz="3600" dirty="0">
                <a:solidFill>
                  <a:schemeClr val="tx1"/>
                </a:solidFill>
                <a:ea typeface="ＭＳ Ｐゴシック" pitchFamily="-107" charset="-128"/>
              </a:rPr>
              <a:t>Cryptographic Hash Functions</a:t>
            </a:r>
          </a:p>
          <a:p>
            <a:pPr>
              <a:lnSpc>
                <a:spcPct val="90000"/>
              </a:lnSpc>
            </a:pPr>
            <a:endParaRPr lang="en-US" sz="3600" dirty="0">
              <a:solidFill>
                <a:schemeClr val="tx1"/>
              </a:solidFill>
              <a:ea typeface="ＭＳ Ｐゴシック" pitchFamily="-107" charset="-128"/>
            </a:endParaRPr>
          </a:p>
          <a:p>
            <a:pPr>
              <a:spcBef>
                <a:spcPts val="0"/>
              </a:spcBef>
            </a:pPr>
            <a:r>
              <a:rPr lang="en-US" sz="2400" dirty="0">
                <a:solidFill>
                  <a:schemeClr val="tx1"/>
                </a:solidFill>
              </a:rPr>
              <a:t>Arabic Language Audio Comments by</a:t>
            </a:r>
          </a:p>
          <a:p>
            <a:pPr>
              <a:spcBef>
                <a:spcPts val="0"/>
              </a:spcBef>
            </a:pPr>
            <a:r>
              <a:rPr lang="en-US" sz="2400" dirty="0">
                <a:solidFill>
                  <a:schemeClr val="tx1"/>
                </a:solidFill>
              </a:rPr>
              <a:t>Prof. Mohamed Ashraf Madkour</a:t>
            </a:r>
          </a:p>
          <a:p>
            <a:pPr>
              <a:lnSpc>
                <a:spcPct val="90000"/>
              </a:lnSpc>
            </a:pPr>
            <a:endParaRPr lang="en-US" sz="3600" dirty="0">
              <a:solidFill>
                <a:schemeClr val="tx1"/>
              </a:solidFill>
            </a:endParaRPr>
          </a:p>
        </p:txBody>
      </p:sp>
      <p:sp>
        <p:nvSpPr>
          <p:cNvPr id="3" name="TextBox 2">
            <a:extLst>
              <a:ext uri="{FF2B5EF4-FFF2-40B4-BE49-F238E27FC236}">
                <a16:creationId xmlns:a16="http://schemas.microsoft.com/office/drawing/2014/main" id="{5053ED30-1981-4906-9613-4413C4B18352}"/>
              </a:ext>
            </a:extLst>
          </p:cNvPr>
          <p:cNvSpPr txBox="1"/>
          <p:nvPr/>
        </p:nvSpPr>
        <p:spPr>
          <a:xfrm>
            <a:off x="547895" y="4878238"/>
            <a:ext cx="2118666" cy="1200329"/>
          </a:xfrm>
          <a:prstGeom prst="rect">
            <a:avLst/>
          </a:prstGeom>
          <a:noFill/>
        </p:spPr>
        <p:txBody>
          <a:bodyPr wrap="square">
            <a:spAutoFit/>
          </a:bodyPr>
          <a:lstStyle/>
          <a:p>
            <a:pPr indent="-228600" algn="l">
              <a:lnSpc>
                <a:spcPct val="90000"/>
              </a:lnSpc>
              <a:buFont typeface="Arial" panose="020B0604020202020204" pitchFamily="34" charset="0"/>
              <a:buChar char="•"/>
            </a:pPr>
            <a:r>
              <a:rPr lang="en-US" sz="1600" dirty="0">
                <a:solidFill>
                  <a:schemeClr val="bg1"/>
                </a:solidFill>
              </a:rPr>
              <a:t>Fifth Edition</a:t>
            </a:r>
          </a:p>
          <a:p>
            <a:pPr indent="228600" algn="l">
              <a:lnSpc>
                <a:spcPct val="90000"/>
              </a:lnSpc>
            </a:pPr>
            <a:r>
              <a:rPr lang="en-US" sz="1600" dirty="0">
                <a:solidFill>
                  <a:schemeClr val="bg1"/>
                </a:solidFill>
              </a:rPr>
              <a:t>by William Stallings	</a:t>
            </a:r>
          </a:p>
          <a:p>
            <a:pPr indent="-228600" algn="l">
              <a:lnSpc>
                <a:spcPct val="90000"/>
              </a:lnSpc>
              <a:buFont typeface="Arial" panose="020B0604020202020204" pitchFamily="34" charset="0"/>
              <a:buChar char="•"/>
            </a:pPr>
            <a:endParaRPr lang="en-US" sz="1600" dirty="0">
              <a:solidFill>
                <a:schemeClr val="bg1"/>
              </a:solidFill>
            </a:endParaRPr>
          </a:p>
          <a:p>
            <a:pPr indent="-228600" algn="l">
              <a:lnSpc>
                <a:spcPct val="90000"/>
              </a:lnSpc>
              <a:buFont typeface="Arial" panose="020B0604020202020204" pitchFamily="34" charset="0"/>
              <a:buChar char="•"/>
            </a:pPr>
            <a:r>
              <a:rPr lang="en-US" sz="1600" dirty="0">
                <a:solidFill>
                  <a:schemeClr val="bg1"/>
                </a:solidFill>
              </a:rPr>
              <a:t>Lecture slides by</a:t>
            </a:r>
          </a:p>
          <a:p>
            <a:pPr indent="228600" algn="l">
              <a:lnSpc>
                <a:spcPct val="90000"/>
              </a:lnSpc>
            </a:pPr>
            <a:r>
              <a:rPr lang="en-US" sz="1600" dirty="0">
                <a:solidFill>
                  <a:schemeClr val="bg1"/>
                </a:solidFill>
              </a:rPr>
              <a:t>Lawrie Brown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529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Hash Functions</a:t>
            </a:r>
            <a:endParaRPr lang="en-AU" sz="3500">
              <a:solidFill>
                <a:srgbClr val="FFFFFF"/>
              </a:solidFill>
              <a:ea typeface="ＭＳ Ｐゴシック" pitchFamily="-107" charset="-128"/>
            </a:endParaRPr>
          </a:p>
        </p:txBody>
      </p:sp>
      <p:sp>
        <p:nvSpPr>
          <p:cNvPr id="55299" name="Rectangle 3"/>
          <p:cNvSpPr>
            <a:spLocks noGrp="1" noChangeArrowheads="1"/>
          </p:cNvSpPr>
          <p:nvPr>
            <p:ph type="body" idx="1"/>
          </p:nvPr>
        </p:nvSpPr>
        <p:spPr>
          <a:xfrm>
            <a:off x="1025718" y="2490436"/>
            <a:ext cx="7281746" cy="3567173"/>
          </a:xfrm>
        </p:spPr>
        <p:txBody>
          <a:bodyPr anchor="ctr">
            <a:normAutofit/>
          </a:bodyPr>
          <a:lstStyle/>
          <a:p>
            <a:pPr eaLnBrk="1" hangingPunct="1">
              <a:defRPr/>
            </a:pPr>
            <a:r>
              <a:rPr lang="en-AU" sz="2100">
                <a:ea typeface="ＭＳ Ｐゴシック" pitchFamily="-107" charset="-128"/>
                <a:cs typeface="ＭＳ Ｐゴシック" pitchFamily="-107" charset="-128"/>
              </a:rPr>
              <a:t>condenses arbitrary message to fixed size</a:t>
            </a:r>
          </a:p>
          <a:p>
            <a:pPr lvl="1" eaLnBrk="1" hangingPunct="1">
              <a:buFont typeface="Wingdings" pitchFamily="-107" charset="2"/>
              <a:buNone/>
              <a:defRPr/>
            </a:pPr>
            <a:r>
              <a:rPr lang="en-US" sz="2100">
                <a:latin typeface="Courier New" pitchFamily="-107" charset="0"/>
              </a:rPr>
              <a:t>h = H(M)</a:t>
            </a:r>
            <a:r>
              <a:rPr lang="en-AU" sz="2100"/>
              <a:t> </a:t>
            </a:r>
          </a:p>
          <a:p>
            <a:pPr eaLnBrk="1" hangingPunct="1">
              <a:defRPr/>
            </a:pPr>
            <a:r>
              <a:rPr lang="en-AU" sz="2100">
                <a:ea typeface="ＭＳ Ｐゴシック" pitchFamily="-107" charset="-128"/>
                <a:cs typeface="ＭＳ Ｐゴシック" pitchFamily="-107" charset="-128"/>
              </a:rPr>
              <a:t>usually assume hash function is public</a:t>
            </a:r>
          </a:p>
          <a:p>
            <a:pPr eaLnBrk="1" hangingPunct="1">
              <a:defRPr/>
            </a:pPr>
            <a:r>
              <a:rPr lang="en-US" sz="2100">
                <a:ea typeface="ＭＳ Ｐゴシック" pitchFamily="-107" charset="-128"/>
                <a:cs typeface="ＭＳ Ｐゴシック" pitchFamily="-107" charset="-128"/>
              </a:rPr>
              <a:t>hash used to detect changes to message</a:t>
            </a:r>
          </a:p>
          <a:p>
            <a:pPr eaLnBrk="1" hangingPunct="1">
              <a:defRPr/>
            </a:pPr>
            <a:r>
              <a:rPr lang="en-US" sz="2100">
                <a:ea typeface="ＭＳ Ｐゴシック" pitchFamily="-107" charset="-128"/>
                <a:cs typeface="ＭＳ Ｐゴシック" pitchFamily="-107" charset="-128"/>
              </a:rPr>
              <a:t>want a cryptographic hash function</a:t>
            </a:r>
          </a:p>
          <a:p>
            <a:pPr lvl="1" eaLnBrk="1" hangingPunct="1">
              <a:defRPr/>
            </a:pPr>
            <a:r>
              <a:rPr lang="en-US" sz="2100"/>
              <a:t>computationally infeasible to find data mapping to specific hash (one-way property)</a:t>
            </a:r>
          </a:p>
          <a:p>
            <a:pPr lvl="1" eaLnBrk="1" hangingPunct="1">
              <a:defRPr/>
            </a:pPr>
            <a:r>
              <a:rPr lang="en-US" sz="2100"/>
              <a:t>computationally infeasible to find two data to same hash (collision-free property)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5298" name="Rectangle 2"/>
          <p:cNvSpPr>
            <a:spLocks noGrp="1" noChangeArrowheads="1"/>
          </p:cNvSpPr>
          <p:nvPr>
            <p:ph type="title"/>
          </p:nvPr>
        </p:nvSpPr>
        <p:spPr>
          <a:xfrm>
            <a:off x="718879" y="800392"/>
            <a:ext cx="3091121" cy="1212102"/>
          </a:xfrm>
        </p:spPr>
        <p:txBody>
          <a:bodyPr>
            <a:normAutofit/>
          </a:bodyPr>
          <a:lstStyle/>
          <a:p>
            <a:pPr eaLnBrk="1" hangingPunct="1"/>
            <a:r>
              <a:rPr lang="en-US" sz="3600" kern="1200" dirty="0">
                <a:solidFill>
                  <a:schemeClr val="bg1"/>
                </a:solidFill>
                <a:latin typeface="+mj-lt"/>
                <a:ea typeface="+mj-ea"/>
                <a:cs typeface="+mj-cs"/>
              </a:rPr>
              <a:t>Cryptographic</a:t>
            </a:r>
            <a:br>
              <a:rPr lang="en-US" sz="3600" kern="1200" dirty="0">
                <a:solidFill>
                  <a:schemeClr val="bg1"/>
                </a:solidFill>
                <a:latin typeface="+mj-lt"/>
                <a:ea typeface="+mj-ea"/>
                <a:cs typeface="+mj-cs"/>
              </a:rPr>
            </a:br>
            <a:r>
              <a:rPr lang="en-US" sz="3600" kern="1200" dirty="0">
                <a:solidFill>
                  <a:schemeClr val="bg1"/>
                </a:solidFill>
                <a:latin typeface="+mj-lt"/>
                <a:ea typeface="+mj-ea"/>
                <a:cs typeface="+mj-cs"/>
              </a:rPr>
              <a:t>Hash Function</a:t>
            </a:r>
            <a:endParaRPr lang="en-AU" sz="3500" dirty="0">
              <a:solidFill>
                <a:schemeClr val="bg1"/>
              </a:solidFill>
              <a:ea typeface="ＭＳ Ｐゴシック" pitchFamily="-107" charset="-128"/>
            </a:endParaRPr>
          </a:p>
        </p:txBody>
      </p:sp>
      <p:pic>
        <p:nvPicPr>
          <p:cNvPr id="12" name="Picture 3">
            <a:extLst>
              <a:ext uri="{FF2B5EF4-FFF2-40B4-BE49-F238E27FC236}">
                <a16:creationId xmlns:a16="http://schemas.microsoft.com/office/drawing/2014/main" id="{5B8690FA-78C3-4A20-96B2-2DC0B6E97AB9}"/>
              </a:ext>
            </a:extLst>
          </p:cNvPr>
          <p:cNvPicPr>
            <a:picLocks noChangeAspect="1"/>
          </p:cNvPicPr>
          <p:nvPr/>
        </p:nvPicPr>
        <p:blipFill>
          <a:blip r:embed="rId3" cstate="print"/>
          <a:stretch>
            <a:fillRect/>
          </a:stretch>
        </p:blipFill>
        <p:spPr bwMode="auto">
          <a:xfrm>
            <a:off x="4234706" y="568877"/>
            <a:ext cx="4602012" cy="5496848"/>
          </a:xfrm>
          <a:prstGeom prst="rect">
            <a:avLst/>
          </a:prstGeom>
          <a:noFill/>
        </p:spPr>
      </p:pic>
      <p:sp>
        <p:nvSpPr>
          <p:cNvPr id="4" name="TextBox 3">
            <a:extLst>
              <a:ext uri="{FF2B5EF4-FFF2-40B4-BE49-F238E27FC236}">
                <a16:creationId xmlns:a16="http://schemas.microsoft.com/office/drawing/2014/main" id="{D3460B14-798E-44FD-8872-5F3FE6BA60F2}"/>
              </a:ext>
            </a:extLst>
          </p:cNvPr>
          <p:cNvSpPr txBox="1"/>
          <p:nvPr/>
        </p:nvSpPr>
        <p:spPr>
          <a:xfrm>
            <a:off x="958106" y="3119024"/>
            <a:ext cx="3276600"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The cryptographic hash function accepts an input message of arbitrary long size and computes a fixed length hash value that depends on every bit of the input message.</a:t>
            </a:r>
          </a:p>
          <a:p>
            <a:pPr marL="285750" indent="-285750" algn="just">
              <a:buFont typeface="Arial" panose="020B0604020202020204" pitchFamily="34" charset="0"/>
              <a:buChar char="•"/>
            </a:pPr>
            <a:r>
              <a:rPr lang="en-US" sz="2000" dirty="0"/>
              <a:t>The input message can be any document such as text, image, video, etc.</a:t>
            </a:r>
          </a:p>
        </p:txBody>
      </p:sp>
    </p:spTree>
    <p:extLst>
      <p:ext uri="{BB962C8B-B14F-4D97-AF65-F5344CB8AC3E}">
        <p14:creationId xmlns:p14="http://schemas.microsoft.com/office/powerpoint/2010/main" val="129248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p:blipFill>
          <a:blip r:embed="rId3" cstate="print"/>
          <a:srcRect l="5882" t="10000" r="7059" b="30909"/>
          <a:stretch>
            <a:fillRect/>
          </a:stretch>
        </p:blipFill>
        <p:spPr>
          <a:xfrm>
            <a:off x="775149" y="0"/>
            <a:ext cx="7807373" cy="6858000"/>
          </a:xfrm>
          <a:prstGeom prst="rect">
            <a:avLst/>
          </a:prstGeom>
        </p:spPr>
      </p:pic>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p:blipFill>
          <a:blip r:embed="rId3" cstate="print"/>
          <a:stretch>
            <a:fillRect/>
          </a:stretch>
        </p:blipFill>
        <p:spPr>
          <a:xfrm>
            <a:off x="1922318" y="0"/>
            <a:ext cx="5299364" cy="6858000"/>
          </a:xfrm>
          <a:prstGeom prst="rect">
            <a:avLst/>
          </a:prstGeom>
        </p:spPr>
      </p:pic>
    </p:spTree>
  </p:cSld>
  <p:clrMapOvr>
    <a:masterClrMapping/>
  </p:clrMapOvr>
  <p:transition spd="med">
    <p:wedg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5298"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ea typeface="ＭＳ Ｐゴシック" pitchFamily="-107" charset="-128"/>
              </a:rPr>
              <a:t>Hash Functions &amp; Digital Signatures</a:t>
            </a:r>
            <a:endParaRPr lang="en-AU" sz="3500" dirty="0">
              <a:solidFill>
                <a:schemeClr val="bg1"/>
              </a:solidFill>
              <a:ea typeface="ＭＳ Ｐゴシック" pitchFamily="-107" charset="-128"/>
            </a:endParaRPr>
          </a:p>
        </p:txBody>
      </p:sp>
      <p:pic>
        <p:nvPicPr>
          <p:cNvPr id="12" name="Picture 3">
            <a:extLst>
              <a:ext uri="{FF2B5EF4-FFF2-40B4-BE49-F238E27FC236}">
                <a16:creationId xmlns:a16="http://schemas.microsoft.com/office/drawing/2014/main" id="{5D7819D3-3E16-4605-865C-49E1ABE41A04}"/>
              </a:ext>
            </a:extLst>
          </p:cNvPr>
          <p:cNvPicPr>
            <a:picLocks noChangeAspect="1"/>
          </p:cNvPicPr>
          <p:nvPr/>
        </p:nvPicPr>
        <p:blipFill>
          <a:blip r:embed="rId3" cstate="print"/>
          <a:srcRect/>
          <a:stretch>
            <a:fillRect/>
          </a:stretch>
        </p:blipFill>
        <p:spPr bwMode="auto">
          <a:xfrm>
            <a:off x="970846" y="2256986"/>
            <a:ext cx="7315200" cy="4521200"/>
          </a:xfrm>
          <a:prstGeom prst="rect">
            <a:avLst/>
          </a:prstGeom>
          <a:noFill/>
          <a:ln w="9525">
            <a:noFill/>
            <a:miter lim="800000"/>
            <a:headEnd/>
            <a:tailEnd/>
          </a:ln>
        </p:spPr>
      </p:pic>
      <p:sp>
        <p:nvSpPr>
          <p:cNvPr id="11" name="TextBox 10">
            <a:extLst>
              <a:ext uri="{FF2B5EF4-FFF2-40B4-BE49-F238E27FC236}">
                <a16:creationId xmlns:a16="http://schemas.microsoft.com/office/drawing/2014/main" id="{5ED860FD-4A8A-4405-BE39-89EC2D5561A4}"/>
              </a:ext>
            </a:extLst>
          </p:cNvPr>
          <p:cNvSpPr txBox="1"/>
          <p:nvPr/>
        </p:nvSpPr>
        <p:spPr>
          <a:xfrm>
            <a:off x="1770946" y="2628221"/>
            <a:ext cx="1905000" cy="369332"/>
          </a:xfrm>
          <a:prstGeom prst="rect">
            <a:avLst/>
          </a:prstGeom>
          <a:noFill/>
        </p:spPr>
        <p:txBody>
          <a:bodyPr wrap="square">
            <a:spAutoFit/>
          </a:bodyPr>
          <a:lstStyle/>
          <a:p>
            <a:pPr algn="ctr"/>
            <a:r>
              <a:rPr lang="en-US" sz="1800" dirty="0">
                <a:solidFill>
                  <a:srgbClr val="FF0000"/>
                </a:solidFill>
                <a:effectLst/>
                <a:latin typeface="Times New Roman" panose="02020603050405020304" pitchFamily="18" charset="0"/>
                <a:ea typeface="Times New Roman" panose="02020603050405020304" pitchFamily="18" charset="0"/>
              </a:rPr>
              <a:t>M || E(</a:t>
            </a:r>
            <a:r>
              <a:rPr lang="en-US" sz="1800" dirty="0" err="1">
                <a:solidFill>
                  <a:srgbClr val="FF0000"/>
                </a:solidFill>
                <a:effectLst/>
                <a:latin typeface="Times New Roman" panose="02020603050405020304" pitchFamily="18" charset="0"/>
                <a:ea typeface="Times New Roman" panose="02020603050405020304" pitchFamily="18" charset="0"/>
              </a:rPr>
              <a:t>PR</a:t>
            </a:r>
            <a:r>
              <a:rPr lang="en-US" sz="1800" baseline="-25000" dirty="0" err="1">
                <a:solidFill>
                  <a:srgbClr val="FF0000"/>
                </a:solidFill>
                <a:effectLst/>
                <a:latin typeface="Times New Roman" panose="02020603050405020304" pitchFamily="18" charset="0"/>
                <a:ea typeface="Times New Roman" panose="02020603050405020304" pitchFamily="18" charset="0"/>
              </a:rPr>
              <a:t>a</a:t>
            </a:r>
            <a:r>
              <a:rPr lang="en-US" sz="1800" dirty="0">
                <a:solidFill>
                  <a:srgbClr val="FF0000"/>
                </a:solidFill>
                <a:effectLst/>
                <a:latin typeface="Times New Roman" panose="02020603050405020304" pitchFamily="18" charset="0"/>
                <a:ea typeface="Times New Roman" panose="02020603050405020304" pitchFamily="18" charset="0"/>
              </a:rPr>
              <a:t>, H(M)) </a:t>
            </a:r>
            <a:endParaRPr lang="en-US" dirty="0"/>
          </a:p>
        </p:txBody>
      </p:sp>
      <p:sp>
        <p:nvSpPr>
          <p:cNvPr id="13" name="TextBox 12">
            <a:extLst>
              <a:ext uri="{FF2B5EF4-FFF2-40B4-BE49-F238E27FC236}">
                <a16:creationId xmlns:a16="http://schemas.microsoft.com/office/drawing/2014/main" id="{3DA831AE-A112-43B5-AF8A-16FE74312594}"/>
              </a:ext>
            </a:extLst>
          </p:cNvPr>
          <p:cNvSpPr txBox="1"/>
          <p:nvPr/>
        </p:nvSpPr>
        <p:spPr>
          <a:xfrm>
            <a:off x="1447800" y="4876800"/>
            <a:ext cx="2971800" cy="369332"/>
          </a:xfrm>
          <a:prstGeom prst="rect">
            <a:avLst/>
          </a:prstGeom>
          <a:noFill/>
        </p:spPr>
        <p:txBody>
          <a:bodyPr wrap="square">
            <a:spAutoFit/>
          </a:bodyPr>
          <a:lstStyle/>
          <a:p>
            <a:pPr algn="ctr"/>
            <a:r>
              <a:rPr lang="en-US" sz="1800" dirty="0">
                <a:effectLst/>
                <a:latin typeface="Times New Roman" panose="02020603050405020304" pitchFamily="18" charset="0"/>
                <a:ea typeface="Times New Roman" panose="02020603050405020304" pitchFamily="18" charset="0"/>
              </a:rPr>
              <a:t>E(k, </a:t>
            </a:r>
            <a:r>
              <a:rPr lang="en-US" sz="1800" dirty="0">
                <a:solidFill>
                  <a:srgbClr val="FF0000"/>
                </a:solidFill>
                <a:effectLst/>
                <a:latin typeface="Times New Roman" panose="02020603050405020304" pitchFamily="18" charset="0"/>
                <a:ea typeface="Times New Roman" panose="02020603050405020304" pitchFamily="18" charset="0"/>
              </a:rPr>
              <a:t>M || E(</a:t>
            </a:r>
            <a:r>
              <a:rPr lang="en-US" sz="1800" dirty="0" err="1">
                <a:solidFill>
                  <a:srgbClr val="FF0000"/>
                </a:solidFill>
                <a:effectLst/>
                <a:latin typeface="Times New Roman" panose="02020603050405020304" pitchFamily="18" charset="0"/>
                <a:ea typeface="Times New Roman" panose="02020603050405020304" pitchFamily="18" charset="0"/>
              </a:rPr>
              <a:t>PR</a:t>
            </a:r>
            <a:r>
              <a:rPr lang="en-US" sz="1800" baseline="-25000" dirty="0" err="1">
                <a:solidFill>
                  <a:srgbClr val="FF0000"/>
                </a:solidFill>
                <a:effectLst/>
                <a:latin typeface="Times New Roman" panose="02020603050405020304" pitchFamily="18" charset="0"/>
                <a:ea typeface="Times New Roman" panose="02020603050405020304" pitchFamily="18" charset="0"/>
              </a:rPr>
              <a:t>a</a:t>
            </a:r>
            <a:r>
              <a:rPr lang="en-US" sz="1800" dirty="0">
                <a:solidFill>
                  <a:srgbClr val="FF0000"/>
                </a:solidFill>
                <a:effectLst/>
                <a:latin typeface="Times New Roman" panose="02020603050405020304" pitchFamily="18" charset="0"/>
                <a:ea typeface="Times New Roman" panose="02020603050405020304" pitchFamily="18" charset="0"/>
              </a:rPr>
              <a:t>, H(M))</a:t>
            </a:r>
            <a:r>
              <a:rPr lang="en-US" sz="1800" dirty="0">
                <a:effectLst/>
                <a:latin typeface="Times New Roman" panose="02020603050405020304" pitchFamily="18" charset="0"/>
                <a:ea typeface="Times New Roman" panose="02020603050405020304" pitchFamily="18" charset="0"/>
              </a:rPr>
              <a:t>)</a:t>
            </a:r>
            <a:r>
              <a:rPr lang="en-US" sz="1800" dirty="0">
                <a:solidFill>
                  <a:srgbClr val="FF0000"/>
                </a:solidFill>
                <a:effectLst/>
                <a:latin typeface="Times New Roman" panose="02020603050405020304" pitchFamily="18" charset="0"/>
                <a:ea typeface="Times New Roman" panose="02020603050405020304" pitchFamily="18" charset="0"/>
              </a:rPr>
              <a:t> </a:t>
            </a:r>
            <a:endParaRPr lang="en-US" dirty="0"/>
          </a:p>
        </p:txBody>
      </p:sp>
    </p:spTree>
    <p:extLst>
      <p:ext uri="{BB962C8B-B14F-4D97-AF65-F5344CB8AC3E}">
        <p14:creationId xmlns:p14="http://schemas.microsoft.com/office/powerpoint/2010/main" val="2396361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ＭＳ Ｐゴシック" pitchFamily="-107" charset="-128"/>
                <a:cs typeface="ＭＳ Ｐゴシック" pitchFamily="-107" charset="-128"/>
              </a:rPr>
              <a:t>Other Hash Function Uses</a:t>
            </a:r>
          </a:p>
        </p:txBody>
      </p:sp>
      <p:sp>
        <p:nvSpPr>
          <p:cNvPr id="3" name="Content Placeholder 2"/>
          <p:cNvSpPr>
            <a:spLocks noGrp="1"/>
          </p:cNvSpPr>
          <p:nvPr>
            <p:ph idx="1"/>
          </p:nvPr>
        </p:nvSpPr>
        <p:spPr>
          <a:xfrm>
            <a:off x="1178905" y="2435226"/>
            <a:ext cx="6899082" cy="3567173"/>
          </a:xfrm>
        </p:spPr>
        <p:txBody>
          <a:bodyPr anchor="ctr">
            <a:normAutofit/>
          </a:bodyPr>
          <a:lstStyle/>
          <a:p>
            <a:pPr eaLnBrk="1" hangingPunct="1"/>
            <a:r>
              <a:rPr lang="en-US" sz="2100" dirty="0">
                <a:ea typeface="ＭＳ Ｐゴシック" pitchFamily="-107" charset="-128"/>
              </a:rPr>
              <a:t>to create a one-way password file</a:t>
            </a:r>
          </a:p>
          <a:p>
            <a:pPr lvl="1" eaLnBrk="1" hangingPunct="1"/>
            <a:r>
              <a:rPr lang="en-US" sz="2100" dirty="0">
                <a:ea typeface="ＭＳ Ｐゴシック" pitchFamily="-107" charset="-128"/>
              </a:rPr>
              <a:t>store hash of password not actual password</a:t>
            </a:r>
          </a:p>
          <a:p>
            <a:pPr eaLnBrk="1" hangingPunct="1"/>
            <a:r>
              <a:rPr lang="en-US" sz="2100" dirty="0">
                <a:ea typeface="ＭＳ Ｐゴシック" pitchFamily="-107" charset="-128"/>
              </a:rPr>
              <a:t>for intrusion detection and virus detection</a:t>
            </a:r>
          </a:p>
          <a:p>
            <a:pPr lvl="1" eaLnBrk="1" hangingPunct="1"/>
            <a:r>
              <a:rPr lang="en-US" sz="2100" dirty="0">
                <a:ea typeface="ＭＳ Ｐゴシック" pitchFamily="-107" charset="-128"/>
              </a:rPr>
              <a:t>keep &amp; check hash of files on system</a:t>
            </a:r>
          </a:p>
          <a:p>
            <a:pPr eaLnBrk="1" hangingPunct="1"/>
            <a:r>
              <a:rPr lang="en-US" sz="2100" dirty="0">
                <a:ea typeface="ＭＳ Ｐゴシック" pitchFamily="-107" charset="-128"/>
              </a:rPr>
              <a:t>pseudorandom function (PRF) or pseudorandom number generator (PRNG)</a:t>
            </a:r>
          </a:p>
          <a:p>
            <a:pPr eaLnBrk="1" hangingPunct="1"/>
            <a:endParaRPr lang="en-US" sz="2100" dirty="0">
              <a:ea typeface="ＭＳ Ｐゴシック" pitchFamily="-107"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600" dirty="0">
                <a:solidFill>
                  <a:schemeClr val="bg1"/>
                </a:solidFill>
                <a:ea typeface="ＭＳ Ｐゴシック" pitchFamily="-107" charset="-128"/>
              </a:rPr>
              <a:t>Hash Function Requirements</a:t>
            </a:r>
            <a:endParaRPr lang="en-US" sz="3500" dirty="0">
              <a:solidFill>
                <a:schemeClr val="bg1"/>
              </a:solidFill>
              <a:ea typeface="ＭＳ Ｐゴシック" pitchFamily="-107" charset="-128"/>
              <a:cs typeface="ＭＳ Ｐゴシック" pitchFamily="-107" charset="-128"/>
            </a:endParaRPr>
          </a:p>
        </p:txBody>
      </p:sp>
      <p:pic>
        <p:nvPicPr>
          <p:cNvPr id="17" name="Picture 16">
            <a:extLst>
              <a:ext uri="{FF2B5EF4-FFF2-40B4-BE49-F238E27FC236}">
                <a16:creationId xmlns:a16="http://schemas.microsoft.com/office/drawing/2014/main" id="{7E55F25E-9D09-42E0-A463-7505D78AEA3D}"/>
              </a:ext>
            </a:extLst>
          </p:cNvPr>
          <p:cNvPicPr>
            <a:picLocks noChangeAspect="1"/>
          </p:cNvPicPr>
          <p:nvPr/>
        </p:nvPicPr>
        <p:blipFill>
          <a:blip r:embed="rId3"/>
          <a:stretch>
            <a:fillRect/>
          </a:stretch>
        </p:blipFill>
        <p:spPr>
          <a:xfrm>
            <a:off x="1165823" y="2341848"/>
            <a:ext cx="6962775" cy="3933825"/>
          </a:xfrm>
          <a:prstGeom prst="rect">
            <a:avLst/>
          </a:prstGeom>
        </p:spPr>
      </p:pic>
    </p:spTree>
    <p:extLst>
      <p:ext uri="{BB962C8B-B14F-4D97-AF65-F5344CB8AC3E}">
        <p14:creationId xmlns:p14="http://schemas.microsoft.com/office/powerpoint/2010/main" val="2205184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ＭＳ Ｐゴシック" pitchFamily="-107" charset="-128"/>
                <a:cs typeface="ＭＳ Ｐゴシック" pitchFamily="-107" charset="-128"/>
              </a:rPr>
              <a:t>Attacks on Hash Functions</a:t>
            </a:r>
          </a:p>
        </p:txBody>
      </p:sp>
      <p:sp>
        <p:nvSpPr>
          <p:cNvPr id="3" name="Content Placeholder 2"/>
          <p:cNvSpPr>
            <a:spLocks noGrp="1"/>
          </p:cNvSpPr>
          <p:nvPr>
            <p:ph idx="1"/>
          </p:nvPr>
        </p:nvSpPr>
        <p:spPr>
          <a:xfrm>
            <a:off x="1026478" y="2378076"/>
            <a:ext cx="7281746" cy="3567173"/>
          </a:xfrm>
        </p:spPr>
        <p:txBody>
          <a:bodyPr anchor="ctr">
            <a:normAutofit fontScale="92500" lnSpcReduction="10000"/>
          </a:bodyPr>
          <a:lstStyle/>
          <a:p>
            <a:pPr marL="0" indent="0" eaLnBrk="1" hangingPunct="1">
              <a:buNone/>
              <a:defRPr/>
            </a:pPr>
            <a:r>
              <a:rPr lang="en-US" sz="2400" dirty="0">
                <a:ea typeface="ＭＳ Ｐゴシック" pitchFamily="-107" charset="-128"/>
              </a:rPr>
              <a:t>For an </a:t>
            </a:r>
            <a:r>
              <a:rPr lang="en-US" sz="2400" i="1" dirty="0">
                <a:highlight>
                  <a:srgbClr val="FFFF00"/>
                </a:highlight>
                <a:ea typeface="ＭＳ Ｐゴシック" pitchFamily="-107" charset="-128"/>
              </a:rPr>
              <a:t>m-bit</a:t>
            </a:r>
            <a:r>
              <a:rPr lang="en-US" sz="2400" i="1" dirty="0">
                <a:ea typeface="ＭＳ Ｐゴシック" pitchFamily="-107" charset="-128"/>
              </a:rPr>
              <a:t> </a:t>
            </a:r>
            <a:r>
              <a:rPr lang="en-US" sz="2400" dirty="0">
                <a:ea typeface="ＭＳ Ｐゴシック" pitchFamily="-107" charset="-128"/>
              </a:rPr>
              <a:t>hash value, attackers </a:t>
            </a:r>
            <a:r>
              <a:rPr lang="en-US" sz="2100" dirty="0">
                <a:ea typeface="ＭＳ Ｐゴシック" pitchFamily="-107" charset="-128"/>
                <a:cs typeface="ＭＳ Ｐゴシック" pitchFamily="-107" charset="-128"/>
              </a:rPr>
              <a:t>have brute-force attacks and cryptanalysis attacks:</a:t>
            </a:r>
          </a:p>
          <a:p>
            <a:pPr indent="-171450" eaLnBrk="1" hangingPunct="1">
              <a:defRPr/>
            </a:pPr>
            <a:r>
              <a:rPr lang="en-US" sz="2100" dirty="0">
                <a:ea typeface="ＭＳ Ｐゴシック" pitchFamily="-107" charset="-128"/>
                <a:cs typeface="ＭＳ Ｐゴシック" pitchFamily="-107" charset="-128"/>
              </a:rPr>
              <a:t>a preimage or second preimage attack</a:t>
            </a:r>
          </a:p>
          <a:p>
            <a:pPr lvl="1" eaLnBrk="1" hangingPunct="1">
              <a:defRPr/>
            </a:pPr>
            <a:r>
              <a:rPr lang="en-US" sz="2100" dirty="0"/>
              <a:t>find </a:t>
            </a:r>
            <a:r>
              <a:rPr lang="en-US" sz="2100" i="1" dirty="0">
                <a:latin typeface="Courier New" pitchFamily="-107" charset="0"/>
                <a:ea typeface="Courier New" pitchFamily="-107" charset="0"/>
                <a:cs typeface="Courier New" pitchFamily="-107" charset="0"/>
              </a:rPr>
              <a:t>y</a:t>
            </a:r>
            <a:r>
              <a:rPr lang="en-US" sz="2100" i="1" dirty="0"/>
              <a:t>  </a:t>
            </a:r>
            <a:r>
              <a:rPr lang="en-US" sz="2100" dirty="0"/>
              <a:t>such that </a:t>
            </a:r>
            <a:r>
              <a:rPr lang="en-US" sz="2100" i="1" dirty="0">
                <a:latin typeface="Courier New" pitchFamily="-107" charset="0"/>
                <a:ea typeface="Courier New" pitchFamily="-107" charset="0"/>
                <a:cs typeface="Courier New" pitchFamily="-107" charset="0"/>
              </a:rPr>
              <a:t>H(y) </a:t>
            </a:r>
            <a:r>
              <a:rPr lang="en-US" sz="2100" dirty="0"/>
              <a:t>equals a given hash value. </a:t>
            </a:r>
            <a:r>
              <a:rPr lang="en-US" sz="1900" i="1" dirty="0">
                <a:ea typeface="ＭＳ Ｐゴシック" pitchFamily="-107" charset="-128"/>
              </a:rPr>
              <a:t>(The level of effort is proportional to </a:t>
            </a:r>
            <a:r>
              <a:rPr lang="en-US" sz="1900" i="1" dirty="0">
                <a:highlight>
                  <a:srgbClr val="FFFF00"/>
                </a:highlight>
                <a:ea typeface="ＭＳ Ｐゴシック" pitchFamily="-107" charset="-128"/>
              </a:rPr>
              <a:t>2</a:t>
            </a:r>
            <a:r>
              <a:rPr lang="en-US" sz="1900" i="1" baseline="30000" dirty="0">
                <a:highlight>
                  <a:srgbClr val="FFFF00"/>
                </a:highlight>
                <a:ea typeface="ＭＳ Ｐゴシック" pitchFamily="-107" charset="-128"/>
              </a:rPr>
              <a:t>m</a:t>
            </a:r>
            <a:r>
              <a:rPr lang="en-US" sz="1900" i="1" dirty="0">
                <a:ea typeface="ＭＳ Ｐゴシック" pitchFamily="-107" charset="-128"/>
              </a:rPr>
              <a:t>)</a:t>
            </a:r>
            <a:endParaRPr lang="en-US" sz="1900" i="1" dirty="0"/>
          </a:p>
          <a:p>
            <a:pPr indent="-171450" eaLnBrk="1" hangingPunct="1">
              <a:defRPr/>
            </a:pPr>
            <a:r>
              <a:rPr lang="en-US" sz="2100" dirty="0">
                <a:ea typeface="ＭＳ Ｐゴシック" pitchFamily="-107" charset="-128"/>
                <a:cs typeface="ＭＳ Ｐゴシック" pitchFamily="-107" charset="-128"/>
              </a:rPr>
              <a:t>collision resistance attack</a:t>
            </a:r>
          </a:p>
          <a:p>
            <a:pPr lvl="1" eaLnBrk="1" hangingPunct="1">
              <a:defRPr/>
            </a:pPr>
            <a:r>
              <a:rPr lang="en-US" sz="2100" dirty="0"/>
              <a:t>find  two messages </a:t>
            </a:r>
            <a:r>
              <a:rPr lang="en-US" sz="2100" dirty="0">
                <a:latin typeface="Courier New" pitchFamily="-107" charset="0"/>
                <a:ea typeface="Courier New" pitchFamily="-107" charset="0"/>
                <a:cs typeface="Courier New" pitchFamily="-107" charset="0"/>
              </a:rPr>
              <a:t>x</a:t>
            </a:r>
            <a:r>
              <a:rPr lang="en-US" sz="2100" dirty="0"/>
              <a:t> &amp; </a:t>
            </a:r>
            <a:r>
              <a:rPr lang="en-US" sz="2100" i="1" dirty="0">
                <a:latin typeface="Courier New" pitchFamily="-107" charset="0"/>
                <a:ea typeface="Courier New" pitchFamily="-107" charset="0"/>
                <a:cs typeface="Courier New" pitchFamily="-107" charset="0"/>
              </a:rPr>
              <a:t>y</a:t>
            </a:r>
            <a:r>
              <a:rPr lang="en-US" sz="2100" i="1" dirty="0"/>
              <a:t> </a:t>
            </a:r>
            <a:r>
              <a:rPr lang="en-US" sz="2100" dirty="0"/>
              <a:t>with same hash i.e., </a:t>
            </a:r>
            <a:r>
              <a:rPr lang="en-US" sz="2100" dirty="0">
                <a:latin typeface="Courier New" pitchFamily="-107" charset="0"/>
                <a:ea typeface="Courier New" pitchFamily="-107" charset="0"/>
                <a:cs typeface="Courier New" pitchFamily="-107" charset="0"/>
              </a:rPr>
              <a:t>H(x) = H(y) </a:t>
            </a:r>
            <a:r>
              <a:rPr lang="en-US" sz="1900" i="1" dirty="0">
                <a:ea typeface="ＭＳ Ｐゴシック" pitchFamily="-107" charset="-128"/>
              </a:rPr>
              <a:t>(The value </a:t>
            </a:r>
            <a:r>
              <a:rPr lang="en-US" sz="1900" i="1" dirty="0">
                <a:highlight>
                  <a:srgbClr val="FFFF00"/>
                </a:highlight>
                <a:ea typeface="ＭＳ Ｐゴシック" pitchFamily="-107" charset="-128"/>
              </a:rPr>
              <a:t>2</a:t>
            </a:r>
            <a:r>
              <a:rPr lang="en-US" sz="1900" i="1" baseline="30000" dirty="0">
                <a:highlight>
                  <a:srgbClr val="FFFF00"/>
                </a:highlight>
                <a:ea typeface="ＭＳ Ｐゴシック" pitchFamily="-107" charset="-128"/>
              </a:rPr>
              <a:t>m/2</a:t>
            </a:r>
            <a:r>
              <a:rPr lang="en-US" sz="1900" i="1" baseline="30000" dirty="0">
                <a:ea typeface="ＭＳ Ｐゴシック" pitchFamily="-107" charset="-128"/>
              </a:rPr>
              <a:t> </a:t>
            </a:r>
            <a:r>
              <a:rPr lang="en-US" sz="1900" i="1" dirty="0">
                <a:ea typeface="ＭＳ Ｐゴシック" pitchFamily="-107" charset="-128"/>
              </a:rPr>
              <a:t>determines the strength of the hash code against brute-force Birthday Attack)</a:t>
            </a:r>
            <a:r>
              <a:rPr lang="en-US" sz="1900" i="1" dirty="0"/>
              <a:t> </a:t>
            </a:r>
          </a:p>
          <a:p>
            <a:pPr lvl="1">
              <a:defRPr/>
            </a:pPr>
            <a:r>
              <a:rPr lang="en-US" sz="2100" dirty="0">
                <a:ea typeface="ＭＳ Ｐゴシック" pitchFamily="-107" charset="-128"/>
                <a:cs typeface="ＭＳ Ｐゴシック" pitchFamily="-107" charset="-128"/>
              </a:rPr>
              <a:t>hence value 2</a:t>
            </a:r>
            <a:r>
              <a:rPr lang="en-US" sz="2100" i="1" baseline="30000" dirty="0">
                <a:ea typeface="ＭＳ Ｐゴシック" pitchFamily="-107" charset="-128"/>
                <a:cs typeface="ＭＳ Ｐゴシック" pitchFamily="-107" charset="-128"/>
              </a:rPr>
              <a:t>m/2 </a:t>
            </a:r>
            <a:r>
              <a:rPr lang="en-US" sz="2100" dirty="0">
                <a:ea typeface="ＭＳ Ｐゴシック" pitchFamily="-107" charset="-128"/>
                <a:cs typeface="ＭＳ Ｐゴシック" pitchFamily="-107" charset="-128"/>
              </a:rPr>
              <a:t>determines strength of hash code against brute-force attacks</a:t>
            </a:r>
          </a:p>
          <a:p>
            <a:pPr lvl="1" eaLnBrk="1" hangingPunct="1">
              <a:defRPr/>
            </a:pPr>
            <a:r>
              <a:rPr lang="en-US" sz="2100" dirty="0"/>
              <a:t>128-bits inadequate, 160-bits suspect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553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Birthday Attacks</a:t>
            </a:r>
            <a:endParaRPr lang="en-AU" sz="3500">
              <a:solidFill>
                <a:srgbClr val="FFFFFF"/>
              </a:solidFill>
              <a:ea typeface="ＭＳ Ｐゴシック" pitchFamily="-107" charset="-128"/>
            </a:endParaRPr>
          </a:p>
        </p:txBody>
      </p:sp>
      <p:sp>
        <p:nvSpPr>
          <p:cNvPr id="65539" name="Rectangle 3"/>
          <p:cNvSpPr>
            <a:spLocks noGrp="1" noChangeArrowheads="1"/>
          </p:cNvSpPr>
          <p:nvPr>
            <p:ph type="body" idx="1"/>
          </p:nvPr>
        </p:nvSpPr>
        <p:spPr>
          <a:xfrm>
            <a:off x="1126131" y="2490435"/>
            <a:ext cx="7281746" cy="3567173"/>
          </a:xfrm>
        </p:spPr>
        <p:txBody>
          <a:bodyPr anchor="ctr">
            <a:noAutofit/>
          </a:bodyPr>
          <a:lstStyle/>
          <a:p>
            <a:pPr eaLnBrk="1" hangingPunct="1">
              <a:lnSpc>
                <a:spcPct val="90000"/>
              </a:lnSpc>
            </a:pPr>
            <a:r>
              <a:rPr lang="en-US" sz="2000" dirty="0">
                <a:ea typeface="ＭＳ Ｐゴシック" pitchFamily="-107" charset="-128"/>
              </a:rPr>
              <a:t>one might think a 64-bit hash is secure, but by </a:t>
            </a:r>
            <a:r>
              <a:rPr lang="en-US" sz="2000" b="1" dirty="0">
                <a:ea typeface="ＭＳ Ｐゴシック" pitchFamily="-107" charset="-128"/>
              </a:rPr>
              <a:t>Birthday Paradox</a:t>
            </a:r>
            <a:r>
              <a:rPr lang="en-US" sz="2000" dirty="0">
                <a:ea typeface="ＭＳ Ｐゴシック" pitchFamily="-107" charset="-128"/>
              </a:rPr>
              <a:t> it is not.</a:t>
            </a:r>
          </a:p>
          <a:p>
            <a:pPr eaLnBrk="1" hangingPunct="1">
              <a:lnSpc>
                <a:spcPct val="90000"/>
              </a:lnSpc>
            </a:pPr>
            <a:r>
              <a:rPr lang="en-US" sz="2000" b="1" dirty="0">
                <a:ea typeface="ＭＳ Ｐゴシック" pitchFamily="-107" charset="-128"/>
              </a:rPr>
              <a:t>Birthday attack </a:t>
            </a:r>
            <a:r>
              <a:rPr lang="en-US" sz="2000" dirty="0">
                <a:ea typeface="ＭＳ Ｐゴシック" pitchFamily="-107" charset="-128"/>
              </a:rPr>
              <a:t>works thus:</a:t>
            </a:r>
          </a:p>
          <a:p>
            <a:pPr lvl="1" eaLnBrk="1" hangingPunct="1">
              <a:lnSpc>
                <a:spcPct val="90000"/>
              </a:lnSpc>
            </a:pPr>
            <a:r>
              <a:rPr lang="en-US" sz="2000" dirty="0">
                <a:ea typeface="ＭＳ Ｐゴシック" pitchFamily="-107" charset="-128"/>
              </a:rPr>
              <a:t>given user prepared to sign a valid message x</a:t>
            </a:r>
          </a:p>
          <a:p>
            <a:pPr lvl="1" eaLnBrk="1" hangingPunct="1">
              <a:lnSpc>
                <a:spcPct val="90000"/>
              </a:lnSpc>
            </a:pPr>
            <a:r>
              <a:rPr lang="en-US" sz="2000" dirty="0">
                <a:ea typeface="ＭＳ Ｐゴシック" pitchFamily="-107" charset="-128"/>
              </a:rPr>
              <a:t>opponent generates 2</a:t>
            </a:r>
            <a:r>
              <a:rPr lang="en-US" sz="2000" baseline="60000" dirty="0">
                <a:ea typeface="ＭＳ Ｐゴシック" pitchFamily="-107" charset="-128"/>
              </a:rPr>
              <a:t>m</a:t>
            </a:r>
            <a:r>
              <a:rPr lang="en-US" sz="2000" baseline="40000" dirty="0">
                <a:ea typeface="ＭＳ Ｐゴシック" pitchFamily="-107" charset="-128"/>
              </a:rPr>
              <a:t>/</a:t>
            </a:r>
            <a:r>
              <a:rPr lang="en-US" sz="2000" baseline="20000" dirty="0">
                <a:ea typeface="ＭＳ Ｐゴシック" pitchFamily="-107" charset="-128"/>
              </a:rPr>
              <a:t>2</a:t>
            </a:r>
            <a:r>
              <a:rPr lang="en-US" sz="2000" baseline="30000" dirty="0">
                <a:ea typeface="ＭＳ Ｐゴシック" pitchFamily="-107" charset="-128"/>
              </a:rPr>
              <a:t> </a:t>
            </a:r>
            <a:r>
              <a:rPr lang="en-US" sz="2000" dirty="0">
                <a:ea typeface="ＭＳ Ｐゴシック" pitchFamily="-107" charset="-128"/>
              </a:rPr>
              <a:t>variations x’ of x, all with essentially the same meaning, and saves them</a:t>
            </a:r>
          </a:p>
          <a:p>
            <a:pPr lvl="1" eaLnBrk="1" hangingPunct="1">
              <a:lnSpc>
                <a:spcPct val="90000"/>
              </a:lnSpc>
            </a:pPr>
            <a:r>
              <a:rPr lang="en-US" sz="2000" dirty="0">
                <a:ea typeface="ＭＳ Ｐゴシック" pitchFamily="-107" charset="-128"/>
              </a:rPr>
              <a:t>opponent generates 2</a:t>
            </a:r>
            <a:r>
              <a:rPr lang="en-US" sz="2000" baseline="60000" dirty="0">
                <a:ea typeface="ＭＳ Ｐゴシック" pitchFamily="-107" charset="-128"/>
              </a:rPr>
              <a:t>m</a:t>
            </a:r>
            <a:r>
              <a:rPr lang="en-US" sz="2000" baseline="40000" dirty="0">
                <a:ea typeface="ＭＳ Ｐゴシック" pitchFamily="-107" charset="-128"/>
              </a:rPr>
              <a:t>/</a:t>
            </a:r>
            <a:r>
              <a:rPr lang="en-US" sz="2000" baseline="20000" dirty="0">
                <a:ea typeface="ＭＳ Ｐゴシック" pitchFamily="-107" charset="-128"/>
              </a:rPr>
              <a:t>2</a:t>
            </a:r>
            <a:r>
              <a:rPr lang="en-US" sz="2000" baseline="30000" dirty="0">
                <a:ea typeface="ＭＳ Ｐゴシック" pitchFamily="-107" charset="-128"/>
              </a:rPr>
              <a:t> </a:t>
            </a:r>
            <a:r>
              <a:rPr lang="en-US" sz="2000" dirty="0">
                <a:ea typeface="ＭＳ Ｐゴシック" pitchFamily="-107" charset="-128"/>
              </a:rPr>
              <a:t>variations y’ of a desired fraudulent message y</a:t>
            </a:r>
          </a:p>
          <a:p>
            <a:pPr lvl="1" eaLnBrk="1" hangingPunct="1">
              <a:lnSpc>
                <a:spcPct val="90000"/>
              </a:lnSpc>
            </a:pPr>
            <a:r>
              <a:rPr lang="en-US" sz="2000" dirty="0">
                <a:ea typeface="ＭＳ Ｐゴシック" pitchFamily="-107" charset="-128"/>
              </a:rPr>
              <a:t>two sets of messages are compared to find pair with same hash (probability &gt; 0.5 by birthday paradox)</a:t>
            </a:r>
          </a:p>
          <a:p>
            <a:pPr lvl="1" eaLnBrk="1" hangingPunct="1">
              <a:lnSpc>
                <a:spcPct val="90000"/>
              </a:lnSpc>
            </a:pPr>
            <a:r>
              <a:rPr lang="en-US" sz="2000" b="1" dirty="0">
                <a:ea typeface="ＭＳ Ｐゴシック" pitchFamily="-107" charset="-128"/>
              </a:rPr>
              <a:t>have user sign the valid message, then substitute the forgery which will have a valid signature</a:t>
            </a:r>
          </a:p>
          <a:p>
            <a:pPr eaLnBrk="1" hangingPunct="1">
              <a:lnSpc>
                <a:spcPct val="90000"/>
              </a:lnSpc>
            </a:pPr>
            <a:r>
              <a:rPr lang="en-US" sz="2000" dirty="0">
                <a:ea typeface="ＭＳ Ｐゴシック" pitchFamily="-107" charset="-128"/>
              </a:rPr>
              <a:t>conclusion is that need to use larger hash</a:t>
            </a:r>
            <a:endParaRPr lang="en-AU" sz="2000" dirty="0">
              <a:ea typeface="ＭＳ Ｐゴシック" pitchFamily="-107"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D9D5332-7CAD-4D73-A3B9-641A3622E09F}"/>
              </a:ext>
            </a:extLst>
          </p:cNvPr>
          <p:cNvPicPr>
            <a:picLocks noChangeAspect="1"/>
          </p:cNvPicPr>
          <p:nvPr/>
        </p:nvPicPr>
        <p:blipFill>
          <a:blip r:embed="rId3"/>
          <a:stretch>
            <a:fillRect/>
          </a:stretch>
        </p:blipFill>
        <p:spPr>
          <a:xfrm>
            <a:off x="1644777" y="457200"/>
            <a:ext cx="5854445" cy="5943600"/>
          </a:xfrm>
          <a:prstGeom prst="rect">
            <a:avLst/>
          </a:prstGeom>
        </p:spPr>
      </p:pic>
    </p:spTree>
    <p:extLst>
      <p:ext uri="{BB962C8B-B14F-4D97-AF65-F5344CB8AC3E}">
        <p14:creationId xmlns:p14="http://schemas.microsoft.com/office/powerpoint/2010/main" val="793719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5538"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effectLst>
                  <a:outerShdw blurRad="38100" dist="38100" dir="2700000" algn="tl">
                    <a:srgbClr val="000000">
                      <a:alpha val="43137"/>
                    </a:srgbClr>
                  </a:outerShdw>
                </a:effectLst>
              </a:rPr>
              <a:t>Security of Hash Functions</a:t>
            </a:r>
            <a:br>
              <a:rPr lang="en-US" sz="3600" dirty="0">
                <a:solidFill>
                  <a:schemeClr val="bg1"/>
                </a:solidFill>
                <a:effectLst>
                  <a:outerShdw blurRad="38100" dist="38100" dir="2700000" algn="tl">
                    <a:srgbClr val="000000">
                      <a:alpha val="43137"/>
                    </a:srgbClr>
                  </a:outerShdw>
                </a:effectLst>
              </a:rPr>
            </a:br>
            <a:r>
              <a:rPr lang="en-US" sz="2400" dirty="0">
                <a:solidFill>
                  <a:schemeClr val="bg1"/>
                </a:solidFill>
                <a:effectLst>
                  <a:outerShdw blurRad="38100" dist="38100" dir="2700000" algn="tl">
                    <a:srgbClr val="000000">
                      <a:alpha val="43137"/>
                    </a:srgbClr>
                  </a:outerShdw>
                </a:effectLst>
              </a:rPr>
              <a:t>(and additional applications)</a:t>
            </a:r>
            <a:endParaRPr lang="en-AU" sz="3500" dirty="0">
              <a:solidFill>
                <a:schemeClr val="bg1"/>
              </a:solidFill>
              <a:ea typeface="ＭＳ Ｐゴシック" pitchFamily="-107" charset="-128"/>
            </a:endParaRPr>
          </a:p>
        </p:txBody>
      </p:sp>
      <p:sp>
        <p:nvSpPr>
          <p:cNvPr id="14" name="TextBox 13">
            <a:extLst>
              <a:ext uri="{FF2B5EF4-FFF2-40B4-BE49-F238E27FC236}">
                <a16:creationId xmlns:a16="http://schemas.microsoft.com/office/drawing/2014/main" id="{F14E3664-0AFB-4EFA-9B1C-C4BC5B418194}"/>
              </a:ext>
            </a:extLst>
          </p:cNvPr>
          <p:cNvSpPr txBox="1"/>
          <p:nvPr/>
        </p:nvSpPr>
        <p:spPr>
          <a:xfrm>
            <a:off x="1146773" y="2274927"/>
            <a:ext cx="7130452" cy="400110"/>
          </a:xfrm>
          <a:prstGeom prst="rect">
            <a:avLst/>
          </a:prstGeom>
          <a:noFill/>
        </p:spPr>
        <p:txBody>
          <a:bodyPr wrap="square">
            <a:spAutoFit/>
          </a:bodyPr>
          <a:lstStyle/>
          <a:p>
            <a:pPr marL="342900" lvl="0" indent="-342900" rtl="0">
              <a:buFont typeface="Wingdings" panose="05000000000000000000" pitchFamily="2" charset="2"/>
              <a:buChar char="q"/>
            </a:pPr>
            <a:r>
              <a:rPr lang="en-US" sz="2000" dirty="0">
                <a:solidFill>
                  <a:schemeClr val="tx1"/>
                </a:solidFill>
              </a:rPr>
              <a:t>There are two approaches to attacking a secure hash function:</a:t>
            </a:r>
          </a:p>
        </p:txBody>
      </p:sp>
      <p:grpSp>
        <p:nvGrpSpPr>
          <p:cNvPr id="15" name="Group 14">
            <a:extLst>
              <a:ext uri="{FF2B5EF4-FFF2-40B4-BE49-F238E27FC236}">
                <a16:creationId xmlns:a16="http://schemas.microsoft.com/office/drawing/2014/main" id="{6EC5A4A3-FC61-4647-AF65-AAC146E1B0B1}"/>
              </a:ext>
            </a:extLst>
          </p:cNvPr>
          <p:cNvGrpSpPr/>
          <p:nvPr/>
        </p:nvGrpSpPr>
        <p:grpSpPr>
          <a:xfrm>
            <a:off x="1283692" y="2778985"/>
            <a:ext cx="2707482" cy="1324990"/>
            <a:chOff x="475515" y="1807173"/>
            <a:chExt cx="1898005" cy="1186253"/>
          </a:xfrm>
        </p:grpSpPr>
        <p:sp>
          <p:nvSpPr>
            <p:cNvPr id="16" name="Rectangle: Rounded Corners 15">
              <a:extLst>
                <a:ext uri="{FF2B5EF4-FFF2-40B4-BE49-F238E27FC236}">
                  <a16:creationId xmlns:a16="http://schemas.microsoft.com/office/drawing/2014/main" id="{081B7116-C602-4E78-A36C-17D369E22BC0}"/>
                </a:ext>
              </a:extLst>
            </p:cNvPr>
            <p:cNvSpPr/>
            <p:nvPr/>
          </p:nvSpPr>
          <p:spPr>
            <a:xfrm>
              <a:off x="475515" y="1807173"/>
              <a:ext cx="1898005" cy="1186253"/>
            </a:xfrm>
            <a:prstGeom prst="roundRect">
              <a:avLst>
                <a:gd name="adj" fmla="val 10000"/>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Rectangle: Rounded Corners 4">
              <a:extLst>
                <a:ext uri="{FF2B5EF4-FFF2-40B4-BE49-F238E27FC236}">
                  <a16:creationId xmlns:a16="http://schemas.microsoft.com/office/drawing/2014/main" id="{DE160A00-D5A6-4F75-83D4-D0875F102601}"/>
                </a:ext>
              </a:extLst>
            </p:cNvPr>
            <p:cNvSpPr txBox="1"/>
            <p:nvPr/>
          </p:nvSpPr>
          <p:spPr>
            <a:xfrm>
              <a:off x="510259" y="1841917"/>
              <a:ext cx="1828517" cy="111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20320" rIns="30480" bIns="20320" numCol="1" spcCol="1270" anchor="t" anchorCtr="0">
              <a:noAutofit/>
            </a:bodyPr>
            <a:lstStyle/>
            <a:p>
              <a:pPr marL="0" lvl="0" indent="0" algn="l" defTabSz="711200" rtl="0">
                <a:lnSpc>
                  <a:spcPct val="90000"/>
                </a:lnSpc>
                <a:spcBef>
                  <a:spcPct val="0"/>
                </a:spcBef>
                <a:spcAft>
                  <a:spcPct val="35000"/>
                </a:spcAft>
                <a:buNone/>
              </a:pPr>
              <a:r>
                <a:rPr lang="en-US" kern="1200" dirty="0">
                  <a:latin typeface="+mj-lt"/>
                </a:rPr>
                <a:t>Cryptanalysis</a:t>
              </a:r>
            </a:p>
            <a:p>
              <a:pPr marL="114300" lvl="1" indent="-114300" algn="l" defTabSz="533400" rtl="0">
                <a:lnSpc>
                  <a:spcPct val="90000"/>
                </a:lnSpc>
                <a:spcBef>
                  <a:spcPct val="0"/>
                </a:spcBef>
                <a:spcAft>
                  <a:spcPct val="15000"/>
                </a:spcAft>
                <a:buChar char="•"/>
              </a:pPr>
              <a:r>
                <a:rPr lang="en-US" kern="1200" dirty="0">
                  <a:latin typeface="+mj-lt"/>
                </a:rPr>
                <a:t>Exploit logical weaknesses in the algorithm</a:t>
              </a:r>
            </a:p>
          </p:txBody>
        </p:sp>
      </p:grpSp>
      <p:grpSp>
        <p:nvGrpSpPr>
          <p:cNvPr id="18" name="Group 17">
            <a:extLst>
              <a:ext uri="{FF2B5EF4-FFF2-40B4-BE49-F238E27FC236}">
                <a16:creationId xmlns:a16="http://schemas.microsoft.com/office/drawing/2014/main" id="{30F34F93-54B0-4863-BE14-DBAB88ADDCBF}"/>
              </a:ext>
            </a:extLst>
          </p:cNvPr>
          <p:cNvGrpSpPr/>
          <p:nvPr/>
        </p:nvGrpSpPr>
        <p:grpSpPr>
          <a:xfrm>
            <a:off x="4203223" y="2793306"/>
            <a:ext cx="4074002" cy="1296346"/>
            <a:chOff x="475515" y="3289989"/>
            <a:chExt cx="1898005" cy="1186253"/>
          </a:xfrm>
        </p:grpSpPr>
        <p:sp>
          <p:nvSpPr>
            <p:cNvPr id="19" name="Rectangle: Rounded Corners 18">
              <a:extLst>
                <a:ext uri="{FF2B5EF4-FFF2-40B4-BE49-F238E27FC236}">
                  <a16:creationId xmlns:a16="http://schemas.microsoft.com/office/drawing/2014/main" id="{4E951B30-CCD0-45BA-A9B9-9ECF773BF454}"/>
                </a:ext>
              </a:extLst>
            </p:cNvPr>
            <p:cNvSpPr/>
            <p:nvPr/>
          </p:nvSpPr>
          <p:spPr>
            <a:xfrm>
              <a:off x="475515" y="3289989"/>
              <a:ext cx="1898005" cy="1186253"/>
            </a:xfrm>
            <a:prstGeom prst="roundRect">
              <a:avLst>
                <a:gd name="adj" fmla="val 10000"/>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0" name="Rectangle: Rounded Corners 4">
              <a:extLst>
                <a:ext uri="{FF2B5EF4-FFF2-40B4-BE49-F238E27FC236}">
                  <a16:creationId xmlns:a16="http://schemas.microsoft.com/office/drawing/2014/main" id="{C0016BE4-A2A9-457E-8607-E2698B73EB73}"/>
                </a:ext>
              </a:extLst>
            </p:cNvPr>
            <p:cNvSpPr txBox="1"/>
            <p:nvPr/>
          </p:nvSpPr>
          <p:spPr>
            <a:xfrm>
              <a:off x="510259" y="3324733"/>
              <a:ext cx="1828517" cy="111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20320" rIns="30480" bIns="20320" numCol="1" spcCol="1270" anchor="t" anchorCtr="0">
              <a:noAutofit/>
            </a:bodyPr>
            <a:lstStyle/>
            <a:p>
              <a:pPr marL="0" lvl="0" indent="0" algn="l" defTabSz="711200" rtl="0">
                <a:lnSpc>
                  <a:spcPct val="90000"/>
                </a:lnSpc>
                <a:spcBef>
                  <a:spcPct val="0"/>
                </a:spcBef>
                <a:spcAft>
                  <a:spcPct val="35000"/>
                </a:spcAft>
                <a:buNone/>
              </a:pPr>
              <a:r>
                <a:rPr lang="en-US" kern="1200" dirty="0">
                  <a:latin typeface="+mj-lt"/>
                </a:rPr>
                <a:t>Brute-force attack</a:t>
              </a:r>
            </a:p>
            <a:p>
              <a:pPr marL="114300" lvl="1" indent="-114300" algn="l" defTabSz="533400" rtl="0">
                <a:lnSpc>
                  <a:spcPct val="90000"/>
                </a:lnSpc>
                <a:spcBef>
                  <a:spcPct val="0"/>
                </a:spcBef>
                <a:spcAft>
                  <a:spcPct val="15000"/>
                </a:spcAft>
                <a:buChar char="•"/>
              </a:pPr>
              <a:r>
                <a:rPr lang="en-US" kern="1200" dirty="0">
                  <a:latin typeface="+mj-lt"/>
                </a:rPr>
                <a:t>Strength of hash function depends solely on the length of the hash code produced by the algorithm</a:t>
              </a:r>
            </a:p>
          </p:txBody>
        </p:sp>
      </p:grpSp>
      <p:sp>
        <p:nvSpPr>
          <p:cNvPr id="22" name="TextBox 21">
            <a:extLst>
              <a:ext uri="{FF2B5EF4-FFF2-40B4-BE49-F238E27FC236}">
                <a16:creationId xmlns:a16="http://schemas.microsoft.com/office/drawing/2014/main" id="{15ADDAF3-0B51-4B7C-8575-19A0939EF8D1}"/>
              </a:ext>
            </a:extLst>
          </p:cNvPr>
          <p:cNvSpPr txBox="1"/>
          <p:nvPr/>
        </p:nvSpPr>
        <p:spPr>
          <a:xfrm>
            <a:off x="1118198" y="4231284"/>
            <a:ext cx="5911252" cy="400110"/>
          </a:xfrm>
          <a:prstGeom prst="rect">
            <a:avLst/>
          </a:prstGeom>
          <a:noFill/>
        </p:spPr>
        <p:txBody>
          <a:bodyPr wrap="square">
            <a:spAutoFit/>
          </a:bodyPr>
          <a:lstStyle/>
          <a:p>
            <a:pPr marL="342900" lvl="0" indent="-342900" rtl="0">
              <a:buFont typeface="Wingdings" panose="05000000000000000000" pitchFamily="2" charset="2"/>
              <a:buChar char="q"/>
            </a:pPr>
            <a:r>
              <a:rPr lang="en-US" sz="2000" dirty="0">
                <a:solidFill>
                  <a:schemeClr val="tx1"/>
                </a:solidFill>
              </a:rPr>
              <a:t>Additional secure hash function applications:</a:t>
            </a:r>
          </a:p>
        </p:txBody>
      </p:sp>
      <p:grpSp>
        <p:nvGrpSpPr>
          <p:cNvPr id="25" name="Group 24">
            <a:extLst>
              <a:ext uri="{FF2B5EF4-FFF2-40B4-BE49-F238E27FC236}">
                <a16:creationId xmlns:a16="http://schemas.microsoft.com/office/drawing/2014/main" id="{A44583F2-3AC6-4AA5-AB09-32E201179FFB}"/>
              </a:ext>
            </a:extLst>
          </p:cNvPr>
          <p:cNvGrpSpPr/>
          <p:nvPr/>
        </p:nvGrpSpPr>
        <p:grpSpPr>
          <a:xfrm>
            <a:off x="1287905" y="4686467"/>
            <a:ext cx="2703270" cy="1337536"/>
            <a:chOff x="6216235" y="1342869"/>
            <a:chExt cx="1980399" cy="1146521"/>
          </a:xfrm>
        </p:grpSpPr>
        <p:sp>
          <p:nvSpPr>
            <p:cNvPr id="26" name="Rectangle: Rounded Corners 25">
              <a:extLst>
                <a:ext uri="{FF2B5EF4-FFF2-40B4-BE49-F238E27FC236}">
                  <a16:creationId xmlns:a16="http://schemas.microsoft.com/office/drawing/2014/main" id="{19D96EC5-82E6-4F76-AB56-CD2D4AAF6417}"/>
                </a:ext>
              </a:extLst>
            </p:cNvPr>
            <p:cNvSpPr/>
            <p:nvPr/>
          </p:nvSpPr>
          <p:spPr>
            <a:xfrm>
              <a:off x="6216235" y="1342869"/>
              <a:ext cx="1898005" cy="1116765"/>
            </a:xfrm>
            <a:prstGeom prst="roundRect">
              <a:avLst>
                <a:gd name="adj" fmla="val 10000"/>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7" name="Rectangle: Rounded Corners 4">
              <a:extLst>
                <a:ext uri="{FF2B5EF4-FFF2-40B4-BE49-F238E27FC236}">
                  <a16:creationId xmlns:a16="http://schemas.microsoft.com/office/drawing/2014/main" id="{AC73D98B-CD99-44D5-A0A9-460733C8ED28}"/>
                </a:ext>
              </a:extLst>
            </p:cNvPr>
            <p:cNvSpPr txBox="1"/>
            <p:nvPr/>
          </p:nvSpPr>
          <p:spPr>
            <a:xfrm>
              <a:off x="6372404" y="1372625"/>
              <a:ext cx="1824230" cy="111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20320" rIns="30480" bIns="20320" numCol="1" spcCol="1270" anchor="t" anchorCtr="0">
              <a:noAutofit/>
            </a:bodyPr>
            <a:lstStyle/>
            <a:p>
              <a:pPr marL="0" lvl="0" indent="0" algn="l" defTabSz="711200" rtl="0">
                <a:lnSpc>
                  <a:spcPct val="90000"/>
                </a:lnSpc>
                <a:spcBef>
                  <a:spcPct val="0"/>
                </a:spcBef>
                <a:spcAft>
                  <a:spcPct val="35000"/>
                </a:spcAft>
                <a:buNone/>
              </a:pPr>
              <a:r>
                <a:rPr lang="en-US" kern="1200" dirty="0">
                  <a:latin typeface="+mj-lt"/>
                </a:rPr>
                <a:t>Passwords</a:t>
              </a:r>
            </a:p>
            <a:p>
              <a:pPr marL="114300" lvl="1" indent="-114300" algn="l" defTabSz="533400" rtl="0">
                <a:lnSpc>
                  <a:spcPct val="90000"/>
                </a:lnSpc>
                <a:spcBef>
                  <a:spcPct val="0"/>
                </a:spcBef>
                <a:spcAft>
                  <a:spcPct val="15000"/>
                </a:spcAft>
                <a:buChar char="•"/>
              </a:pPr>
              <a:r>
                <a:rPr lang="en-US" kern="1200" dirty="0">
                  <a:latin typeface="+mj-lt"/>
                </a:rPr>
                <a:t>Hash of a password is stored by an operating system</a:t>
              </a:r>
            </a:p>
          </p:txBody>
        </p:sp>
      </p:grpSp>
      <p:grpSp>
        <p:nvGrpSpPr>
          <p:cNvPr id="28" name="Group 27">
            <a:extLst>
              <a:ext uri="{FF2B5EF4-FFF2-40B4-BE49-F238E27FC236}">
                <a16:creationId xmlns:a16="http://schemas.microsoft.com/office/drawing/2014/main" id="{00BE07BA-BEAB-4410-AC2D-A41C42B849E0}"/>
              </a:ext>
            </a:extLst>
          </p:cNvPr>
          <p:cNvGrpSpPr/>
          <p:nvPr/>
        </p:nvGrpSpPr>
        <p:grpSpPr>
          <a:xfrm>
            <a:off x="4268275" y="4717853"/>
            <a:ext cx="4074002" cy="1291718"/>
            <a:chOff x="6406781" y="3289989"/>
            <a:chExt cx="1898005" cy="1186253"/>
          </a:xfrm>
        </p:grpSpPr>
        <p:sp>
          <p:nvSpPr>
            <p:cNvPr id="29" name="Rectangle: Rounded Corners 28">
              <a:extLst>
                <a:ext uri="{FF2B5EF4-FFF2-40B4-BE49-F238E27FC236}">
                  <a16:creationId xmlns:a16="http://schemas.microsoft.com/office/drawing/2014/main" id="{E5366897-1A6F-4AAA-9A5E-71B9F1AFA5E3}"/>
                </a:ext>
              </a:extLst>
            </p:cNvPr>
            <p:cNvSpPr/>
            <p:nvPr/>
          </p:nvSpPr>
          <p:spPr>
            <a:xfrm>
              <a:off x="6406781" y="3289989"/>
              <a:ext cx="1898005" cy="1186253"/>
            </a:xfrm>
            <a:prstGeom prst="roundRect">
              <a:avLst>
                <a:gd name="adj" fmla="val 10000"/>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0" name="Rectangle: Rounded Corners 4">
              <a:extLst>
                <a:ext uri="{FF2B5EF4-FFF2-40B4-BE49-F238E27FC236}">
                  <a16:creationId xmlns:a16="http://schemas.microsoft.com/office/drawing/2014/main" id="{4EA1B1BD-213B-41C3-B815-DF2B8A5DA101}"/>
                </a:ext>
              </a:extLst>
            </p:cNvPr>
            <p:cNvSpPr txBox="1"/>
            <p:nvPr/>
          </p:nvSpPr>
          <p:spPr>
            <a:xfrm>
              <a:off x="6441525" y="3324732"/>
              <a:ext cx="1828517" cy="115151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20320" rIns="30480" bIns="20320" numCol="1" spcCol="1270" anchor="t" anchorCtr="0">
              <a:noAutofit/>
            </a:bodyPr>
            <a:lstStyle/>
            <a:p>
              <a:pPr marL="0" lvl="0" indent="0" algn="l" defTabSz="711200" rtl="0">
                <a:lnSpc>
                  <a:spcPct val="90000"/>
                </a:lnSpc>
                <a:spcBef>
                  <a:spcPct val="0"/>
                </a:spcBef>
                <a:spcAft>
                  <a:spcPct val="35000"/>
                </a:spcAft>
                <a:buNone/>
              </a:pPr>
              <a:r>
                <a:rPr lang="en-US" kern="1200" dirty="0">
                  <a:latin typeface="+mj-lt"/>
                </a:rPr>
                <a:t>Intrusion detection</a:t>
              </a:r>
            </a:p>
            <a:p>
              <a:pPr marL="114300" lvl="1" indent="-114300" algn="l" defTabSz="533400" rtl="0">
                <a:lnSpc>
                  <a:spcPct val="90000"/>
                </a:lnSpc>
                <a:spcBef>
                  <a:spcPct val="0"/>
                </a:spcBef>
                <a:spcAft>
                  <a:spcPct val="15000"/>
                </a:spcAft>
                <a:buChar char="•"/>
              </a:pPr>
              <a:r>
                <a:rPr lang="en-US" kern="1200" dirty="0">
                  <a:latin typeface="+mj-lt"/>
                </a:rPr>
                <a:t>Store H(F) for each file on a system and secure the hash values</a:t>
              </a:r>
            </a:p>
          </p:txBody>
        </p:sp>
      </p:grpSp>
      <p:sp>
        <p:nvSpPr>
          <p:cNvPr id="32" name="TextBox 31">
            <a:extLst>
              <a:ext uri="{FF2B5EF4-FFF2-40B4-BE49-F238E27FC236}">
                <a16:creationId xmlns:a16="http://schemas.microsoft.com/office/drawing/2014/main" id="{9A9CF31E-E2D4-418D-A147-12D20315076F}"/>
              </a:ext>
            </a:extLst>
          </p:cNvPr>
          <p:cNvSpPr txBox="1"/>
          <p:nvPr/>
        </p:nvSpPr>
        <p:spPr>
          <a:xfrm>
            <a:off x="1146773" y="6238979"/>
            <a:ext cx="7195504" cy="400110"/>
          </a:xfrm>
          <a:prstGeom prst="rect">
            <a:avLst/>
          </a:prstGeom>
          <a:noFill/>
        </p:spPr>
        <p:txBody>
          <a:bodyPr wrap="square">
            <a:spAutoFit/>
          </a:bodyPr>
          <a:lstStyle/>
          <a:p>
            <a:pPr marL="342900" lvl="0" indent="-342900" rtl="0">
              <a:buFont typeface="Wingdings" panose="05000000000000000000" pitchFamily="2" charset="2"/>
              <a:buChar char="q"/>
            </a:pPr>
            <a:r>
              <a:rPr lang="en-US" sz="2000" dirty="0">
                <a:solidFill>
                  <a:schemeClr val="tx1"/>
                </a:solidFill>
              </a:rPr>
              <a:t>SHA is the most widely used hash algorithm</a:t>
            </a:r>
          </a:p>
        </p:txBody>
      </p:sp>
    </p:spTree>
    <p:extLst>
      <p:ext uri="{BB962C8B-B14F-4D97-AF65-F5344CB8AC3E}">
        <p14:creationId xmlns:p14="http://schemas.microsoft.com/office/powerpoint/2010/main" val="3936058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5538" name="Rectangle 2"/>
          <p:cNvSpPr>
            <a:spLocks noGrp="1" noChangeArrowheads="1"/>
          </p:cNvSpPr>
          <p:nvPr>
            <p:ph type="title"/>
          </p:nvPr>
        </p:nvSpPr>
        <p:spPr>
          <a:xfrm>
            <a:off x="718879" y="800392"/>
            <a:ext cx="7698523" cy="1212102"/>
          </a:xfrm>
        </p:spPr>
        <p:txBody>
          <a:bodyPr>
            <a:normAutofit/>
          </a:bodyPr>
          <a:lstStyle/>
          <a:p>
            <a:pPr eaLnBrk="1" hangingPunct="1"/>
            <a:r>
              <a:rPr lang="en-US" sz="3600" dirty="0">
                <a:solidFill>
                  <a:schemeClr val="bg1"/>
                </a:solidFill>
                <a:ea typeface="ＭＳ Ｐゴシック" pitchFamily="-107" charset="-128"/>
                <a:cs typeface="ＭＳ Ｐゴシック" pitchFamily="-107" charset="-128"/>
              </a:rPr>
              <a:t>Hash Function Cryptanalysis</a:t>
            </a:r>
            <a:endParaRPr lang="en-AU" sz="3500" dirty="0">
              <a:solidFill>
                <a:schemeClr val="bg1"/>
              </a:solidFill>
              <a:ea typeface="ＭＳ Ｐゴシック" pitchFamily="-107" charset="-128"/>
            </a:endParaRPr>
          </a:p>
        </p:txBody>
      </p:sp>
      <p:pic>
        <p:nvPicPr>
          <p:cNvPr id="12" name="Picture 3">
            <a:extLst>
              <a:ext uri="{FF2B5EF4-FFF2-40B4-BE49-F238E27FC236}">
                <a16:creationId xmlns:a16="http://schemas.microsoft.com/office/drawing/2014/main" id="{D35C6878-335E-4F59-928A-913E43E09B09}"/>
              </a:ext>
            </a:extLst>
          </p:cNvPr>
          <p:cNvPicPr>
            <a:picLocks noChangeAspect="1"/>
          </p:cNvPicPr>
          <p:nvPr/>
        </p:nvPicPr>
        <p:blipFill>
          <a:blip r:embed="rId3" cstate="print"/>
          <a:srcRect/>
          <a:stretch>
            <a:fillRect/>
          </a:stretch>
        </p:blipFill>
        <p:spPr bwMode="auto">
          <a:xfrm>
            <a:off x="1161346" y="4516994"/>
            <a:ext cx="6896100" cy="2083551"/>
          </a:xfrm>
          <a:prstGeom prst="rect">
            <a:avLst/>
          </a:prstGeom>
          <a:noFill/>
          <a:ln w="9525">
            <a:noFill/>
            <a:miter lim="800000"/>
            <a:headEnd/>
            <a:tailEnd/>
          </a:ln>
        </p:spPr>
      </p:pic>
      <p:sp>
        <p:nvSpPr>
          <p:cNvPr id="13" name="Content Placeholder 2">
            <a:extLst>
              <a:ext uri="{FF2B5EF4-FFF2-40B4-BE49-F238E27FC236}">
                <a16:creationId xmlns:a16="http://schemas.microsoft.com/office/drawing/2014/main" id="{2C4EE451-BFFB-40E9-9D9D-9A039B26599D}"/>
              </a:ext>
            </a:extLst>
          </p:cNvPr>
          <p:cNvSpPr>
            <a:spLocks noGrp="1"/>
          </p:cNvSpPr>
          <p:nvPr>
            <p:ph idx="1"/>
          </p:nvPr>
        </p:nvSpPr>
        <p:spPr>
          <a:xfrm>
            <a:off x="862251" y="2354089"/>
            <a:ext cx="7494289" cy="2177171"/>
          </a:xfrm>
        </p:spPr>
        <p:txBody>
          <a:bodyPr>
            <a:normAutofit/>
          </a:bodyPr>
          <a:lstStyle/>
          <a:p>
            <a:pPr eaLnBrk="1" hangingPunct="1">
              <a:defRPr/>
            </a:pPr>
            <a:r>
              <a:rPr lang="en-US" sz="2400" dirty="0">
                <a:ea typeface="ＭＳ Ｐゴシック" pitchFamily="-107" charset="-128"/>
                <a:cs typeface="ＭＳ Ｐゴシック" pitchFamily="-107" charset="-128"/>
              </a:rPr>
              <a:t>hash functions use iterative structure</a:t>
            </a:r>
          </a:p>
          <a:p>
            <a:pPr lvl="1" eaLnBrk="1" hangingPunct="1">
              <a:defRPr/>
            </a:pPr>
            <a:r>
              <a:rPr lang="en-US" sz="2400" dirty="0"/>
              <a:t>process message in blocks (including length)</a:t>
            </a:r>
          </a:p>
          <a:p>
            <a:pPr>
              <a:defRPr/>
            </a:pPr>
            <a:r>
              <a:rPr lang="en-US" sz="2400" dirty="0">
                <a:ea typeface="ＭＳ Ｐゴシック" pitchFamily="-107" charset="-128"/>
                <a:cs typeface="ＭＳ Ｐゴシック" pitchFamily="-107" charset="-128"/>
              </a:rPr>
              <a:t>cryptanalytic attacks exploit some property of algorithm so faster than exhaustive search</a:t>
            </a:r>
          </a:p>
          <a:p>
            <a:pPr eaLnBrk="1" hangingPunct="1">
              <a:defRPr/>
            </a:pPr>
            <a:r>
              <a:rPr lang="en-US" sz="2400" dirty="0">
                <a:ea typeface="ＭＳ Ｐゴシック" pitchFamily="-107" charset="-128"/>
                <a:cs typeface="ＭＳ Ｐゴシック" pitchFamily="-107" charset="-128"/>
              </a:rPr>
              <a:t>attacks focus on collisions in function f</a:t>
            </a:r>
          </a:p>
        </p:txBody>
      </p:sp>
    </p:spTree>
    <p:extLst>
      <p:ext uri="{BB962C8B-B14F-4D97-AF65-F5344CB8AC3E}">
        <p14:creationId xmlns:p14="http://schemas.microsoft.com/office/powerpoint/2010/main" val="3838193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9394" name="Rectangle 2"/>
          <p:cNvSpPr>
            <a:spLocks noGrp="1" noChangeArrowheads="1"/>
          </p:cNvSpPr>
          <p:nvPr>
            <p:ph type="title"/>
          </p:nvPr>
        </p:nvSpPr>
        <p:spPr>
          <a:xfrm>
            <a:off x="718879" y="800392"/>
            <a:ext cx="7698523" cy="1212102"/>
          </a:xfrm>
        </p:spPr>
        <p:txBody>
          <a:bodyPr>
            <a:normAutofit/>
          </a:bodyPr>
          <a:lstStyle/>
          <a:p>
            <a:pPr eaLnBrk="1" hangingPunct="1"/>
            <a:r>
              <a:rPr lang="en-US" sz="3500" dirty="0">
                <a:solidFill>
                  <a:srgbClr val="FFFFFF"/>
                </a:solidFill>
                <a:ea typeface="ＭＳ Ｐゴシック" pitchFamily="-107" charset="-128"/>
              </a:rPr>
              <a:t>Secure Hash Algorithm (SHA)</a:t>
            </a:r>
            <a:endParaRPr lang="en-AU" sz="3500" dirty="0">
              <a:solidFill>
                <a:srgbClr val="FFFFFF"/>
              </a:solidFill>
              <a:ea typeface="ＭＳ Ｐゴシック" pitchFamily="-107" charset="-128"/>
            </a:endParaRPr>
          </a:p>
        </p:txBody>
      </p:sp>
      <p:sp>
        <p:nvSpPr>
          <p:cNvPr id="59395" name="Rectangle 3"/>
          <p:cNvSpPr>
            <a:spLocks noGrp="1" noChangeArrowheads="1"/>
          </p:cNvSpPr>
          <p:nvPr>
            <p:ph type="body" idx="1"/>
          </p:nvPr>
        </p:nvSpPr>
        <p:spPr>
          <a:xfrm>
            <a:off x="1025718" y="2490436"/>
            <a:ext cx="7281746" cy="3567173"/>
          </a:xfrm>
        </p:spPr>
        <p:txBody>
          <a:bodyPr anchor="ctr">
            <a:normAutofit/>
          </a:bodyPr>
          <a:lstStyle/>
          <a:p>
            <a:pPr eaLnBrk="1" hangingPunct="1">
              <a:defRPr/>
            </a:pPr>
            <a:r>
              <a:rPr lang="en-AU" sz="2100" dirty="0">
                <a:ea typeface="ＭＳ Ｐゴシック" pitchFamily="-107" charset="-128"/>
                <a:cs typeface="ＭＳ Ｐゴシック" pitchFamily="-107" charset="-128"/>
              </a:rPr>
              <a:t>SHA originally designed by NIST &amp; NSA in 1993</a:t>
            </a:r>
          </a:p>
          <a:p>
            <a:pPr eaLnBrk="1" hangingPunct="1">
              <a:defRPr/>
            </a:pPr>
            <a:r>
              <a:rPr lang="en-AU" sz="2100" dirty="0">
                <a:ea typeface="ＭＳ Ｐゴシック" pitchFamily="-107" charset="-128"/>
                <a:cs typeface="ＭＳ Ｐゴシック" pitchFamily="-107" charset="-128"/>
              </a:rPr>
              <a:t>was revised in 1995 as SHA-1</a:t>
            </a:r>
          </a:p>
          <a:p>
            <a:pPr eaLnBrk="1" hangingPunct="1">
              <a:defRPr/>
            </a:pPr>
            <a:r>
              <a:rPr lang="en-AU" sz="2100" dirty="0">
                <a:ea typeface="ＭＳ Ｐゴシック" pitchFamily="-107" charset="-128"/>
                <a:cs typeface="ＭＳ Ｐゴシック" pitchFamily="-107" charset="-128"/>
              </a:rPr>
              <a:t>US standard for use with DSA signature scheme </a:t>
            </a:r>
          </a:p>
          <a:p>
            <a:pPr lvl="1" eaLnBrk="1" hangingPunct="1">
              <a:defRPr/>
            </a:pPr>
            <a:r>
              <a:rPr lang="en-US" sz="2100" dirty="0"/>
              <a:t>standard is FIPS 180-1 1995, also Internet RFC3174</a:t>
            </a:r>
            <a:endParaRPr lang="en-AU" sz="2100" dirty="0"/>
          </a:p>
          <a:p>
            <a:pPr lvl="1" eaLnBrk="1" hangingPunct="1">
              <a:defRPr/>
            </a:pPr>
            <a:r>
              <a:rPr lang="en-AU" sz="2100" i="1" dirty="0"/>
              <a:t>NOTE</a:t>
            </a:r>
            <a:r>
              <a:rPr lang="en-AU" sz="2100" dirty="0"/>
              <a:t>: the algorithm is SHA, the standard is SHS </a:t>
            </a:r>
          </a:p>
          <a:p>
            <a:pPr eaLnBrk="1" hangingPunct="1">
              <a:defRPr/>
            </a:pPr>
            <a:r>
              <a:rPr lang="en-AU" sz="2100" dirty="0">
                <a:ea typeface="ＭＳ Ｐゴシック" pitchFamily="-107" charset="-128"/>
                <a:cs typeface="ＭＳ Ｐゴシック" pitchFamily="-107" charset="-128"/>
              </a:rPr>
              <a:t>based on design of MD4 with key differences </a:t>
            </a:r>
          </a:p>
          <a:p>
            <a:pPr eaLnBrk="1" hangingPunct="1">
              <a:defRPr/>
            </a:pPr>
            <a:r>
              <a:rPr lang="en-AU" sz="2100" dirty="0">
                <a:ea typeface="ＭＳ Ｐゴシック" pitchFamily="-107" charset="-128"/>
                <a:cs typeface="ＭＳ Ｐゴシック" pitchFamily="-107" charset="-128"/>
              </a:rPr>
              <a:t>produces 160-bit hash values </a:t>
            </a:r>
          </a:p>
          <a:p>
            <a:pPr eaLnBrk="1" hangingPunct="1">
              <a:defRPr/>
            </a:pPr>
            <a:r>
              <a:rPr lang="en-AU" sz="2100" dirty="0">
                <a:ea typeface="ＭＳ Ｐゴシック" pitchFamily="-107" charset="-128"/>
                <a:cs typeface="ＭＳ Ｐゴシック" pitchFamily="-107" charset="-128"/>
              </a:rPr>
              <a:t>recent 2005 results on security of SHA-1 have raised concerns on its use in future applications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7282" name="Rectangle 2"/>
          <p:cNvSpPr>
            <a:spLocks noGrp="1" noChangeArrowheads="1"/>
          </p:cNvSpPr>
          <p:nvPr>
            <p:ph type="title"/>
          </p:nvPr>
        </p:nvSpPr>
        <p:spPr>
          <a:xfrm>
            <a:off x="718879" y="800392"/>
            <a:ext cx="7698523" cy="1212102"/>
          </a:xfrm>
        </p:spPr>
        <p:txBody>
          <a:bodyPr>
            <a:normAutofit/>
          </a:bodyPr>
          <a:lstStyle/>
          <a:p>
            <a:pPr eaLnBrk="1" hangingPunct="1"/>
            <a:r>
              <a:rPr lang="en-US" sz="3500" dirty="0">
                <a:solidFill>
                  <a:srgbClr val="FFFFFF"/>
                </a:solidFill>
                <a:ea typeface="ＭＳ Ｐゴシック" pitchFamily="-107" charset="-128"/>
              </a:rPr>
              <a:t>Revised Secure Hash Standard (SHA-2)</a:t>
            </a:r>
            <a:endParaRPr lang="en-AU" sz="3500" dirty="0">
              <a:solidFill>
                <a:srgbClr val="FFFFFF"/>
              </a:solidFill>
              <a:ea typeface="ＭＳ Ｐゴシック" pitchFamily="-107" charset="-128"/>
            </a:endParaRPr>
          </a:p>
        </p:txBody>
      </p:sp>
      <p:sp>
        <p:nvSpPr>
          <p:cNvPr id="97283" name="Rectangle 3"/>
          <p:cNvSpPr>
            <a:spLocks noGrp="1" noChangeArrowheads="1"/>
          </p:cNvSpPr>
          <p:nvPr>
            <p:ph type="body" idx="1"/>
          </p:nvPr>
        </p:nvSpPr>
        <p:spPr>
          <a:xfrm>
            <a:off x="1025718" y="2490436"/>
            <a:ext cx="7281746" cy="3567173"/>
          </a:xfrm>
        </p:spPr>
        <p:txBody>
          <a:bodyPr anchor="ctr">
            <a:normAutofit/>
          </a:bodyPr>
          <a:lstStyle/>
          <a:p>
            <a:pPr eaLnBrk="1" hangingPunct="1">
              <a:defRPr/>
            </a:pPr>
            <a:r>
              <a:rPr lang="en-US" sz="2100" dirty="0">
                <a:ea typeface="ＭＳ Ｐゴシック" pitchFamily="-107" charset="-128"/>
                <a:cs typeface="ＭＳ Ｐゴシック" pitchFamily="-107" charset="-128"/>
              </a:rPr>
              <a:t>NIST issued revision FIPS 180-2 in 2002</a:t>
            </a:r>
          </a:p>
          <a:p>
            <a:pPr eaLnBrk="1" hangingPunct="1">
              <a:defRPr/>
            </a:pPr>
            <a:r>
              <a:rPr lang="en-US" sz="2100" dirty="0">
                <a:ea typeface="ＭＳ Ｐゴシック" pitchFamily="-107" charset="-128"/>
                <a:cs typeface="ＭＳ Ｐゴシック" pitchFamily="-107" charset="-128"/>
              </a:rPr>
              <a:t>adds 3 additional versions of SHA </a:t>
            </a:r>
          </a:p>
          <a:p>
            <a:pPr lvl="1" eaLnBrk="1" hangingPunct="1">
              <a:defRPr/>
            </a:pPr>
            <a:r>
              <a:rPr lang="en-US" sz="2100" dirty="0"/>
              <a:t>SHA-256, SHA-384, SHA-512</a:t>
            </a:r>
          </a:p>
          <a:p>
            <a:pPr eaLnBrk="1" hangingPunct="1">
              <a:defRPr/>
            </a:pPr>
            <a:r>
              <a:rPr lang="en-US" sz="2100" dirty="0">
                <a:ea typeface="ＭＳ Ｐゴシック" pitchFamily="-107" charset="-128"/>
                <a:cs typeface="ＭＳ Ｐゴシック" pitchFamily="-107" charset="-128"/>
              </a:rPr>
              <a:t>designed for compatibility with increased security provided by the AES cipher</a:t>
            </a:r>
          </a:p>
          <a:p>
            <a:pPr eaLnBrk="1" hangingPunct="1">
              <a:defRPr/>
            </a:pPr>
            <a:r>
              <a:rPr lang="en-US" sz="2100" dirty="0">
                <a:ea typeface="ＭＳ Ｐゴシック" pitchFamily="-107" charset="-128"/>
                <a:cs typeface="ＭＳ Ｐゴシック" pitchFamily="-107" charset="-128"/>
              </a:rPr>
              <a:t>structure &amp; detail is like SHA-1</a:t>
            </a:r>
          </a:p>
          <a:p>
            <a:pPr eaLnBrk="1" hangingPunct="1">
              <a:defRPr/>
            </a:pPr>
            <a:r>
              <a:rPr lang="en-US" sz="2100" dirty="0">
                <a:ea typeface="ＭＳ Ｐゴシック" pitchFamily="-107" charset="-128"/>
                <a:cs typeface="ＭＳ Ｐゴシック" pitchFamily="-107" charset="-128"/>
              </a:rPr>
              <a:t>hence analysis should be similar</a:t>
            </a:r>
          </a:p>
          <a:p>
            <a:pPr eaLnBrk="1" hangingPunct="1">
              <a:defRPr/>
            </a:pPr>
            <a:r>
              <a:rPr lang="en-AU" sz="2100" dirty="0">
                <a:ea typeface="ＭＳ Ｐゴシック" pitchFamily="-107" charset="-128"/>
                <a:cs typeface="ＭＳ Ｐゴシック" pitchFamily="-107" charset="-128"/>
              </a:rPr>
              <a:t>but security levels are rather higher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7282" name="Rectangle 2"/>
          <p:cNvSpPr>
            <a:spLocks noGrp="1" noChangeArrowheads="1"/>
          </p:cNvSpPr>
          <p:nvPr>
            <p:ph type="title"/>
          </p:nvPr>
        </p:nvSpPr>
        <p:spPr>
          <a:xfrm>
            <a:off x="718879" y="800392"/>
            <a:ext cx="7698523" cy="1212102"/>
          </a:xfrm>
        </p:spPr>
        <p:txBody>
          <a:bodyPr>
            <a:normAutofit/>
          </a:bodyPr>
          <a:lstStyle/>
          <a:p>
            <a:pPr eaLnBrk="1" hangingPunct="1"/>
            <a:r>
              <a:rPr lang="en-US" sz="3600" kern="1200" dirty="0">
                <a:solidFill>
                  <a:schemeClr val="bg1"/>
                </a:solidFill>
                <a:latin typeface="+mj-lt"/>
                <a:ea typeface="+mj-ea"/>
                <a:cs typeface="+mj-cs"/>
              </a:rPr>
              <a:t>SHA Versions</a:t>
            </a:r>
            <a:endParaRPr lang="en-AU" sz="3500" dirty="0">
              <a:solidFill>
                <a:srgbClr val="FFFFFF"/>
              </a:solidFill>
              <a:ea typeface="ＭＳ Ｐゴシック" pitchFamily="-107" charset="-128"/>
            </a:endParaRPr>
          </a:p>
        </p:txBody>
      </p:sp>
      <p:graphicFrame>
        <p:nvGraphicFramePr>
          <p:cNvPr id="12" name="Table 11">
            <a:extLst>
              <a:ext uri="{FF2B5EF4-FFF2-40B4-BE49-F238E27FC236}">
                <a16:creationId xmlns:a16="http://schemas.microsoft.com/office/drawing/2014/main" id="{C4841CBE-4893-46D8-99B8-15DA926C774D}"/>
              </a:ext>
            </a:extLst>
          </p:cNvPr>
          <p:cNvGraphicFramePr>
            <a:graphicFrameLocks noGrp="1"/>
          </p:cNvGraphicFramePr>
          <p:nvPr>
            <p:extLst>
              <p:ext uri="{D42A27DB-BD31-4B8C-83A1-F6EECF244321}">
                <p14:modId xmlns:p14="http://schemas.microsoft.com/office/powerpoint/2010/main" val="2229072343"/>
              </p:ext>
            </p:extLst>
          </p:nvPr>
        </p:nvGraphicFramePr>
        <p:xfrm>
          <a:off x="1111224" y="2341848"/>
          <a:ext cx="6913832" cy="4165200"/>
        </p:xfrm>
        <a:graphic>
          <a:graphicData uri="http://schemas.openxmlformats.org/drawingml/2006/table">
            <a:tbl>
              <a:tblPr firstRow="1" bandRow="1">
                <a:tableStyleId>{3B4B98B0-60AC-42C2-AFA5-B58CD77FA1E5}</a:tableStyleId>
              </a:tblPr>
              <a:tblGrid>
                <a:gridCol w="1907523">
                  <a:extLst>
                    <a:ext uri="{9D8B030D-6E8A-4147-A177-3AD203B41FA5}">
                      <a16:colId xmlns:a16="http://schemas.microsoft.com/office/drawing/2014/main" val="20000"/>
                    </a:ext>
                  </a:extLst>
                </a:gridCol>
                <a:gridCol w="1158741">
                  <a:extLst>
                    <a:ext uri="{9D8B030D-6E8A-4147-A177-3AD203B41FA5}">
                      <a16:colId xmlns:a16="http://schemas.microsoft.com/office/drawing/2014/main" val="20001"/>
                    </a:ext>
                  </a:extLst>
                </a:gridCol>
                <a:gridCol w="889546">
                  <a:extLst>
                    <a:ext uri="{9D8B030D-6E8A-4147-A177-3AD203B41FA5}">
                      <a16:colId xmlns:a16="http://schemas.microsoft.com/office/drawing/2014/main" val="20002"/>
                    </a:ext>
                  </a:extLst>
                </a:gridCol>
                <a:gridCol w="889546">
                  <a:extLst>
                    <a:ext uri="{9D8B030D-6E8A-4147-A177-3AD203B41FA5}">
                      <a16:colId xmlns:a16="http://schemas.microsoft.com/office/drawing/2014/main" val="20003"/>
                    </a:ext>
                  </a:extLst>
                </a:gridCol>
                <a:gridCol w="975352">
                  <a:extLst>
                    <a:ext uri="{9D8B030D-6E8A-4147-A177-3AD203B41FA5}">
                      <a16:colId xmlns:a16="http://schemas.microsoft.com/office/drawing/2014/main" val="20004"/>
                    </a:ext>
                  </a:extLst>
                </a:gridCol>
                <a:gridCol w="1093124">
                  <a:extLst>
                    <a:ext uri="{9D8B030D-6E8A-4147-A177-3AD203B41FA5}">
                      <a16:colId xmlns:a16="http://schemas.microsoft.com/office/drawing/2014/main" val="20005"/>
                    </a:ext>
                  </a:extLst>
                </a:gridCol>
              </a:tblGrid>
              <a:tr h="823532">
                <a:tc>
                  <a:txBody>
                    <a:bodyPr/>
                    <a:lstStyle/>
                    <a:p>
                      <a:pPr algn="l" fontAlgn="b"/>
                      <a:endParaRPr lang="en-US" sz="2500" b="1" i="0" u="none" strike="noStrike">
                        <a:latin typeface="+mn-lt"/>
                      </a:endParaRPr>
                    </a:p>
                  </a:txBody>
                  <a:tcPr marL="13052" marR="13052" marT="13052" marB="0" anchor="b"/>
                </a:tc>
                <a:tc>
                  <a:txBody>
                    <a:bodyPr/>
                    <a:lstStyle/>
                    <a:p>
                      <a:pPr algn="l" fontAlgn="b"/>
                      <a:r>
                        <a:rPr lang="en-US" sz="2500" b="1" u="none" strike="noStrike"/>
                        <a:t>SHA-1</a:t>
                      </a:r>
                      <a:endParaRPr lang="en-US" sz="2500" b="1" i="0" u="none" strike="noStrike">
                        <a:latin typeface="+mn-lt"/>
                      </a:endParaRPr>
                    </a:p>
                  </a:txBody>
                  <a:tcPr marL="13052" marR="13052" marT="13052" marB="0" anchor="b"/>
                </a:tc>
                <a:tc>
                  <a:txBody>
                    <a:bodyPr/>
                    <a:lstStyle/>
                    <a:p>
                      <a:pPr algn="l" fontAlgn="b"/>
                      <a:r>
                        <a:rPr lang="en-US" sz="2500" b="1" u="none" strike="noStrike"/>
                        <a:t>SHA-224</a:t>
                      </a:r>
                      <a:endParaRPr lang="en-US" sz="2500" b="1" i="0" u="none" strike="noStrike">
                        <a:latin typeface="+mn-lt"/>
                      </a:endParaRPr>
                    </a:p>
                  </a:txBody>
                  <a:tcPr marL="13052" marR="13052" marT="13052" marB="0" anchor="b"/>
                </a:tc>
                <a:tc>
                  <a:txBody>
                    <a:bodyPr/>
                    <a:lstStyle/>
                    <a:p>
                      <a:pPr algn="l" fontAlgn="b"/>
                      <a:r>
                        <a:rPr lang="en-US" sz="2500" b="1" u="none" strike="noStrike"/>
                        <a:t>SHA-256</a:t>
                      </a:r>
                      <a:endParaRPr lang="en-US" sz="2500" b="1" i="0" u="none" strike="noStrike">
                        <a:latin typeface="+mn-lt"/>
                      </a:endParaRPr>
                    </a:p>
                  </a:txBody>
                  <a:tcPr marL="13052" marR="13052" marT="13052" marB="0" anchor="b"/>
                </a:tc>
                <a:tc>
                  <a:txBody>
                    <a:bodyPr/>
                    <a:lstStyle/>
                    <a:p>
                      <a:pPr algn="l" fontAlgn="b"/>
                      <a:r>
                        <a:rPr lang="en-US" sz="2500" b="1" u="none" strike="noStrike"/>
                        <a:t>SHA-384</a:t>
                      </a:r>
                      <a:endParaRPr lang="en-US" sz="2500" b="1" i="0" u="none" strike="noStrike">
                        <a:latin typeface="+mn-lt"/>
                      </a:endParaRPr>
                    </a:p>
                  </a:txBody>
                  <a:tcPr marL="13052" marR="13052" marT="13052" marB="0" anchor="b"/>
                </a:tc>
                <a:tc>
                  <a:txBody>
                    <a:bodyPr/>
                    <a:lstStyle/>
                    <a:p>
                      <a:pPr algn="l" fontAlgn="b"/>
                      <a:r>
                        <a:rPr lang="en-US" sz="2500" b="1" u="none" strike="noStrike"/>
                        <a:t>SHA-512 </a:t>
                      </a:r>
                      <a:endParaRPr lang="en-US" sz="2500" b="1" i="0" u="none" strike="noStrike">
                        <a:latin typeface="+mn-lt"/>
                      </a:endParaRPr>
                    </a:p>
                  </a:txBody>
                  <a:tcPr marL="13052" marR="13052" marT="13052" marB="0" anchor="b"/>
                </a:tc>
                <a:extLst>
                  <a:ext uri="{0D108BD9-81ED-4DB2-BD59-A6C34878D82A}">
                    <a16:rowId xmlns:a16="http://schemas.microsoft.com/office/drawing/2014/main" val="10000"/>
                  </a:ext>
                </a:extLst>
              </a:tr>
              <a:tr h="823532">
                <a:tc>
                  <a:txBody>
                    <a:bodyPr/>
                    <a:lstStyle/>
                    <a:p>
                      <a:pPr algn="l" fontAlgn="b"/>
                      <a:r>
                        <a:rPr lang="en-US" sz="2500" b="1" u="none" strike="noStrike" dirty="0"/>
                        <a:t>Message digest size</a:t>
                      </a:r>
                      <a:endParaRPr lang="en-US" sz="2500" b="1" i="0" u="none" strike="noStrike" dirty="0">
                        <a:latin typeface="+mn-lt"/>
                      </a:endParaRPr>
                    </a:p>
                  </a:txBody>
                  <a:tcPr marL="13052" marR="13052" marT="13052" marB="0" anchor="b"/>
                </a:tc>
                <a:tc>
                  <a:txBody>
                    <a:bodyPr/>
                    <a:lstStyle/>
                    <a:p>
                      <a:pPr algn="r" fontAlgn="b"/>
                      <a:r>
                        <a:rPr lang="en-US" sz="2500" b="0" u="none" strike="noStrike"/>
                        <a:t>160</a:t>
                      </a:r>
                      <a:endParaRPr lang="en-US" sz="2500" b="0" i="0" u="none" strike="noStrike">
                        <a:latin typeface="+mn-lt"/>
                      </a:endParaRPr>
                    </a:p>
                  </a:txBody>
                  <a:tcPr marL="13052" marR="13052" marT="13052" marB="0" anchor="b"/>
                </a:tc>
                <a:tc>
                  <a:txBody>
                    <a:bodyPr/>
                    <a:lstStyle/>
                    <a:p>
                      <a:pPr algn="r" fontAlgn="b"/>
                      <a:r>
                        <a:rPr lang="en-US" sz="2500" b="0" u="none" strike="noStrike"/>
                        <a:t>224</a:t>
                      </a:r>
                      <a:endParaRPr lang="en-US" sz="2500" b="0" i="0" u="none" strike="noStrike">
                        <a:latin typeface="+mn-lt"/>
                      </a:endParaRPr>
                    </a:p>
                  </a:txBody>
                  <a:tcPr marL="13052" marR="13052" marT="13052" marB="0" anchor="b"/>
                </a:tc>
                <a:tc>
                  <a:txBody>
                    <a:bodyPr/>
                    <a:lstStyle/>
                    <a:p>
                      <a:pPr algn="r" fontAlgn="b"/>
                      <a:r>
                        <a:rPr lang="en-US" sz="2500" b="0" u="none" strike="noStrike"/>
                        <a:t>256</a:t>
                      </a:r>
                      <a:endParaRPr lang="en-US" sz="2500" b="0" i="0" u="none" strike="noStrike">
                        <a:latin typeface="+mn-lt"/>
                      </a:endParaRPr>
                    </a:p>
                  </a:txBody>
                  <a:tcPr marL="13052" marR="13052" marT="13052" marB="0" anchor="b"/>
                </a:tc>
                <a:tc>
                  <a:txBody>
                    <a:bodyPr/>
                    <a:lstStyle/>
                    <a:p>
                      <a:pPr algn="r" fontAlgn="b"/>
                      <a:r>
                        <a:rPr lang="en-US" sz="2500" b="0" u="none" strike="noStrike"/>
                        <a:t>384</a:t>
                      </a:r>
                      <a:endParaRPr lang="en-US" sz="2500" b="0" i="0" u="none" strike="noStrike">
                        <a:latin typeface="+mn-lt"/>
                      </a:endParaRPr>
                    </a:p>
                  </a:txBody>
                  <a:tcPr marL="13052" marR="13052" marT="13052" marB="0" anchor="b"/>
                </a:tc>
                <a:tc>
                  <a:txBody>
                    <a:bodyPr/>
                    <a:lstStyle/>
                    <a:p>
                      <a:pPr algn="r" fontAlgn="b"/>
                      <a:r>
                        <a:rPr lang="en-US" sz="2500" b="0" u="none" strike="noStrike"/>
                        <a:t>512</a:t>
                      </a:r>
                      <a:endParaRPr lang="en-US" sz="2500" b="0" i="0" u="none" strike="noStrike">
                        <a:latin typeface="+mn-lt"/>
                      </a:endParaRPr>
                    </a:p>
                  </a:txBody>
                  <a:tcPr marL="13052" marR="13052" marT="13052" marB="0" anchor="b"/>
                </a:tc>
                <a:extLst>
                  <a:ext uri="{0D108BD9-81ED-4DB2-BD59-A6C34878D82A}">
                    <a16:rowId xmlns:a16="http://schemas.microsoft.com/office/drawing/2014/main" val="10001"/>
                  </a:ext>
                </a:extLst>
              </a:tr>
              <a:tr h="823532">
                <a:tc>
                  <a:txBody>
                    <a:bodyPr/>
                    <a:lstStyle/>
                    <a:p>
                      <a:pPr algn="l" fontAlgn="b"/>
                      <a:r>
                        <a:rPr lang="en-US" sz="2500" b="1" u="none" strike="noStrike"/>
                        <a:t>Message size</a:t>
                      </a:r>
                      <a:endParaRPr lang="en-US" sz="2500" b="1" i="0" u="none" strike="noStrike">
                        <a:latin typeface="+mn-lt"/>
                      </a:endParaRPr>
                    </a:p>
                  </a:txBody>
                  <a:tcPr marL="13052" marR="13052" marT="13052" marB="0" anchor="b"/>
                </a:tc>
                <a:tc>
                  <a:txBody>
                    <a:bodyPr/>
                    <a:lstStyle/>
                    <a:p>
                      <a:pPr algn="r" fontAlgn="b"/>
                      <a:r>
                        <a:rPr lang="en-US" sz="2500" b="0" u="none" strike="noStrike"/>
                        <a:t>&lt; 2</a:t>
                      </a:r>
                      <a:r>
                        <a:rPr lang="en-US" sz="2500" b="0" u="none" strike="noStrike" baseline="30000"/>
                        <a:t>64</a:t>
                      </a:r>
                      <a:endParaRPr lang="en-US" sz="2500" b="0" i="0" u="none" strike="noStrike" baseline="30000">
                        <a:latin typeface="+mn-lt"/>
                      </a:endParaRPr>
                    </a:p>
                  </a:txBody>
                  <a:tcPr marL="13052" marR="13052" marT="13052" marB="0" anchor="b"/>
                </a:tc>
                <a:tc>
                  <a:txBody>
                    <a:bodyPr/>
                    <a:lstStyle/>
                    <a:p>
                      <a:pPr algn="r" fontAlgn="b"/>
                      <a:r>
                        <a:rPr lang="en-US" sz="2500" b="0" u="none" strike="noStrike"/>
                        <a:t>&lt; 2</a:t>
                      </a:r>
                      <a:r>
                        <a:rPr lang="en-US" sz="2500" b="0" u="none" strike="noStrike" baseline="30000"/>
                        <a:t>64</a:t>
                      </a:r>
                      <a:endParaRPr lang="en-US" sz="2500" b="0" i="0" u="none" strike="noStrike" baseline="30000">
                        <a:latin typeface="+mn-lt"/>
                      </a:endParaRPr>
                    </a:p>
                  </a:txBody>
                  <a:tcPr marL="13052" marR="13052" marT="13052" marB="0" anchor="b"/>
                </a:tc>
                <a:tc>
                  <a:txBody>
                    <a:bodyPr/>
                    <a:lstStyle/>
                    <a:p>
                      <a:pPr algn="r" fontAlgn="b"/>
                      <a:r>
                        <a:rPr lang="en-US" sz="2500" b="0" u="none" strike="noStrike"/>
                        <a:t>&lt; 2</a:t>
                      </a:r>
                      <a:r>
                        <a:rPr lang="en-US" sz="2500" b="0" u="none" strike="noStrike" baseline="30000"/>
                        <a:t>64</a:t>
                      </a:r>
                      <a:endParaRPr lang="en-US" sz="2500" b="0" i="0" u="none" strike="noStrike" baseline="30000">
                        <a:latin typeface="+mn-lt"/>
                      </a:endParaRPr>
                    </a:p>
                  </a:txBody>
                  <a:tcPr marL="13052" marR="13052" marT="13052" marB="0" anchor="b"/>
                </a:tc>
                <a:tc>
                  <a:txBody>
                    <a:bodyPr/>
                    <a:lstStyle/>
                    <a:p>
                      <a:pPr algn="r" fontAlgn="b"/>
                      <a:r>
                        <a:rPr lang="en-US" sz="2500" b="0" u="none" strike="noStrike"/>
                        <a:t>&lt; 2</a:t>
                      </a:r>
                      <a:r>
                        <a:rPr lang="en-US" sz="2500" b="0" u="none" strike="noStrike" baseline="30000"/>
                        <a:t>128</a:t>
                      </a:r>
                      <a:endParaRPr lang="en-US" sz="2500" b="0" i="0" u="none" strike="noStrike" baseline="30000">
                        <a:latin typeface="+mn-lt"/>
                      </a:endParaRPr>
                    </a:p>
                  </a:txBody>
                  <a:tcPr marL="13052" marR="13052" marT="13052" marB="0" anchor="b"/>
                </a:tc>
                <a:tc>
                  <a:txBody>
                    <a:bodyPr/>
                    <a:lstStyle/>
                    <a:p>
                      <a:pPr algn="r" fontAlgn="b"/>
                      <a:r>
                        <a:rPr lang="en-US" sz="2500" b="0" u="none" strike="noStrike"/>
                        <a:t>&lt; 2</a:t>
                      </a:r>
                      <a:r>
                        <a:rPr lang="en-US" sz="2500" b="0" u="none" strike="noStrike" baseline="30000"/>
                        <a:t>128</a:t>
                      </a:r>
                      <a:r>
                        <a:rPr lang="en-US" sz="2500" b="0" u="none" strike="noStrike"/>
                        <a:t> </a:t>
                      </a:r>
                      <a:endParaRPr lang="en-US" sz="2500" b="0" i="0" u="none" strike="noStrike">
                        <a:latin typeface="+mn-lt"/>
                      </a:endParaRPr>
                    </a:p>
                  </a:txBody>
                  <a:tcPr marL="13052" marR="13052" marT="13052" marB="0" anchor="b"/>
                </a:tc>
                <a:extLst>
                  <a:ext uri="{0D108BD9-81ED-4DB2-BD59-A6C34878D82A}">
                    <a16:rowId xmlns:a16="http://schemas.microsoft.com/office/drawing/2014/main" val="10002"/>
                  </a:ext>
                </a:extLst>
              </a:tr>
              <a:tr h="435536">
                <a:tc>
                  <a:txBody>
                    <a:bodyPr/>
                    <a:lstStyle/>
                    <a:p>
                      <a:pPr algn="l" fontAlgn="b"/>
                      <a:r>
                        <a:rPr lang="en-US" sz="2500" b="1" u="none" strike="noStrike"/>
                        <a:t>Block size</a:t>
                      </a:r>
                      <a:endParaRPr lang="en-US" sz="2500" b="1" i="0" u="none" strike="noStrike">
                        <a:latin typeface="+mn-lt"/>
                      </a:endParaRPr>
                    </a:p>
                  </a:txBody>
                  <a:tcPr marL="13052" marR="13052" marT="13052" marB="0" anchor="b"/>
                </a:tc>
                <a:tc>
                  <a:txBody>
                    <a:bodyPr/>
                    <a:lstStyle/>
                    <a:p>
                      <a:pPr algn="r" fontAlgn="b"/>
                      <a:r>
                        <a:rPr lang="en-US" sz="2500" b="0" u="none" strike="noStrike" dirty="0">
                          <a:highlight>
                            <a:srgbClr val="FFFF00"/>
                          </a:highlight>
                        </a:rPr>
                        <a:t>512</a:t>
                      </a:r>
                      <a:endParaRPr lang="en-US" sz="2500" b="0" i="0" u="none" strike="noStrike" dirty="0">
                        <a:highlight>
                          <a:srgbClr val="FFFF00"/>
                        </a:highlight>
                        <a:latin typeface="+mn-lt"/>
                      </a:endParaRPr>
                    </a:p>
                  </a:txBody>
                  <a:tcPr marL="13052" marR="13052" marT="13052" marB="0" anchor="b"/>
                </a:tc>
                <a:tc>
                  <a:txBody>
                    <a:bodyPr/>
                    <a:lstStyle/>
                    <a:p>
                      <a:pPr algn="r" fontAlgn="b"/>
                      <a:r>
                        <a:rPr lang="en-US" sz="2500" b="0" u="none" strike="noStrike" dirty="0">
                          <a:highlight>
                            <a:srgbClr val="FFFF00"/>
                          </a:highlight>
                        </a:rPr>
                        <a:t>512</a:t>
                      </a:r>
                      <a:endParaRPr lang="en-US" sz="2500" b="0" i="0" u="none" strike="noStrike" dirty="0">
                        <a:highlight>
                          <a:srgbClr val="FFFF00"/>
                        </a:highlight>
                        <a:latin typeface="+mn-lt"/>
                      </a:endParaRPr>
                    </a:p>
                  </a:txBody>
                  <a:tcPr marL="13052" marR="13052" marT="13052" marB="0" anchor="b"/>
                </a:tc>
                <a:tc>
                  <a:txBody>
                    <a:bodyPr/>
                    <a:lstStyle/>
                    <a:p>
                      <a:pPr algn="r" fontAlgn="b"/>
                      <a:r>
                        <a:rPr lang="en-US" sz="2500" b="0" u="none" strike="noStrike" dirty="0">
                          <a:highlight>
                            <a:srgbClr val="FFFF00"/>
                          </a:highlight>
                        </a:rPr>
                        <a:t>512</a:t>
                      </a:r>
                      <a:endParaRPr lang="en-US" sz="2500" b="0" i="0" u="none" strike="noStrike" dirty="0">
                        <a:highlight>
                          <a:srgbClr val="FFFF00"/>
                        </a:highlight>
                        <a:latin typeface="+mn-lt"/>
                      </a:endParaRPr>
                    </a:p>
                  </a:txBody>
                  <a:tcPr marL="13052" marR="13052" marT="13052" marB="0" anchor="b"/>
                </a:tc>
                <a:tc>
                  <a:txBody>
                    <a:bodyPr/>
                    <a:lstStyle/>
                    <a:p>
                      <a:pPr algn="r" fontAlgn="b"/>
                      <a:r>
                        <a:rPr lang="en-US" sz="2500" b="0" u="none" strike="noStrike" dirty="0"/>
                        <a:t>1024</a:t>
                      </a:r>
                      <a:endParaRPr lang="en-US" sz="2500" b="0" i="0" u="none" strike="noStrike" dirty="0">
                        <a:latin typeface="+mn-lt"/>
                      </a:endParaRPr>
                    </a:p>
                  </a:txBody>
                  <a:tcPr marL="13052" marR="13052" marT="13052" marB="0" anchor="b"/>
                </a:tc>
                <a:tc>
                  <a:txBody>
                    <a:bodyPr/>
                    <a:lstStyle/>
                    <a:p>
                      <a:pPr algn="r" fontAlgn="b"/>
                      <a:r>
                        <a:rPr lang="en-US" sz="2500" b="0" u="none" strike="noStrike" dirty="0"/>
                        <a:t>1024</a:t>
                      </a:r>
                      <a:endParaRPr lang="en-US" sz="2500" b="0" i="0" u="none" strike="noStrike" dirty="0">
                        <a:latin typeface="+mn-lt"/>
                      </a:endParaRPr>
                    </a:p>
                  </a:txBody>
                  <a:tcPr marL="13052" marR="13052" marT="13052" marB="0" anchor="b"/>
                </a:tc>
                <a:extLst>
                  <a:ext uri="{0D108BD9-81ED-4DB2-BD59-A6C34878D82A}">
                    <a16:rowId xmlns:a16="http://schemas.microsoft.com/office/drawing/2014/main" val="10003"/>
                  </a:ext>
                </a:extLst>
              </a:tr>
              <a:tr h="435536">
                <a:tc>
                  <a:txBody>
                    <a:bodyPr/>
                    <a:lstStyle/>
                    <a:p>
                      <a:pPr algn="l" fontAlgn="b"/>
                      <a:r>
                        <a:rPr lang="en-US" sz="2500" b="1" u="none" strike="noStrike"/>
                        <a:t>Word size</a:t>
                      </a:r>
                      <a:endParaRPr lang="en-US" sz="2500" b="1" i="0" u="none" strike="noStrike">
                        <a:latin typeface="+mn-lt"/>
                      </a:endParaRPr>
                    </a:p>
                  </a:txBody>
                  <a:tcPr marL="13052" marR="13052" marT="13052" marB="0" anchor="b"/>
                </a:tc>
                <a:tc>
                  <a:txBody>
                    <a:bodyPr/>
                    <a:lstStyle/>
                    <a:p>
                      <a:pPr algn="r" fontAlgn="b"/>
                      <a:r>
                        <a:rPr lang="en-US" sz="2500" b="0" u="none" strike="noStrike" dirty="0"/>
                        <a:t>32</a:t>
                      </a:r>
                      <a:endParaRPr lang="en-US" sz="2500" b="0" i="0" u="none" strike="noStrike" dirty="0">
                        <a:latin typeface="+mn-lt"/>
                      </a:endParaRPr>
                    </a:p>
                  </a:txBody>
                  <a:tcPr marL="13052" marR="13052" marT="13052" marB="0" anchor="b"/>
                </a:tc>
                <a:tc>
                  <a:txBody>
                    <a:bodyPr/>
                    <a:lstStyle/>
                    <a:p>
                      <a:pPr algn="r" fontAlgn="b"/>
                      <a:r>
                        <a:rPr lang="en-US" sz="2500" b="0" u="none" strike="noStrike"/>
                        <a:t>32</a:t>
                      </a:r>
                      <a:endParaRPr lang="en-US" sz="2500" b="0" i="0" u="none" strike="noStrike">
                        <a:latin typeface="+mn-lt"/>
                      </a:endParaRPr>
                    </a:p>
                  </a:txBody>
                  <a:tcPr marL="13052" marR="13052" marT="13052" marB="0" anchor="b"/>
                </a:tc>
                <a:tc>
                  <a:txBody>
                    <a:bodyPr/>
                    <a:lstStyle/>
                    <a:p>
                      <a:pPr algn="r" fontAlgn="b"/>
                      <a:r>
                        <a:rPr lang="en-US" sz="2500" b="0" u="none" strike="noStrike"/>
                        <a:t>32</a:t>
                      </a:r>
                      <a:endParaRPr lang="en-US" sz="2500" b="0" i="0" u="none" strike="noStrike">
                        <a:latin typeface="+mn-lt"/>
                      </a:endParaRPr>
                    </a:p>
                  </a:txBody>
                  <a:tcPr marL="13052" marR="13052" marT="13052" marB="0" anchor="b"/>
                </a:tc>
                <a:tc>
                  <a:txBody>
                    <a:bodyPr/>
                    <a:lstStyle/>
                    <a:p>
                      <a:pPr algn="r" fontAlgn="b"/>
                      <a:r>
                        <a:rPr lang="en-US" sz="2500" b="0" u="none" strike="noStrike" dirty="0"/>
                        <a:t>64</a:t>
                      </a:r>
                      <a:endParaRPr lang="en-US" sz="2500" b="0" i="0" u="none" strike="noStrike" dirty="0">
                        <a:latin typeface="+mn-lt"/>
                      </a:endParaRPr>
                    </a:p>
                  </a:txBody>
                  <a:tcPr marL="13052" marR="13052" marT="13052" marB="0" anchor="b"/>
                </a:tc>
                <a:tc>
                  <a:txBody>
                    <a:bodyPr/>
                    <a:lstStyle/>
                    <a:p>
                      <a:pPr algn="r" fontAlgn="b"/>
                      <a:r>
                        <a:rPr lang="en-US" sz="2500" b="0" u="none" strike="noStrike"/>
                        <a:t>64</a:t>
                      </a:r>
                      <a:endParaRPr lang="en-US" sz="2500" b="0" i="0" u="none" strike="noStrike">
                        <a:latin typeface="+mn-lt"/>
                      </a:endParaRPr>
                    </a:p>
                  </a:txBody>
                  <a:tcPr marL="13052" marR="13052" marT="13052" marB="0" anchor="b"/>
                </a:tc>
                <a:extLst>
                  <a:ext uri="{0D108BD9-81ED-4DB2-BD59-A6C34878D82A}">
                    <a16:rowId xmlns:a16="http://schemas.microsoft.com/office/drawing/2014/main" val="10004"/>
                  </a:ext>
                </a:extLst>
              </a:tr>
              <a:tr h="823532">
                <a:tc>
                  <a:txBody>
                    <a:bodyPr/>
                    <a:lstStyle/>
                    <a:p>
                      <a:pPr algn="l" fontAlgn="b"/>
                      <a:r>
                        <a:rPr lang="en-US" sz="2500" b="1" u="none" strike="noStrike"/>
                        <a:t>Number of steps</a:t>
                      </a:r>
                      <a:endParaRPr lang="en-US" sz="2500" b="1" i="0" u="none" strike="noStrike">
                        <a:latin typeface="+mn-lt"/>
                      </a:endParaRPr>
                    </a:p>
                  </a:txBody>
                  <a:tcPr marL="13052" marR="13052" marT="13052" marB="0" anchor="b"/>
                </a:tc>
                <a:tc>
                  <a:txBody>
                    <a:bodyPr/>
                    <a:lstStyle/>
                    <a:p>
                      <a:pPr algn="r" fontAlgn="b"/>
                      <a:r>
                        <a:rPr lang="en-US" sz="2500" b="0" u="none" strike="noStrike"/>
                        <a:t>80</a:t>
                      </a:r>
                      <a:endParaRPr lang="en-US" sz="2500" b="0" i="0" u="none" strike="noStrike">
                        <a:latin typeface="+mn-lt"/>
                      </a:endParaRPr>
                    </a:p>
                  </a:txBody>
                  <a:tcPr marL="13052" marR="13052" marT="13052" marB="0" anchor="b"/>
                </a:tc>
                <a:tc>
                  <a:txBody>
                    <a:bodyPr/>
                    <a:lstStyle/>
                    <a:p>
                      <a:pPr algn="r" fontAlgn="b"/>
                      <a:r>
                        <a:rPr lang="en-US" sz="2500" b="0" u="none" strike="noStrike"/>
                        <a:t>64</a:t>
                      </a:r>
                      <a:endParaRPr lang="en-US" sz="2500" b="0" i="0" u="none" strike="noStrike">
                        <a:latin typeface="+mn-lt"/>
                      </a:endParaRPr>
                    </a:p>
                  </a:txBody>
                  <a:tcPr marL="13052" marR="13052" marT="13052" marB="0" anchor="b"/>
                </a:tc>
                <a:tc>
                  <a:txBody>
                    <a:bodyPr/>
                    <a:lstStyle/>
                    <a:p>
                      <a:pPr algn="r" fontAlgn="b"/>
                      <a:r>
                        <a:rPr lang="en-US" sz="2500" b="0" u="none" strike="noStrike"/>
                        <a:t>64</a:t>
                      </a:r>
                      <a:endParaRPr lang="en-US" sz="2500" b="0" i="0" u="none" strike="noStrike">
                        <a:latin typeface="+mn-lt"/>
                      </a:endParaRPr>
                    </a:p>
                  </a:txBody>
                  <a:tcPr marL="13052" marR="13052" marT="13052" marB="0" anchor="b"/>
                </a:tc>
                <a:tc>
                  <a:txBody>
                    <a:bodyPr/>
                    <a:lstStyle/>
                    <a:p>
                      <a:pPr algn="r" fontAlgn="b"/>
                      <a:r>
                        <a:rPr lang="en-US" sz="2500" b="0" u="none" strike="noStrike"/>
                        <a:t>80</a:t>
                      </a:r>
                      <a:endParaRPr lang="en-US" sz="2500" b="0" i="0" u="none" strike="noStrike">
                        <a:latin typeface="+mn-lt"/>
                      </a:endParaRPr>
                    </a:p>
                  </a:txBody>
                  <a:tcPr marL="13052" marR="13052" marT="13052" marB="0" anchor="b"/>
                </a:tc>
                <a:tc>
                  <a:txBody>
                    <a:bodyPr/>
                    <a:lstStyle/>
                    <a:p>
                      <a:pPr algn="r" fontAlgn="b"/>
                      <a:r>
                        <a:rPr lang="en-US" sz="2500" b="0" u="none" strike="noStrike" dirty="0"/>
                        <a:t>80</a:t>
                      </a:r>
                      <a:endParaRPr lang="en-US" sz="2500" b="0" i="0" u="none" strike="noStrike" dirty="0">
                        <a:latin typeface="+mn-lt"/>
                      </a:endParaRPr>
                    </a:p>
                  </a:txBody>
                  <a:tcPr marL="13052" marR="13052" marT="13052" marB="0" anchor="b"/>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13818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7282" name="Rectangle 2"/>
          <p:cNvSpPr>
            <a:spLocks noGrp="1" noChangeArrowheads="1"/>
          </p:cNvSpPr>
          <p:nvPr>
            <p:ph type="title"/>
          </p:nvPr>
        </p:nvSpPr>
        <p:spPr>
          <a:xfrm>
            <a:off x="718879" y="800392"/>
            <a:ext cx="7698523" cy="1212102"/>
          </a:xfrm>
        </p:spPr>
        <p:txBody>
          <a:bodyPr>
            <a:normAutofit/>
          </a:bodyPr>
          <a:lstStyle/>
          <a:p>
            <a:pPr eaLnBrk="1" hangingPunct="1"/>
            <a:r>
              <a:rPr lang="en-AU" sz="3600" dirty="0">
                <a:solidFill>
                  <a:schemeClr val="bg1"/>
                </a:solidFill>
                <a:ea typeface="ＭＳ Ｐゴシック" pitchFamily="-107" charset="-128"/>
                <a:cs typeface="ＭＳ Ｐゴシック" pitchFamily="-107" charset="-128"/>
              </a:rPr>
              <a:t>SHA-512 Overview</a:t>
            </a:r>
            <a:endParaRPr lang="en-AU" sz="3500" dirty="0">
              <a:solidFill>
                <a:schemeClr val="bg1"/>
              </a:solidFill>
              <a:ea typeface="ＭＳ Ｐゴシック" pitchFamily="-107" charset="-128"/>
            </a:endParaRPr>
          </a:p>
        </p:txBody>
      </p:sp>
      <p:sp>
        <p:nvSpPr>
          <p:cNvPr id="4" name="TextBox 3">
            <a:extLst>
              <a:ext uri="{FF2B5EF4-FFF2-40B4-BE49-F238E27FC236}">
                <a16:creationId xmlns:a16="http://schemas.microsoft.com/office/drawing/2014/main" id="{EE57BF06-99BC-4209-B6E6-01572AFDDE71}"/>
              </a:ext>
            </a:extLst>
          </p:cNvPr>
          <p:cNvSpPr txBox="1"/>
          <p:nvPr/>
        </p:nvSpPr>
        <p:spPr>
          <a:xfrm>
            <a:off x="2209800" y="6312742"/>
            <a:ext cx="3639425" cy="523220"/>
          </a:xfrm>
          <a:prstGeom prst="rect">
            <a:avLst/>
          </a:prstGeom>
          <a:noFill/>
        </p:spPr>
        <p:txBody>
          <a:bodyPr wrap="square" rtlCol="0">
            <a:spAutoFit/>
          </a:bodyPr>
          <a:lstStyle/>
          <a:p>
            <a:r>
              <a:rPr lang="en-US" sz="2800" b="1" dirty="0"/>
              <a:t>+</a:t>
            </a:r>
            <a:r>
              <a:rPr lang="en-US" dirty="0"/>
              <a:t> = word-by-word addition mod 2</a:t>
            </a:r>
            <a:r>
              <a:rPr lang="en-US" baseline="30000" dirty="0"/>
              <a:t>64</a:t>
            </a:r>
          </a:p>
        </p:txBody>
      </p:sp>
      <p:pic>
        <p:nvPicPr>
          <p:cNvPr id="6" name="Picture 5">
            <a:extLst>
              <a:ext uri="{FF2B5EF4-FFF2-40B4-BE49-F238E27FC236}">
                <a16:creationId xmlns:a16="http://schemas.microsoft.com/office/drawing/2014/main" id="{1E46EE04-248A-4C55-B6B6-2266C338F62F}"/>
              </a:ext>
            </a:extLst>
          </p:cNvPr>
          <p:cNvPicPr>
            <a:picLocks noChangeAspect="1"/>
          </p:cNvPicPr>
          <p:nvPr/>
        </p:nvPicPr>
        <p:blipFill>
          <a:blip r:embed="rId3"/>
          <a:stretch>
            <a:fillRect/>
          </a:stretch>
        </p:blipFill>
        <p:spPr>
          <a:xfrm>
            <a:off x="1047118" y="1690459"/>
            <a:ext cx="7162800" cy="4686300"/>
          </a:xfrm>
          <a:prstGeom prst="rect">
            <a:avLst/>
          </a:prstGeom>
        </p:spPr>
      </p:pic>
    </p:spTree>
    <p:extLst>
      <p:ext uri="{BB962C8B-B14F-4D97-AF65-F5344CB8AC3E}">
        <p14:creationId xmlns:p14="http://schemas.microsoft.com/office/powerpoint/2010/main" val="2739514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7282" name="Rectangle 2"/>
          <p:cNvSpPr>
            <a:spLocks noGrp="1" noChangeArrowheads="1"/>
          </p:cNvSpPr>
          <p:nvPr>
            <p:ph type="title"/>
          </p:nvPr>
        </p:nvSpPr>
        <p:spPr>
          <a:xfrm>
            <a:off x="718879" y="800392"/>
            <a:ext cx="7698523" cy="1212102"/>
          </a:xfrm>
        </p:spPr>
        <p:txBody>
          <a:bodyPr>
            <a:normAutofit/>
          </a:bodyPr>
          <a:lstStyle/>
          <a:p>
            <a:pPr eaLnBrk="1" hangingPunct="1"/>
            <a:r>
              <a:rPr lang="en-AU" sz="3600" dirty="0">
                <a:solidFill>
                  <a:schemeClr val="bg1"/>
                </a:solidFill>
                <a:ea typeface="ＭＳ Ｐゴシック" pitchFamily="-107" charset="-128"/>
                <a:cs typeface="ＭＳ Ｐゴシック" pitchFamily="-107" charset="-128"/>
              </a:rPr>
              <a:t>SHA-512 Compression Function</a:t>
            </a:r>
            <a:endParaRPr lang="en-AU" sz="3500" dirty="0">
              <a:solidFill>
                <a:schemeClr val="bg1"/>
              </a:solidFill>
              <a:ea typeface="ＭＳ Ｐゴシック" pitchFamily="-107" charset="-128"/>
            </a:endParaRPr>
          </a:p>
        </p:txBody>
      </p:sp>
      <p:sp>
        <p:nvSpPr>
          <p:cNvPr id="10" name="Rectangle 3">
            <a:extLst>
              <a:ext uri="{FF2B5EF4-FFF2-40B4-BE49-F238E27FC236}">
                <a16:creationId xmlns:a16="http://schemas.microsoft.com/office/drawing/2014/main" id="{12C11C88-5D5B-4DAA-ACAC-1FDE32040005}"/>
              </a:ext>
            </a:extLst>
          </p:cNvPr>
          <p:cNvSpPr txBox="1">
            <a:spLocks noChangeArrowheads="1"/>
          </p:cNvSpPr>
          <p:nvPr/>
        </p:nvSpPr>
        <p:spPr>
          <a:xfrm>
            <a:off x="1146773" y="2988555"/>
            <a:ext cx="7241665"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AU" sz="2400" dirty="0">
                <a:ea typeface="ＭＳ Ｐゴシック" pitchFamily="-107" charset="-128"/>
                <a:cs typeface="ＭＳ Ｐゴシック" pitchFamily="-107" charset="-128"/>
              </a:rPr>
              <a:t>the compression function “F” is the heart of the SHA algorithm.</a:t>
            </a:r>
          </a:p>
          <a:p>
            <a:pPr>
              <a:defRPr/>
            </a:pPr>
            <a:r>
              <a:rPr lang="en-US" sz="2400" dirty="0">
                <a:ea typeface="ＭＳ Ｐゴシック" pitchFamily="-107" charset="-128"/>
                <a:cs typeface="ＭＳ Ｐゴシック" pitchFamily="-107" charset="-128"/>
              </a:rPr>
              <a:t>SHA processes each message in 1024-bit blocks</a:t>
            </a:r>
            <a:endParaRPr lang="en-AU" sz="2400" dirty="0">
              <a:ea typeface="ＭＳ Ｐゴシック" pitchFamily="-107" charset="-128"/>
              <a:cs typeface="ＭＳ Ｐゴシック" pitchFamily="-107" charset="-128"/>
            </a:endParaRPr>
          </a:p>
          <a:p>
            <a:pPr>
              <a:defRPr/>
            </a:pPr>
            <a:r>
              <a:rPr lang="en-AU" sz="2400" dirty="0">
                <a:ea typeface="ＭＳ Ｐゴシック" pitchFamily="-107" charset="-128"/>
                <a:cs typeface="ＭＳ Ｐゴシック" pitchFamily="-107" charset="-128"/>
              </a:rPr>
              <a:t>the compression function “F” consists of 80 rounds</a:t>
            </a:r>
          </a:p>
        </p:txBody>
      </p:sp>
    </p:spTree>
    <p:extLst>
      <p:ext uri="{BB962C8B-B14F-4D97-AF65-F5344CB8AC3E}">
        <p14:creationId xmlns:p14="http://schemas.microsoft.com/office/powerpoint/2010/main" val="3643312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a:defRPr/>
            </a:pPr>
            <a:r>
              <a:rPr lang="en-US" sz="3500">
                <a:solidFill>
                  <a:srgbClr val="FFFFFF"/>
                </a:solidFill>
                <a:ea typeface="ＭＳ Ｐゴシック" pitchFamily="-107" charset="-128"/>
                <a:cs typeface="ＭＳ Ｐゴシック" pitchFamily="-107" charset="-128"/>
              </a:rPr>
              <a:t>SHA-3</a:t>
            </a:r>
          </a:p>
        </p:txBody>
      </p:sp>
      <p:sp>
        <p:nvSpPr>
          <p:cNvPr id="3" name="Content Placeholder 2"/>
          <p:cNvSpPr>
            <a:spLocks noGrp="1"/>
          </p:cNvSpPr>
          <p:nvPr>
            <p:ph idx="1"/>
          </p:nvPr>
        </p:nvSpPr>
        <p:spPr>
          <a:xfrm>
            <a:off x="1025718" y="2490436"/>
            <a:ext cx="7281746" cy="3567173"/>
          </a:xfrm>
        </p:spPr>
        <p:txBody>
          <a:bodyPr anchor="ctr">
            <a:normAutofit/>
          </a:bodyPr>
          <a:lstStyle/>
          <a:p>
            <a:r>
              <a:rPr lang="en-US" sz="2100">
                <a:ea typeface="ＭＳ Ｐゴシック" pitchFamily="-107" charset="-128"/>
              </a:rPr>
              <a:t>SHA-1 not yet "broken”</a:t>
            </a:r>
          </a:p>
          <a:p>
            <a:pPr lvl="1"/>
            <a:r>
              <a:rPr lang="en-US" sz="2100">
                <a:ea typeface="ＭＳ Ｐゴシック" pitchFamily="-107" charset="-128"/>
              </a:rPr>
              <a:t>but like broken MD5 &amp; SHA-0</a:t>
            </a:r>
          </a:p>
          <a:p>
            <a:pPr lvl="1"/>
            <a:r>
              <a:rPr lang="en-US" sz="2100">
                <a:ea typeface="ＭＳ Ｐゴシック" pitchFamily="-107" charset="-128"/>
              </a:rPr>
              <a:t>so considered insecure</a:t>
            </a:r>
          </a:p>
          <a:p>
            <a:r>
              <a:rPr lang="en-US" sz="2100">
                <a:ea typeface="ＭＳ Ｐゴシック" pitchFamily="-107" charset="-128"/>
              </a:rPr>
              <a:t>SHA-2 (esp. SHA-512) seems secure</a:t>
            </a:r>
          </a:p>
          <a:p>
            <a:pPr lvl="1"/>
            <a:r>
              <a:rPr lang="en-US" sz="2100">
                <a:ea typeface="ＭＳ Ｐゴシック" pitchFamily="-107" charset="-128"/>
              </a:rPr>
              <a:t>shares same structure and mathematical operations as predecessors so have concern</a:t>
            </a:r>
          </a:p>
          <a:p>
            <a:r>
              <a:rPr lang="en-US" sz="2100" b="1"/>
              <a:t>SHA</a:t>
            </a:r>
            <a:r>
              <a:rPr lang="en-US" sz="2100"/>
              <a:t>-</a:t>
            </a:r>
            <a:r>
              <a:rPr lang="en-US" sz="2100" b="1"/>
              <a:t>3</a:t>
            </a:r>
            <a:r>
              <a:rPr lang="en-US" sz="2100"/>
              <a:t> (Secure Hash Algorithm 3) is the latest member of the Secure Hash Algorithm family of standards, released by NIST on August 5, 2015.</a:t>
            </a:r>
            <a:endParaRPr lang="en-US" sz="2100">
              <a:ea typeface="ＭＳ Ｐゴシック" pitchFamily="-107"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505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ea typeface="ＭＳ Ｐゴシック" pitchFamily="-107" charset="-128"/>
              </a:rPr>
              <a:t>Summary</a:t>
            </a:r>
            <a:endParaRPr lang="en-AU" sz="3500">
              <a:solidFill>
                <a:srgbClr val="FFFFFF"/>
              </a:solidFill>
              <a:ea typeface="ＭＳ Ｐゴシック" pitchFamily="-107" charset="-128"/>
            </a:endParaRPr>
          </a:p>
        </p:txBody>
      </p:sp>
      <p:sp>
        <p:nvSpPr>
          <p:cNvPr id="45059" name="Rectangle 3"/>
          <p:cNvSpPr>
            <a:spLocks noGrp="1" noChangeArrowheads="1"/>
          </p:cNvSpPr>
          <p:nvPr>
            <p:ph type="body" idx="1"/>
          </p:nvPr>
        </p:nvSpPr>
        <p:spPr>
          <a:xfrm>
            <a:off x="1025718" y="2490436"/>
            <a:ext cx="7281746" cy="3567173"/>
          </a:xfrm>
        </p:spPr>
        <p:txBody>
          <a:bodyPr anchor="ctr">
            <a:normAutofit/>
          </a:bodyPr>
          <a:lstStyle/>
          <a:p>
            <a:pPr eaLnBrk="1" hangingPunct="1"/>
            <a:r>
              <a:rPr lang="en-US" sz="2100">
                <a:ea typeface="ＭＳ Ｐゴシック" pitchFamily="-107" charset="-128"/>
              </a:rPr>
              <a:t>have considered:</a:t>
            </a:r>
          </a:p>
          <a:p>
            <a:pPr lvl="1" eaLnBrk="1" hangingPunct="1"/>
            <a:r>
              <a:rPr lang="en-US" sz="2100">
                <a:ea typeface="ＭＳ Ｐゴシック" pitchFamily="-107" charset="-128"/>
              </a:rPr>
              <a:t>hash functions</a:t>
            </a:r>
          </a:p>
          <a:p>
            <a:pPr lvl="2" eaLnBrk="1" hangingPunct="1"/>
            <a:r>
              <a:rPr lang="en-US" sz="2100">
                <a:ea typeface="ＭＳ Ｐゴシック" pitchFamily="-107" charset="-128"/>
              </a:rPr>
              <a:t>uses, requirements, security</a:t>
            </a:r>
          </a:p>
          <a:p>
            <a:pPr lvl="1" eaLnBrk="1" hangingPunct="1"/>
            <a:r>
              <a:rPr lang="en-US" sz="2100">
                <a:ea typeface="ＭＳ Ｐゴシック" pitchFamily="-107" charset="-128"/>
              </a:rPr>
              <a:t>hash functions based on block ciphers</a:t>
            </a:r>
          </a:p>
          <a:p>
            <a:pPr lvl="1" eaLnBrk="1" hangingPunct="1"/>
            <a:r>
              <a:rPr lang="en-US" sz="2100">
                <a:ea typeface="ＭＳ Ｐゴシック" pitchFamily="-107" charset="-128"/>
              </a:rPr>
              <a:t>SHA-1, SHA-2, SHA-3</a:t>
            </a:r>
          </a:p>
          <a:p>
            <a:pPr lvl="1" eaLnBrk="1" hangingPunct="1"/>
            <a:endParaRPr lang="en-US" sz="2100">
              <a:ea typeface="ＭＳ Ｐゴシック" pitchFamily="-107" charset="-128"/>
            </a:endParaRPr>
          </a:p>
          <a:p>
            <a:pPr lvl="1" eaLnBrk="1" hangingPunct="1"/>
            <a:endParaRPr lang="en-AU" sz="2100">
              <a:ea typeface="ＭＳ Ｐゴシック" pitchFamily="-107"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TotalTime>
  <Words>4434</Words>
  <Application>Microsoft Office PowerPoint</Application>
  <PresentationFormat>On-screen Show (4:3)</PresentationFormat>
  <Paragraphs>271</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Arial</vt:lpstr>
      <vt:lpstr>Calibri</vt:lpstr>
      <vt:lpstr>Courier New</vt:lpstr>
      <vt:lpstr>Times New Roman</vt:lpstr>
      <vt:lpstr>Wingdings</vt:lpstr>
      <vt:lpstr>Office Theme</vt:lpstr>
      <vt:lpstr>Cryptography and Network Security Chapter 11</vt:lpstr>
      <vt:lpstr>Hash Functions</vt:lpstr>
      <vt:lpstr>Cryptographic Hash Function</vt:lpstr>
      <vt:lpstr>PowerPoint Presentation</vt:lpstr>
      <vt:lpstr>PowerPoint Presentation</vt:lpstr>
      <vt:lpstr>Hash Functions &amp; Digital Signatures</vt:lpstr>
      <vt:lpstr>Other Hash Function Uses</vt:lpstr>
      <vt:lpstr>Hash Function Requirements</vt:lpstr>
      <vt:lpstr>Attacks on Hash Functions</vt:lpstr>
      <vt:lpstr>Birthday Attacks</vt:lpstr>
      <vt:lpstr>PowerPoint Presentation</vt:lpstr>
      <vt:lpstr>Security of Hash Functions (and additional applications)</vt:lpstr>
      <vt:lpstr>Hash Function Cryptanalysis</vt:lpstr>
      <vt:lpstr>Secure Hash Algorithm (SHA)</vt:lpstr>
      <vt:lpstr>Revised Secure Hash Standard (SHA-2)</vt:lpstr>
      <vt:lpstr>SHA Versions</vt:lpstr>
      <vt:lpstr>SHA-512 Overview</vt:lpstr>
      <vt:lpstr>SHA-512 Compression Function</vt:lpstr>
      <vt:lpstr>SHA-3</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11</dc:title>
  <dc:creator>Mohamed Ashraf Madkour</dc:creator>
  <cp:lastModifiedBy>Diaa Ali Mohammed</cp:lastModifiedBy>
  <cp:revision>21</cp:revision>
  <dcterms:created xsi:type="dcterms:W3CDTF">2021-01-06T08:46:11Z</dcterms:created>
  <dcterms:modified xsi:type="dcterms:W3CDTF">2025-01-16T00:21:47Z</dcterms:modified>
</cp:coreProperties>
</file>