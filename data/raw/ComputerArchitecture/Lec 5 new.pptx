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300" r:id="rId3"/>
    <p:sldId id="301" r:id="rId4"/>
    <p:sldId id="302" r:id="rId5"/>
    <p:sldId id="282" r:id="rId6"/>
    <p:sldId id="283" r:id="rId7"/>
    <p:sldId id="298" r:id="rId8"/>
    <p:sldId id="260" r:id="rId9"/>
    <p:sldId id="263" r:id="rId10"/>
    <p:sldId id="264" r:id="rId11"/>
    <p:sldId id="265" r:id="rId12"/>
    <p:sldId id="285" r:id="rId13"/>
    <p:sldId id="266" r:id="rId14"/>
    <p:sldId id="267" r:id="rId15"/>
    <p:sldId id="268" r:id="rId16"/>
    <p:sldId id="286" r:id="rId17"/>
    <p:sldId id="287" r:id="rId18"/>
    <p:sldId id="270" r:id="rId19"/>
    <p:sldId id="271" r:id="rId20"/>
    <p:sldId id="288" r:id="rId21"/>
    <p:sldId id="273" r:id="rId22"/>
    <p:sldId id="274" r:id="rId23"/>
    <p:sldId id="275" r:id="rId24"/>
    <p:sldId id="289" r:id="rId25"/>
    <p:sldId id="290" r:id="rId26"/>
    <p:sldId id="299" r:id="rId27"/>
    <p:sldId id="277" r:id="rId28"/>
    <p:sldId id="279" r:id="rId29"/>
    <p:sldId id="280" r:id="rId30"/>
    <p:sldId id="291" r:id="rId31"/>
    <p:sldId id="292" r:id="rId32"/>
    <p:sldId id="293" r:id="rId33"/>
    <p:sldId id="303" r:id="rId34"/>
    <p:sldId id="304" r:id="rId35"/>
    <p:sldId id="295" r:id="rId36"/>
    <p:sldId id="281" r:id="rId37"/>
    <p:sldId id="305" r:id="rId38"/>
    <p:sldId id="294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3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6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B73D-462C-4A69-AF91-72F986F49068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D76-27B6-4DBB-8226-DAD40917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492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B73D-462C-4A69-AF91-72F986F49068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D76-27B6-4DBB-8226-DAD40917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361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B73D-462C-4A69-AF91-72F986F49068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D76-27B6-4DBB-8226-DAD40917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88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B73D-462C-4A69-AF91-72F986F49068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D76-27B6-4DBB-8226-DAD40917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447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B73D-462C-4A69-AF91-72F986F49068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D76-27B6-4DBB-8226-DAD40917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656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B73D-462C-4A69-AF91-72F986F49068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D76-27B6-4DBB-8226-DAD40917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75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B73D-462C-4A69-AF91-72F986F49068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D76-27B6-4DBB-8226-DAD40917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15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B73D-462C-4A69-AF91-72F986F49068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D76-27B6-4DBB-8226-DAD40917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42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B73D-462C-4A69-AF91-72F986F49068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D76-27B6-4DBB-8226-DAD40917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700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B73D-462C-4A69-AF91-72F986F49068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D76-27B6-4DBB-8226-DAD40917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16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6B73D-462C-4A69-AF91-72F986F49068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D76-27B6-4DBB-8226-DAD40917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84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76B73D-462C-4A69-AF91-72F986F49068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7FD76-27B6-4DBB-8226-DAD40917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817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Lecture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Cache Memory</a:t>
            </a:r>
          </a:p>
        </p:txBody>
      </p:sp>
    </p:spTree>
    <p:extLst>
      <p:ext uri="{BB962C8B-B14F-4D97-AF65-F5344CB8AC3E}">
        <p14:creationId xmlns:p14="http://schemas.microsoft.com/office/powerpoint/2010/main" val="3854335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50107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Von </a:t>
            </a:r>
            <a:r>
              <a:rPr lang="en-US" sz="3600" b="1" dirty="0"/>
              <a:t>Neumann bottleneck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65752"/>
            <a:ext cx="7886700" cy="4860100"/>
          </a:xfrm>
        </p:spPr>
        <p:txBody>
          <a:bodyPr>
            <a:noAutofit/>
          </a:bodyPr>
          <a:lstStyle/>
          <a:p>
            <a:r>
              <a:rPr lang="en-US" sz="2400" dirty="0"/>
              <a:t>The separation of memory and CPU is often called the von Neumann bottleneck, since the interconnect determines the rate at which instructions and data can be accessed.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potentially vast quantity of data and instructions needed to run a program is effectively isolated from the CPU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In </a:t>
            </a:r>
            <a:r>
              <a:rPr lang="en-US" sz="2400" dirty="0"/>
              <a:t>2021, CPUs are capable of </a:t>
            </a:r>
            <a:r>
              <a:rPr lang="en-US" sz="2400" dirty="0" smtClean="0"/>
              <a:t>executing </a:t>
            </a:r>
            <a:r>
              <a:rPr lang="en-US" sz="2400" dirty="0"/>
              <a:t>instructions more than one hundred times faster than they can fetch items from main memory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To address the von Neumann bottleneck and, more generally, improve computer performance, </a:t>
            </a:r>
            <a:r>
              <a:rPr lang="en-US" sz="2400" dirty="0" smtClean="0"/>
              <a:t>many </a:t>
            </a:r>
            <a:r>
              <a:rPr lang="en-US" sz="2400" dirty="0"/>
              <a:t>modifications to the basic von Neumann </a:t>
            </a:r>
            <a:r>
              <a:rPr lang="en-US" sz="2400" dirty="0" smtClean="0"/>
              <a:t>architecture has been done.</a:t>
            </a:r>
          </a:p>
        </p:txBody>
      </p:sp>
    </p:spTree>
    <p:extLst>
      <p:ext uri="{BB962C8B-B14F-4D97-AF65-F5344CB8AC3E}">
        <p14:creationId xmlns:p14="http://schemas.microsoft.com/office/powerpoint/2010/main" val="946563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Modifications to the von Neumann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 we noted earlier, since the first electronic digital computers were developed back in the 1940s, computer scientists and computer engineers have made many </a:t>
            </a:r>
            <a:r>
              <a:rPr lang="en-US" dirty="0" smtClean="0"/>
              <a:t>improvements </a:t>
            </a:r>
            <a:r>
              <a:rPr lang="en-US" dirty="0"/>
              <a:t>to the basic von Neumann architecture</a:t>
            </a:r>
            <a:r>
              <a:rPr lang="en-US" dirty="0" smtClean="0"/>
              <a:t>.</a:t>
            </a:r>
          </a:p>
          <a:p>
            <a:r>
              <a:rPr lang="en-US" dirty="0" smtClean="0"/>
              <a:t>Many </a:t>
            </a:r>
            <a:r>
              <a:rPr lang="en-US" dirty="0"/>
              <a:t>are targeted at reducing the problem of the von Neumann bottleneck, but many are also targeted at simply </a:t>
            </a:r>
            <a:r>
              <a:rPr lang="en-US" dirty="0" smtClean="0"/>
              <a:t>making </a:t>
            </a:r>
            <a:r>
              <a:rPr lang="en-US" dirty="0"/>
              <a:t>CPUs faster.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this section, we’ll look </a:t>
            </a:r>
            <a:r>
              <a:rPr lang="en-US" dirty="0" smtClean="0"/>
              <a:t>one </a:t>
            </a:r>
            <a:r>
              <a:rPr lang="en-US" dirty="0"/>
              <a:t>of these improvements: </a:t>
            </a:r>
            <a:r>
              <a:rPr lang="en-US" dirty="0" smtClean="0"/>
              <a:t>caching.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948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Principle of Locality</a:t>
            </a:r>
            <a:endParaRPr lang="ar-EG" dirty="0"/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 smtClean="0"/>
              <a:t>Two </a:t>
            </a:r>
            <a:r>
              <a:rPr lang="en-US" dirty="0"/>
              <a:t>different types of locality have been </a:t>
            </a:r>
            <a:r>
              <a:rPr lang="en-US" dirty="0" smtClean="0"/>
              <a:t>observed:</a:t>
            </a:r>
            <a:endParaRPr lang="en-US" dirty="0"/>
          </a:p>
          <a:p>
            <a:pPr marL="457200" indent="-457200">
              <a:buFontTx/>
              <a:buAutoNum type="alphaLcParenR"/>
              <a:defRPr/>
            </a:pPr>
            <a:r>
              <a:rPr lang="en-US" i="1" dirty="0">
                <a:solidFill>
                  <a:srgbClr val="FF0000"/>
                </a:solidFill>
              </a:rPr>
              <a:t>Temporal locality </a:t>
            </a:r>
            <a:r>
              <a:rPr lang="en-US" dirty="0"/>
              <a:t>states that recently accessed items are likely to be accessed in 	the near future. </a:t>
            </a:r>
          </a:p>
          <a:p>
            <a:pPr marL="0" indent="0">
              <a:buNone/>
              <a:defRPr/>
            </a:pPr>
            <a:r>
              <a:rPr lang="en-US" i="1" dirty="0">
                <a:solidFill>
                  <a:srgbClr val="FF0000"/>
                </a:solidFill>
              </a:rPr>
              <a:t>b)</a:t>
            </a:r>
            <a:r>
              <a:rPr lang="en-US" i="1" dirty="0"/>
              <a:t> </a:t>
            </a:r>
            <a:r>
              <a:rPr lang="en-US" i="1" dirty="0">
                <a:solidFill>
                  <a:srgbClr val="FF0000"/>
                </a:solidFill>
              </a:rPr>
              <a:t>Spatial locality </a:t>
            </a:r>
            <a:r>
              <a:rPr lang="en-US" dirty="0"/>
              <a:t>says that items whose addresses are near one </a:t>
            </a:r>
            <a:r>
              <a:rPr lang="en-US" dirty="0" smtClean="0"/>
              <a:t>another </a:t>
            </a:r>
            <a:r>
              <a:rPr lang="en-US" dirty="0"/>
              <a:t>tend to be referenced </a:t>
            </a:r>
            <a:r>
              <a:rPr lang="en-GB" dirty="0"/>
              <a:t>close together in time.</a:t>
            </a:r>
            <a:endParaRPr lang="en-GB" b="1" dirty="0"/>
          </a:p>
          <a:p>
            <a:pPr algn="l" rtl="0"/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3166875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292B3B9-B60E-4084-ACDC-5F52B7861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MEMORY HIERARCHY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00FB3DA-8551-4E3C-9A4F-339975827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/>
              <a:t>The lowest level of the hierarchy is a small, fast memory called a </a:t>
            </a:r>
            <a:r>
              <a:rPr lang="en-US" sz="2400" b="0" i="1" u="none" strike="noStrike" baseline="0" dirty="0"/>
              <a:t>cache</a:t>
            </a:r>
            <a:r>
              <a:rPr lang="en-US" sz="2400" b="0" i="0" u="none" strike="noStrike" baseline="0" dirty="0"/>
              <a:t>.</a:t>
            </a:r>
          </a:p>
          <a:p>
            <a:pPr algn="l"/>
            <a:r>
              <a:rPr lang="en-US" sz="2400" b="0" i="0" u="none" strike="noStrike" baseline="0" dirty="0"/>
              <a:t>At the next level upward in the hierarchy is the </a:t>
            </a:r>
            <a:r>
              <a:rPr lang="en-US" sz="2400" b="0" i="1" u="none" strike="noStrike" baseline="0" dirty="0"/>
              <a:t>main memory</a:t>
            </a:r>
            <a:r>
              <a:rPr lang="en-US" sz="2400" b="0" i="0" u="none" strike="noStrike" baseline="0" dirty="0"/>
              <a:t>. </a:t>
            </a:r>
          </a:p>
          <a:p>
            <a:pPr algn="l"/>
            <a:r>
              <a:rPr lang="en-US" sz="2400" b="0" i="0" u="none" strike="noStrike" baseline="0" dirty="0"/>
              <a:t>The main memory serves directly most of the CPU instructions and operand fetches not satisfied by the cache.</a:t>
            </a:r>
          </a:p>
          <a:p>
            <a:pPr algn="l"/>
            <a:r>
              <a:rPr lang="en-US" sz="2400" b="0" i="0" u="none" strike="noStrike" baseline="0" dirty="0"/>
              <a:t>At the top level of the hierarchy is the </a:t>
            </a:r>
            <a:r>
              <a:rPr lang="en-US" sz="2400" b="0" i="1" u="none" strike="noStrike" baseline="0" dirty="0"/>
              <a:t>hard drive</a:t>
            </a:r>
            <a:r>
              <a:rPr lang="en-US" sz="2400" b="0" i="0" u="none" strike="noStrike" baseline="0" dirty="0"/>
              <a:t>, which is accessed only in the very infrequent cases where a CPU instruction or a operand fetch is not found in main memory.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42797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2550BE34-C2B8-49B8-8519-67A8CAD51AE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A7457DD9-5A45-400A-AB4B-4B4EDECA25F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CFA9C97A-CB62-4948-ADF7-32AEB203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US" sz="2800" b="0" i="0" u="none" strike="noStrike" baseline="0" dirty="0">
                <a:latin typeface="TimesTenLTStd-Roman"/>
              </a:rPr>
              <a:t>Example of Memory Hierarchy with Two Caches</a:t>
            </a:r>
            <a:endParaRPr lang="en-US" sz="2800" dirty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441CF7D6-A660-431A-B0BB-140A0D5556B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0570A85B-3810-4F95-97B0-CBF4CCDB381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847861D-F935-4CA7-9E81-20F1B60D2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3787" y="475973"/>
            <a:ext cx="4501977" cy="1867617"/>
          </a:xfrm>
        </p:spPr>
        <p:txBody>
          <a:bodyPr anchor="ctr">
            <a:noAutofit/>
          </a:bodyPr>
          <a:lstStyle/>
          <a:p>
            <a:r>
              <a:rPr lang="en-US" sz="2000" b="0" i="0" u="none" strike="noStrike" baseline="0" dirty="0"/>
              <a:t>The use of these two caches permits one instruction and one operand to be fetched, or one instruction to be fetched and one result to be stored, in a single clock cycle if the caches are fast enough.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1F5613F-1063-4786-BC2D-C910EB4AC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666" y="2734056"/>
            <a:ext cx="7672961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490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9D1112-64B8-445D-A8D9-A0EEE40A1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8179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Multiple-Level Caches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4AFDB22-EED4-4966-BD53-2177BACA1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85461"/>
            <a:ext cx="7886700" cy="4891502"/>
          </a:xfrm>
        </p:spPr>
        <p:txBody>
          <a:bodyPr>
            <a:noAutofit/>
          </a:bodyPr>
          <a:lstStyle/>
          <a:p>
            <a:pPr algn="l"/>
            <a:r>
              <a:rPr lang="en-US" sz="2200" i="0" u="none" strike="noStrike" baseline="0" dirty="0"/>
              <a:t>Two levels of cache, often referred to as L1 and L2, with L1 closest to the CPU, are often used. </a:t>
            </a:r>
          </a:p>
          <a:p>
            <a:pPr algn="l"/>
            <a:r>
              <a:rPr lang="en-US" sz="2200" i="0" u="none" strike="noStrike" baseline="0" dirty="0"/>
              <a:t>In order to satisfy the demand of the CPU for instruction and operands, a very fast L1 cache is needed.</a:t>
            </a:r>
          </a:p>
          <a:p>
            <a:pPr algn="l"/>
            <a:r>
              <a:rPr lang="en-US" sz="2200" i="0" u="none" strike="noStrike" baseline="0" dirty="0" smtClean="0"/>
              <a:t>The </a:t>
            </a:r>
            <a:r>
              <a:rPr lang="en-US" sz="2200" i="0" u="none" strike="noStrike" baseline="0" dirty="0"/>
              <a:t>L1 cache is placed in the processor IC together with the CPU and is referred to as the </a:t>
            </a:r>
            <a:r>
              <a:rPr lang="en-US" sz="2200" i="1" u="none" strike="noStrike" baseline="0" dirty="0"/>
              <a:t>internal cache.</a:t>
            </a:r>
          </a:p>
          <a:p>
            <a:pPr algn="l"/>
            <a:r>
              <a:rPr lang="en-US" sz="2200" i="0" u="none" strike="noStrike" baseline="0" dirty="0"/>
              <a:t>The L1 cache can be designed to specific CPU access needs including the possibility of separate instruction and data caches.</a:t>
            </a:r>
            <a:endParaRPr lang="en-US" sz="2200" i="1" u="none" strike="noStrike" baseline="0" dirty="0"/>
          </a:p>
          <a:p>
            <a:pPr algn="l"/>
            <a:r>
              <a:rPr lang="en-US" sz="2200" i="0" u="none" strike="noStrike" baseline="0" dirty="0"/>
              <a:t>A larger L2 cache is added outside the processor IC.  If more space is available in the IC, then the L2 cache can also be an internal cache.</a:t>
            </a:r>
          </a:p>
          <a:p>
            <a:pPr algn="l"/>
            <a:r>
              <a:rPr lang="en-US" sz="2200" i="0" u="none" strike="noStrike" baseline="0" dirty="0"/>
              <a:t>L2 rather than providing instructions and operands to a CPU, it primarily provides instructions and operands to the first-level cache L1.  </a:t>
            </a:r>
            <a:r>
              <a:rPr lang="en-US" sz="2200" dirty="0"/>
              <a:t>T</a:t>
            </a:r>
            <a:r>
              <a:rPr lang="en-US" sz="2200" i="0" u="none" strike="noStrike" baseline="0" dirty="0"/>
              <a:t>he L2 cache is accessed only on L1 misses,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141622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Cache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To illustrate the concept of cache memory, we assume a very small cache of:</a:t>
            </a:r>
          </a:p>
          <a:p>
            <a:r>
              <a:rPr lang="en-US" sz="2400" dirty="0"/>
              <a:t> Eight </a:t>
            </a:r>
            <a:r>
              <a:rPr lang="en-US" sz="2400" dirty="0" smtClean="0"/>
              <a:t>(32-bit) </a:t>
            </a:r>
            <a:r>
              <a:rPr lang="en-US" sz="2400" dirty="0"/>
              <a:t>words,</a:t>
            </a:r>
          </a:p>
          <a:p>
            <a:r>
              <a:rPr lang="en-US" sz="2400" dirty="0"/>
              <a:t>A small main memory with 1 KB (256 </a:t>
            </a:r>
            <a:r>
              <a:rPr lang="en-US" sz="2400" dirty="0" smtClean="0"/>
              <a:t>words of 32-bit).</a:t>
            </a:r>
          </a:p>
          <a:p>
            <a:r>
              <a:rPr lang="en-US" sz="2400" dirty="0"/>
              <a:t>The cache address lines = 3 bits, </a:t>
            </a:r>
          </a:p>
          <a:p>
            <a:r>
              <a:rPr lang="en-US" sz="2400" dirty="0"/>
              <a:t>The memory address lines = 10 bits,</a:t>
            </a:r>
          </a:p>
          <a:p>
            <a:r>
              <a:rPr lang="en-US" sz="2400" dirty="0"/>
              <a:t>Out of the 256 words of size 32 bit / word, in the main memory, only 8 at a time may lie in the cache.</a:t>
            </a:r>
          </a:p>
          <a:p>
            <a:r>
              <a:rPr lang="en-US" sz="2400" dirty="0"/>
              <a:t> In order for the CPU to address a word in the cache, there must be information in the cache to identify the address of the word in main memory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1831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Cache Mappings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867978"/>
          </a:xfrm>
        </p:spPr>
        <p:txBody>
          <a:bodyPr/>
          <a:lstStyle/>
          <a:p>
            <a:r>
              <a:rPr lang="en-US" dirty="0"/>
              <a:t>Mapping </a:t>
            </a:r>
            <a:r>
              <a:rPr lang="en-US" dirty="0" smtClean="0"/>
              <a:t>is between </a:t>
            </a:r>
            <a:r>
              <a:rPr lang="en-US" dirty="0"/>
              <a:t>the main memory address and the cache </a:t>
            </a:r>
            <a:r>
              <a:rPr lang="en-US" dirty="0" smtClean="0"/>
              <a:t>address.</a:t>
            </a:r>
            <a:endParaRPr lang="en-US" dirty="0"/>
          </a:p>
          <a:p>
            <a:r>
              <a:rPr lang="en-US" dirty="0"/>
              <a:t>There are many cache mapping technologies:</a:t>
            </a:r>
          </a:p>
          <a:p>
            <a:pPr marL="0" indent="0">
              <a:buNone/>
            </a:pPr>
            <a:r>
              <a:rPr lang="en-US" dirty="0"/>
              <a:t>	- Direct cache Mapping</a:t>
            </a:r>
          </a:p>
          <a:p>
            <a:pPr marL="0" indent="0">
              <a:buNone/>
            </a:pPr>
            <a:r>
              <a:rPr lang="en-US" dirty="0"/>
              <a:t>	- Fully Associative Cache mapping</a:t>
            </a:r>
          </a:p>
          <a:p>
            <a:pPr marL="0" indent="0">
              <a:buNone/>
            </a:pPr>
            <a:r>
              <a:rPr lang="en-US" dirty="0"/>
              <a:t>	-Associative Memory</a:t>
            </a:r>
          </a:p>
          <a:p>
            <a:pPr marL="0" indent="0">
              <a:buNone/>
            </a:pPr>
            <a:r>
              <a:rPr lang="en-US" dirty="0"/>
              <a:t>	- Set-associative Cache mapping</a:t>
            </a:r>
          </a:p>
        </p:txBody>
      </p:sp>
    </p:spTree>
    <p:extLst>
      <p:ext uri="{BB962C8B-B14F-4D97-AF65-F5344CB8AC3E}">
        <p14:creationId xmlns:p14="http://schemas.microsoft.com/office/powerpoint/2010/main" val="270034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1- Direct Cache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3971009"/>
          </a:xfrm>
        </p:spPr>
        <p:txBody>
          <a:bodyPr>
            <a:normAutofit/>
          </a:bodyPr>
          <a:lstStyle/>
          <a:p>
            <a:r>
              <a:rPr lang="en-US" sz="2800" dirty="0"/>
              <a:t>The main memory address is partitioned into three sections:</a:t>
            </a:r>
          </a:p>
          <a:p>
            <a:pPr marL="0" indent="0">
              <a:buNone/>
            </a:pPr>
            <a:r>
              <a:rPr lang="en-US" sz="2800" dirty="0"/>
              <a:t>	1- No., of Bytes</a:t>
            </a:r>
          </a:p>
          <a:p>
            <a:pPr marL="0" indent="0">
              <a:buNone/>
            </a:pPr>
            <a:r>
              <a:rPr lang="en-US" sz="2800" dirty="0"/>
              <a:t>	2- Index</a:t>
            </a:r>
          </a:p>
          <a:p>
            <a:pPr marL="0" indent="0">
              <a:buNone/>
            </a:pPr>
            <a:r>
              <a:rPr lang="en-US" sz="2800" dirty="0"/>
              <a:t>	3 Tag</a:t>
            </a:r>
          </a:p>
          <a:p>
            <a:pPr marL="0" indent="0">
              <a:buNone/>
            </a:pPr>
            <a:r>
              <a:rPr lang="en-US" sz="2800" dirty="0"/>
              <a:t>For Example: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504" y="5238297"/>
            <a:ext cx="5267460" cy="98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506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Cont.,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687132"/>
            <a:ext cx="7429499" cy="435306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Byte</a:t>
            </a:r>
            <a:r>
              <a:rPr lang="en-US" sz="2800" dirty="0"/>
              <a:t> Field: has the lowest two bits to be able to map 4 succeeded bytes from the main memory to one cache memory </a:t>
            </a:r>
            <a:r>
              <a:rPr lang="en-US" sz="2800" dirty="0" smtClean="0"/>
              <a:t>location (32-bit size).</a:t>
            </a:r>
            <a:endParaRPr lang="en-US" sz="2800" dirty="0"/>
          </a:p>
          <a:p>
            <a:r>
              <a:rPr lang="en-US" sz="2800" dirty="0">
                <a:solidFill>
                  <a:srgbClr val="FF0000"/>
                </a:solidFill>
              </a:rPr>
              <a:t>Index</a:t>
            </a:r>
            <a:r>
              <a:rPr lang="en-US" sz="2800" dirty="0"/>
              <a:t> Field:  has the next three bits because the cache memory has eight memory locations </a:t>
            </a:r>
          </a:p>
          <a:p>
            <a:r>
              <a:rPr lang="en-US" sz="2800" dirty="0"/>
              <a:t>Upper 5 bits of the main memory address, called the </a:t>
            </a:r>
            <a:r>
              <a:rPr lang="en-US" sz="2800" i="1" dirty="0">
                <a:solidFill>
                  <a:srgbClr val="FF0000"/>
                </a:solidFill>
              </a:rPr>
              <a:t>tag</a:t>
            </a:r>
            <a:r>
              <a:rPr lang="en-US" sz="2800" dirty="0"/>
              <a:t>, are stored in the cache along with the data.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57057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E839160-6746-454F-8C34-B32401318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22" y="450574"/>
            <a:ext cx="8892207" cy="6061897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38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Mapping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944710"/>
            <a:ext cx="7429499" cy="4159875"/>
          </a:xfrm>
        </p:spPr>
        <p:txBody>
          <a:bodyPr>
            <a:normAutofit/>
          </a:bodyPr>
          <a:lstStyle/>
          <a:p>
            <a:r>
              <a:rPr lang="en-US" dirty="0"/>
              <a:t>Suppose that the CPU is to fetch an instruction from location 000001100 in main memory.</a:t>
            </a:r>
          </a:p>
          <a:p>
            <a:r>
              <a:rPr lang="en-US" sz="2800" dirty="0"/>
              <a:t>The CPU start fetches in his cache, as follows:</a:t>
            </a:r>
          </a:p>
          <a:p>
            <a:pPr marL="0" indent="0">
              <a:buNone/>
            </a:pPr>
            <a:r>
              <a:rPr lang="en-US" sz="2800" dirty="0"/>
              <a:t>	- </a:t>
            </a:r>
            <a:r>
              <a:rPr lang="en-US" sz="2800" b="1" u="sng" dirty="0">
                <a:solidFill>
                  <a:srgbClr val="FF0000"/>
                </a:solidFill>
              </a:rPr>
              <a:t>Compare Index </a:t>
            </a:r>
            <a:r>
              <a:rPr lang="en-US" sz="28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 sure matched</a:t>
            </a:r>
            <a:endParaRPr lang="en-US" sz="2800" b="1" u="sng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800" dirty="0"/>
              <a:t>	- </a:t>
            </a:r>
            <a:r>
              <a:rPr lang="en-US" sz="2800" b="1" u="sng" dirty="0">
                <a:solidFill>
                  <a:srgbClr val="FF0000"/>
                </a:solidFill>
              </a:rPr>
              <a:t>Compare Tag</a:t>
            </a:r>
            <a:r>
              <a:rPr lang="en-US" sz="2800" dirty="0"/>
              <a:t>, If tag matched, called 	</a:t>
            </a:r>
            <a:r>
              <a:rPr lang="en-US" sz="2800" dirty="0">
                <a:solidFill>
                  <a:srgbClr val="FF0000"/>
                </a:solidFill>
              </a:rPr>
              <a:t>cache hit</a:t>
            </a:r>
            <a:r>
              <a:rPr lang="en-US" sz="2800" dirty="0"/>
              <a:t>, else called </a:t>
            </a:r>
            <a:r>
              <a:rPr lang="en-US" sz="2800" dirty="0">
                <a:solidFill>
                  <a:srgbClr val="FF0000"/>
                </a:solidFill>
              </a:rPr>
              <a:t>cache miss </a:t>
            </a:r>
            <a:r>
              <a:rPr lang="en-US" sz="2800" dirty="0"/>
              <a:t>and looks </a:t>
            </a:r>
            <a:r>
              <a:rPr lang="en-US" sz="2800" dirty="0" smtClean="0"/>
              <a:t>for </a:t>
            </a:r>
            <a:r>
              <a:rPr lang="en-US" sz="2800" dirty="0"/>
              <a:t>the address in the main memory</a:t>
            </a:r>
          </a:p>
        </p:txBody>
      </p:sp>
    </p:spTree>
    <p:extLst>
      <p:ext uri="{BB962C8B-B14F-4D97-AF65-F5344CB8AC3E}">
        <p14:creationId xmlns:p14="http://schemas.microsoft.com/office/powerpoint/2010/main" val="1683837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Cont.,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dirty="0"/>
                  <a:t>In direct mapping, by dividing 256 words in the main memory by 8 words in cache memory, we will find that for every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2800" dirty="0"/>
                  <a:t> addresses in main memory, a single address can map to the single address in the cache that matches the same index at a time.</a:t>
                </a:r>
              </a:p>
              <a:p>
                <a:r>
                  <a:rPr lang="en-US" dirty="0"/>
                  <a:t>O</a:t>
                </a:r>
                <a:r>
                  <a:rPr lang="en-US" sz="2800" dirty="0" smtClean="0"/>
                  <a:t>nly </a:t>
                </a:r>
                <a:r>
                  <a:rPr lang="en-US" sz="2800" dirty="0"/>
                  <a:t>one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2800" dirty="0"/>
                  <a:t> addresses can have its word in cache address at any time.(</a:t>
                </a:r>
                <a:r>
                  <a:rPr lang="en-US" sz="2800" dirty="0">
                    <a:solidFill>
                      <a:srgbClr val="FF0000"/>
                    </a:solidFill>
                  </a:rPr>
                  <a:t>disadvantage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241" r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906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2- </a:t>
            </a:r>
            <a:r>
              <a:rPr lang="en-US" i="1">
                <a:solidFill>
                  <a:srgbClr val="FF0000"/>
                </a:solidFill>
              </a:rPr>
              <a:t>fully associative </a:t>
            </a:r>
            <a:r>
              <a:rPr lang="en-US">
                <a:solidFill>
                  <a:srgbClr val="FF0000"/>
                </a:solidFill>
              </a:rPr>
              <a:t>mapping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880315"/>
            <a:ext cx="7429499" cy="4275786"/>
          </a:xfrm>
        </p:spPr>
        <p:txBody>
          <a:bodyPr>
            <a:normAutofit/>
          </a:bodyPr>
          <a:lstStyle/>
          <a:p>
            <a:r>
              <a:rPr lang="en-US"/>
              <a:t>In contrast to direct mapping, suppose that we let locations in main memory map into an arbitrary location in the cache.</a:t>
            </a:r>
          </a:p>
          <a:p>
            <a:r>
              <a:rPr lang="en-US"/>
              <a:t> Then any location in memory can be mapped to any one of the eight addresses in the cache. </a:t>
            </a:r>
          </a:p>
          <a:p>
            <a:r>
              <a:rPr lang="en-US"/>
              <a:t>This means that the tag will now be the full main memory word address.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445" y="5125792"/>
            <a:ext cx="3515931" cy="93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295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0B72B99-19C2-44D0-A0F1-D0FD5004D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39" y="345529"/>
            <a:ext cx="8706678" cy="5869004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482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D107768-1937-40E5-8A4E-044083A3C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66109"/>
          </a:xfrm>
        </p:spPr>
        <p:txBody>
          <a:bodyPr/>
          <a:lstStyle/>
          <a:p>
            <a:r>
              <a:rPr lang="en-US" dirty="0"/>
              <a:t>Mapping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BB4FD66-111A-4E2D-8F6E-34A8B405A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63757"/>
            <a:ext cx="7886700" cy="4613206"/>
          </a:xfrm>
        </p:spPr>
        <p:txBody>
          <a:bodyPr>
            <a:noAutofit/>
          </a:bodyPr>
          <a:lstStyle/>
          <a:p>
            <a:pPr algn="l"/>
            <a:r>
              <a:rPr lang="en-US" sz="2400" b="0" i="0" u="none" strike="noStrike" baseline="0" dirty="0"/>
              <a:t>Suppose that the CPU is to fetch an instruction from location 0000010000 in cache memory:</a:t>
            </a:r>
          </a:p>
          <a:p>
            <a:pPr algn="l"/>
            <a:r>
              <a:rPr lang="en-US" sz="2400" dirty="0"/>
              <a:t>T</a:t>
            </a:r>
            <a:r>
              <a:rPr lang="en-US" sz="2400" b="0" i="0" u="none" strike="noStrike" baseline="0" dirty="0"/>
              <a:t>he cache must compare 00000100 to each of its eight tags.</a:t>
            </a:r>
            <a:r>
              <a:rPr lang="en-US" sz="2400" dirty="0"/>
              <a:t> </a:t>
            </a:r>
          </a:p>
          <a:p>
            <a:pPr algn="l"/>
            <a:r>
              <a:rPr lang="en-US" sz="2400" b="0" i="0" u="none" strike="noStrike" baseline="0" dirty="0"/>
              <a:t>One way to do this is to successively read each tag and the associated word from the cache memory and compare the tag to 00000100.</a:t>
            </a:r>
          </a:p>
          <a:p>
            <a:pPr algn="l"/>
            <a:r>
              <a:rPr lang="en-US" sz="2400" b="0" i="0" u="none" strike="noStrike" baseline="0" dirty="0"/>
              <a:t>If a match occurs, a cache hit occurs, and the cache control then places the word on the bus to the CPU, completing the fetch operation.</a:t>
            </a:r>
          </a:p>
          <a:p>
            <a:pPr algn="l"/>
            <a:r>
              <a:rPr lang="en-US" sz="2400" b="0" i="0" u="none" strike="noStrike" baseline="0" dirty="0"/>
              <a:t>If the tag fetched from the cache is not matched, then there is a tag mismatch, and the cache control fetches the next successive tag and word.</a:t>
            </a:r>
          </a:p>
          <a:p>
            <a:pPr algn="l"/>
            <a:endParaRPr lang="en-US" sz="2400" dirty="0"/>
          </a:p>
          <a:p>
            <a:endParaRPr lang="en-US" sz="2400" dirty="0"/>
          </a:p>
          <a:p>
            <a:pPr marL="0" indent="0" algn="l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45043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Cont.,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460" y="1661375"/>
            <a:ext cx="7894748" cy="4842456"/>
          </a:xfrm>
        </p:spPr>
        <p:txBody>
          <a:bodyPr>
            <a:noAutofit/>
          </a:bodyPr>
          <a:lstStyle/>
          <a:p>
            <a:r>
              <a:rPr lang="en-US" sz="2800" dirty="0"/>
              <a:t>In the worst case, a match on the tag in cache address, eight fetches from the cache are required before the cache hit occurs.</a:t>
            </a:r>
          </a:p>
          <a:p>
            <a:r>
              <a:rPr lang="en-US" sz="2800" dirty="0"/>
              <a:t> At 2 ns a fetch, this requires at least 16 ns, about half the time it would take to obtain the instruction from main </a:t>
            </a:r>
            <a:r>
              <a:rPr lang="en-US" sz="2800" dirty="0" smtClean="0"/>
              <a:t>memory (</a:t>
            </a:r>
            <a:r>
              <a:rPr lang="en-US" sz="2800" dirty="0" smtClean="0">
                <a:solidFill>
                  <a:srgbClr val="FF0000"/>
                </a:solidFill>
              </a:rPr>
              <a:t>cons</a:t>
            </a:r>
            <a:r>
              <a:rPr lang="en-US" sz="2800" dirty="0" smtClean="0"/>
              <a:t>). </a:t>
            </a:r>
            <a:endParaRPr lang="en-US" sz="2800" dirty="0"/>
          </a:p>
          <a:p>
            <a:r>
              <a:rPr lang="en-US" sz="2800" dirty="0"/>
              <a:t>So successive reads of tags and words from the cache memory to find a match is not a very desirable approach</a:t>
            </a:r>
          </a:p>
        </p:txBody>
      </p:sp>
    </p:spTree>
    <p:extLst>
      <p:ext uri="{BB962C8B-B14F-4D97-AF65-F5344CB8AC3E}">
        <p14:creationId xmlns:p14="http://schemas.microsoft.com/office/powerpoint/2010/main" val="800814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3- Associative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/>
            <a:r>
              <a:rPr lang="en-US" sz="2400" dirty="0"/>
              <a:t>A structure called associative memory implements the tag portion of the cache memory</a:t>
            </a:r>
            <a:r>
              <a:rPr lang="en-US" sz="2400" dirty="0" smtClean="0"/>
              <a:t>.</a:t>
            </a:r>
          </a:p>
          <a:p>
            <a:pPr algn="l"/>
            <a:r>
              <a:rPr lang="en-US" sz="2400" dirty="0" smtClean="0"/>
              <a:t>An associative memory is known as content-addressable memory (CAM). The subfield chosen to address the memory (TAG) is called the key.</a:t>
            </a:r>
            <a:endParaRPr lang="en-US" sz="2400" dirty="0"/>
          </a:p>
          <a:p>
            <a:r>
              <a:rPr lang="en-US" sz="2400" dirty="0"/>
              <a:t>The idea is to minimize the fetching time by adding an associative memory for fetching Tags.</a:t>
            </a:r>
          </a:p>
          <a:p>
            <a:r>
              <a:rPr lang="en-US" sz="2400" dirty="0"/>
              <a:t>Let : T </a:t>
            </a:r>
            <a:r>
              <a:rPr lang="en-US" sz="2400" dirty="0">
                <a:sym typeface="Wingdings" panose="05000000000000000000" pitchFamily="2" charset="2"/>
              </a:rPr>
              <a:t> is the Tag address, and A  is the applied CPU address.</a:t>
            </a:r>
          </a:p>
          <a:p>
            <a:r>
              <a:rPr lang="en-US" sz="2400" dirty="0">
                <a:sym typeface="Wingdings" panose="05000000000000000000" pitchFamily="2" charset="2"/>
              </a:rPr>
              <a:t>The matching logic circuit does an equality comparison between the Tag ‘T’, and the applied address ‘A’, for the eight cache memory locations at the same time.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85220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6AAB94A2-CFEF-4906-84A6-C7AF6A57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74" y="145774"/>
            <a:ext cx="8852452" cy="671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7595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80578"/>
          </a:xfrm>
        </p:spPr>
        <p:txBody>
          <a:bodyPr/>
          <a:lstStyle/>
          <a:p>
            <a:r>
              <a:rPr lang="en-US" dirty="0"/>
              <a:t>Cont.,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78226"/>
            <a:ext cx="7886700" cy="4798737"/>
          </a:xfrm>
        </p:spPr>
        <p:txBody>
          <a:bodyPr>
            <a:noAutofit/>
          </a:bodyPr>
          <a:lstStyle/>
          <a:p>
            <a:pPr algn="l"/>
            <a:r>
              <a:rPr lang="en-US" sz="2400" b="0" i="0" u="none" strike="noStrike" baseline="0" dirty="0"/>
              <a:t>The match logic does an equality comparison or match between the tag </a:t>
            </a:r>
            <a:r>
              <a:rPr lang="en-US" sz="2400" b="0" i="1" u="none" strike="noStrike" baseline="0" dirty="0"/>
              <a:t>T </a:t>
            </a:r>
            <a:r>
              <a:rPr lang="en-US" sz="2400" b="0" i="0" u="none" strike="noStrike" baseline="0" dirty="0"/>
              <a:t>and the applied address </a:t>
            </a:r>
            <a:r>
              <a:rPr lang="en-US" sz="2400" b="0" i="1" u="none" strike="noStrike" baseline="0" dirty="0"/>
              <a:t>A </a:t>
            </a:r>
            <a:r>
              <a:rPr lang="en-US" sz="2400" b="0" i="0" u="none" strike="noStrike" baseline="0" dirty="0"/>
              <a:t>from the CPU.</a:t>
            </a:r>
          </a:p>
          <a:p>
            <a:pPr algn="l"/>
            <a:r>
              <a:rPr lang="en-US" sz="2400" b="0" i="0" u="none" strike="noStrike" baseline="0" dirty="0"/>
              <a:t>The match logic for each tag is composed of an exclusive-OR gate for each bit and a NOR gate that combines the outputs of the exclusive-ORs.</a:t>
            </a:r>
          </a:p>
          <a:p>
            <a:pPr algn="l"/>
            <a:r>
              <a:rPr lang="en-US" sz="2400" b="0" i="0" u="none" strike="noStrike" baseline="0" dirty="0"/>
              <a:t> If all of the bits of the tag and the address match, then the outputs of all the exclusive-ORs are 0 and the NOR output is a 1, indicating a match.</a:t>
            </a:r>
          </a:p>
          <a:p>
            <a:pPr algn="l"/>
            <a:r>
              <a:rPr lang="en-US" sz="2400" b="0" i="0" u="none" strike="noStrike" baseline="0" dirty="0"/>
              <a:t> If there is a mismatch between any of the bits in the tag and the address, then at least one exclusive-OR has a 1 output, which causes the output of the NOR gate to be 0, indicating a mismatch.</a:t>
            </a:r>
            <a:endParaRPr lang="en-US" sz="2400" dirty="0"/>
          </a:p>
          <a:p>
            <a:r>
              <a:rPr lang="en-US" sz="2400" dirty="0"/>
              <a:t>The drawback of the method is the matching logic circuit cost and size.</a:t>
            </a:r>
          </a:p>
        </p:txBody>
      </p:sp>
    </p:spTree>
    <p:extLst>
      <p:ext uri="{BB962C8B-B14F-4D97-AF65-F5344CB8AC3E}">
        <p14:creationId xmlns:p14="http://schemas.microsoft.com/office/powerpoint/2010/main" val="1505982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4- Set-associative Cache mapping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1690689"/>
            <a:ext cx="7429499" cy="397100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 alternative mapping that has better performance and eliminates the cost of most of the matching logic is a compromise between a direct-mapped cache and a fully associative cache.</a:t>
            </a:r>
          </a:p>
          <a:p>
            <a:r>
              <a:rPr lang="en-US" dirty="0"/>
              <a:t>For such a mapping, lower-order address bits (Index) act much as they do in direct mapping; however, for each combination of lower-order address bits, instead of having one location, there is a </a:t>
            </a:r>
            <a:r>
              <a:rPr lang="en-US" i="1" dirty="0"/>
              <a:t>set </a:t>
            </a:r>
            <a:r>
              <a:rPr lang="en-US" dirty="0"/>
              <a:t>of </a:t>
            </a:r>
            <a:r>
              <a:rPr lang="en-US" b="1" i="1" dirty="0">
                <a:solidFill>
                  <a:srgbClr val="FF0000"/>
                </a:solidFill>
              </a:rPr>
              <a:t>s</a:t>
            </a:r>
            <a:r>
              <a:rPr lang="en-US" i="1" dirty="0"/>
              <a:t> </a:t>
            </a:r>
            <a:r>
              <a:rPr lang="en-US" dirty="0"/>
              <a:t>locations.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021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Two-Way set Associative Cache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815922"/>
            <a:ext cx="7429499" cy="458487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For example, if the </a:t>
            </a:r>
            <a:r>
              <a:rPr lang="en-US" i="1" dirty="0"/>
              <a:t>set size  </a:t>
            </a:r>
            <a:r>
              <a:rPr lang="en-US" dirty="0"/>
              <a:t>equals two, then two tags and the two accompanying data words are read simultaneously.</a:t>
            </a:r>
          </a:p>
          <a:p>
            <a:r>
              <a:rPr lang="en-US" dirty="0"/>
              <a:t>The tags are then simultaneously compared to the CPU-supplied address using just two matching logic structures.</a:t>
            </a:r>
          </a:p>
          <a:p>
            <a:r>
              <a:rPr lang="en-US" dirty="0"/>
              <a:t>Eight cache locations are arranged in four rows of two locations each.</a:t>
            </a:r>
          </a:p>
          <a:p>
            <a:r>
              <a:rPr lang="en-US" dirty="0"/>
              <a:t> The rows are addressed by a 2-bit index and contain tags made up of the remaining six bits of the main memory address.</a:t>
            </a:r>
          </a:p>
        </p:txBody>
      </p:sp>
    </p:spTree>
    <p:extLst>
      <p:ext uri="{BB962C8B-B14F-4D97-AF65-F5344CB8AC3E}">
        <p14:creationId xmlns:p14="http://schemas.microsoft.com/office/powerpoint/2010/main" val="885435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A8EE542-3580-4725-B3F7-BD7A32520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87" y="345529"/>
            <a:ext cx="8309113" cy="5869004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800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19DC4E0-F2E0-40B9-8B89-8E3D44566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Mapping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D0A46A5-E3B1-44C8-A483-884888B65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/>
            <a:r>
              <a:rPr lang="en-US" sz="2400" b="0" i="0" u="none" strike="noStrike" baseline="0" dirty="0"/>
              <a:t>The index is used to address each row of the cache memory.</a:t>
            </a:r>
          </a:p>
          <a:p>
            <a:pPr algn="l"/>
            <a:r>
              <a:rPr lang="en-US" sz="2400" b="0" i="0" u="none" strike="noStrike" baseline="0" dirty="0"/>
              <a:t> The two tags read from the tag memories are compared to the tag part of the address on the address bus from the CPU. </a:t>
            </a:r>
          </a:p>
          <a:p>
            <a:pPr algn="l"/>
            <a:r>
              <a:rPr lang="en-US" sz="2400" b="0" i="0" u="none" strike="noStrike" baseline="0" dirty="0"/>
              <a:t>If a match occurs, then the three-state buffer on the corresponding data memory output is activated, placing the data onto the data bus to the CPU as shown in the following figure. </a:t>
            </a:r>
          </a:p>
          <a:p>
            <a:pPr algn="l"/>
            <a:r>
              <a:rPr lang="en-US" sz="2400" b="0" i="0" u="none" strike="noStrike" baseline="0" dirty="0"/>
              <a:t>In addition, the match signal causes the output of the Hit/miss OR gate to become 1, indicating a hit. </a:t>
            </a:r>
          </a:p>
          <a:p>
            <a:pPr algn="l"/>
            <a:r>
              <a:rPr lang="en-US" sz="2400" b="0" i="0" u="none" strike="noStrike" baseline="0" dirty="0"/>
              <a:t>If a match does not occur, then Hit/miss is 0, informing the main memory that it must supply the word to the CPU, and informing the CPU that the word will be delayed.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87631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Cache Controller</a:t>
            </a:r>
            <a:endParaRPr lang="en-US" b="1" dirty="0"/>
          </a:p>
        </p:txBody>
      </p:sp>
      <p:pic>
        <p:nvPicPr>
          <p:cNvPr id="1026" name="Picture 2" descr="Set-Associative Cache - an overview | ScienceDirect Topic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34" y="2091846"/>
            <a:ext cx="7227518" cy="3444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6143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452456"/>
            <a:ext cx="8178799" cy="3953086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6214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Line Size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real caches, spatial locality is to be exploited, so additional words close to the one addressed are included in the cache entry. </a:t>
            </a:r>
          </a:p>
          <a:p>
            <a:r>
              <a:rPr lang="en-US" sz="2400" dirty="0"/>
              <a:t>Then, rather than a single word being fetched from main memory when a cache miss occurs, a block of </a:t>
            </a:r>
            <a:r>
              <a:rPr lang="en-US" sz="2400" i="1" dirty="0"/>
              <a:t>l </a:t>
            </a:r>
            <a:r>
              <a:rPr lang="en-US" sz="2400" dirty="0"/>
              <a:t>words called a </a:t>
            </a:r>
            <a:r>
              <a:rPr lang="en-US" sz="2400" i="1" dirty="0"/>
              <a:t>line </a:t>
            </a:r>
            <a:r>
              <a:rPr lang="en-US" sz="2400" dirty="0"/>
              <a:t>is fetched.</a:t>
            </a:r>
          </a:p>
          <a:p>
            <a:pPr algn="l"/>
            <a:r>
              <a:rPr lang="en-US" sz="2400" b="0" i="0" u="none" strike="noStrike" baseline="0" dirty="0"/>
              <a:t>Bits 2 and 3, the Word field, are used to address the word within the line. In this case, two bits are used, so there are four words per line.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896" y="5605115"/>
            <a:ext cx="4262907" cy="67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6182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2570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051AF20-14D2-494E-86E5-9F2244C66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Cache Replacement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8AFDE1-3924-461C-A3B4-28C3FBE91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/>
              <a:t>In addition to selecting a cache mapping, the cache designer must select a replacement approach that determines the location in the cache to be used for the incoming tag and data.</a:t>
            </a:r>
          </a:p>
          <a:p>
            <a:pPr algn="l"/>
            <a:r>
              <a:rPr lang="en-US" sz="2400" b="0" i="0" u="none" strike="noStrike" baseline="0" dirty="0"/>
              <a:t>One possibility is to select a </a:t>
            </a:r>
            <a:r>
              <a:rPr lang="en-US" sz="2400" b="0" i="1" u="none" strike="noStrike" baseline="0" dirty="0">
                <a:solidFill>
                  <a:srgbClr val="FF0000"/>
                </a:solidFill>
              </a:rPr>
              <a:t>random replacement </a:t>
            </a:r>
            <a:r>
              <a:rPr lang="en-US" sz="2400" b="0" i="0" u="none" strike="noStrike" baseline="0" dirty="0"/>
              <a:t>location</a:t>
            </a:r>
            <a:endParaRPr lang="en-US" sz="2400" dirty="0"/>
          </a:p>
          <a:p>
            <a:pPr algn="l"/>
            <a:r>
              <a:rPr lang="en-US" sz="2400" b="0" i="0" u="none" strike="noStrike" baseline="0" dirty="0"/>
              <a:t>A somewhat more thoughtful approach is to use a first-in, first-out (</a:t>
            </a:r>
            <a:r>
              <a:rPr lang="en-US" sz="2400" b="0" i="0" u="none" strike="noStrike" baseline="0" dirty="0">
                <a:solidFill>
                  <a:srgbClr val="FF0000"/>
                </a:solidFill>
              </a:rPr>
              <a:t>FIFO</a:t>
            </a:r>
            <a:r>
              <a:rPr lang="en-US" sz="2400" b="0" i="0" u="none" strike="noStrike" baseline="0" dirty="0"/>
              <a:t>) location.</a:t>
            </a:r>
          </a:p>
          <a:p>
            <a:pPr algn="l"/>
            <a:r>
              <a:rPr lang="en-US" sz="2400" b="0" i="0" u="none" strike="noStrike" baseline="0" dirty="0"/>
              <a:t>An approach that appears to attack the replacement problem even more directly is the </a:t>
            </a:r>
            <a:r>
              <a:rPr lang="en-US" sz="2400" b="0" i="1" u="none" strike="noStrike" baseline="0" dirty="0">
                <a:solidFill>
                  <a:srgbClr val="FF0000"/>
                </a:solidFill>
              </a:rPr>
              <a:t>least recently used </a:t>
            </a:r>
            <a:r>
              <a:rPr lang="en-US" sz="2400" b="0" i="0" u="none" strike="noStrike" baseline="0" dirty="0">
                <a:solidFill>
                  <a:srgbClr val="FF0000"/>
                </a:solidFill>
              </a:rPr>
              <a:t>(LRU) </a:t>
            </a:r>
            <a:r>
              <a:rPr lang="en-US" sz="2400" b="0" i="0" u="none" strike="noStrike" baseline="0" dirty="0"/>
              <a:t>location approach.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085307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8DF86D3-0ABC-4A1B-B45F-B75CAABC9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286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sz="2800" b="1" i="0" u="none" strike="noStrike" baseline="0" dirty="0" smtClean="0">
                <a:latin typeface="HelveticaLTCom-Bold"/>
              </a:rPr>
              <a:t>Cache Write </a:t>
            </a:r>
            <a:r>
              <a:rPr lang="en-US" sz="2800" b="1" i="0" u="none" strike="noStrike" baseline="0" dirty="0">
                <a:latin typeface="HelveticaLTCom-Bold"/>
              </a:rPr>
              <a:t>Methods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0218B7B-9F31-41A6-BE61-7FAB496CB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/>
              <a:t>We have focused so far on reading instructions and operands from the cache. What happens when a write occurs?</a:t>
            </a:r>
          </a:p>
          <a:p>
            <a:pPr algn="l"/>
            <a:r>
              <a:rPr lang="en-US" sz="2400" b="0" i="0" u="none" strike="noStrike" baseline="0" dirty="0"/>
              <a:t>Following are three possible write actions from which we can select:</a:t>
            </a:r>
          </a:p>
          <a:p>
            <a:pPr marL="0" indent="0" algn="l">
              <a:buNone/>
            </a:pPr>
            <a:r>
              <a:rPr lang="en-US" sz="2400" b="1" i="0" u="none" strike="noStrike" baseline="0" dirty="0" smtClean="0"/>
              <a:t>	1</a:t>
            </a:r>
            <a:r>
              <a:rPr lang="en-US" sz="2400" b="1" i="0" u="none" strike="noStrike" baseline="0" dirty="0"/>
              <a:t>. </a:t>
            </a:r>
            <a:r>
              <a:rPr lang="en-US" sz="2400" b="0" i="0" u="none" strike="noStrike" baseline="0" dirty="0"/>
              <a:t>Write the result into main memory.</a:t>
            </a:r>
          </a:p>
          <a:p>
            <a:pPr marL="0" indent="0" algn="l">
              <a:buNone/>
            </a:pPr>
            <a:r>
              <a:rPr lang="en-US" sz="2400" b="1" i="0" u="none" strike="noStrike" baseline="0" dirty="0" smtClean="0"/>
              <a:t>	2</a:t>
            </a:r>
            <a:r>
              <a:rPr lang="en-US" sz="2400" b="1" i="0" u="none" strike="noStrike" baseline="0" dirty="0"/>
              <a:t>. </a:t>
            </a:r>
            <a:r>
              <a:rPr lang="en-US" sz="2400" b="0" i="0" u="none" strike="noStrike" baseline="0" dirty="0"/>
              <a:t>Write the result into the cache.</a:t>
            </a:r>
          </a:p>
          <a:p>
            <a:pPr marL="0" indent="0" algn="l">
              <a:buNone/>
            </a:pPr>
            <a:r>
              <a:rPr lang="en-US" sz="2400" b="1" i="0" u="none" strike="noStrike" baseline="0" dirty="0" smtClean="0"/>
              <a:t>	3</a:t>
            </a:r>
            <a:r>
              <a:rPr lang="en-US" sz="2400" b="1" i="0" u="none" strike="noStrike" baseline="0" dirty="0"/>
              <a:t>. </a:t>
            </a:r>
            <a:r>
              <a:rPr lang="en-US" sz="2400" b="0" i="0" u="none" strike="noStrike" baseline="0" dirty="0"/>
              <a:t>Write the result into both main memory and the </a:t>
            </a:r>
            <a:r>
              <a:rPr lang="en-US" sz="2400" b="0" i="0" u="none" strike="noStrike" baseline="0" dirty="0" smtClean="0"/>
              <a:t>	cache</a:t>
            </a:r>
            <a:r>
              <a:rPr lang="en-US" sz="2400" b="0" i="0" u="none" strike="noStrike" baseline="0" dirty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944460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391D013-A678-425F-90F8-3FA51F603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latin typeface="+mn-lt"/>
              </a:rPr>
              <a:t>Cont.,</a:t>
            </a:r>
            <a:endParaRPr lang="en-US" sz="28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4E08FA8-FBFF-431A-892D-437E97481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u="none" strike="noStrike" baseline="0" dirty="0"/>
              <a:t>Various realistic cache write methods employ one or more of these actions. </a:t>
            </a:r>
            <a:endParaRPr lang="en-US" b="0" i="0" u="none" strike="noStrike" baseline="0" dirty="0" smtClean="0"/>
          </a:p>
          <a:p>
            <a:pPr algn="l"/>
            <a:r>
              <a:rPr lang="en-US" b="0" i="0" u="none" strike="noStrike" baseline="0" dirty="0" smtClean="0"/>
              <a:t>Such </a:t>
            </a:r>
            <a:r>
              <a:rPr lang="en-US" b="0" i="0" u="none" strike="noStrike" baseline="0" dirty="0"/>
              <a:t>methods fall into two main categories: </a:t>
            </a:r>
          </a:p>
          <a:p>
            <a:pPr marL="0" indent="0" algn="l">
              <a:buNone/>
            </a:pPr>
            <a:r>
              <a:rPr lang="en-US" dirty="0"/>
              <a:t>	- W</a:t>
            </a:r>
            <a:r>
              <a:rPr lang="en-US" b="0" i="0" u="none" strike="noStrike" baseline="0" dirty="0"/>
              <a:t>rite-through.</a:t>
            </a:r>
            <a:endParaRPr lang="en-US" dirty="0"/>
          </a:p>
          <a:p>
            <a:pPr marL="0" indent="0" algn="l">
              <a:buNone/>
            </a:pPr>
            <a:r>
              <a:rPr lang="en-US" dirty="0"/>
              <a:t>	- Write-back</a:t>
            </a:r>
            <a:r>
              <a:rPr lang="en-US" dirty="0" smtClean="0"/>
              <a:t>.</a:t>
            </a:r>
          </a:p>
          <a:p>
            <a:r>
              <a:rPr lang="en-US" dirty="0"/>
              <a:t>In cache memory, "write back" and "write through" are two different strategies for managing how data is written to both the cache and the underlying main memory.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2275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Write </a:t>
            </a:r>
            <a:r>
              <a:rPr lang="en-US" b="1" dirty="0" smtClean="0"/>
              <a:t>Through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Definition</a:t>
            </a:r>
            <a:r>
              <a:rPr lang="en-US" dirty="0"/>
              <a:t>: In the write-through cache strategy, every time data is written to the cache, it is also written simultaneously to the main memory.</a:t>
            </a:r>
          </a:p>
          <a:p>
            <a:r>
              <a:rPr lang="en-US" b="1" dirty="0"/>
              <a:t>Advantages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Simplicity: Easy to implement and understand.</a:t>
            </a:r>
          </a:p>
          <a:p>
            <a:pPr lvl="1"/>
            <a:r>
              <a:rPr lang="en-US" dirty="0"/>
              <a:t>Data Consistency: The main memory always contains the most up-to-date data.</a:t>
            </a:r>
          </a:p>
          <a:p>
            <a:r>
              <a:rPr lang="en-US" b="1" dirty="0"/>
              <a:t>Disadvantages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Performance: Slower write operations because every write operation involves accessing both cache and main memory.</a:t>
            </a:r>
          </a:p>
          <a:p>
            <a:pPr lvl="1"/>
            <a:r>
              <a:rPr lang="en-US" dirty="0"/>
              <a:t>Increased memory traffic: More frequent writes to the main memory can lead to higher bandwidth usage.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2075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Write </a:t>
            </a:r>
            <a:r>
              <a:rPr lang="en-US" b="1" dirty="0" smtClean="0"/>
              <a:t>Back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 smtClean="0"/>
              <a:t>Definition</a:t>
            </a:r>
            <a:r>
              <a:rPr lang="en-US" dirty="0"/>
              <a:t>: In the write-back cache strategy, data is written to the cache first, and updates are only written to main memory later, typically when the cache line is evicted.</a:t>
            </a:r>
          </a:p>
          <a:p>
            <a:r>
              <a:rPr lang="en-US" b="1" dirty="0"/>
              <a:t>Advantages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Performance: Faster write operations since the write to main memory is delayed.</a:t>
            </a:r>
          </a:p>
          <a:p>
            <a:pPr lvl="1"/>
            <a:r>
              <a:rPr lang="en-US" dirty="0"/>
              <a:t>Reduced memory traffic: Fewer writes to main memory can improve overall system performance, especially for applications with frequent writes.</a:t>
            </a:r>
          </a:p>
          <a:p>
            <a:r>
              <a:rPr lang="en-US" b="1" dirty="0"/>
              <a:t>Disadvantages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Complexity: More complex to manage, as the system must track which cache lines have been modified.</a:t>
            </a:r>
          </a:p>
          <a:p>
            <a:pPr lvl="1"/>
            <a:r>
              <a:rPr lang="en-US" dirty="0"/>
              <a:t>Potential for Data Loss: If the system crashes before the cache is written back to memory, changes could be lost.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9312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AF67EED-1919-4AFE-8F23-60009D66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Assignment 1 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82067D5-7B34-4B33-ADE2-5471F76BC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Explain </a:t>
            </a:r>
            <a:r>
              <a:rPr lang="en-US" dirty="0" smtClean="0"/>
              <a:t>the concept of </a:t>
            </a:r>
            <a:r>
              <a:rPr lang="en-US" dirty="0">
                <a:solidFill>
                  <a:srgbClr val="0070C0"/>
                </a:solidFill>
              </a:rPr>
              <a:t>Cache Coherence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1541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5927BF6-FDEE-4893-ABA4-FACFAAE8C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Assignment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E98A11E-1FDB-4795-937B-380D3951D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CPU produces the following sequence of read addresses in hexadecimal: 54, 58, 104, 5C, 108, 60, F0, 64, 54, 58, 10C, 5C, 110, 60, F0, 64. Supposing that the cache is empty to begin with, and assuming an LRU replacement, determine whether each address produces a hit or a miss for each of the following caches: (a) direct mapped (b) fully associative , and (c) two-way set associative.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8956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Assignment #3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dirty="0"/>
              <a:t>A two-way set-associative cache in a system with 32-bit addresses has four 4-byte words per line and a capacity of 1 MB. Addressing is to the byte level. How many bits are there in the index and the tag?							</a:t>
            </a:r>
            <a:r>
              <a:rPr lang="en-US" b="1" dirty="0"/>
              <a:t> 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9089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5E9792B-C848-4CC4-84CD-FEB4EEF24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D45A32C-A63A-4D00-84EE-C43509C4C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Book </a:t>
            </a:r>
            <a:r>
              <a:rPr lang="en-US" dirty="0" err="1"/>
              <a:t>ch.</a:t>
            </a:r>
            <a:r>
              <a:rPr lang="en-US" dirty="0"/>
              <a:t>, 12</a:t>
            </a:r>
          </a:p>
        </p:txBody>
      </p:sp>
    </p:spTree>
    <p:extLst>
      <p:ext uri="{BB962C8B-B14F-4D97-AF65-F5344CB8AC3E}">
        <p14:creationId xmlns:p14="http://schemas.microsoft.com/office/powerpoint/2010/main" val="209609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2186</Words>
  <Application>Microsoft Office PowerPoint</Application>
  <PresentationFormat>On-screen Show (4:3)</PresentationFormat>
  <Paragraphs>154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Arial</vt:lpstr>
      <vt:lpstr>Calibri</vt:lpstr>
      <vt:lpstr>Calibri Light</vt:lpstr>
      <vt:lpstr>Cambria Math</vt:lpstr>
      <vt:lpstr>HelveticaLTCom-Bold</vt:lpstr>
      <vt:lpstr>Times New Roman</vt:lpstr>
      <vt:lpstr>TimesTenLTStd-Roman</vt:lpstr>
      <vt:lpstr>Wingdings</vt:lpstr>
      <vt:lpstr>Office Theme</vt:lpstr>
      <vt:lpstr>Lecture 5</vt:lpstr>
      <vt:lpstr>Von Neumann bottleneck</vt:lpstr>
      <vt:lpstr>Modifications to the von Neumann model</vt:lpstr>
      <vt:lpstr>Principle of Locality</vt:lpstr>
      <vt:lpstr>MEMORY HIERARCHY</vt:lpstr>
      <vt:lpstr>Example of Memory Hierarchy with Two Caches</vt:lpstr>
      <vt:lpstr>Multiple-Level Caches</vt:lpstr>
      <vt:lpstr>Cache Memory</vt:lpstr>
      <vt:lpstr>Cache Mappings</vt:lpstr>
      <vt:lpstr>1- Direct Cache Mapping</vt:lpstr>
      <vt:lpstr>Cont.,</vt:lpstr>
      <vt:lpstr>PowerPoint Presentation</vt:lpstr>
      <vt:lpstr>Mapping Process</vt:lpstr>
      <vt:lpstr>Cont.,</vt:lpstr>
      <vt:lpstr>2- fully associative mapping</vt:lpstr>
      <vt:lpstr>PowerPoint Presentation</vt:lpstr>
      <vt:lpstr>Mapping Process</vt:lpstr>
      <vt:lpstr>Cont.,</vt:lpstr>
      <vt:lpstr>3- Associative Memory</vt:lpstr>
      <vt:lpstr>PowerPoint Presentation</vt:lpstr>
      <vt:lpstr>Cont.,</vt:lpstr>
      <vt:lpstr>4- Set-associative Cache mapping </vt:lpstr>
      <vt:lpstr>Two-Way set Associative Cache</vt:lpstr>
      <vt:lpstr>PowerPoint Presentation</vt:lpstr>
      <vt:lpstr>Mapping Process</vt:lpstr>
      <vt:lpstr>Cache Controller</vt:lpstr>
      <vt:lpstr>PowerPoint Presentation</vt:lpstr>
      <vt:lpstr>Line Size</vt:lpstr>
      <vt:lpstr>PowerPoint Presentation</vt:lpstr>
      <vt:lpstr>Cache Replacement Approaches</vt:lpstr>
      <vt:lpstr>Cache Write Methods</vt:lpstr>
      <vt:lpstr>Cont.,</vt:lpstr>
      <vt:lpstr>Write Through</vt:lpstr>
      <vt:lpstr>Write Back</vt:lpstr>
      <vt:lpstr>Assignment 1  </vt:lpstr>
      <vt:lpstr>Assignment 2</vt:lpstr>
      <vt:lpstr>Assignment #3</vt:lpstr>
      <vt:lpstr>Sheet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5</dc:title>
  <dc:creator>Khaled Ahmed Mohamed El Shafey</dc:creator>
  <cp:lastModifiedBy>Infinity</cp:lastModifiedBy>
  <cp:revision>31</cp:revision>
  <dcterms:created xsi:type="dcterms:W3CDTF">2020-11-15T19:31:18Z</dcterms:created>
  <dcterms:modified xsi:type="dcterms:W3CDTF">2024-10-26T07:28:40Z</dcterms:modified>
</cp:coreProperties>
</file>