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8" r:id="rId2"/>
    <p:sldId id="328" r:id="rId3"/>
    <p:sldId id="329" r:id="rId4"/>
    <p:sldId id="305" r:id="rId5"/>
    <p:sldId id="330" r:id="rId6"/>
    <p:sldId id="313" r:id="rId7"/>
    <p:sldId id="292" r:id="rId8"/>
    <p:sldId id="316" r:id="rId9"/>
    <p:sldId id="317" r:id="rId10"/>
    <p:sldId id="318" r:id="rId11"/>
    <p:sldId id="319" r:id="rId12"/>
    <p:sldId id="320" r:id="rId13"/>
    <p:sldId id="321" r:id="rId14"/>
    <p:sldId id="322" r:id="rId15"/>
    <p:sldId id="323" r:id="rId16"/>
    <p:sldId id="324" r:id="rId17"/>
    <p:sldId id="325" r:id="rId18"/>
    <p:sldId id="259" r:id="rId19"/>
    <p:sldId id="266" r:id="rId20"/>
    <p:sldId id="272" r:id="rId21"/>
    <p:sldId id="267" r:id="rId22"/>
    <p:sldId id="268" r:id="rId23"/>
    <p:sldId id="269" r:id="rId24"/>
    <p:sldId id="270" r:id="rId25"/>
    <p:sldId id="326" r:id="rId26"/>
    <p:sldId id="327" r:id="rId27"/>
    <p:sldId id="273" r:id="rId28"/>
    <p:sldId id="274" r:id="rId29"/>
  </p:sldIdLst>
  <p:sldSz cx="9144000" cy="6858000" type="screen4x3"/>
  <p:notesSz cx="6858000" cy="9144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974" y="-422"/>
      </p:cViewPr>
      <p:guideLst/>
    </p:cSldViewPr>
  </p:slideViewPr>
  <p:notesTextViewPr>
    <p:cViewPr>
      <p:scale>
        <a:sx n="1" d="1"/>
        <a:sy n="1" d="1"/>
      </p:scale>
      <p:origin x="0" y="0"/>
    </p:cViewPr>
  </p:notesTextViewPr>
  <p:sorterViewPr>
    <p:cViewPr>
      <p:scale>
        <a:sx n="100" d="100"/>
        <a:sy n="100" d="100"/>
      </p:scale>
      <p:origin x="0" y="-80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6A89C5-F81D-42B1-A856-4FE3841296EC}" type="datetimeFigureOut">
              <a:rPr lang="en-US" smtClean="0"/>
              <a:t>11/14/2024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6B7FC5-9DA3-4F04-A217-9D005998C290}" type="slidenum">
              <a:rPr lang="en-US" smtClean="0"/>
              <a:t>‹#›</a:t>
            </a:fld>
            <a:endParaRPr lang="en-US"/>
          </a:p>
        </p:txBody>
      </p:sp>
    </p:spTree>
    <p:extLst>
      <p:ext uri="{BB962C8B-B14F-4D97-AF65-F5344CB8AC3E}">
        <p14:creationId xmlns:p14="http://schemas.microsoft.com/office/powerpoint/2010/main" val="166524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2C6007EE-C5D1-4C3A-8F40-9CD579847751}" type="slidenum">
              <a:rPr lang="ar-EG" smtClean="0"/>
              <a:t>17</a:t>
            </a:fld>
            <a:endParaRPr lang="ar-EG"/>
          </a:p>
        </p:txBody>
      </p:sp>
    </p:spTree>
    <p:extLst>
      <p:ext uri="{BB962C8B-B14F-4D97-AF65-F5344CB8AC3E}">
        <p14:creationId xmlns:p14="http://schemas.microsoft.com/office/powerpoint/2010/main" val="1652579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CAFDBF-C8C4-4328-8C44-7546B0C773ED}" type="datetimeFigureOut">
              <a:rPr lang="ar-EG" smtClean="0"/>
              <a:t>13/05/1446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1973900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CAFDBF-C8C4-4328-8C44-7546B0C773ED}" type="datetimeFigureOut">
              <a:rPr lang="ar-EG" smtClean="0"/>
              <a:t>13/05/1446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4256121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5CAFDBF-C8C4-4328-8C44-7546B0C773ED}" type="datetimeFigureOut">
              <a:rPr lang="ar-EG" smtClean="0"/>
              <a:t>13/05/1446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3321938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CAFDBF-C8C4-4328-8C44-7546B0C773ED}" type="datetimeFigureOut">
              <a:rPr lang="ar-EG" smtClean="0"/>
              <a:t>13/05/1446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238489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CAFDBF-C8C4-4328-8C44-7546B0C773ED}" type="datetimeFigureOut">
              <a:rPr lang="ar-EG" smtClean="0"/>
              <a:t>13/05/1446</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819137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CAFDBF-C8C4-4328-8C44-7546B0C773ED}" type="datetimeFigureOut">
              <a:rPr lang="ar-EG" smtClean="0"/>
              <a:t>13/05/1446</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1152388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CAFDBF-C8C4-4328-8C44-7546B0C773ED}" type="datetimeFigureOut">
              <a:rPr lang="ar-EG" smtClean="0"/>
              <a:t>13/05/1446</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82560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5CAFDBF-C8C4-4328-8C44-7546B0C773ED}" type="datetimeFigureOut">
              <a:rPr lang="ar-EG" smtClean="0"/>
              <a:t>13/05/1446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23644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5CAFDBF-C8C4-4328-8C44-7546B0C773ED}" type="datetimeFigureOut">
              <a:rPr lang="ar-EG" smtClean="0"/>
              <a:t>13/05/1446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2316552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CAFDBF-C8C4-4328-8C44-7546B0C773ED}" type="datetimeFigureOut">
              <a:rPr lang="ar-EG" smtClean="0"/>
              <a:t>13/05/1446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2662134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CAFDBF-C8C4-4328-8C44-7546B0C773ED}" type="datetimeFigureOut">
              <a:rPr lang="ar-EG" smtClean="0"/>
              <a:t>13/05/1446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8E28CFE8-CACF-47FB-A84E-79F8148131E0}" type="slidenum">
              <a:rPr lang="ar-EG" smtClean="0"/>
              <a:t>‹#›</a:t>
            </a:fld>
            <a:endParaRPr lang="ar-EG"/>
          </a:p>
        </p:txBody>
      </p:sp>
    </p:spTree>
    <p:extLst>
      <p:ext uri="{BB962C8B-B14F-4D97-AF65-F5344CB8AC3E}">
        <p14:creationId xmlns:p14="http://schemas.microsoft.com/office/powerpoint/2010/main" val="3096857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CAFDBF-C8C4-4328-8C44-7546B0C773ED}" type="datetimeFigureOut">
              <a:rPr lang="ar-EG" smtClean="0"/>
              <a:t>13/05/1446</a:t>
            </a:fld>
            <a:endParaRPr lang="ar-EG"/>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EG"/>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28CFE8-CACF-47FB-A84E-79F8148131E0}" type="slidenum">
              <a:rPr lang="ar-EG" smtClean="0"/>
              <a:t>‹#›</a:t>
            </a:fld>
            <a:endParaRPr lang="ar-EG"/>
          </a:p>
        </p:txBody>
      </p:sp>
    </p:spTree>
    <p:extLst>
      <p:ext uri="{BB962C8B-B14F-4D97-AF65-F5344CB8AC3E}">
        <p14:creationId xmlns:p14="http://schemas.microsoft.com/office/powerpoint/2010/main" val="4005265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3</a:t>
            </a:r>
            <a:br>
              <a:rPr lang="ar-EG" dirty="0"/>
            </a:br>
            <a:endParaRPr lang="ar-EG" dirty="0"/>
          </a:p>
        </p:txBody>
      </p:sp>
      <p:sp>
        <p:nvSpPr>
          <p:cNvPr id="3" name="Subtitle 2"/>
          <p:cNvSpPr>
            <a:spLocks noGrp="1"/>
          </p:cNvSpPr>
          <p:nvPr>
            <p:ph type="subTitle" idx="1"/>
          </p:nvPr>
        </p:nvSpPr>
        <p:spPr/>
        <p:txBody>
          <a:bodyPr>
            <a:normAutofit/>
          </a:bodyPr>
          <a:lstStyle/>
          <a:p>
            <a:pPr marL="342900" indent="-342900" algn="l" rtl="0">
              <a:buFont typeface="Arial" panose="020B0604020202020204" pitchFamily="34" charset="0"/>
              <a:buChar char="•"/>
            </a:pPr>
            <a:r>
              <a:rPr lang="en-US" sz="3200" b="1" dirty="0"/>
              <a:t>Dynamic RAM (DRAM)</a:t>
            </a:r>
          </a:p>
          <a:p>
            <a:pPr marL="342900" indent="-342900" algn="l" rtl="0">
              <a:buFont typeface="Arial" panose="020B0604020202020204" pitchFamily="34" charset="0"/>
              <a:buChar char="•"/>
            </a:pPr>
            <a:r>
              <a:rPr lang="en-US" sz="3200" b="1" dirty="0"/>
              <a:t>Memory Refreshment</a:t>
            </a:r>
          </a:p>
        </p:txBody>
      </p:sp>
    </p:spTree>
    <p:extLst>
      <p:ext uri="{BB962C8B-B14F-4D97-AF65-F5344CB8AC3E}">
        <p14:creationId xmlns:p14="http://schemas.microsoft.com/office/powerpoint/2010/main" val="503756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00210"/>
          </a:xfrm>
        </p:spPr>
        <p:txBody>
          <a:bodyPr/>
          <a:lstStyle/>
          <a:p>
            <a:pPr rtl="0"/>
            <a:r>
              <a:rPr lang="en-US" b="1" dirty="0"/>
              <a:t>Introduction</a:t>
            </a:r>
          </a:p>
        </p:txBody>
      </p:sp>
      <p:sp>
        <p:nvSpPr>
          <p:cNvPr id="3" name="Content Placeholder 2"/>
          <p:cNvSpPr>
            <a:spLocks noGrp="1"/>
          </p:cNvSpPr>
          <p:nvPr>
            <p:ph idx="1"/>
          </p:nvPr>
        </p:nvSpPr>
        <p:spPr>
          <a:xfrm>
            <a:off x="628650" y="1590805"/>
            <a:ext cx="7886700" cy="4860098"/>
          </a:xfrm>
        </p:spPr>
        <p:txBody>
          <a:bodyPr>
            <a:noAutofit/>
          </a:bodyPr>
          <a:lstStyle/>
          <a:p>
            <a:pPr algn="just" rtl="0"/>
            <a:r>
              <a:rPr lang="en-US" sz="2400" dirty="0"/>
              <a:t>Because of its ability to provide high storage capacity at low cost, dynamic RAM (DRAM) dominates the high-capacity memory applications, including the primary RAM in computers.</a:t>
            </a:r>
          </a:p>
          <a:p>
            <a:pPr algn="just" rtl="0"/>
            <a:r>
              <a:rPr lang="en-US" sz="2400" dirty="0"/>
              <a:t>Further, as the name “dynamic” implies, the storage of information is inherently only temporary. </a:t>
            </a:r>
          </a:p>
          <a:p>
            <a:pPr algn="just" rtl="0"/>
            <a:r>
              <a:rPr lang="en-US" sz="2400" dirty="0">
                <a:highlight>
                  <a:srgbClr val="FFFF00"/>
                </a:highlight>
              </a:rPr>
              <a:t>This need for refresh</a:t>
            </a:r>
            <a:r>
              <a:rPr lang="en-US" sz="2400" dirty="0"/>
              <a:t> is the primary logical difference in the behavior of DRAM compared to SRAM. </a:t>
            </a:r>
          </a:p>
          <a:p>
            <a:pPr algn="just" rtl="0"/>
            <a:r>
              <a:rPr lang="en-US" sz="2400" dirty="0"/>
              <a:t>We explore this logical difference by examining the dynamic RAM cell, the logic required to perform the refresh operation, and the impact of the need for refresh on memory system operation.</a:t>
            </a:r>
          </a:p>
        </p:txBody>
      </p:sp>
    </p:spTree>
    <p:extLst>
      <p:ext uri="{BB962C8B-B14F-4D97-AF65-F5344CB8AC3E}">
        <p14:creationId xmlns:p14="http://schemas.microsoft.com/office/powerpoint/2010/main" val="2097493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87476"/>
          </a:xfrm>
        </p:spPr>
        <p:txBody>
          <a:bodyPr>
            <a:normAutofit/>
          </a:bodyPr>
          <a:lstStyle/>
          <a:p>
            <a:r>
              <a:rPr lang="en-US" b="1" dirty="0"/>
              <a:t>DRAM Cell</a:t>
            </a:r>
          </a:p>
        </p:txBody>
      </p:sp>
      <p:sp>
        <p:nvSpPr>
          <p:cNvPr id="3" name="Content Placeholder 2"/>
          <p:cNvSpPr>
            <a:spLocks noGrp="1"/>
          </p:cNvSpPr>
          <p:nvPr>
            <p:ph idx="1"/>
          </p:nvPr>
        </p:nvSpPr>
        <p:spPr>
          <a:xfrm>
            <a:off x="628650" y="1490597"/>
            <a:ext cx="7886700" cy="4686366"/>
          </a:xfrm>
        </p:spPr>
        <p:txBody>
          <a:bodyPr>
            <a:normAutofit/>
          </a:bodyPr>
          <a:lstStyle/>
          <a:p>
            <a:pPr algn="just" rtl="0"/>
            <a:r>
              <a:rPr lang="en-US" sz="2400" dirty="0"/>
              <a:t>The dynamic RAM cell circuit is shown in Figure. </a:t>
            </a:r>
          </a:p>
          <a:p>
            <a:pPr algn="just" rtl="0"/>
            <a:r>
              <a:rPr lang="en-US" sz="2400" dirty="0"/>
              <a:t>It consists of a capacitor C and a transistor T.</a:t>
            </a:r>
          </a:p>
          <a:p>
            <a:pPr algn="just" rtl="0"/>
            <a:r>
              <a:rPr lang="en-US" sz="2400" dirty="0"/>
              <a:t>If sufficient charge is stored on the capacitor, it can be viewed as storing a logical 1, else a logical 0. </a:t>
            </a:r>
          </a:p>
          <a:p>
            <a:pPr algn="just" rtl="0"/>
            <a:r>
              <a:rPr lang="en-US" sz="2400" dirty="0"/>
              <a:t>The transistor acts much like a switch.</a:t>
            </a:r>
          </a:p>
        </p:txBody>
      </p:sp>
      <p:pic>
        <p:nvPicPr>
          <p:cNvPr id="4" name="Picture 2" descr="Introduction to DRAM (Dynamic Random-Access Memory) - Technical Articles">
            <a:extLst>
              <a:ext uri="{FF2B5EF4-FFF2-40B4-BE49-F238E27FC236}">
                <a16:creationId xmlns:a16="http://schemas.microsoft.com/office/drawing/2014/main" id="{ED24C44E-A0FC-4CB8-8DE5-3B5CE3D0D8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643" y="3833780"/>
            <a:ext cx="7640707" cy="2392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580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DC47-D9CF-49A5-8E19-9D0E9595D7A1}"/>
              </a:ext>
            </a:extLst>
          </p:cNvPr>
          <p:cNvSpPr>
            <a:spLocks noGrp="1"/>
          </p:cNvSpPr>
          <p:nvPr>
            <p:ph type="title"/>
          </p:nvPr>
        </p:nvSpPr>
        <p:spPr>
          <a:xfrm>
            <a:off x="628650" y="365127"/>
            <a:ext cx="7886700" cy="599378"/>
          </a:xfrm>
        </p:spPr>
        <p:txBody>
          <a:bodyPr>
            <a:normAutofit fontScale="90000"/>
          </a:bodyPr>
          <a:lstStyle/>
          <a:p>
            <a:r>
              <a:rPr lang="en-US" b="1" dirty="0"/>
              <a:t>Cont.,</a:t>
            </a:r>
          </a:p>
        </p:txBody>
      </p:sp>
      <p:sp>
        <p:nvSpPr>
          <p:cNvPr id="3" name="Content Placeholder 2">
            <a:extLst>
              <a:ext uri="{FF2B5EF4-FFF2-40B4-BE49-F238E27FC236}">
                <a16:creationId xmlns:a16="http://schemas.microsoft.com/office/drawing/2014/main" id="{BD110F1D-37FF-4390-AAF9-43DA4D152323}"/>
              </a:ext>
            </a:extLst>
          </p:cNvPr>
          <p:cNvSpPr>
            <a:spLocks noGrp="1"/>
          </p:cNvSpPr>
          <p:nvPr>
            <p:ph idx="1"/>
          </p:nvPr>
        </p:nvSpPr>
        <p:spPr>
          <a:xfrm>
            <a:off x="628650" y="1127342"/>
            <a:ext cx="7886700" cy="5049621"/>
          </a:xfrm>
        </p:spPr>
        <p:txBody>
          <a:bodyPr>
            <a:normAutofit/>
          </a:bodyPr>
          <a:lstStyle/>
          <a:p>
            <a:pPr algn="l" rtl="0"/>
            <a:r>
              <a:rPr lang="en-US" sz="2400" dirty="0"/>
              <a:t>When the </a:t>
            </a:r>
            <a:r>
              <a:rPr lang="en-US" sz="2400" dirty="0">
                <a:highlight>
                  <a:srgbClr val="FFFF00"/>
                </a:highlight>
              </a:rPr>
              <a:t>switch is “open,” </a:t>
            </a:r>
            <a:r>
              <a:rPr lang="en-US" sz="2400" dirty="0"/>
              <a:t>the </a:t>
            </a:r>
            <a:r>
              <a:rPr lang="en-US" sz="2400" dirty="0">
                <a:highlight>
                  <a:srgbClr val="FFFF00"/>
                </a:highlight>
              </a:rPr>
              <a:t>charge</a:t>
            </a:r>
            <a:r>
              <a:rPr lang="en-US" sz="2400" dirty="0"/>
              <a:t> on the capacitor roughly </a:t>
            </a:r>
            <a:r>
              <a:rPr lang="en-US" sz="2400" dirty="0">
                <a:highlight>
                  <a:srgbClr val="FFFF00"/>
                </a:highlight>
              </a:rPr>
              <a:t>remains fixed</a:t>
            </a:r>
            <a:r>
              <a:rPr lang="en-US" sz="2400" dirty="0"/>
              <a:t>—in other words, is stored. </a:t>
            </a:r>
          </a:p>
          <a:p>
            <a:pPr algn="l" rtl="0"/>
            <a:r>
              <a:rPr lang="en-US" sz="2400" dirty="0"/>
              <a:t>But when the </a:t>
            </a:r>
            <a:r>
              <a:rPr lang="en-US" sz="2400" dirty="0">
                <a:highlight>
                  <a:srgbClr val="FF00FF"/>
                </a:highlight>
              </a:rPr>
              <a:t>switch is “closed,” </a:t>
            </a:r>
            <a:r>
              <a:rPr lang="en-US" sz="2400" dirty="0"/>
              <a:t>charge </a:t>
            </a:r>
            <a:r>
              <a:rPr lang="en-US" sz="2400" dirty="0">
                <a:highlight>
                  <a:srgbClr val="FF00FF"/>
                </a:highlight>
              </a:rPr>
              <a:t>can flow into and out</a:t>
            </a:r>
            <a:r>
              <a:rPr lang="en-US" sz="2400" dirty="0"/>
              <a:t> of the capacitor from the external Bit (B) line. </a:t>
            </a:r>
          </a:p>
          <a:p>
            <a:pPr algn="l" rtl="0"/>
            <a:r>
              <a:rPr lang="en-US" sz="2400" dirty="0"/>
              <a:t>This charge flow allows the cell to be written with a 1 or 0 and to be read.</a:t>
            </a:r>
          </a:p>
        </p:txBody>
      </p:sp>
      <p:pic>
        <p:nvPicPr>
          <p:cNvPr id="4098" name="Picture 2" descr="Figure 1: 3-transistor DRAM cell (to the top) and a  1-transistor/1-capacitor DRAM cell (to the left). - Semiconductor for You">
            <a:extLst>
              <a:ext uri="{FF2B5EF4-FFF2-40B4-BE49-F238E27FC236}">
                <a16:creationId xmlns:a16="http://schemas.microsoft.com/office/drawing/2014/main" id="{2B44C302-DEAF-4F80-96EE-85A2B8F212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882" y="3519814"/>
            <a:ext cx="4770709" cy="2657149"/>
          </a:xfrm>
          <a:prstGeom prst="rect">
            <a:avLst/>
          </a:prstGeom>
          <a:noFill/>
        </p:spPr>
      </p:pic>
    </p:spTree>
    <p:extLst>
      <p:ext uri="{BB962C8B-B14F-4D97-AF65-F5344CB8AC3E}">
        <p14:creationId xmlns:p14="http://schemas.microsoft.com/office/powerpoint/2010/main" val="3289070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a:t>Cont.,</a:t>
            </a:r>
          </a:p>
        </p:txBody>
      </p:sp>
      <p:sp>
        <p:nvSpPr>
          <p:cNvPr id="3" name="Content Placeholder 2"/>
          <p:cNvSpPr>
            <a:spLocks noGrp="1"/>
          </p:cNvSpPr>
          <p:nvPr>
            <p:ph idx="1"/>
          </p:nvPr>
        </p:nvSpPr>
        <p:spPr/>
        <p:txBody>
          <a:bodyPr/>
          <a:lstStyle/>
          <a:p>
            <a:pPr algn="l" rtl="0"/>
            <a:r>
              <a:rPr lang="en-US" dirty="0"/>
              <a:t>To </a:t>
            </a:r>
            <a:r>
              <a:rPr lang="en-US" dirty="0">
                <a:highlight>
                  <a:srgbClr val="FFFF00"/>
                </a:highlight>
              </a:rPr>
              <a:t>reduce the time and power associated with moving charges</a:t>
            </a:r>
            <a:r>
              <a:rPr lang="en-US" dirty="0"/>
              <a:t> from storage capacitor (Cs) to Bit-line capacitor (CBL), the CBL is charged to </a:t>
            </a:r>
            <a:r>
              <a:rPr lang="en-US" dirty="0">
                <a:highlight>
                  <a:srgbClr val="FFFF00"/>
                </a:highlight>
              </a:rPr>
              <a:t>VDD/2.</a:t>
            </a:r>
          </a:p>
          <a:p>
            <a:pPr algn="l" rtl="0"/>
            <a:r>
              <a:rPr lang="en-US" dirty="0"/>
              <a:t>If </a:t>
            </a:r>
            <a:r>
              <a:rPr lang="en-US" dirty="0" err="1"/>
              <a:t>Vc</a:t>
            </a:r>
            <a:r>
              <a:rPr lang="en-US" dirty="0"/>
              <a:t>&gt; VDD/2 </a:t>
            </a:r>
            <a:r>
              <a:rPr lang="en-US" dirty="0">
                <a:sym typeface="Wingdings" panose="05000000000000000000" pitchFamily="2" charset="2"/>
              </a:rPr>
              <a:t> Logic 1 was stored ,and vice versa.</a:t>
            </a:r>
            <a:endParaRPr lang="en-US" dirty="0"/>
          </a:p>
          <a:p>
            <a:pPr algn="l" rtl="0"/>
            <a:endParaRPr lang="en-US" dirty="0"/>
          </a:p>
        </p:txBody>
      </p:sp>
      <p:pic>
        <p:nvPicPr>
          <p:cNvPr id="4" name="Picture 2" descr="DRAM cells with different startup values after powering up a DRAM memory. |  Download Scientific Diagram">
            <a:extLst>
              <a:ext uri="{FF2B5EF4-FFF2-40B4-BE49-F238E27FC236}">
                <a16:creationId xmlns:a16="http://schemas.microsoft.com/office/drawing/2014/main" id="{CBEB0B60-3A91-4354-945B-4BF495887F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384" y="4001294"/>
            <a:ext cx="5373665" cy="2175669"/>
          </a:xfrm>
          <a:prstGeom prst="rect">
            <a:avLst/>
          </a:prstGeom>
          <a:noFill/>
        </p:spPr>
      </p:pic>
    </p:spTree>
    <p:extLst>
      <p:ext uri="{BB962C8B-B14F-4D97-AF65-F5344CB8AC3E}">
        <p14:creationId xmlns:p14="http://schemas.microsoft.com/office/powerpoint/2010/main" val="4101623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BD46-56AB-43DE-904E-5BDC26309FCE}"/>
              </a:ext>
            </a:extLst>
          </p:cNvPr>
          <p:cNvSpPr>
            <a:spLocks noGrp="1"/>
          </p:cNvSpPr>
          <p:nvPr>
            <p:ph type="title"/>
          </p:nvPr>
        </p:nvSpPr>
        <p:spPr/>
        <p:txBody>
          <a:bodyPr>
            <a:normAutofit/>
          </a:bodyPr>
          <a:lstStyle/>
          <a:p>
            <a:pPr rtl="0"/>
            <a:r>
              <a:rPr lang="en-US" sz="3600" b="1" dirty="0"/>
              <a:t>Destructive &amp; Non Destructive Memory Readout</a:t>
            </a:r>
          </a:p>
        </p:txBody>
      </p:sp>
      <p:sp>
        <p:nvSpPr>
          <p:cNvPr id="3" name="Content Placeholder 2">
            <a:extLst>
              <a:ext uri="{FF2B5EF4-FFF2-40B4-BE49-F238E27FC236}">
                <a16:creationId xmlns:a16="http://schemas.microsoft.com/office/drawing/2014/main" id="{067E145D-6F87-4A26-85AD-06DA10DE87DB}"/>
              </a:ext>
            </a:extLst>
          </p:cNvPr>
          <p:cNvSpPr>
            <a:spLocks noGrp="1"/>
          </p:cNvSpPr>
          <p:nvPr>
            <p:ph idx="1"/>
          </p:nvPr>
        </p:nvSpPr>
        <p:spPr/>
        <p:txBody>
          <a:bodyPr>
            <a:normAutofit/>
          </a:bodyPr>
          <a:lstStyle/>
          <a:p>
            <a:pPr algn="l" rtl="0"/>
            <a:r>
              <a:rPr lang="en-US" altLang="en-US" sz="2600" dirty="0">
                <a:highlight>
                  <a:srgbClr val="00FFFF"/>
                </a:highlight>
              </a:rPr>
              <a:t>Destructive</a:t>
            </a:r>
            <a:r>
              <a:rPr lang="en-US" altLang="en-US" sz="2600" dirty="0"/>
              <a:t>&gt;&gt;</a:t>
            </a:r>
            <a:r>
              <a:rPr lang="en-US" sz="2600" dirty="0"/>
              <a:t>A </a:t>
            </a:r>
            <a:r>
              <a:rPr lang="en-US" sz="2600" dirty="0">
                <a:highlight>
                  <a:srgbClr val="FFFF00"/>
                </a:highlight>
              </a:rPr>
              <a:t>read</a:t>
            </a:r>
            <a:r>
              <a:rPr lang="en-US" sz="2600" dirty="0"/>
              <a:t> operation that alters the contents of the accessed memory location and </a:t>
            </a:r>
            <a:r>
              <a:rPr lang="en-US" sz="2600" dirty="0">
                <a:highlight>
                  <a:srgbClr val="FFFF00"/>
                </a:highlight>
              </a:rPr>
              <a:t>must be immediately followed by a rewriting </a:t>
            </a:r>
            <a:r>
              <a:rPr lang="en-US" sz="2600" dirty="0"/>
              <a:t>of the contents in order to preserve them. </a:t>
            </a:r>
          </a:p>
          <a:p>
            <a:pPr algn="l" rtl="0" eaLnBrk="0" fontAlgn="base" hangingPunct="0">
              <a:lnSpc>
                <a:spcPct val="100000"/>
              </a:lnSpc>
              <a:spcBef>
                <a:spcPct val="0"/>
              </a:spcBef>
              <a:spcAft>
                <a:spcPct val="0"/>
              </a:spcAft>
            </a:pPr>
            <a:r>
              <a:rPr lang="en-US" altLang="en-US" sz="2600" dirty="0">
                <a:highlight>
                  <a:srgbClr val="00FFFF"/>
                </a:highlight>
              </a:rPr>
              <a:t>nondestructive</a:t>
            </a:r>
            <a:r>
              <a:rPr lang="en-US" altLang="en-US" sz="2600" dirty="0"/>
              <a:t> &gt;&gt;If </a:t>
            </a:r>
            <a:r>
              <a:rPr lang="en-US" altLang="en-US" sz="2600" dirty="0">
                <a:highlight>
                  <a:srgbClr val="FFFF00"/>
                </a:highlight>
              </a:rPr>
              <a:t>the data in a memory is not destroyed in the reading process</a:t>
            </a:r>
            <a:r>
              <a:rPr lang="en-US" altLang="en-US" sz="2600" dirty="0"/>
              <a:t>, the system  has  nondestructive  readout. </a:t>
            </a:r>
          </a:p>
          <a:p>
            <a:pPr algn="l" rtl="0" eaLnBrk="0" fontAlgn="base" hangingPunct="0">
              <a:lnSpc>
                <a:spcPct val="100000"/>
              </a:lnSpc>
              <a:spcBef>
                <a:spcPct val="0"/>
              </a:spcBef>
              <a:spcAft>
                <a:spcPct val="0"/>
              </a:spcAft>
            </a:pPr>
            <a:r>
              <a:rPr lang="en-US" altLang="en-US" sz="2600" dirty="0"/>
              <a:t>A </a:t>
            </a:r>
            <a:r>
              <a:rPr lang="en-US" altLang="en-US" sz="2600" dirty="0">
                <a:solidFill>
                  <a:schemeClr val="accent1"/>
                </a:solidFill>
              </a:rPr>
              <a:t>flip-flop</a:t>
            </a:r>
            <a:r>
              <a:rPr lang="en-US" altLang="en-US" sz="2600" dirty="0"/>
              <a:t> is an example of </a:t>
            </a:r>
            <a:r>
              <a:rPr lang="en-US" altLang="en-US" sz="2600" dirty="0">
                <a:solidFill>
                  <a:schemeClr val="accent1"/>
                </a:solidFill>
              </a:rPr>
              <a:t>nondestructive</a:t>
            </a:r>
            <a:r>
              <a:rPr lang="en-US" altLang="en-US" sz="2600" dirty="0"/>
              <a:t> readout. </a:t>
            </a:r>
          </a:p>
          <a:p>
            <a:pPr algn="l" rtl="0" eaLnBrk="0" fontAlgn="base" hangingPunct="0">
              <a:lnSpc>
                <a:spcPct val="100000"/>
              </a:lnSpc>
              <a:spcBef>
                <a:spcPct val="0"/>
              </a:spcBef>
              <a:spcAft>
                <a:spcPct val="0"/>
              </a:spcAft>
            </a:pPr>
            <a:r>
              <a:rPr lang="en-US" altLang="en-US" sz="2600" dirty="0"/>
              <a:t>Sensing the output voltage (reading) from a given side of a flip-flop generally does not change the state of the flip-flop and the stored data is retained. </a:t>
            </a:r>
          </a:p>
          <a:p>
            <a:pPr algn="l" rtl="0"/>
            <a:endParaRPr lang="en-US" sz="2600" dirty="0"/>
          </a:p>
        </p:txBody>
      </p:sp>
    </p:spTree>
    <p:extLst>
      <p:ext uri="{BB962C8B-B14F-4D97-AF65-F5344CB8AC3E}">
        <p14:creationId xmlns:p14="http://schemas.microsoft.com/office/powerpoint/2010/main" val="2497298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a:xfrm>
            <a:off x="628650" y="365127"/>
            <a:ext cx="7886700" cy="500062"/>
          </a:xfrm>
        </p:spPr>
        <p:txBody>
          <a:bodyPr>
            <a:normAutofit fontScale="90000"/>
          </a:bodyPr>
          <a:lstStyle/>
          <a:p>
            <a:pPr rtl="0"/>
            <a:r>
              <a:rPr lang="en-US" altLang="en-US" b="1" dirty="0"/>
              <a:t>Dynamic RAM - Bit Slice Model</a:t>
            </a:r>
          </a:p>
        </p:txBody>
      </p:sp>
      <p:sp>
        <p:nvSpPr>
          <p:cNvPr id="68612" name="Rectangle 3"/>
          <p:cNvSpPr>
            <a:spLocks noGrp="1" noChangeArrowheads="1"/>
          </p:cNvSpPr>
          <p:nvPr>
            <p:ph idx="1"/>
          </p:nvPr>
        </p:nvSpPr>
        <p:spPr>
          <a:xfrm>
            <a:off x="490538" y="1314450"/>
            <a:ext cx="3556000" cy="5027613"/>
          </a:xfrm>
        </p:spPr>
        <p:txBody>
          <a:bodyPr>
            <a:normAutofit/>
          </a:bodyPr>
          <a:lstStyle/>
          <a:p>
            <a:pPr algn="l" rtl="0"/>
            <a:r>
              <a:rPr lang="en-US" altLang="en-US" sz="2400" dirty="0"/>
              <a:t>C is driven by Tri-state drivers</a:t>
            </a:r>
          </a:p>
          <a:p>
            <a:pPr algn="l" rtl="0"/>
            <a:r>
              <a:rPr lang="en-US" altLang="en-US" sz="2400" dirty="0">
                <a:solidFill>
                  <a:schemeClr val="accent1"/>
                </a:solidFill>
                <a:latin typeface="Baguet Script" panose="00000500000000000000" pitchFamily="2" charset="0"/>
              </a:rPr>
              <a:t>Sense amplifier </a:t>
            </a:r>
            <a:r>
              <a:rPr lang="en-US" altLang="en-US" sz="2400" dirty="0"/>
              <a:t>is used to measure the minute change in voltage on the Bit-line. </a:t>
            </a:r>
            <a:r>
              <a:rPr lang="en-US" altLang="en-US" sz="2400" dirty="0">
                <a:solidFill>
                  <a:schemeClr val="accent1"/>
                </a:solidFill>
                <a:latin typeface="Baguet Script" panose="00000500000000000000" pitchFamily="2" charset="0"/>
              </a:rPr>
              <a:t>Converting from destructive to nondestructive</a:t>
            </a:r>
          </a:p>
          <a:p>
            <a:pPr algn="l" rtl="0"/>
            <a:r>
              <a:rPr lang="en-US" altLang="en-US" sz="2400" dirty="0"/>
              <a:t>Rewrite after Reading.</a:t>
            </a:r>
          </a:p>
          <a:p>
            <a:pPr algn="l" rtl="0"/>
            <a:r>
              <a:rPr lang="en-US" altLang="en-US" sz="2400" dirty="0"/>
              <a:t>Array of sense amplifiers acts as a temporary data storage (Row Buffer).</a:t>
            </a:r>
          </a:p>
        </p:txBody>
      </p:sp>
      <p:sp>
        <p:nvSpPr>
          <p:cNvPr id="68613" name="Rectangle 24"/>
          <p:cNvSpPr>
            <a:spLocks noChangeArrowheads="1"/>
          </p:cNvSpPr>
          <p:nvPr/>
        </p:nvSpPr>
        <p:spPr bwMode="auto">
          <a:xfrm>
            <a:off x="3832225" y="5227638"/>
            <a:ext cx="3714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TimesTen"/>
              </a:rPr>
              <a:t>Data in</a:t>
            </a:r>
            <a:endParaRPr lang="en-US" altLang="en-US"/>
          </a:p>
        </p:txBody>
      </p:sp>
      <p:sp>
        <p:nvSpPr>
          <p:cNvPr id="68614" name="Rectangle 5"/>
          <p:cNvSpPr>
            <a:spLocks noChangeArrowheads="1"/>
          </p:cNvSpPr>
          <p:nvPr/>
        </p:nvSpPr>
        <p:spPr bwMode="auto">
          <a:xfrm>
            <a:off x="7950200" y="5689600"/>
            <a:ext cx="6159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(b) Symbol</a:t>
            </a:r>
            <a:endParaRPr lang="en-US" altLang="en-US" sz="4000"/>
          </a:p>
        </p:txBody>
      </p:sp>
      <p:sp>
        <p:nvSpPr>
          <p:cNvPr id="68615" name="Rectangle 6"/>
          <p:cNvSpPr>
            <a:spLocks noChangeArrowheads="1"/>
          </p:cNvSpPr>
          <p:nvPr/>
        </p:nvSpPr>
        <p:spPr bwMode="auto">
          <a:xfrm>
            <a:off x="5572125" y="6580188"/>
            <a:ext cx="9874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(a) Logic diagram</a:t>
            </a:r>
            <a:endParaRPr lang="en-US" altLang="en-US" sz="4000"/>
          </a:p>
        </p:txBody>
      </p:sp>
      <p:sp>
        <p:nvSpPr>
          <p:cNvPr id="68616" name="Freeform 7"/>
          <p:cNvSpPr>
            <a:spLocks/>
          </p:cNvSpPr>
          <p:nvPr/>
        </p:nvSpPr>
        <p:spPr bwMode="auto">
          <a:xfrm>
            <a:off x="6573838" y="4559300"/>
            <a:ext cx="989012" cy="1770063"/>
          </a:xfrm>
          <a:custGeom>
            <a:avLst/>
            <a:gdLst>
              <a:gd name="T0" fmla="*/ 0 w 623"/>
              <a:gd name="T1" fmla="*/ 0 h 1115"/>
              <a:gd name="T2" fmla="*/ 2147483647 w 623"/>
              <a:gd name="T3" fmla="*/ 2147483647 h 1115"/>
              <a:gd name="T4" fmla="*/ 2147483647 w 623"/>
              <a:gd name="T5" fmla="*/ 2147483647 h 1115"/>
              <a:gd name="T6" fmla="*/ 0 w 623"/>
              <a:gd name="T7" fmla="*/ 2147483647 h 1115"/>
              <a:gd name="T8" fmla="*/ 0 w 623"/>
              <a:gd name="T9" fmla="*/ 2147483647 h 1115"/>
              <a:gd name="T10" fmla="*/ 0 w 623"/>
              <a:gd name="T11" fmla="*/ 0 h 1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3" h="1115">
                <a:moveTo>
                  <a:pt x="0" y="0"/>
                </a:moveTo>
                <a:lnTo>
                  <a:pt x="623" y="1"/>
                </a:lnTo>
                <a:lnTo>
                  <a:pt x="623" y="1115"/>
                </a:lnTo>
                <a:lnTo>
                  <a:pt x="0" y="1115"/>
                </a:lnTo>
                <a:lnTo>
                  <a:pt x="0" y="39"/>
                </a:lnTo>
                <a:lnTo>
                  <a:pt x="0" y="0"/>
                </a:lnTo>
                <a:close/>
              </a:path>
            </a:pathLst>
          </a:custGeom>
          <a:solidFill>
            <a:srgbClr val="00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17" name="Freeform 8"/>
          <p:cNvSpPr>
            <a:spLocks/>
          </p:cNvSpPr>
          <p:nvPr/>
        </p:nvSpPr>
        <p:spPr bwMode="auto">
          <a:xfrm>
            <a:off x="4302125" y="4706938"/>
            <a:ext cx="803275" cy="1501775"/>
          </a:xfrm>
          <a:custGeom>
            <a:avLst/>
            <a:gdLst>
              <a:gd name="T0" fmla="*/ 0 w 506"/>
              <a:gd name="T1" fmla="*/ 0 h 946"/>
              <a:gd name="T2" fmla="*/ 2147483647 w 506"/>
              <a:gd name="T3" fmla="*/ 0 h 946"/>
              <a:gd name="T4" fmla="*/ 2147483647 w 506"/>
              <a:gd name="T5" fmla="*/ 2147483647 h 946"/>
              <a:gd name="T6" fmla="*/ 0 w 506"/>
              <a:gd name="T7" fmla="*/ 2147483647 h 946"/>
              <a:gd name="T8" fmla="*/ 0 w 506"/>
              <a:gd name="T9" fmla="*/ 0 h 946"/>
              <a:gd name="T10" fmla="*/ 0 w 506"/>
              <a:gd name="T11" fmla="*/ 0 h 94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6" h="946">
                <a:moveTo>
                  <a:pt x="0" y="0"/>
                </a:moveTo>
                <a:lnTo>
                  <a:pt x="506" y="0"/>
                </a:lnTo>
                <a:lnTo>
                  <a:pt x="506" y="946"/>
                </a:lnTo>
                <a:lnTo>
                  <a:pt x="0" y="946"/>
                </a:lnTo>
                <a:lnTo>
                  <a:pt x="0" y="0"/>
                </a:lnTo>
                <a:close/>
              </a:path>
            </a:pathLst>
          </a:custGeom>
          <a:solidFill>
            <a:srgbClr val="00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18" name="Rectangle 9"/>
          <p:cNvSpPr>
            <a:spLocks noChangeArrowheads="1"/>
          </p:cNvSpPr>
          <p:nvPr/>
        </p:nvSpPr>
        <p:spPr bwMode="auto">
          <a:xfrm>
            <a:off x="5316538" y="1363663"/>
            <a:ext cx="3317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619" name="Rectangle 10"/>
          <p:cNvSpPr>
            <a:spLocks noChangeArrowheads="1"/>
          </p:cNvSpPr>
          <p:nvPr/>
        </p:nvSpPr>
        <p:spPr bwMode="auto">
          <a:xfrm>
            <a:off x="5126038" y="1778000"/>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B</a:t>
            </a:r>
            <a:endParaRPr lang="en-US" altLang="en-US" sz="4000"/>
          </a:p>
        </p:txBody>
      </p:sp>
      <p:sp>
        <p:nvSpPr>
          <p:cNvPr id="68620" name="Rectangle 11"/>
          <p:cNvSpPr>
            <a:spLocks noChangeArrowheads="1"/>
          </p:cNvSpPr>
          <p:nvPr/>
        </p:nvSpPr>
        <p:spPr bwMode="auto">
          <a:xfrm>
            <a:off x="5316538" y="3224213"/>
            <a:ext cx="3317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621" name="Line 12"/>
          <p:cNvSpPr>
            <a:spLocks noChangeShapeType="1"/>
          </p:cNvSpPr>
          <p:nvPr/>
        </p:nvSpPr>
        <p:spPr bwMode="auto">
          <a:xfrm flipH="1">
            <a:off x="4518025" y="3813175"/>
            <a:ext cx="625475"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22" name="Rectangle 13"/>
          <p:cNvSpPr>
            <a:spLocks noChangeArrowheads="1"/>
          </p:cNvSpPr>
          <p:nvPr/>
        </p:nvSpPr>
        <p:spPr bwMode="auto">
          <a:xfrm>
            <a:off x="4154488" y="1341438"/>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Word</a:t>
            </a:r>
            <a:endParaRPr lang="en-US" altLang="en-US" sz="4000"/>
          </a:p>
        </p:txBody>
      </p:sp>
      <p:sp>
        <p:nvSpPr>
          <p:cNvPr id="68623" name="Rectangle 14"/>
          <p:cNvSpPr>
            <a:spLocks noChangeArrowheads="1"/>
          </p:cNvSpPr>
          <p:nvPr/>
        </p:nvSpPr>
        <p:spPr bwMode="auto">
          <a:xfrm>
            <a:off x="4154488" y="1466850"/>
            <a:ext cx="311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624" name="Rectangle 15"/>
          <p:cNvSpPr>
            <a:spLocks noChangeArrowheads="1"/>
          </p:cNvSpPr>
          <p:nvPr/>
        </p:nvSpPr>
        <p:spPr bwMode="auto">
          <a:xfrm>
            <a:off x="4154488" y="158908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0</a:t>
            </a:r>
            <a:endParaRPr lang="en-US" altLang="en-US" sz="4000"/>
          </a:p>
        </p:txBody>
      </p:sp>
      <p:sp>
        <p:nvSpPr>
          <p:cNvPr id="68625" name="Rectangle 16"/>
          <p:cNvSpPr>
            <a:spLocks noChangeArrowheads="1"/>
          </p:cNvSpPr>
          <p:nvPr/>
        </p:nvSpPr>
        <p:spPr bwMode="auto">
          <a:xfrm>
            <a:off x="4154488" y="3198813"/>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Word</a:t>
            </a:r>
            <a:endParaRPr lang="en-US" altLang="en-US" sz="4000"/>
          </a:p>
        </p:txBody>
      </p:sp>
      <p:sp>
        <p:nvSpPr>
          <p:cNvPr id="68626" name="Rectangle 17"/>
          <p:cNvSpPr>
            <a:spLocks noChangeArrowheads="1"/>
          </p:cNvSpPr>
          <p:nvPr/>
        </p:nvSpPr>
        <p:spPr bwMode="auto">
          <a:xfrm>
            <a:off x="4154488" y="3321050"/>
            <a:ext cx="311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627" name="Rectangle 18"/>
          <p:cNvSpPr>
            <a:spLocks noChangeArrowheads="1"/>
          </p:cNvSpPr>
          <p:nvPr/>
        </p:nvSpPr>
        <p:spPr bwMode="auto">
          <a:xfrm>
            <a:off x="4154488" y="344328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2</a:t>
            </a:r>
            <a:endParaRPr lang="en-US" altLang="en-US" sz="4000"/>
          </a:p>
        </p:txBody>
      </p:sp>
      <p:sp>
        <p:nvSpPr>
          <p:cNvPr id="68628" name="Rectangle 19"/>
          <p:cNvSpPr>
            <a:spLocks noChangeArrowheads="1"/>
          </p:cNvSpPr>
          <p:nvPr/>
        </p:nvSpPr>
        <p:spPr bwMode="auto">
          <a:xfrm>
            <a:off x="4210050" y="3443288"/>
            <a:ext cx="49213"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TimesTen"/>
              </a:rPr>
              <a:t>n</a:t>
            </a:r>
            <a:endParaRPr lang="en-US" altLang="en-US" sz="4000"/>
          </a:p>
        </p:txBody>
      </p:sp>
      <p:sp>
        <p:nvSpPr>
          <p:cNvPr id="68629" name="Rectangle 20"/>
          <p:cNvSpPr>
            <a:spLocks noChangeArrowheads="1"/>
          </p:cNvSpPr>
          <p:nvPr/>
        </p:nvSpPr>
        <p:spPr bwMode="auto">
          <a:xfrm>
            <a:off x="4270375" y="3454400"/>
            <a:ext cx="7620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athematicalPi 1"/>
              </a:rPr>
              <a:t>2</a:t>
            </a:r>
            <a:endParaRPr lang="en-US" altLang="en-US" sz="4000"/>
          </a:p>
        </p:txBody>
      </p:sp>
      <p:sp>
        <p:nvSpPr>
          <p:cNvPr id="68630" name="Rectangle 21"/>
          <p:cNvSpPr>
            <a:spLocks noChangeArrowheads="1"/>
          </p:cNvSpPr>
          <p:nvPr/>
        </p:nvSpPr>
        <p:spPr bwMode="auto">
          <a:xfrm>
            <a:off x="4333875" y="3443288"/>
            <a:ext cx="66675"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TimesTen"/>
              </a:rPr>
              <a:t> 1</a:t>
            </a:r>
            <a:endParaRPr lang="en-US" altLang="en-US" sz="4000"/>
          </a:p>
        </p:txBody>
      </p:sp>
      <p:sp>
        <p:nvSpPr>
          <p:cNvPr id="68631" name="Line 22"/>
          <p:cNvSpPr>
            <a:spLocks noChangeShapeType="1"/>
          </p:cNvSpPr>
          <p:nvPr/>
        </p:nvSpPr>
        <p:spPr bwMode="auto">
          <a:xfrm>
            <a:off x="4900613" y="5767388"/>
            <a:ext cx="1587" cy="5238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32" name="Freeform 23"/>
          <p:cNvSpPr>
            <a:spLocks/>
          </p:cNvSpPr>
          <p:nvPr/>
        </p:nvSpPr>
        <p:spPr bwMode="auto">
          <a:xfrm>
            <a:off x="5024438" y="5594350"/>
            <a:ext cx="2300287" cy="484188"/>
          </a:xfrm>
          <a:custGeom>
            <a:avLst/>
            <a:gdLst>
              <a:gd name="T0" fmla="*/ 0 w 1449"/>
              <a:gd name="T1" fmla="*/ 2147483647 h 305"/>
              <a:gd name="T2" fmla="*/ 0 w 1449"/>
              <a:gd name="T3" fmla="*/ 2147483647 h 305"/>
              <a:gd name="T4" fmla="*/ 2147483647 w 1449"/>
              <a:gd name="T5" fmla="*/ 2147483647 h 305"/>
              <a:gd name="T6" fmla="*/ 2147483647 w 1449"/>
              <a:gd name="T7" fmla="*/ 0 h 305"/>
              <a:gd name="T8" fmla="*/ 2147483647 w 1449"/>
              <a:gd name="T9" fmla="*/ 0 h 305"/>
              <a:gd name="T10" fmla="*/ 2147483647 w 1449"/>
              <a:gd name="T11" fmla="*/ 2147483647 h 3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9" h="305">
                <a:moveTo>
                  <a:pt x="0" y="113"/>
                </a:moveTo>
                <a:lnTo>
                  <a:pt x="0" y="305"/>
                </a:lnTo>
                <a:lnTo>
                  <a:pt x="1106" y="305"/>
                </a:lnTo>
                <a:lnTo>
                  <a:pt x="1106" y="0"/>
                </a:lnTo>
                <a:lnTo>
                  <a:pt x="1449" y="0"/>
                </a:lnTo>
                <a:lnTo>
                  <a:pt x="1449" y="68"/>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33" name="Rectangle 25"/>
          <p:cNvSpPr>
            <a:spLocks noChangeArrowheads="1"/>
          </p:cNvSpPr>
          <p:nvPr/>
        </p:nvSpPr>
        <p:spPr bwMode="auto">
          <a:xfrm>
            <a:off x="4329113" y="6038850"/>
            <a:ext cx="6111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chemeClr val="hlink"/>
                </a:solidFill>
                <a:latin typeface="TimesTen"/>
              </a:rPr>
              <a:t>Write logic</a:t>
            </a:r>
            <a:endParaRPr lang="en-US" altLang="en-US" sz="4000">
              <a:solidFill>
                <a:schemeClr val="hlink"/>
              </a:solidFill>
            </a:endParaRPr>
          </a:p>
        </p:txBody>
      </p:sp>
      <p:sp>
        <p:nvSpPr>
          <p:cNvPr id="68634" name="Rectangle 26"/>
          <p:cNvSpPr>
            <a:spLocks noChangeArrowheads="1"/>
          </p:cNvSpPr>
          <p:nvPr/>
        </p:nvSpPr>
        <p:spPr bwMode="auto">
          <a:xfrm>
            <a:off x="5592763" y="6238875"/>
            <a:ext cx="1698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Bit</a:t>
            </a:r>
            <a:endParaRPr lang="en-US" altLang="en-US" sz="4000"/>
          </a:p>
        </p:txBody>
      </p:sp>
      <p:sp>
        <p:nvSpPr>
          <p:cNvPr id="68635" name="Rectangle 27"/>
          <p:cNvSpPr>
            <a:spLocks noChangeArrowheads="1"/>
          </p:cNvSpPr>
          <p:nvPr/>
        </p:nvSpPr>
        <p:spPr bwMode="auto">
          <a:xfrm>
            <a:off x="5592763" y="6361113"/>
            <a:ext cx="311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636" name="Line 28"/>
          <p:cNvSpPr>
            <a:spLocks noChangeShapeType="1"/>
          </p:cNvSpPr>
          <p:nvPr/>
        </p:nvSpPr>
        <p:spPr bwMode="auto">
          <a:xfrm>
            <a:off x="5676900" y="6070600"/>
            <a:ext cx="1588" cy="163513"/>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37" name="Rectangle 29"/>
          <p:cNvSpPr>
            <a:spLocks noChangeArrowheads="1"/>
          </p:cNvSpPr>
          <p:nvPr/>
        </p:nvSpPr>
        <p:spPr bwMode="auto">
          <a:xfrm>
            <a:off x="7739063" y="6135688"/>
            <a:ext cx="4921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Data out</a:t>
            </a:r>
            <a:endParaRPr lang="en-US" altLang="en-US" sz="4000"/>
          </a:p>
        </p:txBody>
      </p:sp>
      <p:sp>
        <p:nvSpPr>
          <p:cNvPr id="68638" name="Rectangle 30"/>
          <p:cNvSpPr>
            <a:spLocks noChangeArrowheads="1"/>
          </p:cNvSpPr>
          <p:nvPr/>
        </p:nvSpPr>
        <p:spPr bwMode="auto">
          <a:xfrm>
            <a:off x="6604000" y="6161088"/>
            <a:ext cx="5889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chemeClr val="hlink"/>
                </a:solidFill>
                <a:latin typeface="TimesTen"/>
              </a:rPr>
              <a:t>Read logic</a:t>
            </a:r>
            <a:endParaRPr lang="en-US" altLang="en-US" sz="4000">
              <a:solidFill>
                <a:schemeClr val="hlink"/>
              </a:solidFill>
            </a:endParaRPr>
          </a:p>
        </p:txBody>
      </p:sp>
      <p:sp>
        <p:nvSpPr>
          <p:cNvPr id="68639" name="Freeform 31"/>
          <p:cNvSpPr>
            <a:spLocks/>
          </p:cNvSpPr>
          <p:nvPr/>
        </p:nvSpPr>
        <p:spPr bwMode="auto">
          <a:xfrm>
            <a:off x="4518025" y="1938338"/>
            <a:ext cx="641350" cy="2868612"/>
          </a:xfrm>
          <a:custGeom>
            <a:avLst/>
            <a:gdLst>
              <a:gd name="T0" fmla="*/ 2147483647 w 404"/>
              <a:gd name="T1" fmla="*/ 0 h 1807"/>
              <a:gd name="T2" fmla="*/ 0 w 404"/>
              <a:gd name="T3" fmla="*/ 0 h 1807"/>
              <a:gd name="T4" fmla="*/ 0 w 404"/>
              <a:gd name="T5" fmla="*/ 2147483647 h 1807"/>
              <a:gd name="T6" fmla="*/ 0 60000 65536"/>
              <a:gd name="T7" fmla="*/ 0 60000 65536"/>
              <a:gd name="T8" fmla="*/ 0 60000 65536"/>
            </a:gdLst>
            <a:ahLst/>
            <a:cxnLst>
              <a:cxn ang="T6">
                <a:pos x="T0" y="T1"/>
              </a:cxn>
              <a:cxn ang="T7">
                <a:pos x="T2" y="T3"/>
              </a:cxn>
              <a:cxn ang="T8">
                <a:pos x="T4" y="T5"/>
              </a:cxn>
            </a:cxnLst>
            <a:rect l="0" t="0" r="r" b="b"/>
            <a:pathLst>
              <a:path w="404" h="1807">
                <a:moveTo>
                  <a:pt x="404" y="0"/>
                </a:moveTo>
                <a:lnTo>
                  <a:pt x="0" y="0"/>
                </a:lnTo>
                <a:lnTo>
                  <a:pt x="0" y="1807"/>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40" name="Freeform 32"/>
          <p:cNvSpPr>
            <a:spLocks/>
          </p:cNvSpPr>
          <p:nvPr/>
        </p:nvSpPr>
        <p:spPr bwMode="auto">
          <a:xfrm>
            <a:off x="5232400" y="1617663"/>
            <a:ext cx="1354138" cy="825500"/>
          </a:xfrm>
          <a:custGeom>
            <a:avLst/>
            <a:gdLst>
              <a:gd name="T0" fmla="*/ 0 w 853"/>
              <a:gd name="T1" fmla="*/ 0 h 520"/>
              <a:gd name="T2" fmla="*/ 2147483647 w 853"/>
              <a:gd name="T3" fmla="*/ 0 h 520"/>
              <a:gd name="T4" fmla="*/ 2147483647 w 853"/>
              <a:gd name="T5" fmla="*/ 2147483647 h 520"/>
              <a:gd name="T6" fmla="*/ 0 w 853"/>
              <a:gd name="T7" fmla="*/ 2147483647 h 520"/>
              <a:gd name="T8" fmla="*/ 0 w 853"/>
              <a:gd name="T9" fmla="*/ 0 h 520"/>
              <a:gd name="T10" fmla="*/ 0 w 853"/>
              <a:gd name="T11" fmla="*/ 0 h 5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53" h="520">
                <a:moveTo>
                  <a:pt x="0" y="0"/>
                </a:moveTo>
                <a:lnTo>
                  <a:pt x="853" y="0"/>
                </a:lnTo>
                <a:lnTo>
                  <a:pt x="853" y="520"/>
                </a:lnTo>
                <a:lnTo>
                  <a:pt x="0" y="520"/>
                </a:lnTo>
                <a:lnTo>
                  <a:pt x="0" y="0"/>
                </a:lnTo>
                <a:close/>
              </a:path>
            </a:pathLst>
          </a:custGeom>
          <a:solidFill>
            <a:srgbClr val="00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41" name="Freeform 33"/>
          <p:cNvSpPr>
            <a:spLocks/>
          </p:cNvSpPr>
          <p:nvPr/>
        </p:nvSpPr>
        <p:spPr bwMode="auto">
          <a:xfrm>
            <a:off x="6365875" y="1946275"/>
            <a:ext cx="314325" cy="2987675"/>
          </a:xfrm>
          <a:custGeom>
            <a:avLst/>
            <a:gdLst>
              <a:gd name="T0" fmla="*/ 0 w 198"/>
              <a:gd name="T1" fmla="*/ 0 h 1882"/>
              <a:gd name="T2" fmla="*/ 2147483647 w 198"/>
              <a:gd name="T3" fmla="*/ 0 h 1882"/>
              <a:gd name="T4" fmla="*/ 2147483647 w 198"/>
              <a:gd name="T5" fmla="*/ 2147483647 h 1882"/>
              <a:gd name="T6" fmla="*/ 0 60000 65536"/>
              <a:gd name="T7" fmla="*/ 0 60000 65536"/>
              <a:gd name="T8" fmla="*/ 0 60000 65536"/>
            </a:gdLst>
            <a:ahLst/>
            <a:cxnLst>
              <a:cxn ang="T6">
                <a:pos x="T0" y="T1"/>
              </a:cxn>
              <a:cxn ang="T7">
                <a:pos x="T2" y="T3"/>
              </a:cxn>
              <a:cxn ang="T8">
                <a:pos x="T4" y="T5"/>
              </a:cxn>
            </a:cxnLst>
            <a:rect l="0" t="0" r="r" b="b"/>
            <a:pathLst>
              <a:path w="198" h="1882">
                <a:moveTo>
                  <a:pt x="0" y="0"/>
                </a:moveTo>
                <a:lnTo>
                  <a:pt x="198" y="0"/>
                </a:lnTo>
                <a:lnTo>
                  <a:pt x="196" y="1882"/>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42" name="Line 34"/>
          <p:cNvSpPr>
            <a:spLocks noChangeShapeType="1"/>
          </p:cNvSpPr>
          <p:nvPr/>
        </p:nvSpPr>
        <p:spPr bwMode="auto">
          <a:xfrm>
            <a:off x="5149850" y="1938338"/>
            <a:ext cx="387350" cy="31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43" name="Freeform 35"/>
          <p:cNvSpPr>
            <a:spLocks/>
          </p:cNvSpPr>
          <p:nvPr/>
        </p:nvSpPr>
        <p:spPr bwMode="auto">
          <a:xfrm>
            <a:off x="5537200" y="1808163"/>
            <a:ext cx="376238" cy="576262"/>
          </a:xfrm>
          <a:custGeom>
            <a:avLst/>
            <a:gdLst>
              <a:gd name="T0" fmla="*/ 0 w 237"/>
              <a:gd name="T1" fmla="*/ 0 h 363"/>
              <a:gd name="T2" fmla="*/ 2147483647 w 237"/>
              <a:gd name="T3" fmla="*/ 0 h 363"/>
              <a:gd name="T4" fmla="*/ 2147483647 w 237"/>
              <a:gd name="T5" fmla="*/ 2147483647 h 363"/>
              <a:gd name="T6" fmla="*/ 0 w 237"/>
              <a:gd name="T7" fmla="*/ 2147483647 h 363"/>
              <a:gd name="T8" fmla="*/ 0 w 237"/>
              <a:gd name="T9" fmla="*/ 0 h 363"/>
              <a:gd name="T10" fmla="*/ 0 w 237"/>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7" h="363">
                <a:moveTo>
                  <a:pt x="0" y="0"/>
                </a:moveTo>
                <a:lnTo>
                  <a:pt x="237" y="0"/>
                </a:lnTo>
                <a:lnTo>
                  <a:pt x="237" y="363"/>
                </a:lnTo>
                <a:lnTo>
                  <a:pt x="0" y="363"/>
                </a:lnTo>
                <a:lnTo>
                  <a:pt x="0" y="0"/>
                </a:lnTo>
                <a:close/>
              </a:path>
            </a:pathLst>
          </a:custGeom>
          <a:solidFill>
            <a:srgbClr val="FFFFFF"/>
          </a:solidFill>
          <a:ln w="12700" cap="flat">
            <a:solidFill>
              <a:schemeClr val="hlink"/>
            </a:solidFill>
            <a:prstDash val="solid"/>
            <a:miter lim="800000"/>
            <a:headEnd/>
            <a:tailEnd/>
          </a:ln>
        </p:spPr>
        <p:txBody>
          <a:bodyPr/>
          <a:lstStyle/>
          <a:p>
            <a:endParaRPr lang="ar-EG"/>
          </a:p>
        </p:txBody>
      </p:sp>
      <p:sp>
        <p:nvSpPr>
          <p:cNvPr id="68644" name="Line 36"/>
          <p:cNvSpPr>
            <a:spLocks noChangeShapeType="1"/>
          </p:cNvSpPr>
          <p:nvPr/>
        </p:nvSpPr>
        <p:spPr bwMode="auto">
          <a:xfrm>
            <a:off x="5913438" y="1941513"/>
            <a:ext cx="287337"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45" name="Rectangle 37"/>
          <p:cNvSpPr>
            <a:spLocks noChangeArrowheads="1"/>
          </p:cNvSpPr>
          <p:nvPr/>
        </p:nvSpPr>
        <p:spPr bwMode="auto">
          <a:xfrm>
            <a:off x="5565775" y="1873250"/>
            <a:ext cx="1063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a:t>
            </a:r>
            <a:endParaRPr lang="en-US" altLang="en-US" sz="4000"/>
          </a:p>
        </p:txBody>
      </p:sp>
      <p:sp>
        <p:nvSpPr>
          <p:cNvPr id="68646" name="Rectangle 38"/>
          <p:cNvSpPr>
            <a:spLocks noChangeArrowheads="1"/>
          </p:cNvSpPr>
          <p:nvPr/>
        </p:nvSpPr>
        <p:spPr bwMode="auto">
          <a:xfrm>
            <a:off x="5565775" y="2187575"/>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C</a:t>
            </a:r>
            <a:endParaRPr lang="en-US" altLang="en-US" sz="4000"/>
          </a:p>
        </p:txBody>
      </p:sp>
      <p:sp>
        <p:nvSpPr>
          <p:cNvPr id="68647" name="Rectangle 39"/>
          <p:cNvSpPr>
            <a:spLocks noChangeArrowheads="1"/>
          </p:cNvSpPr>
          <p:nvPr/>
        </p:nvSpPr>
        <p:spPr bwMode="auto">
          <a:xfrm>
            <a:off x="5794375" y="1873250"/>
            <a:ext cx="1063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Q</a:t>
            </a:r>
            <a:endParaRPr lang="en-US" altLang="en-US" sz="4000"/>
          </a:p>
        </p:txBody>
      </p:sp>
      <p:sp>
        <p:nvSpPr>
          <p:cNvPr id="68648" name="Freeform 40"/>
          <p:cNvSpPr>
            <a:spLocks/>
          </p:cNvSpPr>
          <p:nvPr/>
        </p:nvSpPr>
        <p:spPr bwMode="auto">
          <a:xfrm>
            <a:off x="5449888" y="1544638"/>
            <a:ext cx="87312" cy="714375"/>
          </a:xfrm>
          <a:custGeom>
            <a:avLst/>
            <a:gdLst>
              <a:gd name="T0" fmla="*/ 2147483647 w 55"/>
              <a:gd name="T1" fmla="*/ 2147483647 h 450"/>
              <a:gd name="T2" fmla="*/ 0 w 55"/>
              <a:gd name="T3" fmla="*/ 2147483647 h 450"/>
              <a:gd name="T4" fmla="*/ 0 w 55"/>
              <a:gd name="T5" fmla="*/ 0 h 450"/>
              <a:gd name="T6" fmla="*/ 0 60000 65536"/>
              <a:gd name="T7" fmla="*/ 0 60000 65536"/>
              <a:gd name="T8" fmla="*/ 0 60000 65536"/>
            </a:gdLst>
            <a:ahLst/>
            <a:cxnLst>
              <a:cxn ang="T6">
                <a:pos x="T0" y="T1"/>
              </a:cxn>
              <a:cxn ang="T7">
                <a:pos x="T2" y="T3"/>
              </a:cxn>
              <a:cxn ang="T8">
                <a:pos x="T4" y="T5"/>
              </a:cxn>
            </a:cxnLst>
            <a:rect l="0" t="0" r="r" b="b"/>
            <a:pathLst>
              <a:path w="55" h="450">
                <a:moveTo>
                  <a:pt x="55" y="450"/>
                </a:moveTo>
                <a:lnTo>
                  <a:pt x="0" y="450"/>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49" name="Rectangle 41"/>
          <p:cNvSpPr>
            <a:spLocks noChangeArrowheads="1"/>
          </p:cNvSpPr>
          <p:nvPr/>
        </p:nvSpPr>
        <p:spPr bwMode="auto">
          <a:xfrm>
            <a:off x="5992813" y="2190750"/>
            <a:ext cx="6540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chemeClr val="hlink"/>
                </a:solidFill>
                <a:latin typeface="TimesTen"/>
              </a:rPr>
              <a:t>DRAM cell</a:t>
            </a:r>
            <a:endParaRPr lang="en-US" altLang="en-US" sz="4000">
              <a:solidFill>
                <a:schemeClr val="hlink"/>
              </a:solidFill>
            </a:endParaRPr>
          </a:p>
        </p:txBody>
      </p:sp>
      <p:sp>
        <p:nvSpPr>
          <p:cNvPr id="68650" name="Rectangle 42"/>
          <p:cNvSpPr>
            <a:spLocks noChangeArrowheads="1"/>
          </p:cNvSpPr>
          <p:nvPr/>
        </p:nvSpPr>
        <p:spPr bwMode="auto">
          <a:xfrm>
            <a:off x="5992813" y="2312988"/>
            <a:ext cx="346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chemeClr val="hlink"/>
                </a:solidFill>
                <a:latin typeface="TimesTen"/>
              </a:rPr>
              <a:t>model</a:t>
            </a:r>
            <a:endParaRPr lang="en-US" altLang="en-US" sz="4000">
              <a:solidFill>
                <a:schemeClr val="hlink"/>
              </a:solidFill>
            </a:endParaRPr>
          </a:p>
        </p:txBody>
      </p:sp>
      <p:sp>
        <p:nvSpPr>
          <p:cNvPr id="68651" name="Freeform 43"/>
          <p:cNvSpPr>
            <a:spLocks/>
          </p:cNvSpPr>
          <p:nvPr/>
        </p:nvSpPr>
        <p:spPr bwMode="auto">
          <a:xfrm>
            <a:off x="5451475" y="1703388"/>
            <a:ext cx="808038" cy="182562"/>
          </a:xfrm>
          <a:custGeom>
            <a:avLst/>
            <a:gdLst>
              <a:gd name="T0" fmla="*/ 0 w 509"/>
              <a:gd name="T1" fmla="*/ 0 h 115"/>
              <a:gd name="T2" fmla="*/ 2147483647 w 509"/>
              <a:gd name="T3" fmla="*/ 0 h 115"/>
              <a:gd name="T4" fmla="*/ 2147483647 w 509"/>
              <a:gd name="T5" fmla="*/ 2147483647 h 115"/>
              <a:gd name="T6" fmla="*/ 0 60000 65536"/>
              <a:gd name="T7" fmla="*/ 0 60000 65536"/>
              <a:gd name="T8" fmla="*/ 0 60000 65536"/>
            </a:gdLst>
            <a:ahLst/>
            <a:cxnLst>
              <a:cxn ang="T6">
                <a:pos x="T0" y="T1"/>
              </a:cxn>
              <a:cxn ang="T7">
                <a:pos x="T2" y="T3"/>
              </a:cxn>
              <a:cxn ang="T8">
                <a:pos x="T4" y="T5"/>
              </a:cxn>
            </a:cxnLst>
            <a:rect l="0" t="0" r="r" b="b"/>
            <a:pathLst>
              <a:path w="509" h="115">
                <a:moveTo>
                  <a:pt x="0" y="0"/>
                </a:moveTo>
                <a:lnTo>
                  <a:pt x="509" y="0"/>
                </a:lnTo>
                <a:lnTo>
                  <a:pt x="509" y="115"/>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52" name="Freeform 44"/>
          <p:cNvSpPr>
            <a:spLocks/>
          </p:cNvSpPr>
          <p:nvPr/>
        </p:nvSpPr>
        <p:spPr bwMode="auto">
          <a:xfrm>
            <a:off x="5237163" y="3489325"/>
            <a:ext cx="1354137" cy="825500"/>
          </a:xfrm>
          <a:custGeom>
            <a:avLst/>
            <a:gdLst>
              <a:gd name="T0" fmla="*/ 0 w 853"/>
              <a:gd name="T1" fmla="*/ 0 h 520"/>
              <a:gd name="T2" fmla="*/ 2147483647 w 853"/>
              <a:gd name="T3" fmla="*/ 0 h 520"/>
              <a:gd name="T4" fmla="*/ 2147483647 w 853"/>
              <a:gd name="T5" fmla="*/ 2147483647 h 520"/>
              <a:gd name="T6" fmla="*/ 0 w 853"/>
              <a:gd name="T7" fmla="*/ 2147483647 h 520"/>
              <a:gd name="T8" fmla="*/ 0 w 853"/>
              <a:gd name="T9" fmla="*/ 0 h 520"/>
              <a:gd name="T10" fmla="*/ 0 w 853"/>
              <a:gd name="T11" fmla="*/ 0 h 5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53" h="520">
                <a:moveTo>
                  <a:pt x="0" y="0"/>
                </a:moveTo>
                <a:lnTo>
                  <a:pt x="853" y="0"/>
                </a:lnTo>
                <a:lnTo>
                  <a:pt x="853" y="520"/>
                </a:lnTo>
                <a:lnTo>
                  <a:pt x="0" y="520"/>
                </a:lnTo>
                <a:lnTo>
                  <a:pt x="0" y="0"/>
                </a:lnTo>
                <a:close/>
              </a:path>
            </a:pathLst>
          </a:custGeom>
          <a:solidFill>
            <a:srgbClr val="00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53" name="Line 45"/>
          <p:cNvSpPr>
            <a:spLocks noChangeShapeType="1"/>
          </p:cNvSpPr>
          <p:nvPr/>
        </p:nvSpPr>
        <p:spPr bwMode="auto">
          <a:xfrm>
            <a:off x="6345238" y="3817938"/>
            <a:ext cx="334962"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54" name="Line 46"/>
          <p:cNvSpPr>
            <a:spLocks noChangeShapeType="1"/>
          </p:cNvSpPr>
          <p:nvPr/>
        </p:nvSpPr>
        <p:spPr bwMode="auto">
          <a:xfrm>
            <a:off x="5138738" y="3813175"/>
            <a:ext cx="40640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55" name="Freeform 47"/>
          <p:cNvSpPr>
            <a:spLocks/>
          </p:cNvSpPr>
          <p:nvPr/>
        </p:nvSpPr>
        <p:spPr bwMode="auto">
          <a:xfrm>
            <a:off x="5545138" y="3683000"/>
            <a:ext cx="373062" cy="573088"/>
          </a:xfrm>
          <a:custGeom>
            <a:avLst/>
            <a:gdLst>
              <a:gd name="T0" fmla="*/ 0 w 235"/>
              <a:gd name="T1" fmla="*/ 0 h 361"/>
              <a:gd name="T2" fmla="*/ 2147483647 w 235"/>
              <a:gd name="T3" fmla="*/ 0 h 361"/>
              <a:gd name="T4" fmla="*/ 2147483647 w 235"/>
              <a:gd name="T5" fmla="*/ 2147483647 h 361"/>
              <a:gd name="T6" fmla="*/ 0 w 235"/>
              <a:gd name="T7" fmla="*/ 2147483647 h 361"/>
              <a:gd name="T8" fmla="*/ 0 w 235"/>
              <a:gd name="T9" fmla="*/ 0 h 361"/>
              <a:gd name="T10" fmla="*/ 0 w 235"/>
              <a:gd name="T11" fmla="*/ 0 h 36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5" h="361">
                <a:moveTo>
                  <a:pt x="0" y="0"/>
                </a:moveTo>
                <a:lnTo>
                  <a:pt x="235" y="0"/>
                </a:lnTo>
                <a:lnTo>
                  <a:pt x="235" y="361"/>
                </a:lnTo>
                <a:lnTo>
                  <a:pt x="0" y="361"/>
                </a:lnTo>
                <a:lnTo>
                  <a:pt x="0" y="0"/>
                </a:lnTo>
                <a:close/>
              </a:path>
            </a:pathLst>
          </a:custGeom>
          <a:solidFill>
            <a:srgbClr val="FFFFFF"/>
          </a:solidFill>
          <a:ln w="12700" cap="flat">
            <a:solidFill>
              <a:schemeClr val="hlink"/>
            </a:solidFill>
            <a:prstDash val="solid"/>
            <a:miter lim="800000"/>
            <a:headEnd/>
            <a:tailEnd/>
          </a:ln>
        </p:spPr>
        <p:txBody>
          <a:bodyPr/>
          <a:lstStyle/>
          <a:p>
            <a:endParaRPr lang="ar-EG"/>
          </a:p>
        </p:txBody>
      </p:sp>
      <p:sp>
        <p:nvSpPr>
          <p:cNvPr id="68656" name="Line 48"/>
          <p:cNvSpPr>
            <a:spLocks noChangeShapeType="1"/>
          </p:cNvSpPr>
          <p:nvPr/>
        </p:nvSpPr>
        <p:spPr bwMode="auto">
          <a:xfrm>
            <a:off x="5918200" y="3810000"/>
            <a:ext cx="261938"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57" name="Rectangle 49"/>
          <p:cNvSpPr>
            <a:spLocks noChangeArrowheads="1"/>
          </p:cNvSpPr>
          <p:nvPr/>
        </p:nvSpPr>
        <p:spPr bwMode="auto">
          <a:xfrm>
            <a:off x="5570538" y="3744913"/>
            <a:ext cx="1063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a:t>
            </a:r>
            <a:endParaRPr lang="en-US" altLang="en-US" sz="4000"/>
          </a:p>
        </p:txBody>
      </p:sp>
      <p:sp>
        <p:nvSpPr>
          <p:cNvPr id="68658" name="Rectangle 50"/>
          <p:cNvSpPr>
            <a:spLocks noChangeArrowheads="1"/>
          </p:cNvSpPr>
          <p:nvPr/>
        </p:nvSpPr>
        <p:spPr bwMode="auto">
          <a:xfrm>
            <a:off x="5570538" y="4062413"/>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C</a:t>
            </a:r>
            <a:endParaRPr lang="en-US" altLang="en-US" sz="4000"/>
          </a:p>
        </p:txBody>
      </p:sp>
      <p:sp>
        <p:nvSpPr>
          <p:cNvPr id="68659" name="Rectangle 51"/>
          <p:cNvSpPr>
            <a:spLocks noChangeArrowheads="1"/>
          </p:cNvSpPr>
          <p:nvPr/>
        </p:nvSpPr>
        <p:spPr bwMode="auto">
          <a:xfrm>
            <a:off x="5805488" y="3740150"/>
            <a:ext cx="1063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Q</a:t>
            </a:r>
            <a:endParaRPr lang="en-US" altLang="en-US" sz="4000"/>
          </a:p>
        </p:txBody>
      </p:sp>
      <p:sp>
        <p:nvSpPr>
          <p:cNvPr id="68660" name="Freeform 52"/>
          <p:cNvSpPr>
            <a:spLocks/>
          </p:cNvSpPr>
          <p:nvPr/>
        </p:nvSpPr>
        <p:spPr bwMode="auto">
          <a:xfrm>
            <a:off x="5454650" y="3395663"/>
            <a:ext cx="87313" cy="735012"/>
          </a:xfrm>
          <a:custGeom>
            <a:avLst/>
            <a:gdLst>
              <a:gd name="T0" fmla="*/ 2147483647 w 55"/>
              <a:gd name="T1" fmla="*/ 2147483647 h 463"/>
              <a:gd name="T2" fmla="*/ 0 w 55"/>
              <a:gd name="T3" fmla="*/ 2147483647 h 463"/>
              <a:gd name="T4" fmla="*/ 0 w 55"/>
              <a:gd name="T5" fmla="*/ 0 h 463"/>
              <a:gd name="T6" fmla="*/ 0 60000 65536"/>
              <a:gd name="T7" fmla="*/ 0 60000 65536"/>
              <a:gd name="T8" fmla="*/ 0 60000 65536"/>
            </a:gdLst>
            <a:ahLst/>
            <a:cxnLst>
              <a:cxn ang="T6">
                <a:pos x="T0" y="T1"/>
              </a:cxn>
              <a:cxn ang="T7">
                <a:pos x="T2" y="T3"/>
              </a:cxn>
              <a:cxn ang="T8">
                <a:pos x="T4" y="T5"/>
              </a:cxn>
            </a:cxnLst>
            <a:rect l="0" t="0" r="r" b="b"/>
            <a:pathLst>
              <a:path w="55" h="463">
                <a:moveTo>
                  <a:pt x="55" y="463"/>
                </a:moveTo>
                <a:lnTo>
                  <a:pt x="0" y="463"/>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61" name="Rectangle 53"/>
          <p:cNvSpPr>
            <a:spLocks noChangeArrowheads="1"/>
          </p:cNvSpPr>
          <p:nvPr/>
        </p:nvSpPr>
        <p:spPr bwMode="auto">
          <a:xfrm>
            <a:off x="5997575" y="4062413"/>
            <a:ext cx="6540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chemeClr val="hlink"/>
                </a:solidFill>
                <a:latin typeface="TimesTen"/>
              </a:rPr>
              <a:t>DRAM cell</a:t>
            </a:r>
            <a:endParaRPr lang="en-US" altLang="en-US" sz="4000">
              <a:solidFill>
                <a:schemeClr val="hlink"/>
              </a:solidFill>
            </a:endParaRPr>
          </a:p>
        </p:txBody>
      </p:sp>
      <p:sp>
        <p:nvSpPr>
          <p:cNvPr id="68662" name="Rectangle 54"/>
          <p:cNvSpPr>
            <a:spLocks noChangeArrowheads="1"/>
          </p:cNvSpPr>
          <p:nvPr/>
        </p:nvSpPr>
        <p:spPr bwMode="auto">
          <a:xfrm>
            <a:off x="5997575" y="4184650"/>
            <a:ext cx="346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chemeClr val="hlink"/>
                </a:solidFill>
                <a:latin typeface="TimesTen"/>
              </a:rPr>
              <a:t>model</a:t>
            </a:r>
            <a:endParaRPr lang="en-US" altLang="en-US" sz="4000">
              <a:solidFill>
                <a:schemeClr val="hlink"/>
              </a:solidFill>
            </a:endParaRPr>
          </a:p>
        </p:txBody>
      </p:sp>
      <p:sp>
        <p:nvSpPr>
          <p:cNvPr id="68663" name="Freeform 55"/>
          <p:cNvSpPr>
            <a:spLocks/>
          </p:cNvSpPr>
          <p:nvPr/>
        </p:nvSpPr>
        <p:spPr bwMode="auto">
          <a:xfrm>
            <a:off x="5457825" y="3575050"/>
            <a:ext cx="808038" cy="184150"/>
          </a:xfrm>
          <a:custGeom>
            <a:avLst/>
            <a:gdLst>
              <a:gd name="T0" fmla="*/ 0 w 509"/>
              <a:gd name="T1" fmla="*/ 0 h 116"/>
              <a:gd name="T2" fmla="*/ 2147483647 w 509"/>
              <a:gd name="T3" fmla="*/ 0 h 116"/>
              <a:gd name="T4" fmla="*/ 2147483647 w 509"/>
              <a:gd name="T5" fmla="*/ 2147483647 h 116"/>
              <a:gd name="T6" fmla="*/ 0 60000 65536"/>
              <a:gd name="T7" fmla="*/ 0 60000 65536"/>
              <a:gd name="T8" fmla="*/ 0 60000 65536"/>
            </a:gdLst>
            <a:ahLst/>
            <a:cxnLst>
              <a:cxn ang="T6">
                <a:pos x="T0" y="T1"/>
              </a:cxn>
              <a:cxn ang="T7">
                <a:pos x="T2" y="T3"/>
              </a:cxn>
              <a:cxn ang="T8">
                <a:pos x="T4" y="T5"/>
              </a:cxn>
            </a:cxnLst>
            <a:rect l="0" t="0" r="r" b="b"/>
            <a:pathLst>
              <a:path w="509" h="116">
                <a:moveTo>
                  <a:pt x="0" y="0"/>
                </a:moveTo>
                <a:lnTo>
                  <a:pt x="509" y="0"/>
                </a:lnTo>
                <a:lnTo>
                  <a:pt x="509" y="116"/>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64" name="Freeform 56"/>
          <p:cNvSpPr>
            <a:spLocks/>
          </p:cNvSpPr>
          <p:nvPr/>
        </p:nvSpPr>
        <p:spPr bwMode="auto">
          <a:xfrm>
            <a:off x="4448175" y="1536700"/>
            <a:ext cx="2381250" cy="1588"/>
          </a:xfrm>
          <a:custGeom>
            <a:avLst/>
            <a:gdLst>
              <a:gd name="T0" fmla="*/ 0 w 1500"/>
              <a:gd name="T1" fmla="*/ 0 h 1588"/>
              <a:gd name="T2" fmla="*/ 2147483647 w 1500"/>
              <a:gd name="T3" fmla="*/ 0 h 1588"/>
              <a:gd name="T4" fmla="*/ 0 w 1500"/>
              <a:gd name="T5" fmla="*/ 0 h 1588"/>
              <a:gd name="T6" fmla="*/ 0 60000 65536"/>
              <a:gd name="T7" fmla="*/ 0 60000 65536"/>
              <a:gd name="T8" fmla="*/ 0 60000 65536"/>
            </a:gdLst>
            <a:ahLst/>
            <a:cxnLst>
              <a:cxn ang="T6">
                <a:pos x="T0" y="T1"/>
              </a:cxn>
              <a:cxn ang="T7">
                <a:pos x="T2" y="T3"/>
              </a:cxn>
              <a:cxn ang="T8">
                <a:pos x="T4" y="T5"/>
              </a:cxn>
            </a:cxnLst>
            <a:rect l="0" t="0" r="r" b="b"/>
            <a:pathLst>
              <a:path w="1500" h="1588">
                <a:moveTo>
                  <a:pt x="0" y="0"/>
                </a:moveTo>
                <a:lnTo>
                  <a:pt x="150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65" name="Line 57"/>
          <p:cNvSpPr>
            <a:spLocks noChangeShapeType="1"/>
          </p:cNvSpPr>
          <p:nvPr/>
        </p:nvSpPr>
        <p:spPr bwMode="auto">
          <a:xfrm>
            <a:off x="4448175" y="1536700"/>
            <a:ext cx="23812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66" name="Line 58"/>
          <p:cNvSpPr>
            <a:spLocks noChangeShapeType="1"/>
          </p:cNvSpPr>
          <p:nvPr/>
        </p:nvSpPr>
        <p:spPr bwMode="auto">
          <a:xfrm>
            <a:off x="4448175" y="3395663"/>
            <a:ext cx="23812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67" name="Rectangle 59"/>
          <p:cNvSpPr>
            <a:spLocks noChangeArrowheads="1"/>
          </p:cNvSpPr>
          <p:nvPr/>
        </p:nvSpPr>
        <p:spPr bwMode="auto">
          <a:xfrm>
            <a:off x="6613525" y="1778000"/>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C</a:t>
            </a:r>
            <a:endParaRPr lang="en-US" altLang="en-US" sz="4000"/>
          </a:p>
        </p:txBody>
      </p:sp>
      <p:sp>
        <p:nvSpPr>
          <p:cNvPr id="68668" name="Line 60"/>
          <p:cNvSpPr>
            <a:spLocks noChangeShapeType="1"/>
          </p:cNvSpPr>
          <p:nvPr/>
        </p:nvSpPr>
        <p:spPr bwMode="auto">
          <a:xfrm>
            <a:off x="6677025" y="4933950"/>
            <a:ext cx="188913"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69" name="Freeform 61"/>
          <p:cNvSpPr>
            <a:spLocks/>
          </p:cNvSpPr>
          <p:nvPr/>
        </p:nvSpPr>
        <p:spPr bwMode="auto">
          <a:xfrm>
            <a:off x="7227888" y="4933950"/>
            <a:ext cx="207962" cy="755650"/>
          </a:xfrm>
          <a:custGeom>
            <a:avLst/>
            <a:gdLst>
              <a:gd name="T0" fmla="*/ 2147483647 w 131"/>
              <a:gd name="T1" fmla="*/ 2147483647 h 476"/>
              <a:gd name="T2" fmla="*/ 2147483647 w 131"/>
              <a:gd name="T3" fmla="*/ 0 h 476"/>
              <a:gd name="T4" fmla="*/ 0 w 131"/>
              <a:gd name="T5" fmla="*/ 0 h 476"/>
              <a:gd name="T6" fmla="*/ 0 60000 65536"/>
              <a:gd name="T7" fmla="*/ 0 60000 65536"/>
              <a:gd name="T8" fmla="*/ 0 60000 65536"/>
            </a:gdLst>
            <a:ahLst/>
            <a:cxnLst>
              <a:cxn ang="T6">
                <a:pos x="T0" y="T1"/>
              </a:cxn>
              <a:cxn ang="T7">
                <a:pos x="T2" y="T3"/>
              </a:cxn>
              <a:cxn ang="T8">
                <a:pos x="T4" y="T5"/>
              </a:cxn>
            </a:cxnLst>
            <a:rect l="0" t="0" r="r" b="b"/>
            <a:pathLst>
              <a:path w="131" h="476">
                <a:moveTo>
                  <a:pt x="131" y="476"/>
                </a:moveTo>
                <a:lnTo>
                  <a:pt x="131" y="0"/>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70" name="Freeform 62"/>
          <p:cNvSpPr>
            <a:spLocks/>
          </p:cNvSpPr>
          <p:nvPr/>
        </p:nvSpPr>
        <p:spPr bwMode="auto">
          <a:xfrm>
            <a:off x="7378700" y="5972175"/>
            <a:ext cx="331788" cy="233363"/>
          </a:xfrm>
          <a:custGeom>
            <a:avLst/>
            <a:gdLst>
              <a:gd name="T0" fmla="*/ 2147483647 w 209"/>
              <a:gd name="T1" fmla="*/ 2147483647 h 147"/>
              <a:gd name="T2" fmla="*/ 0 w 209"/>
              <a:gd name="T3" fmla="*/ 2147483647 h 147"/>
              <a:gd name="T4" fmla="*/ 0 w 209"/>
              <a:gd name="T5" fmla="*/ 0 h 147"/>
              <a:gd name="T6" fmla="*/ 0 60000 65536"/>
              <a:gd name="T7" fmla="*/ 0 60000 65536"/>
              <a:gd name="T8" fmla="*/ 0 60000 65536"/>
            </a:gdLst>
            <a:ahLst/>
            <a:cxnLst>
              <a:cxn ang="T6">
                <a:pos x="T0" y="T1"/>
              </a:cxn>
              <a:cxn ang="T7">
                <a:pos x="T2" y="T3"/>
              </a:cxn>
              <a:cxn ang="T8">
                <a:pos x="T4" y="T5"/>
              </a:cxn>
            </a:cxnLst>
            <a:rect l="0" t="0" r="r" b="b"/>
            <a:pathLst>
              <a:path w="209" h="147">
                <a:moveTo>
                  <a:pt x="209" y="147"/>
                </a:moveTo>
                <a:lnTo>
                  <a:pt x="0" y="147"/>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71" name="Freeform 63"/>
          <p:cNvSpPr>
            <a:spLocks/>
          </p:cNvSpPr>
          <p:nvPr/>
        </p:nvSpPr>
        <p:spPr bwMode="auto">
          <a:xfrm>
            <a:off x="4211638" y="4975225"/>
            <a:ext cx="312737" cy="327025"/>
          </a:xfrm>
          <a:custGeom>
            <a:avLst/>
            <a:gdLst>
              <a:gd name="T0" fmla="*/ 2147483647 w 197"/>
              <a:gd name="T1" fmla="*/ 0 h 206"/>
              <a:gd name="T2" fmla="*/ 2147483647 w 197"/>
              <a:gd name="T3" fmla="*/ 2147483647 h 206"/>
              <a:gd name="T4" fmla="*/ 0 w 197"/>
              <a:gd name="T5" fmla="*/ 2147483647 h 206"/>
              <a:gd name="T6" fmla="*/ 0 60000 65536"/>
              <a:gd name="T7" fmla="*/ 0 60000 65536"/>
              <a:gd name="T8" fmla="*/ 0 60000 65536"/>
            </a:gdLst>
            <a:ahLst/>
            <a:cxnLst>
              <a:cxn ang="T6">
                <a:pos x="T0" y="T1"/>
              </a:cxn>
              <a:cxn ang="T7">
                <a:pos x="T2" y="T3"/>
              </a:cxn>
              <a:cxn ang="T8">
                <a:pos x="T4" y="T5"/>
              </a:cxn>
            </a:cxnLst>
            <a:rect l="0" t="0" r="r" b="b"/>
            <a:pathLst>
              <a:path w="197" h="206">
                <a:moveTo>
                  <a:pt x="197" y="0"/>
                </a:moveTo>
                <a:lnTo>
                  <a:pt x="197" y="206"/>
                </a:lnTo>
                <a:lnTo>
                  <a:pt x="0" y="206"/>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72" name="Freeform 64"/>
          <p:cNvSpPr>
            <a:spLocks/>
          </p:cNvSpPr>
          <p:nvPr/>
        </p:nvSpPr>
        <p:spPr bwMode="auto">
          <a:xfrm>
            <a:off x="4560888" y="4875213"/>
            <a:ext cx="393700" cy="641350"/>
          </a:xfrm>
          <a:custGeom>
            <a:avLst/>
            <a:gdLst>
              <a:gd name="T0" fmla="*/ 2147483647 w 248"/>
              <a:gd name="T1" fmla="*/ 2147483647 h 404"/>
              <a:gd name="T2" fmla="*/ 2147483647 w 248"/>
              <a:gd name="T3" fmla="*/ 2147483647 h 404"/>
              <a:gd name="T4" fmla="*/ 2147483647 w 248"/>
              <a:gd name="T5" fmla="*/ 0 h 404"/>
              <a:gd name="T6" fmla="*/ 0 w 248"/>
              <a:gd name="T7" fmla="*/ 0 h 4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8" h="404">
                <a:moveTo>
                  <a:pt x="248" y="404"/>
                </a:moveTo>
                <a:lnTo>
                  <a:pt x="247" y="396"/>
                </a:lnTo>
                <a:lnTo>
                  <a:pt x="247" y="0"/>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73" name="Freeform 65"/>
          <p:cNvSpPr>
            <a:spLocks/>
          </p:cNvSpPr>
          <p:nvPr/>
        </p:nvSpPr>
        <p:spPr bwMode="auto">
          <a:xfrm>
            <a:off x="6842125" y="4826000"/>
            <a:ext cx="463550" cy="571500"/>
          </a:xfrm>
          <a:custGeom>
            <a:avLst/>
            <a:gdLst>
              <a:gd name="T0" fmla="*/ 0 w 292"/>
              <a:gd name="T1" fmla="*/ 0 h 360"/>
              <a:gd name="T2" fmla="*/ 2147483647 w 292"/>
              <a:gd name="T3" fmla="*/ 0 h 360"/>
              <a:gd name="T4" fmla="*/ 2147483647 w 292"/>
              <a:gd name="T5" fmla="*/ 2147483647 h 360"/>
              <a:gd name="T6" fmla="*/ 0 w 292"/>
              <a:gd name="T7" fmla="*/ 2147483647 h 360"/>
              <a:gd name="T8" fmla="*/ 0 w 292"/>
              <a:gd name="T9" fmla="*/ 0 h 360"/>
              <a:gd name="T10" fmla="*/ 0 w 292"/>
              <a:gd name="T11" fmla="*/ 0 h 3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2" h="360">
                <a:moveTo>
                  <a:pt x="0" y="0"/>
                </a:moveTo>
                <a:lnTo>
                  <a:pt x="292" y="0"/>
                </a:lnTo>
                <a:lnTo>
                  <a:pt x="292" y="360"/>
                </a:lnTo>
                <a:lnTo>
                  <a:pt x="0" y="360"/>
                </a:lnTo>
                <a:lnTo>
                  <a:pt x="0" y="0"/>
                </a:lnTo>
                <a:close/>
              </a:path>
            </a:pathLst>
          </a:custGeom>
          <a:solidFill>
            <a:srgbClr val="FFFFFF"/>
          </a:solidFill>
          <a:ln w="12700" cap="flat">
            <a:solidFill>
              <a:schemeClr val="hlink"/>
            </a:solidFill>
            <a:prstDash val="solid"/>
            <a:miter lim="800000"/>
            <a:headEnd/>
            <a:tailEnd/>
          </a:ln>
        </p:spPr>
        <p:txBody>
          <a:bodyPr/>
          <a:lstStyle/>
          <a:p>
            <a:endParaRPr lang="ar-EG"/>
          </a:p>
        </p:txBody>
      </p:sp>
      <p:sp>
        <p:nvSpPr>
          <p:cNvPr id="68674" name="Rectangle 66"/>
          <p:cNvSpPr>
            <a:spLocks noChangeArrowheads="1"/>
          </p:cNvSpPr>
          <p:nvPr/>
        </p:nvSpPr>
        <p:spPr bwMode="auto">
          <a:xfrm>
            <a:off x="6865938" y="4984750"/>
            <a:ext cx="31591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Sense</a:t>
            </a:r>
            <a:endParaRPr lang="en-US" altLang="en-US" sz="4000"/>
          </a:p>
        </p:txBody>
      </p:sp>
      <p:sp>
        <p:nvSpPr>
          <p:cNvPr id="68675" name="Rectangle 67"/>
          <p:cNvSpPr>
            <a:spLocks noChangeArrowheads="1"/>
          </p:cNvSpPr>
          <p:nvPr/>
        </p:nvSpPr>
        <p:spPr bwMode="auto">
          <a:xfrm>
            <a:off x="6865938" y="5106988"/>
            <a:ext cx="5000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amplifier</a:t>
            </a:r>
            <a:endParaRPr lang="en-US" altLang="en-US" sz="4000"/>
          </a:p>
        </p:txBody>
      </p:sp>
      <p:sp>
        <p:nvSpPr>
          <p:cNvPr id="68676" name="Oval 68"/>
          <p:cNvSpPr>
            <a:spLocks noChangeArrowheads="1"/>
          </p:cNvSpPr>
          <p:nvPr/>
        </p:nvSpPr>
        <p:spPr bwMode="auto">
          <a:xfrm>
            <a:off x="5429250" y="1516063"/>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77" name="Oval 69"/>
          <p:cNvSpPr>
            <a:spLocks noChangeArrowheads="1"/>
          </p:cNvSpPr>
          <p:nvPr/>
        </p:nvSpPr>
        <p:spPr bwMode="auto">
          <a:xfrm>
            <a:off x="5429250" y="1682750"/>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78" name="Oval 70"/>
          <p:cNvSpPr>
            <a:spLocks noChangeArrowheads="1"/>
          </p:cNvSpPr>
          <p:nvPr/>
        </p:nvSpPr>
        <p:spPr bwMode="auto">
          <a:xfrm>
            <a:off x="5434013" y="3375025"/>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79" name="Oval 71"/>
          <p:cNvSpPr>
            <a:spLocks noChangeArrowheads="1"/>
          </p:cNvSpPr>
          <p:nvPr/>
        </p:nvSpPr>
        <p:spPr bwMode="auto">
          <a:xfrm>
            <a:off x="5434013" y="3554413"/>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80" name="Oval 72"/>
          <p:cNvSpPr>
            <a:spLocks noChangeArrowheads="1"/>
          </p:cNvSpPr>
          <p:nvPr/>
        </p:nvSpPr>
        <p:spPr bwMode="auto">
          <a:xfrm>
            <a:off x="5656263" y="6049963"/>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681" name="Freeform 73"/>
          <p:cNvSpPr>
            <a:spLocks/>
          </p:cNvSpPr>
          <p:nvPr/>
        </p:nvSpPr>
        <p:spPr bwMode="auto">
          <a:xfrm>
            <a:off x="7777163" y="2200275"/>
            <a:ext cx="776287" cy="3262313"/>
          </a:xfrm>
          <a:custGeom>
            <a:avLst/>
            <a:gdLst>
              <a:gd name="T0" fmla="*/ 0 w 489"/>
              <a:gd name="T1" fmla="*/ 0 h 2055"/>
              <a:gd name="T2" fmla="*/ 2147483647 w 489"/>
              <a:gd name="T3" fmla="*/ 0 h 2055"/>
              <a:gd name="T4" fmla="*/ 2147483647 w 489"/>
              <a:gd name="T5" fmla="*/ 2147483647 h 2055"/>
              <a:gd name="T6" fmla="*/ 0 w 489"/>
              <a:gd name="T7" fmla="*/ 2147483647 h 2055"/>
              <a:gd name="T8" fmla="*/ 0 w 489"/>
              <a:gd name="T9" fmla="*/ 0 h 2055"/>
              <a:gd name="T10" fmla="*/ 0 w 489"/>
              <a:gd name="T11" fmla="*/ 0 h 205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 h="2055">
                <a:moveTo>
                  <a:pt x="0" y="0"/>
                </a:moveTo>
                <a:lnTo>
                  <a:pt x="489" y="0"/>
                </a:lnTo>
                <a:lnTo>
                  <a:pt x="489" y="2055"/>
                </a:lnTo>
                <a:lnTo>
                  <a:pt x="0" y="2055"/>
                </a:lnTo>
                <a:lnTo>
                  <a:pt x="0" y="0"/>
                </a:lnTo>
                <a:close/>
              </a:path>
            </a:pathLst>
          </a:custGeom>
          <a:noFill/>
          <a:ln w="127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68682" name="Line 74"/>
          <p:cNvSpPr>
            <a:spLocks noChangeShapeType="1"/>
          </p:cNvSpPr>
          <p:nvPr/>
        </p:nvSpPr>
        <p:spPr bwMode="auto">
          <a:xfrm>
            <a:off x="7613650" y="2362200"/>
            <a:ext cx="10858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83" name="Line 75"/>
          <p:cNvSpPr>
            <a:spLocks noChangeShapeType="1"/>
          </p:cNvSpPr>
          <p:nvPr/>
        </p:nvSpPr>
        <p:spPr bwMode="auto">
          <a:xfrm>
            <a:off x="8166100" y="2362200"/>
            <a:ext cx="1588" cy="1539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84" name="Line 76"/>
          <p:cNvSpPr>
            <a:spLocks noChangeShapeType="1"/>
          </p:cNvSpPr>
          <p:nvPr/>
        </p:nvSpPr>
        <p:spPr bwMode="auto">
          <a:xfrm>
            <a:off x="7613650" y="2971800"/>
            <a:ext cx="10858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85" name="Line 77"/>
          <p:cNvSpPr>
            <a:spLocks noChangeShapeType="1"/>
          </p:cNvSpPr>
          <p:nvPr/>
        </p:nvSpPr>
        <p:spPr bwMode="auto">
          <a:xfrm>
            <a:off x="8166100" y="2971800"/>
            <a:ext cx="1588" cy="15240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86" name="Line 78"/>
          <p:cNvSpPr>
            <a:spLocks noChangeShapeType="1"/>
          </p:cNvSpPr>
          <p:nvPr/>
        </p:nvSpPr>
        <p:spPr bwMode="auto">
          <a:xfrm>
            <a:off x="7613650" y="3895725"/>
            <a:ext cx="10858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87" name="Line 79"/>
          <p:cNvSpPr>
            <a:spLocks noChangeShapeType="1"/>
          </p:cNvSpPr>
          <p:nvPr/>
        </p:nvSpPr>
        <p:spPr bwMode="auto">
          <a:xfrm>
            <a:off x="8166100" y="3895725"/>
            <a:ext cx="1588" cy="15240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688" name="Rectangle 80"/>
          <p:cNvSpPr>
            <a:spLocks noChangeArrowheads="1"/>
          </p:cNvSpPr>
          <p:nvPr/>
        </p:nvSpPr>
        <p:spPr bwMode="auto">
          <a:xfrm>
            <a:off x="7927975" y="4467225"/>
            <a:ext cx="6477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Read/Write</a:t>
            </a:r>
            <a:endParaRPr lang="en-US" altLang="en-US" sz="4000"/>
          </a:p>
        </p:txBody>
      </p:sp>
      <p:sp>
        <p:nvSpPr>
          <p:cNvPr id="68689" name="Rectangle 81"/>
          <p:cNvSpPr>
            <a:spLocks noChangeArrowheads="1"/>
          </p:cNvSpPr>
          <p:nvPr/>
        </p:nvSpPr>
        <p:spPr bwMode="auto">
          <a:xfrm>
            <a:off x="7927975" y="4589463"/>
            <a:ext cx="2619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logic</a:t>
            </a:r>
            <a:endParaRPr lang="en-US" altLang="en-US" sz="4000"/>
          </a:p>
        </p:txBody>
      </p:sp>
      <p:sp>
        <p:nvSpPr>
          <p:cNvPr id="68690" name="Rectangle 82"/>
          <p:cNvSpPr>
            <a:spLocks noChangeArrowheads="1"/>
          </p:cNvSpPr>
          <p:nvPr/>
        </p:nvSpPr>
        <p:spPr bwMode="auto">
          <a:xfrm>
            <a:off x="7804150" y="4919663"/>
            <a:ext cx="4127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Data in</a:t>
            </a:r>
            <a:endParaRPr lang="en-US" altLang="en-US" sz="4000"/>
          </a:p>
        </p:txBody>
      </p:sp>
      <p:sp>
        <p:nvSpPr>
          <p:cNvPr id="68691" name="Rectangle 83"/>
          <p:cNvSpPr>
            <a:spLocks noChangeArrowheads="1"/>
          </p:cNvSpPr>
          <p:nvPr/>
        </p:nvSpPr>
        <p:spPr bwMode="auto">
          <a:xfrm>
            <a:off x="8005763" y="5060950"/>
            <a:ext cx="4921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Data out</a:t>
            </a:r>
            <a:endParaRPr lang="en-US" altLang="en-US" sz="4000"/>
          </a:p>
        </p:txBody>
      </p:sp>
      <p:sp>
        <p:nvSpPr>
          <p:cNvPr id="68692" name="Rectangle 84"/>
          <p:cNvSpPr>
            <a:spLocks noChangeArrowheads="1"/>
          </p:cNvSpPr>
          <p:nvPr/>
        </p:nvSpPr>
        <p:spPr bwMode="auto">
          <a:xfrm>
            <a:off x="8256588" y="5197475"/>
            <a:ext cx="1698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Bit</a:t>
            </a:r>
            <a:endParaRPr lang="en-US" altLang="en-US" sz="4000"/>
          </a:p>
        </p:txBody>
      </p:sp>
      <p:sp>
        <p:nvSpPr>
          <p:cNvPr id="68693" name="Rectangle 85"/>
          <p:cNvSpPr>
            <a:spLocks noChangeArrowheads="1"/>
          </p:cNvSpPr>
          <p:nvPr/>
        </p:nvSpPr>
        <p:spPr bwMode="auto">
          <a:xfrm>
            <a:off x="8256588" y="5319713"/>
            <a:ext cx="311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694" name="Freeform 86"/>
          <p:cNvSpPr>
            <a:spLocks/>
          </p:cNvSpPr>
          <p:nvPr/>
        </p:nvSpPr>
        <p:spPr bwMode="auto">
          <a:xfrm>
            <a:off x="7862888" y="2509838"/>
            <a:ext cx="606425" cy="314325"/>
          </a:xfrm>
          <a:custGeom>
            <a:avLst/>
            <a:gdLst>
              <a:gd name="T0" fmla="*/ 0 w 382"/>
              <a:gd name="T1" fmla="*/ 0 h 198"/>
              <a:gd name="T2" fmla="*/ 2147483647 w 382"/>
              <a:gd name="T3" fmla="*/ 0 h 198"/>
              <a:gd name="T4" fmla="*/ 2147483647 w 382"/>
              <a:gd name="T5" fmla="*/ 2147483647 h 198"/>
              <a:gd name="T6" fmla="*/ 0 w 382"/>
              <a:gd name="T7" fmla="*/ 2147483647 h 198"/>
              <a:gd name="T8" fmla="*/ 0 w 382"/>
              <a:gd name="T9" fmla="*/ 0 h 198"/>
              <a:gd name="T10" fmla="*/ 0 w 382"/>
              <a:gd name="T11" fmla="*/ 0 h 1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2" h="198">
                <a:moveTo>
                  <a:pt x="0" y="0"/>
                </a:moveTo>
                <a:lnTo>
                  <a:pt x="382" y="0"/>
                </a:lnTo>
                <a:lnTo>
                  <a:pt x="382" y="198"/>
                </a:lnTo>
                <a:lnTo>
                  <a:pt x="0" y="198"/>
                </a:lnTo>
                <a:lnTo>
                  <a:pt x="0" y="0"/>
                </a:lnTo>
                <a:close/>
              </a:path>
            </a:pathLst>
          </a:custGeom>
          <a:solidFill>
            <a:srgbClr val="00FFCC"/>
          </a:solidFill>
          <a:ln w="12700" cap="flat">
            <a:solidFill>
              <a:srgbClr val="000000"/>
            </a:solidFill>
            <a:prstDash val="solid"/>
            <a:miter lim="800000"/>
            <a:headEnd/>
            <a:tailEnd/>
          </a:ln>
        </p:spPr>
        <p:txBody>
          <a:bodyPr/>
          <a:lstStyle/>
          <a:p>
            <a:endParaRPr lang="ar-EG"/>
          </a:p>
        </p:txBody>
      </p:sp>
      <p:sp>
        <p:nvSpPr>
          <p:cNvPr id="68695" name="Rectangle 87"/>
          <p:cNvSpPr>
            <a:spLocks noChangeArrowheads="1"/>
          </p:cNvSpPr>
          <p:nvPr/>
        </p:nvSpPr>
        <p:spPr bwMode="auto">
          <a:xfrm>
            <a:off x="7885113" y="2592388"/>
            <a:ext cx="6540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DRAM cell</a:t>
            </a:r>
            <a:endParaRPr lang="en-US" altLang="en-US" sz="4000"/>
          </a:p>
        </p:txBody>
      </p:sp>
      <p:sp>
        <p:nvSpPr>
          <p:cNvPr id="68696" name="Freeform 88"/>
          <p:cNvSpPr>
            <a:spLocks/>
          </p:cNvSpPr>
          <p:nvPr/>
        </p:nvSpPr>
        <p:spPr bwMode="auto">
          <a:xfrm>
            <a:off x="7862888" y="3127375"/>
            <a:ext cx="606425" cy="315913"/>
          </a:xfrm>
          <a:custGeom>
            <a:avLst/>
            <a:gdLst>
              <a:gd name="T0" fmla="*/ 0 w 382"/>
              <a:gd name="T1" fmla="*/ 0 h 199"/>
              <a:gd name="T2" fmla="*/ 2147483647 w 382"/>
              <a:gd name="T3" fmla="*/ 0 h 199"/>
              <a:gd name="T4" fmla="*/ 2147483647 w 382"/>
              <a:gd name="T5" fmla="*/ 2147483647 h 199"/>
              <a:gd name="T6" fmla="*/ 0 w 382"/>
              <a:gd name="T7" fmla="*/ 2147483647 h 199"/>
              <a:gd name="T8" fmla="*/ 0 w 382"/>
              <a:gd name="T9" fmla="*/ 0 h 199"/>
              <a:gd name="T10" fmla="*/ 0 w 382"/>
              <a:gd name="T11" fmla="*/ 0 h 1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2" h="199">
                <a:moveTo>
                  <a:pt x="0" y="0"/>
                </a:moveTo>
                <a:lnTo>
                  <a:pt x="382" y="0"/>
                </a:lnTo>
                <a:lnTo>
                  <a:pt x="382" y="199"/>
                </a:lnTo>
                <a:lnTo>
                  <a:pt x="0" y="199"/>
                </a:lnTo>
                <a:lnTo>
                  <a:pt x="0" y="0"/>
                </a:lnTo>
                <a:close/>
              </a:path>
            </a:pathLst>
          </a:custGeom>
          <a:solidFill>
            <a:srgbClr val="00FFCC"/>
          </a:solidFill>
          <a:ln w="12700" cap="flat">
            <a:solidFill>
              <a:srgbClr val="000000"/>
            </a:solidFill>
            <a:prstDash val="solid"/>
            <a:miter lim="800000"/>
            <a:headEnd/>
            <a:tailEnd/>
          </a:ln>
        </p:spPr>
        <p:txBody>
          <a:bodyPr/>
          <a:lstStyle/>
          <a:p>
            <a:endParaRPr lang="ar-EG"/>
          </a:p>
        </p:txBody>
      </p:sp>
      <p:sp>
        <p:nvSpPr>
          <p:cNvPr id="68697" name="Rectangle 89"/>
          <p:cNvSpPr>
            <a:spLocks noChangeArrowheads="1"/>
          </p:cNvSpPr>
          <p:nvPr/>
        </p:nvSpPr>
        <p:spPr bwMode="auto">
          <a:xfrm>
            <a:off x="7885113" y="3209925"/>
            <a:ext cx="6540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DRAM cell</a:t>
            </a:r>
            <a:endParaRPr lang="en-US" altLang="en-US" sz="4000"/>
          </a:p>
        </p:txBody>
      </p:sp>
      <p:sp>
        <p:nvSpPr>
          <p:cNvPr id="68698" name="Freeform 90"/>
          <p:cNvSpPr>
            <a:spLocks/>
          </p:cNvSpPr>
          <p:nvPr/>
        </p:nvSpPr>
        <p:spPr bwMode="auto">
          <a:xfrm>
            <a:off x="7862888" y="4048125"/>
            <a:ext cx="606425" cy="315913"/>
          </a:xfrm>
          <a:custGeom>
            <a:avLst/>
            <a:gdLst>
              <a:gd name="T0" fmla="*/ 0 w 382"/>
              <a:gd name="T1" fmla="*/ 0 h 199"/>
              <a:gd name="T2" fmla="*/ 2147483647 w 382"/>
              <a:gd name="T3" fmla="*/ 0 h 199"/>
              <a:gd name="T4" fmla="*/ 2147483647 w 382"/>
              <a:gd name="T5" fmla="*/ 2147483647 h 199"/>
              <a:gd name="T6" fmla="*/ 0 w 382"/>
              <a:gd name="T7" fmla="*/ 2147483647 h 199"/>
              <a:gd name="T8" fmla="*/ 0 w 382"/>
              <a:gd name="T9" fmla="*/ 0 h 199"/>
              <a:gd name="T10" fmla="*/ 0 w 382"/>
              <a:gd name="T11" fmla="*/ 0 h 1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2" h="199">
                <a:moveTo>
                  <a:pt x="0" y="0"/>
                </a:moveTo>
                <a:lnTo>
                  <a:pt x="382" y="0"/>
                </a:lnTo>
                <a:lnTo>
                  <a:pt x="382" y="199"/>
                </a:lnTo>
                <a:lnTo>
                  <a:pt x="0" y="199"/>
                </a:lnTo>
                <a:lnTo>
                  <a:pt x="0" y="0"/>
                </a:lnTo>
                <a:close/>
              </a:path>
            </a:pathLst>
          </a:custGeom>
          <a:solidFill>
            <a:srgbClr val="00FFCC"/>
          </a:solidFill>
          <a:ln w="12700" cap="flat">
            <a:solidFill>
              <a:srgbClr val="000000"/>
            </a:solidFill>
            <a:prstDash val="solid"/>
            <a:miter lim="800000"/>
            <a:headEnd/>
            <a:tailEnd/>
          </a:ln>
        </p:spPr>
        <p:txBody>
          <a:bodyPr/>
          <a:lstStyle/>
          <a:p>
            <a:endParaRPr lang="ar-EG"/>
          </a:p>
        </p:txBody>
      </p:sp>
      <p:sp>
        <p:nvSpPr>
          <p:cNvPr id="68699" name="Rectangle 91"/>
          <p:cNvSpPr>
            <a:spLocks noChangeArrowheads="1"/>
          </p:cNvSpPr>
          <p:nvPr/>
        </p:nvSpPr>
        <p:spPr bwMode="auto">
          <a:xfrm>
            <a:off x="7885113" y="4130675"/>
            <a:ext cx="6540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DRAM cell</a:t>
            </a:r>
            <a:endParaRPr lang="en-US" altLang="en-US" sz="4000"/>
          </a:p>
        </p:txBody>
      </p:sp>
      <p:sp>
        <p:nvSpPr>
          <p:cNvPr id="68700" name="Line 92"/>
          <p:cNvSpPr>
            <a:spLocks noChangeShapeType="1"/>
          </p:cNvSpPr>
          <p:nvPr/>
        </p:nvSpPr>
        <p:spPr bwMode="auto">
          <a:xfrm>
            <a:off x="8553450" y="5141913"/>
            <a:ext cx="146050"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701" name="Line 93"/>
          <p:cNvSpPr>
            <a:spLocks noChangeShapeType="1"/>
          </p:cNvSpPr>
          <p:nvPr/>
        </p:nvSpPr>
        <p:spPr bwMode="auto">
          <a:xfrm>
            <a:off x="7613650" y="4994275"/>
            <a:ext cx="163513"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702" name="Line 94"/>
          <p:cNvSpPr>
            <a:spLocks noChangeShapeType="1"/>
          </p:cNvSpPr>
          <p:nvPr/>
        </p:nvSpPr>
        <p:spPr bwMode="auto">
          <a:xfrm flipV="1">
            <a:off x="7921625" y="5462588"/>
            <a:ext cx="1588" cy="16351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703" name="Line 95"/>
          <p:cNvSpPr>
            <a:spLocks noChangeShapeType="1"/>
          </p:cNvSpPr>
          <p:nvPr/>
        </p:nvSpPr>
        <p:spPr bwMode="auto">
          <a:xfrm flipV="1">
            <a:off x="8408988" y="5462588"/>
            <a:ext cx="1587" cy="16351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704" name="Rectangle 96"/>
          <p:cNvSpPr>
            <a:spLocks noChangeArrowheads="1"/>
          </p:cNvSpPr>
          <p:nvPr/>
        </p:nvSpPr>
        <p:spPr bwMode="auto">
          <a:xfrm>
            <a:off x="7321550" y="2168525"/>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Word</a:t>
            </a:r>
            <a:endParaRPr lang="en-US" altLang="en-US" sz="4000"/>
          </a:p>
        </p:txBody>
      </p:sp>
      <p:sp>
        <p:nvSpPr>
          <p:cNvPr id="68705" name="Rectangle 97"/>
          <p:cNvSpPr>
            <a:spLocks noChangeArrowheads="1"/>
          </p:cNvSpPr>
          <p:nvPr/>
        </p:nvSpPr>
        <p:spPr bwMode="auto">
          <a:xfrm>
            <a:off x="7321550" y="2290763"/>
            <a:ext cx="311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706" name="Rectangle 98"/>
          <p:cNvSpPr>
            <a:spLocks noChangeArrowheads="1"/>
          </p:cNvSpPr>
          <p:nvPr/>
        </p:nvSpPr>
        <p:spPr bwMode="auto">
          <a:xfrm>
            <a:off x="7321550" y="2413000"/>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0</a:t>
            </a:r>
            <a:endParaRPr lang="en-US" altLang="en-US" sz="4000"/>
          </a:p>
        </p:txBody>
      </p:sp>
      <p:sp>
        <p:nvSpPr>
          <p:cNvPr id="68707" name="Rectangle 99"/>
          <p:cNvSpPr>
            <a:spLocks noChangeArrowheads="1"/>
          </p:cNvSpPr>
          <p:nvPr/>
        </p:nvSpPr>
        <p:spPr bwMode="auto">
          <a:xfrm>
            <a:off x="7321550" y="2779713"/>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Word</a:t>
            </a:r>
            <a:endParaRPr lang="en-US" altLang="en-US" sz="4000"/>
          </a:p>
        </p:txBody>
      </p:sp>
      <p:sp>
        <p:nvSpPr>
          <p:cNvPr id="68708" name="Rectangle 100"/>
          <p:cNvSpPr>
            <a:spLocks noChangeArrowheads="1"/>
          </p:cNvSpPr>
          <p:nvPr/>
        </p:nvSpPr>
        <p:spPr bwMode="auto">
          <a:xfrm>
            <a:off x="7321550" y="2901950"/>
            <a:ext cx="311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709" name="Rectangle 101"/>
          <p:cNvSpPr>
            <a:spLocks noChangeArrowheads="1"/>
          </p:cNvSpPr>
          <p:nvPr/>
        </p:nvSpPr>
        <p:spPr bwMode="auto">
          <a:xfrm>
            <a:off x="7321550" y="3024188"/>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1</a:t>
            </a:r>
            <a:endParaRPr lang="en-US" altLang="en-US" sz="4000"/>
          </a:p>
        </p:txBody>
      </p:sp>
      <p:sp>
        <p:nvSpPr>
          <p:cNvPr id="68710" name="Rectangle 102"/>
          <p:cNvSpPr>
            <a:spLocks noChangeArrowheads="1"/>
          </p:cNvSpPr>
          <p:nvPr/>
        </p:nvSpPr>
        <p:spPr bwMode="auto">
          <a:xfrm>
            <a:off x="7321550" y="3703638"/>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Word</a:t>
            </a:r>
            <a:endParaRPr lang="en-US" altLang="en-US" sz="4000"/>
          </a:p>
        </p:txBody>
      </p:sp>
      <p:sp>
        <p:nvSpPr>
          <p:cNvPr id="68711" name="Rectangle 103"/>
          <p:cNvSpPr>
            <a:spLocks noChangeArrowheads="1"/>
          </p:cNvSpPr>
          <p:nvPr/>
        </p:nvSpPr>
        <p:spPr bwMode="auto">
          <a:xfrm>
            <a:off x="7321550" y="3824288"/>
            <a:ext cx="3111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select</a:t>
            </a:r>
            <a:endParaRPr lang="en-US" altLang="en-US" sz="4000"/>
          </a:p>
        </p:txBody>
      </p:sp>
      <p:sp>
        <p:nvSpPr>
          <p:cNvPr id="68712" name="Rectangle 104"/>
          <p:cNvSpPr>
            <a:spLocks noChangeArrowheads="1"/>
          </p:cNvSpPr>
          <p:nvPr/>
        </p:nvSpPr>
        <p:spPr bwMode="auto">
          <a:xfrm>
            <a:off x="7321550" y="3946525"/>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2</a:t>
            </a:r>
            <a:endParaRPr lang="en-US" altLang="en-US" sz="4000"/>
          </a:p>
        </p:txBody>
      </p:sp>
      <p:sp>
        <p:nvSpPr>
          <p:cNvPr id="68713" name="Rectangle 105"/>
          <p:cNvSpPr>
            <a:spLocks noChangeArrowheads="1"/>
          </p:cNvSpPr>
          <p:nvPr/>
        </p:nvSpPr>
        <p:spPr bwMode="auto">
          <a:xfrm>
            <a:off x="7375525" y="3943350"/>
            <a:ext cx="49213"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TimesTen"/>
              </a:rPr>
              <a:t>n</a:t>
            </a:r>
            <a:endParaRPr lang="en-US" altLang="en-US" sz="4000"/>
          </a:p>
        </p:txBody>
      </p:sp>
      <p:sp>
        <p:nvSpPr>
          <p:cNvPr id="68714" name="Rectangle 106"/>
          <p:cNvSpPr>
            <a:spLocks noChangeArrowheads="1"/>
          </p:cNvSpPr>
          <p:nvPr/>
        </p:nvSpPr>
        <p:spPr bwMode="auto">
          <a:xfrm>
            <a:off x="7437438" y="3954463"/>
            <a:ext cx="76200"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athematicalPi 1"/>
              </a:rPr>
              <a:t>2</a:t>
            </a:r>
            <a:endParaRPr lang="en-US" altLang="en-US" sz="4000"/>
          </a:p>
        </p:txBody>
      </p:sp>
      <p:sp>
        <p:nvSpPr>
          <p:cNvPr id="68715" name="Rectangle 107"/>
          <p:cNvSpPr>
            <a:spLocks noChangeArrowheads="1"/>
          </p:cNvSpPr>
          <p:nvPr/>
        </p:nvSpPr>
        <p:spPr bwMode="auto">
          <a:xfrm>
            <a:off x="7500938" y="3943350"/>
            <a:ext cx="66675"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TimesTen"/>
              </a:rPr>
              <a:t> 1</a:t>
            </a:r>
            <a:endParaRPr lang="en-US" altLang="en-US" sz="4000"/>
          </a:p>
        </p:txBody>
      </p:sp>
      <p:sp>
        <p:nvSpPr>
          <p:cNvPr id="68716" name="Oval 108"/>
          <p:cNvSpPr>
            <a:spLocks noChangeArrowheads="1"/>
          </p:cNvSpPr>
          <p:nvPr/>
        </p:nvSpPr>
        <p:spPr bwMode="auto">
          <a:xfrm>
            <a:off x="8145463" y="2341563"/>
            <a:ext cx="41275" cy="4286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17" name="Oval 109"/>
          <p:cNvSpPr>
            <a:spLocks noChangeArrowheads="1"/>
          </p:cNvSpPr>
          <p:nvPr/>
        </p:nvSpPr>
        <p:spPr bwMode="auto">
          <a:xfrm>
            <a:off x="8145463" y="2951163"/>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18" name="Oval 110"/>
          <p:cNvSpPr>
            <a:spLocks noChangeArrowheads="1"/>
          </p:cNvSpPr>
          <p:nvPr/>
        </p:nvSpPr>
        <p:spPr bwMode="auto">
          <a:xfrm>
            <a:off x="8145463" y="3875088"/>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19" name="Oval 111"/>
          <p:cNvSpPr>
            <a:spLocks noChangeArrowheads="1"/>
          </p:cNvSpPr>
          <p:nvPr/>
        </p:nvSpPr>
        <p:spPr bwMode="auto">
          <a:xfrm>
            <a:off x="4867275" y="6011863"/>
            <a:ext cx="66675" cy="66675"/>
          </a:xfrm>
          <a:prstGeom prst="ellipse">
            <a:avLst/>
          </a:prstGeom>
          <a:solidFill>
            <a:srgbClr val="FFFFFF"/>
          </a:solidFill>
          <a:ln w="12700">
            <a:solidFill>
              <a:srgbClr val="000000"/>
            </a:solidFill>
            <a:miter lim="800000"/>
            <a:headEnd/>
            <a:tailEnd/>
          </a:ln>
        </p:spPr>
        <p:txBody>
          <a:bodyPr/>
          <a:lstStyle/>
          <a:p>
            <a:endParaRPr lang="ar-EG"/>
          </a:p>
        </p:txBody>
      </p:sp>
      <p:sp>
        <p:nvSpPr>
          <p:cNvPr id="68720" name="Freeform 112"/>
          <p:cNvSpPr>
            <a:spLocks/>
          </p:cNvSpPr>
          <p:nvPr/>
        </p:nvSpPr>
        <p:spPr bwMode="auto">
          <a:xfrm>
            <a:off x="4799013" y="5848350"/>
            <a:ext cx="209550" cy="163513"/>
          </a:xfrm>
          <a:custGeom>
            <a:avLst/>
            <a:gdLst>
              <a:gd name="T0" fmla="*/ 0 w 132"/>
              <a:gd name="T1" fmla="*/ 2147483647 h 103"/>
              <a:gd name="T2" fmla="*/ 2147483647 w 132"/>
              <a:gd name="T3" fmla="*/ 2147483647 h 103"/>
              <a:gd name="T4" fmla="*/ 2147483647 w 132"/>
              <a:gd name="T5" fmla="*/ 0 h 103"/>
              <a:gd name="T6" fmla="*/ 0 w 132"/>
              <a:gd name="T7" fmla="*/ 2147483647 h 103"/>
              <a:gd name="T8" fmla="*/ 0 w 132"/>
              <a:gd name="T9" fmla="*/ 2147483647 h 1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03">
                <a:moveTo>
                  <a:pt x="0" y="103"/>
                </a:moveTo>
                <a:lnTo>
                  <a:pt x="132" y="103"/>
                </a:lnTo>
                <a:lnTo>
                  <a:pt x="64" y="0"/>
                </a:lnTo>
                <a:lnTo>
                  <a:pt x="0" y="103"/>
                </a:lnTo>
                <a:close/>
              </a:path>
            </a:pathLst>
          </a:custGeom>
          <a:solidFill>
            <a:srgbClr val="FFFFFF"/>
          </a:solidFill>
          <a:ln w="12700" cap="flat">
            <a:solidFill>
              <a:srgbClr val="000000"/>
            </a:solidFill>
            <a:prstDash val="solid"/>
            <a:miter lim="800000"/>
            <a:headEnd/>
            <a:tailEnd/>
          </a:ln>
        </p:spPr>
        <p:txBody>
          <a:bodyPr/>
          <a:lstStyle/>
          <a:p>
            <a:endParaRPr lang="ar-EG"/>
          </a:p>
        </p:txBody>
      </p:sp>
      <p:sp>
        <p:nvSpPr>
          <p:cNvPr id="68721" name="Freeform 113"/>
          <p:cNvSpPr>
            <a:spLocks/>
          </p:cNvSpPr>
          <p:nvPr/>
        </p:nvSpPr>
        <p:spPr bwMode="auto">
          <a:xfrm>
            <a:off x="4413250" y="4806950"/>
            <a:ext cx="212725" cy="166688"/>
          </a:xfrm>
          <a:custGeom>
            <a:avLst/>
            <a:gdLst>
              <a:gd name="T0" fmla="*/ 0 w 134"/>
              <a:gd name="T1" fmla="*/ 2147483647 h 105"/>
              <a:gd name="T2" fmla="*/ 2147483647 w 134"/>
              <a:gd name="T3" fmla="*/ 2147483647 h 105"/>
              <a:gd name="T4" fmla="*/ 2147483647 w 134"/>
              <a:gd name="T5" fmla="*/ 0 h 105"/>
              <a:gd name="T6" fmla="*/ 0 w 134"/>
              <a:gd name="T7" fmla="*/ 2147483647 h 105"/>
              <a:gd name="T8" fmla="*/ 0 w 134"/>
              <a:gd name="T9" fmla="*/ 2147483647 h 1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105">
                <a:moveTo>
                  <a:pt x="0" y="105"/>
                </a:moveTo>
                <a:lnTo>
                  <a:pt x="134" y="105"/>
                </a:lnTo>
                <a:lnTo>
                  <a:pt x="66" y="0"/>
                </a:lnTo>
                <a:lnTo>
                  <a:pt x="0" y="105"/>
                </a:lnTo>
                <a:close/>
              </a:path>
            </a:pathLst>
          </a:custGeom>
          <a:solidFill>
            <a:srgbClr val="FFFFFF"/>
          </a:solidFill>
          <a:ln w="12700" cap="flat">
            <a:solidFill>
              <a:srgbClr val="000000"/>
            </a:solidFill>
            <a:prstDash val="solid"/>
            <a:miter lim="800000"/>
            <a:headEnd/>
            <a:tailEnd/>
          </a:ln>
        </p:spPr>
        <p:txBody>
          <a:bodyPr/>
          <a:lstStyle/>
          <a:p>
            <a:endParaRPr lang="ar-EG"/>
          </a:p>
        </p:txBody>
      </p:sp>
      <p:sp>
        <p:nvSpPr>
          <p:cNvPr id="68722" name="Freeform 114"/>
          <p:cNvSpPr>
            <a:spLocks/>
          </p:cNvSpPr>
          <p:nvPr/>
        </p:nvSpPr>
        <p:spPr bwMode="auto">
          <a:xfrm>
            <a:off x="6180138" y="3714750"/>
            <a:ext cx="165100" cy="209550"/>
          </a:xfrm>
          <a:custGeom>
            <a:avLst/>
            <a:gdLst>
              <a:gd name="T0" fmla="*/ 0 w 104"/>
              <a:gd name="T1" fmla="*/ 0 h 132"/>
              <a:gd name="T2" fmla="*/ 0 w 104"/>
              <a:gd name="T3" fmla="*/ 2147483647 h 132"/>
              <a:gd name="T4" fmla="*/ 2147483647 w 104"/>
              <a:gd name="T5" fmla="*/ 2147483647 h 132"/>
              <a:gd name="T6" fmla="*/ 0 w 104"/>
              <a:gd name="T7" fmla="*/ 0 h 132"/>
              <a:gd name="T8" fmla="*/ 0 w 104"/>
              <a:gd name="T9" fmla="*/ 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132">
                <a:moveTo>
                  <a:pt x="0" y="0"/>
                </a:moveTo>
                <a:lnTo>
                  <a:pt x="0" y="132"/>
                </a:lnTo>
                <a:lnTo>
                  <a:pt x="104" y="65"/>
                </a:lnTo>
                <a:lnTo>
                  <a:pt x="0" y="0"/>
                </a:lnTo>
                <a:close/>
              </a:path>
            </a:pathLst>
          </a:custGeom>
          <a:solidFill>
            <a:srgbClr val="FFFFFF"/>
          </a:solidFill>
          <a:ln w="12700" cap="flat">
            <a:solidFill>
              <a:srgbClr val="000000"/>
            </a:solidFill>
            <a:prstDash val="solid"/>
            <a:miter lim="800000"/>
            <a:headEnd/>
            <a:tailEnd/>
          </a:ln>
        </p:spPr>
        <p:txBody>
          <a:bodyPr/>
          <a:lstStyle/>
          <a:p>
            <a:endParaRPr lang="ar-EG"/>
          </a:p>
        </p:txBody>
      </p:sp>
      <p:sp>
        <p:nvSpPr>
          <p:cNvPr id="68723" name="Freeform 115"/>
          <p:cNvSpPr>
            <a:spLocks/>
          </p:cNvSpPr>
          <p:nvPr/>
        </p:nvSpPr>
        <p:spPr bwMode="auto">
          <a:xfrm>
            <a:off x="6200775" y="1844675"/>
            <a:ext cx="165100" cy="209550"/>
          </a:xfrm>
          <a:custGeom>
            <a:avLst/>
            <a:gdLst>
              <a:gd name="T0" fmla="*/ 0 w 104"/>
              <a:gd name="T1" fmla="*/ 0 h 132"/>
              <a:gd name="T2" fmla="*/ 0 w 104"/>
              <a:gd name="T3" fmla="*/ 2147483647 h 132"/>
              <a:gd name="T4" fmla="*/ 2147483647 w 104"/>
              <a:gd name="T5" fmla="*/ 2147483647 h 132"/>
              <a:gd name="T6" fmla="*/ 0 w 104"/>
              <a:gd name="T7" fmla="*/ 0 h 132"/>
              <a:gd name="T8" fmla="*/ 0 w 104"/>
              <a:gd name="T9" fmla="*/ 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132">
                <a:moveTo>
                  <a:pt x="0" y="0"/>
                </a:moveTo>
                <a:lnTo>
                  <a:pt x="0" y="132"/>
                </a:lnTo>
                <a:lnTo>
                  <a:pt x="104" y="64"/>
                </a:lnTo>
                <a:lnTo>
                  <a:pt x="0" y="0"/>
                </a:lnTo>
                <a:close/>
              </a:path>
            </a:pathLst>
          </a:custGeom>
          <a:solidFill>
            <a:srgbClr val="FFFFFF"/>
          </a:solidFill>
          <a:ln w="12700" cap="flat">
            <a:solidFill>
              <a:srgbClr val="000000"/>
            </a:solidFill>
            <a:prstDash val="solid"/>
            <a:miter lim="800000"/>
            <a:headEnd/>
            <a:tailEnd/>
          </a:ln>
        </p:spPr>
        <p:txBody>
          <a:bodyPr/>
          <a:lstStyle/>
          <a:p>
            <a:endParaRPr lang="ar-EG"/>
          </a:p>
        </p:txBody>
      </p:sp>
      <p:sp>
        <p:nvSpPr>
          <p:cNvPr id="68724" name="Freeform 116"/>
          <p:cNvSpPr>
            <a:spLocks/>
          </p:cNvSpPr>
          <p:nvPr/>
        </p:nvSpPr>
        <p:spPr bwMode="auto">
          <a:xfrm>
            <a:off x="7262813" y="5700713"/>
            <a:ext cx="231775" cy="279400"/>
          </a:xfrm>
          <a:custGeom>
            <a:avLst/>
            <a:gdLst>
              <a:gd name="T0" fmla="*/ 2147483647 w 90"/>
              <a:gd name="T1" fmla="*/ 0 h 108"/>
              <a:gd name="T2" fmla="*/ 0 w 90"/>
              <a:gd name="T3" fmla="*/ 0 h 108"/>
              <a:gd name="T4" fmla="*/ 0 w 90"/>
              <a:gd name="T5" fmla="*/ 2147483647 h 108"/>
              <a:gd name="T6" fmla="*/ 2147483647 w 90"/>
              <a:gd name="T7" fmla="*/ 2147483647 h 108"/>
              <a:gd name="T8" fmla="*/ 2147483647 w 90"/>
              <a:gd name="T9" fmla="*/ 2147483647 h 108"/>
              <a:gd name="T10" fmla="*/ 2147483647 w 90"/>
              <a:gd name="T11" fmla="*/ 0 h 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0" h="108">
                <a:moveTo>
                  <a:pt x="90" y="0"/>
                </a:moveTo>
                <a:cubicBezTo>
                  <a:pt x="0" y="0"/>
                  <a:pt x="0" y="0"/>
                  <a:pt x="0" y="0"/>
                </a:cubicBezTo>
                <a:cubicBezTo>
                  <a:pt x="0" y="63"/>
                  <a:pt x="0" y="63"/>
                  <a:pt x="0" y="63"/>
                </a:cubicBezTo>
                <a:cubicBezTo>
                  <a:pt x="0" y="88"/>
                  <a:pt x="20" y="108"/>
                  <a:pt x="44" y="108"/>
                </a:cubicBezTo>
                <a:cubicBezTo>
                  <a:pt x="69" y="108"/>
                  <a:pt x="90" y="89"/>
                  <a:pt x="90" y="64"/>
                </a:cubicBezTo>
                <a:cubicBezTo>
                  <a:pt x="90" y="0"/>
                  <a:pt x="90" y="0"/>
                  <a:pt x="90" y="0"/>
                </a:cubicBezTo>
                <a:close/>
              </a:path>
            </a:pathLst>
          </a:custGeom>
          <a:solidFill>
            <a:srgbClr val="FFFFFF"/>
          </a:solidFill>
          <a:ln w="12700" cap="flat">
            <a:solidFill>
              <a:srgbClr val="000000"/>
            </a:solidFill>
            <a:prstDash val="solid"/>
            <a:miter lim="800000"/>
            <a:headEnd/>
            <a:tailEnd/>
          </a:ln>
        </p:spPr>
        <p:txBody>
          <a:bodyPr/>
          <a:lstStyle/>
          <a:p>
            <a:endParaRPr lang="ar-EG"/>
          </a:p>
        </p:txBody>
      </p:sp>
      <p:sp>
        <p:nvSpPr>
          <p:cNvPr id="68725" name="Freeform 117"/>
          <p:cNvSpPr>
            <a:spLocks/>
          </p:cNvSpPr>
          <p:nvPr/>
        </p:nvSpPr>
        <p:spPr bwMode="auto">
          <a:xfrm>
            <a:off x="4835525" y="5500688"/>
            <a:ext cx="236538" cy="279400"/>
          </a:xfrm>
          <a:custGeom>
            <a:avLst/>
            <a:gdLst>
              <a:gd name="T0" fmla="*/ 0 w 91"/>
              <a:gd name="T1" fmla="*/ 2147483647 h 108"/>
              <a:gd name="T2" fmla="*/ 2147483647 w 91"/>
              <a:gd name="T3" fmla="*/ 2147483647 h 108"/>
              <a:gd name="T4" fmla="*/ 2147483647 w 91"/>
              <a:gd name="T5" fmla="*/ 2147483647 h 108"/>
              <a:gd name="T6" fmla="*/ 2147483647 w 91"/>
              <a:gd name="T7" fmla="*/ 0 h 108"/>
              <a:gd name="T8" fmla="*/ 0 w 91"/>
              <a:gd name="T9" fmla="*/ 2147483647 h 108"/>
              <a:gd name="T10" fmla="*/ 0 w 91"/>
              <a:gd name="T11" fmla="*/ 2147483647 h 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 h="108">
                <a:moveTo>
                  <a:pt x="0" y="108"/>
                </a:moveTo>
                <a:cubicBezTo>
                  <a:pt x="91" y="108"/>
                  <a:pt x="91" y="108"/>
                  <a:pt x="91" y="108"/>
                </a:cubicBezTo>
                <a:cubicBezTo>
                  <a:pt x="90" y="45"/>
                  <a:pt x="90" y="45"/>
                  <a:pt x="90" y="45"/>
                </a:cubicBezTo>
                <a:cubicBezTo>
                  <a:pt x="90" y="20"/>
                  <a:pt x="70" y="0"/>
                  <a:pt x="46" y="0"/>
                </a:cubicBezTo>
                <a:cubicBezTo>
                  <a:pt x="21" y="0"/>
                  <a:pt x="1" y="19"/>
                  <a:pt x="0" y="44"/>
                </a:cubicBezTo>
                <a:cubicBezTo>
                  <a:pt x="0" y="108"/>
                  <a:pt x="0" y="108"/>
                  <a:pt x="0" y="108"/>
                </a:cubicBezTo>
                <a:close/>
              </a:path>
            </a:pathLst>
          </a:custGeom>
          <a:solidFill>
            <a:srgbClr val="FFFFFF"/>
          </a:solidFill>
          <a:ln w="12700" cap="flat">
            <a:solidFill>
              <a:srgbClr val="000000"/>
            </a:solidFill>
            <a:prstDash val="solid"/>
            <a:miter lim="800000"/>
            <a:headEnd/>
            <a:tailEnd/>
          </a:ln>
        </p:spPr>
        <p:txBody>
          <a:bodyPr/>
          <a:lstStyle/>
          <a:p>
            <a:endParaRPr lang="ar-EG"/>
          </a:p>
        </p:txBody>
      </p:sp>
      <p:sp>
        <p:nvSpPr>
          <p:cNvPr id="68726" name="Rectangle 118"/>
          <p:cNvSpPr>
            <a:spLocks noChangeArrowheads="1"/>
          </p:cNvSpPr>
          <p:nvPr/>
        </p:nvSpPr>
        <p:spPr bwMode="auto">
          <a:xfrm>
            <a:off x="4802188" y="6292850"/>
            <a:ext cx="3302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Read/</a:t>
            </a:r>
            <a:endParaRPr lang="en-US" altLang="en-US" sz="4000"/>
          </a:p>
        </p:txBody>
      </p:sp>
      <p:sp>
        <p:nvSpPr>
          <p:cNvPr id="68727" name="Rectangle 119"/>
          <p:cNvSpPr>
            <a:spLocks noChangeArrowheads="1"/>
          </p:cNvSpPr>
          <p:nvPr/>
        </p:nvSpPr>
        <p:spPr bwMode="auto">
          <a:xfrm>
            <a:off x="4802188" y="6413500"/>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Write</a:t>
            </a:r>
            <a:endParaRPr lang="en-US" altLang="en-US" sz="4000"/>
          </a:p>
        </p:txBody>
      </p:sp>
      <p:sp>
        <p:nvSpPr>
          <p:cNvPr id="68728" name="Line 120"/>
          <p:cNvSpPr>
            <a:spLocks noChangeShapeType="1"/>
          </p:cNvSpPr>
          <p:nvPr/>
        </p:nvSpPr>
        <p:spPr bwMode="auto">
          <a:xfrm>
            <a:off x="4805363" y="6426200"/>
            <a:ext cx="26670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729" name="Rectangle 121"/>
          <p:cNvSpPr>
            <a:spLocks noChangeArrowheads="1"/>
          </p:cNvSpPr>
          <p:nvPr/>
        </p:nvSpPr>
        <p:spPr bwMode="auto">
          <a:xfrm>
            <a:off x="7805738" y="5197475"/>
            <a:ext cx="3302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Read/</a:t>
            </a:r>
            <a:endParaRPr lang="en-US" altLang="en-US" sz="4000"/>
          </a:p>
        </p:txBody>
      </p:sp>
      <p:sp>
        <p:nvSpPr>
          <p:cNvPr id="68730" name="Rectangle 122"/>
          <p:cNvSpPr>
            <a:spLocks noChangeArrowheads="1"/>
          </p:cNvSpPr>
          <p:nvPr/>
        </p:nvSpPr>
        <p:spPr bwMode="auto">
          <a:xfrm>
            <a:off x="7805738" y="5319713"/>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TimesTen"/>
              </a:rPr>
              <a:t>Write</a:t>
            </a:r>
            <a:endParaRPr lang="en-US" altLang="en-US" sz="4000"/>
          </a:p>
        </p:txBody>
      </p:sp>
      <p:sp>
        <p:nvSpPr>
          <p:cNvPr id="68731" name="Line 123"/>
          <p:cNvSpPr>
            <a:spLocks noChangeShapeType="1"/>
          </p:cNvSpPr>
          <p:nvPr/>
        </p:nvSpPr>
        <p:spPr bwMode="auto">
          <a:xfrm>
            <a:off x="7805738" y="5330825"/>
            <a:ext cx="26670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68732" name="Oval 124"/>
          <p:cNvSpPr>
            <a:spLocks noChangeArrowheads="1"/>
          </p:cNvSpPr>
          <p:nvPr/>
        </p:nvSpPr>
        <p:spPr bwMode="auto">
          <a:xfrm>
            <a:off x="4271963" y="2447925"/>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33" name="Oval 125"/>
          <p:cNvSpPr>
            <a:spLocks noChangeArrowheads="1"/>
          </p:cNvSpPr>
          <p:nvPr/>
        </p:nvSpPr>
        <p:spPr bwMode="auto">
          <a:xfrm>
            <a:off x="4271963" y="2533650"/>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34" name="Oval 126"/>
          <p:cNvSpPr>
            <a:spLocks noChangeArrowheads="1"/>
          </p:cNvSpPr>
          <p:nvPr/>
        </p:nvSpPr>
        <p:spPr bwMode="auto">
          <a:xfrm>
            <a:off x="4271963" y="2622550"/>
            <a:ext cx="41275"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35" name="Oval 127"/>
          <p:cNvSpPr>
            <a:spLocks noChangeArrowheads="1"/>
          </p:cNvSpPr>
          <p:nvPr/>
        </p:nvSpPr>
        <p:spPr bwMode="auto">
          <a:xfrm>
            <a:off x="5757863" y="2930525"/>
            <a:ext cx="41275"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36" name="Oval 128"/>
          <p:cNvSpPr>
            <a:spLocks noChangeArrowheads="1"/>
          </p:cNvSpPr>
          <p:nvPr/>
        </p:nvSpPr>
        <p:spPr bwMode="auto">
          <a:xfrm>
            <a:off x="5757863" y="3014663"/>
            <a:ext cx="41275" cy="396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37" name="Oval 129"/>
          <p:cNvSpPr>
            <a:spLocks noChangeArrowheads="1"/>
          </p:cNvSpPr>
          <p:nvPr/>
        </p:nvSpPr>
        <p:spPr bwMode="auto">
          <a:xfrm>
            <a:off x="5757863" y="3100388"/>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38" name="Oval 130"/>
          <p:cNvSpPr>
            <a:spLocks noChangeArrowheads="1"/>
          </p:cNvSpPr>
          <p:nvPr/>
        </p:nvSpPr>
        <p:spPr bwMode="auto">
          <a:xfrm>
            <a:off x="7435850" y="3346450"/>
            <a:ext cx="41275" cy="396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39" name="Oval 131"/>
          <p:cNvSpPr>
            <a:spLocks noChangeArrowheads="1"/>
          </p:cNvSpPr>
          <p:nvPr/>
        </p:nvSpPr>
        <p:spPr bwMode="auto">
          <a:xfrm>
            <a:off x="7435850" y="3432175"/>
            <a:ext cx="41275" cy="396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40" name="Oval 132"/>
          <p:cNvSpPr>
            <a:spLocks noChangeArrowheads="1"/>
          </p:cNvSpPr>
          <p:nvPr/>
        </p:nvSpPr>
        <p:spPr bwMode="auto">
          <a:xfrm>
            <a:off x="7435850" y="3517900"/>
            <a:ext cx="41275"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41" name="Oval 133"/>
          <p:cNvSpPr>
            <a:spLocks noChangeArrowheads="1"/>
          </p:cNvSpPr>
          <p:nvPr/>
        </p:nvSpPr>
        <p:spPr bwMode="auto">
          <a:xfrm>
            <a:off x="8153400" y="3570288"/>
            <a:ext cx="38100" cy="381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42" name="Oval 134"/>
          <p:cNvSpPr>
            <a:spLocks noChangeArrowheads="1"/>
          </p:cNvSpPr>
          <p:nvPr/>
        </p:nvSpPr>
        <p:spPr bwMode="auto">
          <a:xfrm>
            <a:off x="8153400" y="3654425"/>
            <a:ext cx="38100"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68743" name="Oval 135"/>
          <p:cNvSpPr>
            <a:spLocks noChangeArrowheads="1"/>
          </p:cNvSpPr>
          <p:nvPr/>
        </p:nvSpPr>
        <p:spPr bwMode="auto">
          <a:xfrm>
            <a:off x="8153400" y="3740150"/>
            <a:ext cx="38100" cy="412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2" name="Rectangle: Rounded Corners 1">
            <a:extLst>
              <a:ext uri="{FF2B5EF4-FFF2-40B4-BE49-F238E27FC236}">
                <a16:creationId xmlns:a16="http://schemas.microsoft.com/office/drawing/2014/main" id="{11F75601-6497-61BA-B05F-B30D0540963E}"/>
              </a:ext>
            </a:extLst>
          </p:cNvPr>
          <p:cNvSpPr/>
          <p:nvPr/>
        </p:nvSpPr>
        <p:spPr>
          <a:xfrm>
            <a:off x="6829425" y="4706938"/>
            <a:ext cx="549275" cy="754061"/>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368850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61309"/>
          </a:xfrm>
        </p:spPr>
        <p:txBody>
          <a:bodyPr>
            <a:noAutofit/>
          </a:bodyPr>
          <a:lstStyle/>
          <a:p>
            <a:pPr rtl="0"/>
            <a:r>
              <a:rPr lang="en-US" sz="3600" b="1" dirty="0"/>
              <a:t>Block Diagram of a DRAM</a:t>
            </a:r>
            <a:endParaRPr lang="ar-EG" sz="3600" dirty="0"/>
          </a:p>
        </p:txBody>
      </p:sp>
      <p:pic>
        <p:nvPicPr>
          <p:cNvPr id="4" name="Content Placeholder 3"/>
          <p:cNvPicPr>
            <a:picLocks noGrp="1" noChangeAspect="1"/>
          </p:cNvPicPr>
          <p:nvPr>
            <p:ph idx="1"/>
          </p:nvPr>
        </p:nvPicPr>
        <p:blipFill>
          <a:blip r:embed="rId2"/>
          <a:stretch>
            <a:fillRect/>
          </a:stretch>
        </p:blipFill>
        <p:spPr>
          <a:xfrm>
            <a:off x="457200" y="1431235"/>
            <a:ext cx="8229600" cy="5205873"/>
          </a:xfrm>
          <a:prstGeom prst="rect">
            <a:avLst/>
          </a:prstGeom>
        </p:spPr>
      </p:pic>
      <p:sp>
        <p:nvSpPr>
          <p:cNvPr id="3" name="Rectangle: Rounded Corners 2">
            <a:extLst>
              <a:ext uri="{FF2B5EF4-FFF2-40B4-BE49-F238E27FC236}">
                <a16:creationId xmlns:a16="http://schemas.microsoft.com/office/drawing/2014/main" id="{5294AC73-3D9C-762B-2484-3DA3D4BB0426}"/>
              </a:ext>
            </a:extLst>
          </p:cNvPr>
          <p:cNvSpPr/>
          <p:nvPr/>
        </p:nvSpPr>
        <p:spPr>
          <a:xfrm>
            <a:off x="3847381" y="2165230"/>
            <a:ext cx="724619" cy="2191110"/>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47EF00C8-B8A2-2B66-07A9-53D7CFBE46DD}"/>
              </a:ext>
            </a:extLst>
          </p:cNvPr>
          <p:cNvSpPr/>
          <p:nvPr/>
        </p:nvSpPr>
        <p:spPr>
          <a:xfrm rot="5400000">
            <a:off x="5900467" y="3930771"/>
            <a:ext cx="724619" cy="3381555"/>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6DE72CF-A725-7CF0-91F6-D94EF977F657}"/>
              </a:ext>
            </a:extLst>
          </p:cNvPr>
          <p:cNvSpPr txBox="1"/>
          <p:nvPr/>
        </p:nvSpPr>
        <p:spPr>
          <a:xfrm>
            <a:off x="871268" y="966366"/>
            <a:ext cx="5400135" cy="369332"/>
          </a:xfrm>
          <a:prstGeom prst="rect">
            <a:avLst/>
          </a:prstGeom>
          <a:noFill/>
        </p:spPr>
        <p:txBody>
          <a:bodyPr wrap="square" rtlCol="0">
            <a:spAutoFit/>
          </a:bodyPr>
          <a:lstStyle/>
          <a:p>
            <a:r>
              <a:rPr lang="en-US" b="1" dirty="0">
                <a:solidFill>
                  <a:srgbClr val="FF0000"/>
                </a:solidFill>
                <a:latin typeface="Baguet Script" panose="00000500000000000000" pitchFamily="2" charset="0"/>
              </a:rPr>
              <a:t>Coincident selection is a mandatory in DRAM</a:t>
            </a:r>
          </a:p>
        </p:txBody>
      </p:sp>
      <p:sp>
        <p:nvSpPr>
          <p:cNvPr id="8" name="TextBox 7">
            <a:extLst>
              <a:ext uri="{FF2B5EF4-FFF2-40B4-BE49-F238E27FC236}">
                <a16:creationId xmlns:a16="http://schemas.microsoft.com/office/drawing/2014/main" id="{4DA05B77-052A-B390-450D-0D13B6048F64}"/>
              </a:ext>
            </a:extLst>
          </p:cNvPr>
          <p:cNvSpPr txBox="1"/>
          <p:nvPr/>
        </p:nvSpPr>
        <p:spPr>
          <a:xfrm>
            <a:off x="3985403" y="1511980"/>
            <a:ext cx="4572000" cy="523220"/>
          </a:xfrm>
          <a:prstGeom prst="rect">
            <a:avLst/>
          </a:prstGeom>
          <a:noFill/>
        </p:spPr>
        <p:txBody>
          <a:bodyPr wrap="square" rtlCol="0">
            <a:spAutoFit/>
          </a:bodyPr>
          <a:lstStyle>
            <a:defPPr>
              <a:defRPr lang="ar-EG"/>
            </a:defPPr>
            <a:lvl1pPr>
              <a:defRPr sz="1400">
                <a:solidFill>
                  <a:schemeClr val="accent1"/>
                </a:solidFill>
                <a:latin typeface="ADLaM Display" panose="02010000000000000000" pitchFamily="2" charset="0"/>
                <a:ea typeface="ADLaM Display" panose="02010000000000000000" pitchFamily="2" charset="0"/>
                <a:cs typeface="ADLaM Display" panose="02010000000000000000" pitchFamily="2" charset="0"/>
              </a:defRPr>
            </a:lvl1pPr>
          </a:lstStyle>
          <a:p>
            <a:r>
              <a:rPr lang="en-US" altLang="en-US" dirty="0"/>
              <a:t>row address first is used to select the row of cells to be read within the memory</a:t>
            </a:r>
            <a:endParaRPr lang="en-US" dirty="0"/>
          </a:p>
        </p:txBody>
      </p:sp>
      <p:sp>
        <p:nvSpPr>
          <p:cNvPr id="10" name="TextBox 9">
            <a:extLst>
              <a:ext uri="{FF2B5EF4-FFF2-40B4-BE49-F238E27FC236}">
                <a16:creationId xmlns:a16="http://schemas.microsoft.com/office/drawing/2014/main" id="{6F57B007-6B7C-BDA9-CB82-996BE06F0394}"/>
              </a:ext>
            </a:extLst>
          </p:cNvPr>
          <p:cNvSpPr txBox="1"/>
          <p:nvPr/>
        </p:nvSpPr>
        <p:spPr>
          <a:xfrm>
            <a:off x="1324155" y="6005156"/>
            <a:ext cx="5909094" cy="523220"/>
          </a:xfrm>
          <a:prstGeom prst="rect">
            <a:avLst/>
          </a:prstGeom>
          <a:noFill/>
        </p:spPr>
        <p:txBody>
          <a:bodyPr wrap="square" rtlCol="0">
            <a:spAutoFit/>
          </a:bodyPr>
          <a:lstStyle>
            <a:defPPr>
              <a:defRPr lang="ar-EG"/>
            </a:defPPr>
            <a:lvl1pPr>
              <a:defRPr>
                <a:solidFill>
                  <a:schemeClr val="accent1"/>
                </a:solidFill>
                <a:latin typeface="Baguet Script" panose="00000500000000000000" pitchFamily="2" charset="0"/>
              </a:defRPr>
            </a:lvl1pPr>
          </a:lstStyle>
          <a:p>
            <a:r>
              <a:rPr lang="en-US" altLang="en-US" sz="1400" dirty="0">
                <a:latin typeface="ADLaM Display" panose="02010000000000000000" pitchFamily="2" charset="0"/>
                <a:ea typeface="ADLaM Display" panose="02010000000000000000" pitchFamily="2" charset="0"/>
                <a:cs typeface="ADLaM Display" panose="02010000000000000000" pitchFamily="2" charset="0"/>
              </a:rPr>
              <a:t>column address secondly is used to select the word to be placed on the output from the data read from the row of cells.</a:t>
            </a:r>
            <a:endParaRPr lang="en-US" sz="1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1" name="TextBox 10">
            <a:extLst>
              <a:ext uri="{FF2B5EF4-FFF2-40B4-BE49-F238E27FC236}">
                <a16:creationId xmlns:a16="http://schemas.microsoft.com/office/drawing/2014/main" id="{183AF8E2-07E2-C6E1-F024-D19D5DD44876}"/>
              </a:ext>
            </a:extLst>
          </p:cNvPr>
          <p:cNvSpPr txBox="1"/>
          <p:nvPr/>
        </p:nvSpPr>
        <p:spPr>
          <a:xfrm>
            <a:off x="112143" y="1511980"/>
            <a:ext cx="1406106" cy="1508105"/>
          </a:xfrm>
          <a:prstGeom prst="rect">
            <a:avLst/>
          </a:prstGeom>
          <a:noFill/>
        </p:spPr>
        <p:txBody>
          <a:bodyPr wrap="square" rtlCol="0">
            <a:spAutoFit/>
          </a:bodyPr>
          <a:lstStyle>
            <a:defPPr>
              <a:defRPr lang="ar-EG"/>
            </a:defPPr>
            <a:lvl1pPr>
              <a:defRPr b="1">
                <a:solidFill>
                  <a:srgbClr val="FF0000"/>
                </a:solidFill>
                <a:latin typeface="Baguet Script" panose="00000500000000000000" pitchFamily="2" charset="0"/>
              </a:defRPr>
            </a:lvl1pPr>
          </a:lstStyle>
          <a:p>
            <a:r>
              <a:rPr lang="en-US" dirty="0"/>
              <a:t>One happens after the other not at the same time </a:t>
            </a:r>
            <a:r>
              <a:rPr lang="en-US" sz="2000" dirty="0">
                <a:solidFill>
                  <a:srgbClr val="00B0F0"/>
                </a:solidFill>
                <a:latin typeface="Algerian" panose="04020705040A02060702" pitchFamily="82" charset="0"/>
              </a:rPr>
              <a:t>HOW</a:t>
            </a:r>
            <a:endParaRPr lang="en-US" dirty="0">
              <a:solidFill>
                <a:srgbClr val="00B0F0"/>
              </a:solidFill>
              <a:latin typeface="Algerian" panose="04020705040A02060702" pitchFamily="82" charset="0"/>
            </a:endParaRPr>
          </a:p>
        </p:txBody>
      </p:sp>
      <p:sp>
        <p:nvSpPr>
          <p:cNvPr id="12" name="Rectangle: Rounded Corners 11">
            <a:extLst>
              <a:ext uri="{FF2B5EF4-FFF2-40B4-BE49-F238E27FC236}">
                <a16:creationId xmlns:a16="http://schemas.microsoft.com/office/drawing/2014/main" id="{4F7E87F0-330F-E07E-EE50-7899C319BAF2}"/>
              </a:ext>
            </a:extLst>
          </p:cNvPr>
          <p:cNvSpPr/>
          <p:nvPr/>
        </p:nvSpPr>
        <p:spPr>
          <a:xfrm>
            <a:off x="1958195" y="2938616"/>
            <a:ext cx="1751163" cy="62409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DC9E22D-B2DE-3D67-3A72-23BAD4C22133}"/>
              </a:ext>
            </a:extLst>
          </p:cNvPr>
          <p:cNvSpPr/>
          <p:nvPr/>
        </p:nvSpPr>
        <p:spPr>
          <a:xfrm>
            <a:off x="2695753" y="5285526"/>
            <a:ext cx="1751163" cy="624093"/>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722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a:r>
              <a:rPr lang="en-US" sz="3600" b="1" dirty="0"/>
              <a:t>How to handle addressing in DRAMs</a:t>
            </a:r>
            <a:endParaRPr lang="ar-EG" sz="3600" b="1" dirty="0"/>
          </a:p>
        </p:txBody>
      </p:sp>
      <p:sp>
        <p:nvSpPr>
          <p:cNvPr id="3" name="Content Placeholder 2"/>
          <p:cNvSpPr>
            <a:spLocks noGrp="1"/>
          </p:cNvSpPr>
          <p:nvPr>
            <p:ph idx="1"/>
          </p:nvPr>
        </p:nvSpPr>
        <p:spPr/>
        <p:txBody>
          <a:bodyPr>
            <a:noAutofit/>
          </a:bodyPr>
          <a:lstStyle/>
          <a:p>
            <a:pPr algn="l" rtl="0"/>
            <a:r>
              <a:rPr lang="en-US" sz="2800" dirty="0"/>
              <a:t>To reduce the number of pins, the DRAM address </a:t>
            </a:r>
            <a:r>
              <a:rPr lang="en-US" altLang="en-US" sz="2800" dirty="0">
                <a:cs typeface="Arial" pitchFamily="34" charset="0"/>
              </a:rPr>
              <a:t>is split to roughly halve the large number of address pins on the typical RAM IC.</a:t>
            </a:r>
          </a:p>
          <a:p>
            <a:pPr algn="l" rtl="0"/>
            <a:r>
              <a:rPr lang="en-US" altLang="en-US" sz="2800" dirty="0">
                <a:cs typeface="Arial" pitchFamily="34" charset="0"/>
              </a:rPr>
              <a:t>The row address first is used to select the row of cells to be read within the memory.</a:t>
            </a:r>
          </a:p>
          <a:p>
            <a:pPr algn="l" rtl="0"/>
            <a:r>
              <a:rPr lang="en-US" altLang="en-US" sz="2800" dirty="0">
                <a:cs typeface="Arial" pitchFamily="34" charset="0"/>
              </a:rPr>
              <a:t>The column address secondly is used to select the word to be placed on the output from the data read from the row of cells.</a:t>
            </a:r>
          </a:p>
        </p:txBody>
      </p:sp>
    </p:spTree>
    <p:extLst>
      <p:ext uri="{BB962C8B-B14F-4D97-AF65-F5344CB8AC3E}">
        <p14:creationId xmlns:p14="http://schemas.microsoft.com/office/powerpoint/2010/main" val="4145479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a:t>Cont.,</a:t>
            </a:r>
            <a:endParaRPr lang="ar-EG" b="1" dirty="0"/>
          </a:p>
        </p:txBody>
      </p:sp>
      <p:sp>
        <p:nvSpPr>
          <p:cNvPr id="3" name="Content Placeholder 2"/>
          <p:cNvSpPr>
            <a:spLocks noGrp="1"/>
          </p:cNvSpPr>
          <p:nvPr>
            <p:ph idx="1"/>
          </p:nvPr>
        </p:nvSpPr>
        <p:spPr/>
        <p:txBody>
          <a:bodyPr>
            <a:normAutofit/>
          </a:bodyPr>
          <a:lstStyle/>
          <a:p>
            <a:pPr algn="l" rtl="0"/>
            <a:r>
              <a:rPr lang="en-US" dirty="0"/>
              <a:t>This can be done since the row address, which performs the row selection, is actually needed before the column address, which reads out the data from the row selected.</a:t>
            </a:r>
          </a:p>
          <a:p>
            <a:pPr algn="l" rtl="0"/>
            <a:r>
              <a:rPr lang="en-US" dirty="0"/>
              <a:t>In order to hold the row address throughout the read or write cycle, it is stored in a register. </a:t>
            </a:r>
          </a:p>
          <a:p>
            <a:pPr algn="l" rtl="0"/>
            <a:r>
              <a:rPr lang="en-US" dirty="0"/>
              <a:t>The column address is also stored in a register.</a:t>
            </a:r>
            <a:endParaRPr lang="ar-EG" sz="2800" dirty="0"/>
          </a:p>
          <a:p>
            <a:pPr algn="l" rtl="0"/>
            <a:endParaRPr lang="ar-EG" dirty="0"/>
          </a:p>
        </p:txBody>
      </p:sp>
    </p:spTree>
    <p:extLst>
      <p:ext uri="{BB962C8B-B14F-4D97-AF65-F5344CB8AC3E}">
        <p14:creationId xmlns:p14="http://schemas.microsoft.com/office/powerpoint/2010/main" val="3148543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a:t>Control signals</a:t>
            </a:r>
            <a:endParaRPr lang="ar-EG"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l" rtl="0"/>
                <a:r>
                  <a:rPr lang="en-US" dirty="0"/>
                  <a:t>The load signal for the row address register is  ( Row Address Strobe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𝑅𝐴𝑆</m:t>
                        </m:r>
                      </m:e>
                      <m:sup>
                        <m:r>
                          <a:rPr lang="en-US" b="0" i="1" smtClean="0">
                            <a:latin typeface="Cambria Math" panose="02040503050406030204" pitchFamily="18" charset="0"/>
                          </a:rPr>
                          <m:t>−</m:t>
                        </m:r>
                      </m:sup>
                    </m:sSup>
                  </m:oMath>
                </a14:m>
                <a:r>
                  <a:rPr lang="en-US" dirty="0"/>
                  <a:t>), and for the column addresses is (Column address strobe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𝐶𝐴𝑆</m:t>
                        </m:r>
                      </m:e>
                      <m:sup>
                        <m:r>
                          <a:rPr lang="en-US" i="1">
                            <a:latin typeface="Cambria Math" panose="02040503050406030204" pitchFamily="18" charset="0"/>
                          </a:rPr>
                          <m:t>−</m:t>
                        </m:r>
                      </m:sup>
                    </m:sSup>
                  </m:oMath>
                </a14:m>
                <a:r>
                  <a:rPr lang="en-US" dirty="0"/>
                  <a:t>).</a:t>
                </a:r>
              </a:p>
              <a:p>
                <a:pPr algn="l" rtl="0"/>
                <a:r>
                  <a:rPr lang="en-US" dirty="0"/>
                  <a:t>R/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𝑊</m:t>
                        </m:r>
                      </m:e>
                      <m:sup>
                        <m:r>
                          <a:rPr lang="en-US" i="1">
                            <a:latin typeface="Cambria Math" panose="02040503050406030204" pitchFamily="18" charset="0"/>
                          </a:rPr>
                          <m:t>−</m:t>
                        </m:r>
                      </m:sup>
                    </m:sSup>
                  </m:oMath>
                </a14:m>
                <a:r>
                  <a:rPr lang="en-US" dirty="0"/>
                  <a:t>and Output enable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𝑂𝐸</m:t>
                        </m:r>
                      </m:e>
                      <m:sup>
                        <m:r>
                          <a:rPr lang="en-US" i="1">
                            <a:latin typeface="Cambria Math" panose="02040503050406030204" pitchFamily="18" charset="0"/>
                          </a:rPr>
                          <m:t>−</m:t>
                        </m:r>
                      </m:sup>
                    </m:sSup>
                  </m:oMath>
                </a14:m>
                <a:r>
                  <a:rPr lang="en-US" dirty="0"/>
                  <a:t>). </a:t>
                </a:r>
              </a:p>
              <a:p>
                <a:pPr algn="l" rtl="0"/>
                <a:r>
                  <a:rPr lang="en-US" dirty="0"/>
                  <a:t>Note that this design uses signals active at the LOW (0) level.</a:t>
                </a:r>
              </a:p>
              <a:p>
                <a:pPr algn="l" rtl="0"/>
                <a:endParaRPr lang="en-US" dirty="0"/>
              </a:p>
              <a:p>
                <a:pPr algn="l" rtl="0"/>
                <a:endParaRPr lang="ar-E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91" t="-2241" r="-1855"/>
                </a:stretch>
              </a:blipFill>
            </p:spPr>
            <p:txBody>
              <a:bodyPr/>
              <a:lstStyle/>
              <a:p>
                <a:r>
                  <a:rPr lang="en-US">
                    <a:noFill/>
                  </a:rPr>
                  <a:t> </a:t>
                </a:r>
              </a:p>
            </p:txBody>
          </p:sp>
        </mc:Fallback>
      </mc:AlternateContent>
    </p:spTree>
    <p:extLst>
      <p:ext uri="{BB962C8B-B14F-4D97-AF65-F5344CB8AC3E}">
        <p14:creationId xmlns:p14="http://schemas.microsoft.com/office/powerpoint/2010/main" val="3539048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a:r>
              <a:rPr lang="en-US" sz="3600" b="1" dirty="0"/>
              <a:t>Handle Row Address</a:t>
            </a:r>
            <a:endParaRPr lang="ar-EG" sz="3600" b="1" dirty="0"/>
          </a:p>
        </p:txBody>
      </p:sp>
      <p:sp>
        <p:nvSpPr>
          <p:cNvPr id="3" name="Content Placeholder 2"/>
          <p:cNvSpPr>
            <a:spLocks noGrp="1"/>
          </p:cNvSpPr>
          <p:nvPr>
            <p:ph idx="1"/>
          </p:nvPr>
        </p:nvSpPr>
        <p:spPr/>
        <p:txBody>
          <a:bodyPr/>
          <a:lstStyle/>
          <a:p>
            <a:pPr algn="l" rtl="0"/>
            <a:r>
              <a:rPr lang="en-US" dirty="0"/>
              <a:t>The row address is applied to the address inputs.</a:t>
            </a:r>
          </a:p>
          <a:p>
            <a:pPr algn="l" rtl="0"/>
            <a:r>
              <a:rPr lang="en-US" dirty="0"/>
              <a:t>RAS changes from 1 to 0,</a:t>
            </a:r>
          </a:p>
          <a:p>
            <a:pPr algn="l" rtl="0"/>
            <a:r>
              <a:rPr lang="en-US" dirty="0"/>
              <a:t>loading the row address into the row address register. </a:t>
            </a:r>
          </a:p>
          <a:p>
            <a:pPr algn="l" rtl="0"/>
            <a:r>
              <a:rPr lang="en-US" dirty="0"/>
              <a:t>This address is applied to the row address decoder and selects a row of DRAM cells.</a:t>
            </a:r>
            <a:endParaRPr lang="ar-EG" dirty="0"/>
          </a:p>
        </p:txBody>
      </p:sp>
    </p:spTree>
    <p:extLst>
      <p:ext uri="{BB962C8B-B14F-4D97-AF65-F5344CB8AC3E}">
        <p14:creationId xmlns:p14="http://schemas.microsoft.com/office/powerpoint/2010/main" val="1128865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a:r>
              <a:rPr lang="en-US" sz="3600" b="1" dirty="0"/>
              <a:t>Handle Column Address</a:t>
            </a:r>
            <a:endParaRPr lang="ar-EG" sz="3600" b="1" dirty="0"/>
          </a:p>
        </p:txBody>
      </p:sp>
      <p:sp>
        <p:nvSpPr>
          <p:cNvPr id="3" name="Content Placeholder 2"/>
          <p:cNvSpPr>
            <a:spLocks noGrp="1"/>
          </p:cNvSpPr>
          <p:nvPr>
            <p:ph idx="1"/>
          </p:nvPr>
        </p:nvSpPr>
        <p:spPr/>
        <p:txBody>
          <a:bodyPr>
            <a:normAutofit/>
          </a:bodyPr>
          <a:lstStyle/>
          <a:p>
            <a:pPr algn="l" rtl="0"/>
            <a:r>
              <a:rPr lang="en-US" dirty="0"/>
              <a:t>The column address is applied,</a:t>
            </a:r>
          </a:p>
          <a:p>
            <a:pPr algn="l" rtl="0"/>
            <a:r>
              <a:rPr lang="en-US" dirty="0"/>
              <a:t>Then CAS changes from 1 to 0, loading the column address into the 	column address register. </a:t>
            </a:r>
          </a:p>
          <a:p>
            <a:pPr algn="l" rtl="0"/>
            <a:r>
              <a:rPr lang="en-US" dirty="0"/>
              <a:t>This address is applied to the column address decoder, which selects a set of columns of the RAM array of size equal to the number of RAM data bits.</a:t>
            </a:r>
            <a:endParaRPr lang="ar-EG" dirty="0"/>
          </a:p>
        </p:txBody>
      </p:sp>
    </p:spTree>
    <p:extLst>
      <p:ext uri="{BB962C8B-B14F-4D97-AF65-F5344CB8AC3E}">
        <p14:creationId xmlns:p14="http://schemas.microsoft.com/office/powerpoint/2010/main" val="504749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a:t>For Write Operation</a:t>
            </a:r>
            <a:endParaRPr lang="ar-EG"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l" rtl="0"/>
                <a:r>
                  <a:rPr lang="en-US" sz="2400" dirty="0"/>
                  <a:t>The input data with R/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𝑊</m:t>
                        </m:r>
                      </m:e>
                      <m:sup>
                        <m:r>
                          <a:rPr lang="en-US" sz="2400" i="1">
                            <a:latin typeface="Cambria Math" panose="02040503050406030204" pitchFamily="18" charset="0"/>
                          </a:rPr>
                          <m:t>−</m:t>
                        </m:r>
                      </m:sup>
                    </m:sSup>
                  </m:oMath>
                </a14:m>
                <a:r>
                  <a:rPr lang="en-US" sz="2400" dirty="0"/>
                  <a:t> = 0 is applied over a time interval similar to that for the column address.</a:t>
                </a:r>
              </a:p>
              <a:p>
                <a:pPr algn="l" rtl="0"/>
                <a:r>
                  <a:rPr lang="en-US" sz="2400" dirty="0"/>
                  <a:t>The data bits are applied to the set of bit lines selected by the column address decoder, which in turn apply the values to the DRAM cells in the selected row, writing the new data into the cells.</a:t>
                </a:r>
              </a:p>
              <a:p>
                <a:pPr algn="l" rtl="0"/>
                <a:r>
                  <a:rPr lang="en-US" sz="2400" dirty="0"/>
                  <a:t>When CAS and RAS return to 1, the write cycle is complete and the DRAM cells store newly written data.</a:t>
                </a:r>
              </a:p>
              <a:p>
                <a:pPr algn="l" rtl="0"/>
                <a:r>
                  <a:rPr lang="en-US" sz="2400" dirty="0"/>
                  <a:t>Note that the stored data in all of the other cells in the addressed row has been restored.</a:t>
                </a:r>
                <a:endParaRPr lang="ar-EG"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r="-464"/>
                </a:stretch>
              </a:blipFill>
            </p:spPr>
            <p:txBody>
              <a:bodyPr/>
              <a:lstStyle/>
              <a:p>
                <a:r>
                  <a:rPr lang="en-US">
                    <a:noFill/>
                  </a:rPr>
                  <a:t> </a:t>
                </a:r>
              </a:p>
            </p:txBody>
          </p:sp>
        </mc:Fallback>
      </mc:AlternateContent>
    </p:spTree>
    <p:extLst>
      <p:ext uri="{BB962C8B-B14F-4D97-AF65-F5344CB8AC3E}">
        <p14:creationId xmlns:p14="http://schemas.microsoft.com/office/powerpoint/2010/main" val="1261911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1560" y="692696"/>
            <a:ext cx="7776864" cy="5760640"/>
          </a:xfrm>
          <a:prstGeom prst="rect">
            <a:avLst/>
          </a:prstGeom>
        </p:spPr>
      </p:pic>
      <p:sp>
        <p:nvSpPr>
          <p:cNvPr id="3" name="TextBox 2">
            <a:extLst>
              <a:ext uri="{FF2B5EF4-FFF2-40B4-BE49-F238E27FC236}">
                <a16:creationId xmlns:a16="http://schemas.microsoft.com/office/drawing/2014/main" id="{D6F2B403-A6F7-23B5-FEF0-0F093E4D97B8}"/>
              </a:ext>
            </a:extLst>
          </p:cNvPr>
          <p:cNvSpPr txBox="1"/>
          <p:nvPr/>
        </p:nvSpPr>
        <p:spPr>
          <a:xfrm>
            <a:off x="74089" y="2242868"/>
            <a:ext cx="1362974" cy="923330"/>
          </a:xfrm>
          <a:prstGeom prst="rect">
            <a:avLst/>
          </a:prstGeom>
          <a:noFill/>
        </p:spPr>
        <p:txBody>
          <a:bodyPr wrap="square" rtlCol="0">
            <a:spAutoFit/>
          </a:bodyPr>
          <a:lstStyle/>
          <a:p>
            <a:r>
              <a:rPr lang="en-US" dirty="0">
                <a:solidFill>
                  <a:srgbClr val="00B0F0"/>
                </a:solidFill>
                <a:latin typeface="Baguet Script" panose="00000500000000000000" pitchFamily="2" charset="0"/>
              </a:rPr>
              <a:t>Store data into the row register??</a:t>
            </a:r>
          </a:p>
        </p:txBody>
      </p:sp>
      <p:sp>
        <p:nvSpPr>
          <p:cNvPr id="4" name="Rectangle 3">
            <a:extLst>
              <a:ext uri="{FF2B5EF4-FFF2-40B4-BE49-F238E27FC236}">
                <a16:creationId xmlns:a16="http://schemas.microsoft.com/office/drawing/2014/main" id="{2CD71CDA-263E-1E99-3A5C-76476685AF17}"/>
              </a:ext>
            </a:extLst>
          </p:cNvPr>
          <p:cNvSpPr/>
          <p:nvPr/>
        </p:nvSpPr>
        <p:spPr>
          <a:xfrm>
            <a:off x="1276709" y="2441275"/>
            <a:ext cx="491706" cy="43132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635885-B4ED-E7FA-0D53-5AD0222939DC}"/>
              </a:ext>
            </a:extLst>
          </p:cNvPr>
          <p:cNvSpPr txBox="1"/>
          <p:nvPr/>
        </p:nvSpPr>
        <p:spPr>
          <a:xfrm>
            <a:off x="0" y="3062075"/>
            <a:ext cx="1362974" cy="923330"/>
          </a:xfrm>
          <a:prstGeom prst="rect">
            <a:avLst/>
          </a:prstGeom>
          <a:noFill/>
        </p:spPr>
        <p:txBody>
          <a:bodyPr wrap="square" rtlCol="0">
            <a:spAutoFit/>
          </a:bodyPr>
          <a:lstStyle/>
          <a:p>
            <a:r>
              <a:rPr lang="en-US" dirty="0">
                <a:solidFill>
                  <a:schemeClr val="accent2"/>
                </a:solidFill>
                <a:latin typeface="Baguet Script" panose="00000500000000000000" pitchFamily="2" charset="0"/>
              </a:rPr>
              <a:t>Store data into the col register??</a:t>
            </a:r>
          </a:p>
        </p:txBody>
      </p:sp>
      <p:sp>
        <p:nvSpPr>
          <p:cNvPr id="6" name="Rectangle 5">
            <a:extLst>
              <a:ext uri="{FF2B5EF4-FFF2-40B4-BE49-F238E27FC236}">
                <a16:creationId xmlns:a16="http://schemas.microsoft.com/office/drawing/2014/main" id="{916251AF-2043-5938-F17F-E16213E951D2}"/>
              </a:ext>
            </a:extLst>
          </p:cNvPr>
          <p:cNvSpPr/>
          <p:nvPr/>
        </p:nvSpPr>
        <p:spPr>
          <a:xfrm>
            <a:off x="1322474" y="3148944"/>
            <a:ext cx="491706" cy="431321"/>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C1150DFC-12CB-B42B-0C09-F3312D59D41E}"/>
              </a:ext>
            </a:extLst>
          </p:cNvPr>
          <p:cNvCxnSpPr/>
          <p:nvPr/>
        </p:nvCxnSpPr>
        <p:spPr>
          <a:xfrm flipV="1">
            <a:off x="2924355" y="1854679"/>
            <a:ext cx="0" cy="690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1AA1A05-3849-962C-974D-238FF8D01421}"/>
              </a:ext>
            </a:extLst>
          </p:cNvPr>
          <p:cNvCxnSpPr>
            <a:cxnSpLocks/>
          </p:cNvCxnSpPr>
          <p:nvPr/>
        </p:nvCxnSpPr>
        <p:spPr>
          <a:xfrm flipV="1">
            <a:off x="4017034" y="2242868"/>
            <a:ext cx="0" cy="974784"/>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5065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a:r>
              <a:rPr lang="en-US" sz="3600" b="1" dirty="0"/>
              <a:t>For READ Operation</a:t>
            </a:r>
            <a:endParaRPr lang="ar-EG" sz="3600"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l" rtl="0"/>
                <a:r>
                  <a:rPr lang="en-US" sz="2400" dirty="0"/>
                  <a:t>The input data with R/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𝑊</m:t>
                        </m:r>
                      </m:e>
                      <m:sup>
                        <m:r>
                          <a:rPr lang="en-US" sz="2400" i="1">
                            <a:latin typeface="Cambria Math" panose="02040503050406030204" pitchFamily="18" charset="0"/>
                          </a:rPr>
                          <m:t>−</m:t>
                        </m:r>
                      </m:sup>
                    </m:sSup>
                  </m:oMath>
                </a14:m>
                <a:r>
                  <a:rPr lang="en-US" sz="2400" dirty="0"/>
                  <a:t> = ‘1’ is applied over a time interval similar to that for the column address.</a:t>
                </a:r>
              </a:p>
              <a:p>
                <a:pPr algn="l" rtl="0"/>
                <a:r>
                  <a:rPr lang="en-US" sz="2400" dirty="0"/>
                  <a:t>Data values in the DRAM cells in the selected row are applied to the bit lines and sensed by the sense amplifiers.</a:t>
                </a:r>
              </a:p>
              <a:p>
                <a:pPr algn="l" rtl="0"/>
                <a:r>
                  <a:rPr lang="en-US" sz="2400" dirty="0"/>
                  <a:t>The column address selects the values to be sent to the data output, which is enable by the OE.</a:t>
                </a:r>
              </a:p>
              <a:p>
                <a:pPr algn="l" rtl="0"/>
                <a:r>
                  <a:rPr lang="en-US" sz="2400" dirty="0"/>
                  <a:t>During the READ operation, all values in the addressed row are restored. </a:t>
                </a:r>
              </a:p>
              <a:p>
                <a:pPr algn="l" rtl="0"/>
                <a:endParaRPr lang="ar-EG"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05" t="-1961" r="-1855"/>
                </a:stretch>
              </a:blipFill>
            </p:spPr>
            <p:txBody>
              <a:bodyPr/>
              <a:lstStyle/>
              <a:p>
                <a:r>
                  <a:rPr lang="en-US">
                    <a:noFill/>
                  </a:rPr>
                  <a:t> </a:t>
                </a:r>
              </a:p>
            </p:txBody>
          </p:sp>
        </mc:Fallback>
      </mc:AlternateContent>
    </p:spTree>
    <p:extLst>
      <p:ext uri="{BB962C8B-B14F-4D97-AF65-F5344CB8AC3E}">
        <p14:creationId xmlns:p14="http://schemas.microsoft.com/office/powerpoint/2010/main" val="208861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Freeform 9"/>
          <p:cNvSpPr>
            <a:spLocks/>
          </p:cNvSpPr>
          <p:nvPr/>
        </p:nvSpPr>
        <p:spPr bwMode="auto">
          <a:xfrm>
            <a:off x="4689475" y="2330450"/>
            <a:ext cx="3792538" cy="376238"/>
          </a:xfrm>
          <a:custGeom>
            <a:avLst/>
            <a:gdLst>
              <a:gd name="T0" fmla="*/ 2147483647 w 2389"/>
              <a:gd name="T1" fmla="*/ 2147483647 h 237"/>
              <a:gd name="T2" fmla="*/ 2147483647 w 2389"/>
              <a:gd name="T3" fmla="*/ 2147483647 h 237"/>
              <a:gd name="T4" fmla="*/ 0 w 2389"/>
              <a:gd name="T5" fmla="*/ 2147483647 h 237"/>
              <a:gd name="T6" fmla="*/ 2147483647 w 2389"/>
              <a:gd name="T7" fmla="*/ 0 h 237"/>
              <a:gd name="T8" fmla="*/ 2147483647 w 2389"/>
              <a:gd name="T9" fmla="*/ 0 h 237"/>
              <a:gd name="T10" fmla="*/ 2147483647 w 2389"/>
              <a:gd name="T11" fmla="*/ 2147483647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89" h="237">
                <a:moveTo>
                  <a:pt x="2389" y="237"/>
                </a:moveTo>
                <a:lnTo>
                  <a:pt x="57" y="237"/>
                </a:lnTo>
                <a:lnTo>
                  <a:pt x="0" y="111"/>
                </a:lnTo>
                <a:lnTo>
                  <a:pt x="54" y="0"/>
                </a:lnTo>
                <a:lnTo>
                  <a:pt x="2389" y="0"/>
                </a:lnTo>
                <a:lnTo>
                  <a:pt x="2389" y="237"/>
                </a:lnTo>
                <a:close/>
              </a:path>
            </a:pathLst>
          </a:custGeom>
          <a:solidFill>
            <a:schemeClr val="hlink"/>
          </a:solidFill>
          <a:ln w="11113" cap="flat">
            <a:solidFill>
              <a:srgbClr val="000000"/>
            </a:solidFill>
            <a:prstDash val="solid"/>
            <a:miter lim="800000"/>
            <a:headEnd/>
            <a:tailEnd/>
          </a:ln>
        </p:spPr>
        <p:txBody>
          <a:bodyPr/>
          <a:lstStyle/>
          <a:p>
            <a:endParaRPr lang="ar-EG"/>
          </a:p>
        </p:txBody>
      </p:sp>
      <p:sp>
        <p:nvSpPr>
          <p:cNvPr id="70660" name="Rectangle 2"/>
          <p:cNvSpPr>
            <a:spLocks noGrp="1" noChangeArrowheads="1"/>
          </p:cNvSpPr>
          <p:nvPr>
            <p:ph type="title"/>
          </p:nvPr>
        </p:nvSpPr>
        <p:spPr/>
        <p:txBody>
          <a:bodyPr/>
          <a:lstStyle/>
          <a:p>
            <a:r>
              <a:rPr lang="en-US" altLang="en-US"/>
              <a:t>Dynamic RAM Read Timing </a:t>
            </a:r>
          </a:p>
        </p:txBody>
      </p:sp>
      <p:sp>
        <p:nvSpPr>
          <p:cNvPr id="70661" name="Rectangle 5"/>
          <p:cNvSpPr>
            <a:spLocks noChangeArrowheads="1"/>
          </p:cNvSpPr>
          <p:nvPr/>
        </p:nvSpPr>
        <p:spPr bwMode="auto">
          <a:xfrm>
            <a:off x="4122738" y="6288088"/>
            <a:ext cx="8159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Read cycle</a:t>
            </a:r>
            <a:endParaRPr lang="en-US" altLang="en-US"/>
          </a:p>
        </p:txBody>
      </p:sp>
      <p:sp>
        <p:nvSpPr>
          <p:cNvPr id="70662" name="Freeform 6"/>
          <p:cNvSpPr>
            <a:spLocks/>
          </p:cNvSpPr>
          <p:nvPr/>
        </p:nvSpPr>
        <p:spPr bwMode="auto">
          <a:xfrm>
            <a:off x="1304925" y="1716088"/>
            <a:ext cx="7165975" cy="317500"/>
          </a:xfrm>
          <a:custGeom>
            <a:avLst/>
            <a:gdLst>
              <a:gd name="T0" fmla="*/ 0 w 4514"/>
              <a:gd name="T1" fmla="*/ 2147483647 h 200"/>
              <a:gd name="T2" fmla="*/ 2147483647 w 4514"/>
              <a:gd name="T3" fmla="*/ 2147483647 h 200"/>
              <a:gd name="T4" fmla="*/ 2147483647 w 4514"/>
              <a:gd name="T5" fmla="*/ 0 h 200"/>
              <a:gd name="T6" fmla="*/ 2147483647 w 4514"/>
              <a:gd name="T7" fmla="*/ 0 h 200"/>
              <a:gd name="T8" fmla="*/ 2147483647 w 4514"/>
              <a:gd name="T9" fmla="*/ 2147483647 h 200"/>
              <a:gd name="T10" fmla="*/ 2147483647 w 4514"/>
              <a:gd name="T11" fmla="*/ 2147483647 h 200"/>
              <a:gd name="T12" fmla="*/ 2147483647 w 4514"/>
              <a:gd name="T13" fmla="*/ 0 h 200"/>
              <a:gd name="T14" fmla="*/ 2147483647 w 4514"/>
              <a:gd name="T15" fmla="*/ 0 h 200"/>
              <a:gd name="T16" fmla="*/ 2147483647 w 4514"/>
              <a:gd name="T17" fmla="*/ 2147483647 h 200"/>
              <a:gd name="T18" fmla="*/ 2147483647 w 4514"/>
              <a:gd name="T19" fmla="*/ 2147483647 h 200"/>
              <a:gd name="T20" fmla="*/ 2147483647 w 4514"/>
              <a:gd name="T21" fmla="*/ 0 h 200"/>
              <a:gd name="T22" fmla="*/ 2147483647 w 4514"/>
              <a:gd name="T23" fmla="*/ 0 h 200"/>
              <a:gd name="T24" fmla="*/ 2147483647 w 4514"/>
              <a:gd name="T25" fmla="*/ 2147483647 h 200"/>
              <a:gd name="T26" fmla="*/ 2147483647 w 4514"/>
              <a:gd name="T27" fmla="*/ 2147483647 h 200"/>
              <a:gd name="T28" fmla="*/ 2147483647 w 4514"/>
              <a:gd name="T29" fmla="*/ 0 h 200"/>
              <a:gd name="T30" fmla="*/ 2147483647 w 4514"/>
              <a:gd name="T31" fmla="*/ 0 h 200"/>
              <a:gd name="T32" fmla="*/ 2147483647 w 4514"/>
              <a:gd name="T33" fmla="*/ 2147483647 h 200"/>
              <a:gd name="T34" fmla="*/ 2147483647 w 4514"/>
              <a:gd name="T35" fmla="*/ 2147483647 h 200"/>
              <a:gd name="T36" fmla="*/ 2147483647 w 4514"/>
              <a:gd name="T37" fmla="*/ 0 h 200"/>
              <a:gd name="T38" fmla="*/ 2147483647 w 4514"/>
              <a:gd name="T39" fmla="*/ 0 h 200"/>
              <a:gd name="T40" fmla="*/ 2147483647 w 4514"/>
              <a:gd name="T41" fmla="*/ 2147483647 h 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514" h="200">
                <a:moveTo>
                  <a:pt x="0" y="200"/>
                </a:moveTo>
                <a:lnTo>
                  <a:pt x="225" y="200"/>
                </a:lnTo>
                <a:lnTo>
                  <a:pt x="335" y="0"/>
                </a:lnTo>
                <a:lnTo>
                  <a:pt x="706" y="0"/>
                </a:lnTo>
                <a:lnTo>
                  <a:pt x="817" y="200"/>
                </a:lnTo>
                <a:lnTo>
                  <a:pt x="1147" y="200"/>
                </a:lnTo>
                <a:lnTo>
                  <a:pt x="1254" y="0"/>
                </a:lnTo>
                <a:lnTo>
                  <a:pt x="1628" y="0"/>
                </a:lnTo>
                <a:lnTo>
                  <a:pt x="1739" y="200"/>
                </a:lnTo>
                <a:lnTo>
                  <a:pt x="2065" y="200"/>
                </a:lnTo>
                <a:lnTo>
                  <a:pt x="2183" y="0"/>
                </a:lnTo>
                <a:lnTo>
                  <a:pt x="2553" y="0"/>
                </a:lnTo>
                <a:lnTo>
                  <a:pt x="2664" y="200"/>
                </a:lnTo>
                <a:lnTo>
                  <a:pt x="2994" y="200"/>
                </a:lnTo>
                <a:lnTo>
                  <a:pt x="3108" y="0"/>
                </a:lnTo>
                <a:lnTo>
                  <a:pt x="3478" y="0"/>
                </a:lnTo>
                <a:lnTo>
                  <a:pt x="3589" y="200"/>
                </a:lnTo>
                <a:lnTo>
                  <a:pt x="3919" y="200"/>
                </a:lnTo>
                <a:lnTo>
                  <a:pt x="4033" y="0"/>
                </a:lnTo>
                <a:lnTo>
                  <a:pt x="4404" y="0"/>
                </a:lnTo>
                <a:lnTo>
                  <a:pt x="4514" y="20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70663" name="Freeform 7"/>
          <p:cNvSpPr>
            <a:spLocks/>
          </p:cNvSpPr>
          <p:nvPr/>
        </p:nvSpPr>
        <p:spPr bwMode="auto">
          <a:xfrm>
            <a:off x="1293813" y="4306888"/>
            <a:ext cx="7116762" cy="327025"/>
          </a:xfrm>
          <a:custGeom>
            <a:avLst/>
            <a:gdLst>
              <a:gd name="T0" fmla="*/ 0 w 4483"/>
              <a:gd name="T1" fmla="*/ 0 h 206"/>
              <a:gd name="T2" fmla="*/ 2147483647 w 4483"/>
              <a:gd name="T3" fmla="*/ 0 h 206"/>
              <a:gd name="T4" fmla="*/ 2147483647 w 4483"/>
              <a:gd name="T5" fmla="*/ 2147483647 h 206"/>
              <a:gd name="T6" fmla="*/ 2147483647 w 4483"/>
              <a:gd name="T7" fmla="*/ 2147483647 h 206"/>
              <a:gd name="T8" fmla="*/ 2147483647 w 4483"/>
              <a:gd name="T9" fmla="*/ 2147483647 h 206"/>
              <a:gd name="T10" fmla="*/ 2147483647 w 4483"/>
              <a:gd name="T11" fmla="*/ 2147483647 h 2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83" h="206">
                <a:moveTo>
                  <a:pt x="0" y="0"/>
                </a:moveTo>
                <a:lnTo>
                  <a:pt x="2126" y="0"/>
                </a:lnTo>
                <a:lnTo>
                  <a:pt x="2243" y="206"/>
                </a:lnTo>
                <a:lnTo>
                  <a:pt x="3599" y="206"/>
                </a:lnTo>
                <a:lnTo>
                  <a:pt x="3704" y="13"/>
                </a:lnTo>
                <a:lnTo>
                  <a:pt x="4483" y="13"/>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70664" name="Line 8"/>
          <p:cNvSpPr>
            <a:spLocks noChangeShapeType="1"/>
          </p:cNvSpPr>
          <p:nvPr/>
        </p:nvSpPr>
        <p:spPr bwMode="auto">
          <a:xfrm>
            <a:off x="1323975" y="4956175"/>
            <a:ext cx="7132638" cy="1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70665" name="Freeform 10"/>
          <p:cNvSpPr>
            <a:spLocks/>
          </p:cNvSpPr>
          <p:nvPr/>
        </p:nvSpPr>
        <p:spPr bwMode="auto">
          <a:xfrm>
            <a:off x="6419850" y="5610225"/>
            <a:ext cx="1155700" cy="371475"/>
          </a:xfrm>
          <a:custGeom>
            <a:avLst/>
            <a:gdLst>
              <a:gd name="T0" fmla="*/ 2147483647 w 728"/>
              <a:gd name="T1" fmla="*/ 2147483647 h 234"/>
              <a:gd name="T2" fmla="*/ 2147483647 w 728"/>
              <a:gd name="T3" fmla="*/ 2147483647 h 234"/>
              <a:gd name="T4" fmla="*/ 0 w 728"/>
              <a:gd name="T5" fmla="*/ 2147483647 h 234"/>
              <a:gd name="T6" fmla="*/ 2147483647 w 728"/>
              <a:gd name="T7" fmla="*/ 0 h 234"/>
              <a:gd name="T8" fmla="*/ 2147483647 w 728"/>
              <a:gd name="T9" fmla="*/ 0 h 234"/>
              <a:gd name="T10" fmla="*/ 2147483647 w 728"/>
              <a:gd name="T11" fmla="*/ 2147483647 h 234"/>
              <a:gd name="T12" fmla="*/ 2147483647 w 728"/>
              <a:gd name="T13" fmla="*/ 2147483647 h 2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234">
                <a:moveTo>
                  <a:pt x="675" y="234"/>
                </a:moveTo>
                <a:lnTo>
                  <a:pt x="54" y="234"/>
                </a:lnTo>
                <a:lnTo>
                  <a:pt x="0" y="120"/>
                </a:lnTo>
                <a:lnTo>
                  <a:pt x="60" y="0"/>
                </a:lnTo>
                <a:lnTo>
                  <a:pt x="662" y="0"/>
                </a:lnTo>
                <a:lnTo>
                  <a:pt x="728" y="120"/>
                </a:lnTo>
                <a:lnTo>
                  <a:pt x="675" y="234"/>
                </a:ln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70666" name="Freeform 11"/>
          <p:cNvSpPr>
            <a:spLocks/>
          </p:cNvSpPr>
          <p:nvPr/>
        </p:nvSpPr>
        <p:spPr bwMode="auto">
          <a:xfrm>
            <a:off x="7575550" y="5619750"/>
            <a:ext cx="825500" cy="361950"/>
          </a:xfrm>
          <a:custGeom>
            <a:avLst/>
            <a:gdLst>
              <a:gd name="T0" fmla="*/ 2147483647 w 520"/>
              <a:gd name="T1" fmla="*/ 2147483647 h 228"/>
              <a:gd name="T2" fmla="*/ 2147483647 w 520"/>
              <a:gd name="T3" fmla="*/ 2147483647 h 228"/>
              <a:gd name="T4" fmla="*/ 0 w 520"/>
              <a:gd name="T5" fmla="*/ 2147483647 h 228"/>
              <a:gd name="T6" fmla="*/ 2147483647 w 520"/>
              <a:gd name="T7" fmla="*/ 0 h 228"/>
              <a:gd name="T8" fmla="*/ 2147483647 w 520"/>
              <a:gd name="T9" fmla="*/ 0 h 228"/>
              <a:gd name="T10" fmla="*/ 2147483647 w 520"/>
              <a:gd name="T11" fmla="*/ 2147483647 h 2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0" h="228">
                <a:moveTo>
                  <a:pt x="520" y="228"/>
                </a:moveTo>
                <a:lnTo>
                  <a:pt x="51" y="228"/>
                </a:lnTo>
                <a:lnTo>
                  <a:pt x="0" y="114"/>
                </a:lnTo>
                <a:lnTo>
                  <a:pt x="51" y="0"/>
                </a:lnTo>
                <a:lnTo>
                  <a:pt x="520" y="0"/>
                </a:lnTo>
                <a:lnTo>
                  <a:pt x="520" y="2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67" name="Freeform 12"/>
          <p:cNvSpPr>
            <a:spLocks/>
          </p:cNvSpPr>
          <p:nvPr/>
        </p:nvSpPr>
        <p:spPr bwMode="auto">
          <a:xfrm>
            <a:off x="7575550" y="5619750"/>
            <a:ext cx="825500" cy="361950"/>
          </a:xfrm>
          <a:custGeom>
            <a:avLst/>
            <a:gdLst>
              <a:gd name="T0" fmla="*/ 2147483647 w 520"/>
              <a:gd name="T1" fmla="*/ 2147483647 h 228"/>
              <a:gd name="T2" fmla="*/ 2147483647 w 520"/>
              <a:gd name="T3" fmla="*/ 2147483647 h 228"/>
              <a:gd name="T4" fmla="*/ 0 w 520"/>
              <a:gd name="T5" fmla="*/ 2147483647 h 228"/>
              <a:gd name="T6" fmla="*/ 2147483647 w 520"/>
              <a:gd name="T7" fmla="*/ 0 h 228"/>
              <a:gd name="T8" fmla="*/ 2147483647 w 520"/>
              <a:gd name="T9" fmla="*/ 0 h 228"/>
              <a:gd name="T10" fmla="*/ 2147483647 w 520"/>
              <a:gd name="T11" fmla="*/ 2147483647 h 2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0" h="228">
                <a:moveTo>
                  <a:pt x="520" y="228"/>
                </a:moveTo>
                <a:lnTo>
                  <a:pt x="51" y="228"/>
                </a:lnTo>
                <a:lnTo>
                  <a:pt x="0" y="114"/>
                </a:lnTo>
                <a:lnTo>
                  <a:pt x="51" y="0"/>
                </a:lnTo>
                <a:lnTo>
                  <a:pt x="520" y="0"/>
                </a:lnTo>
                <a:lnTo>
                  <a:pt x="520" y="228"/>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70668" name="Line 13"/>
          <p:cNvSpPr>
            <a:spLocks noChangeShapeType="1"/>
          </p:cNvSpPr>
          <p:nvPr/>
        </p:nvSpPr>
        <p:spPr bwMode="auto">
          <a:xfrm>
            <a:off x="1776413" y="1409700"/>
            <a:ext cx="1273175" cy="1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70669" name="Freeform 14"/>
          <p:cNvSpPr>
            <a:spLocks/>
          </p:cNvSpPr>
          <p:nvPr/>
        </p:nvSpPr>
        <p:spPr bwMode="auto">
          <a:xfrm>
            <a:off x="3019425" y="1370013"/>
            <a:ext cx="125413" cy="74612"/>
          </a:xfrm>
          <a:custGeom>
            <a:avLst/>
            <a:gdLst>
              <a:gd name="T0" fmla="*/ 2147483647 w 25"/>
              <a:gd name="T1" fmla="*/ 2147483647 h 15"/>
              <a:gd name="T2" fmla="*/ 0 w 25"/>
              <a:gd name="T3" fmla="*/ 0 h 15"/>
              <a:gd name="T4" fmla="*/ 0 w 25"/>
              <a:gd name="T5" fmla="*/ 0 h 15"/>
              <a:gd name="T6" fmla="*/ 2147483647 w 25"/>
              <a:gd name="T7" fmla="*/ 2147483647 h 15"/>
              <a:gd name="T8" fmla="*/ 2147483647 w 25"/>
              <a:gd name="T9" fmla="*/ 2147483647 h 15"/>
              <a:gd name="T10" fmla="*/ 2147483647 w 25"/>
              <a:gd name="T11" fmla="*/ 2147483647 h 15"/>
              <a:gd name="T12" fmla="*/ 0 w 25"/>
              <a:gd name="T13" fmla="*/ 2147483647 h 15"/>
              <a:gd name="T14" fmla="*/ 0 w 25"/>
              <a:gd name="T15" fmla="*/ 2147483647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a:moveTo>
                  <a:pt x="4" y="8"/>
                </a:moveTo>
                <a:cubicBezTo>
                  <a:pt x="0" y="0"/>
                  <a:pt x="0" y="0"/>
                  <a:pt x="0" y="0"/>
                </a:cubicBezTo>
                <a:cubicBezTo>
                  <a:pt x="0" y="0"/>
                  <a:pt x="0" y="0"/>
                  <a:pt x="0" y="0"/>
                </a:cubicBezTo>
                <a:cubicBezTo>
                  <a:pt x="12" y="5"/>
                  <a:pt x="12" y="5"/>
                  <a:pt x="12" y="5"/>
                </a:cubicBezTo>
                <a:cubicBezTo>
                  <a:pt x="16" y="6"/>
                  <a:pt x="20" y="7"/>
                  <a:pt x="25" y="8"/>
                </a:cubicBezTo>
                <a:cubicBezTo>
                  <a:pt x="20" y="9"/>
                  <a:pt x="16" y="10"/>
                  <a:pt x="12" y="10"/>
                </a:cubicBezTo>
                <a:cubicBezTo>
                  <a:pt x="0" y="15"/>
                  <a:pt x="0" y="15"/>
                  <a:pt x="0" y="15"/>
                </a:cubicBezTo>
                <a:cubicBezTo>
                  <a:pt x="0" y="15"/>
                  <a:pt x="0" y="15"/>
                  <a:pt x="0" y="15"/>
                </a:cubicBezTo>
                <a:lnTo>
                  <a:pt x="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70" name="Freeform 15"/>
          <p:cNvSpPr>
            <a:spLocks/>
          </p:cNvSpPr>
          <p:nvPr/>
        </p:nvSpPr>
        <p:spPr bwMode="auto">
          <a:xfrm>
            <a:off x="1685925" y="1370013"/>
            <a:ext cx="127000" cy="74612"/>
          </a:xfrm>
          <a:custGeom>
            <a:avLst/>
            <a:gdLst>
              <a:gd name="T0" fmla="*/ 2147483647 w 25"/>
              <a:gd name="T1" fmla="*/ 2147483647 h 15"/>
              <a:gd name="T2" fmla="*/ 2147483647 w 25"/>
              <a:gd name="T3" fmla="*/ 2147483647 h 15"/>
              <a:gd name="T4" fmla="*/ 2147483647 w 25"/>
              <a:gd name="T5" fmla="*/ 2147483647 h 15"/>
              <a:gd name="T6" fmla="*/ 2147483647 w 25"/>
              <a:gd name="T7" fmla="*/ 2147483647 h 15"/>
              <a:gd name="T8" fmla="*/ 0 w 25"/>
              <a:gd name="T9" fmla="*/ 2147483647 h 15"/>
              <a:gd name="T10" fmla="*/ 2147483647 w 25"/>
              <a:gd name="T11" fmla="*/ 2147483647 h 15"/>
              <a:gd name="T12" fmla="*/ 2147483647 w 25"/>
              <a:gd name="T13" fmla="*/ 0 h 15"/>
              <a:gd name="T14" fmla="*/ 2147483647 w 25"/>
              <a:gd name="T15" fmla="*/ 0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a:moveTo>
                  <a:pt x="21" y="8"/>
                </a:moveTo>
                <a:cubicBezTo>
                  <a:pt x="25" y="15"/>
                  <a:pt x="25" y="15"/>
                  <a:pt x="25" y="15"/>
                </a:cubicBezTo>
                <a:cubicBezTo>
                  <a:pt x="25" y="15"/>
                  <a:pt x="25" y="15"/>
                  <a:pt x="25" y="15"/>
                </a:cubicBezTo>
                <a:cubicBezTo>
                  <a:pt x="13" y="10"/>
                  <a:pt x="13" y="10"/>
                  <a:pt x="13" y="10"/>
                </a:cubicBezTo>
                <a:cubicBezTo>
                  <a:pt x="9" y="10"/>
                  <a:pt x="4" y="9"/>
                  <a:pt x="0" y="8"/>
                </a:cubicBezTo>
                <a:cubicBezTo>
                  <a:pt x="4" y="7"/>
                  <a:pt x="9" y="6"/>
                  <a:pt x="13" y="5"/>
                </a:cubicBezTo>
                <a:cubicBezTo>
                  <a:pt x="25" y="0"/>
                  <a:pt x="25" y="0"/>
                  <a:pt x="25" y="0"/>
                </a:cubicBezTo>
                <a:cubicBezTo>
                  <a:pt x="25" y="0"/>
                  <a:pt x="25" y="0"/>
                  <a:pt x="25" y="0"/>
                </a:cubicBezTo>
                <a:lnTo>
                  <a:pt x="2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71" name="Line 16"/>
          <p:cNvSpPr>
            <a:spLocks noChangeShapeType="1"/>
          </p:cNvSpPr>
          <p:nvPr/>
        </p:nvSpPr>
        <p:spPr bwMode="auto">
          <a:xfrm>
            <a:off x="1736725" y="6157913"/>
            <a:ext cx="4632325" cy="158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70672" name="Freeform 17"/>
          <p:cNvSpPr>
            <a:spLocks/>
          </p:cNvSpPr>
          <p:nvPr/>
        </p:nvSpPr>
        <p:spPr bwMode="auto">
          <a:xfrm>
            <a:off x="6334125" y="6118225"/>
            <a:ext cx="125413" cy="74613"/>
          </a:xfrm>
          <a:custGeom>
            <a:avLst/>
            <a:gdLst>
              <a:gd name="T0" fmla="*/ 2147483647 w 25"/>
              <a:gd name="T1" fmla="*/ 2147483647 h 15"/>
              <a:gd name="T2" fmla="*/ 0 w 25"/>
              <a:gd name="T3" fmla="*/ 0 h 15"/>
              <a:gd name="T4" fmla="*/ 2147483647 w 25"/>
              <a:gd name="T5" fmla="*/ 0 h 15"/>
              <a:gd name="T6" fmla="*/ 2147483647 w 25"/>
              <a:gd name="T7" fmla="*/ 2147483647 h 15"/>
              <a:gd name="T8" fmla="*/ 2147483647 w 25"/>
              <a:gd name="T9" fmla="*/ 2147483647 h 15"/>
              <a:gd name="T10" fmla="*/ 2147483647 w 25"/>
              <a:gd name="T11" fmla="*/ 2147483647 h 15"/>
              <a:gd name="T12" fmla="*/ 2147483647 w 25"/>
              <a:gd name="T13" fmla="*/ 2147483647 h 15"/>
              <a:gd name="T14" fmla="*/ 0 w 25"/>
              <a:gd name="T15" fmla="*/ 2147483647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a:moveTo>
                  <a:pt x="5" y="8"/>
                </a:moveTo>
                <a:cubicBezTo>
                  <a:pt x="0" y="0"/>
                  <a:pt x="0" y="0"/>
                  <a:pt x="0" y="0"/>
                </a:cubicBezTo>
                <a:cubicBezTo>
                  <a:pt x="1" y="0"/>
                  <a:pt x="1" y="0"/>
                  <a:pt x="1" y="0"/>
                </a:cubicBezTo>
                <a:cubicBezTo>
                  <a:pt x="13" y="5"/>
                  <a:pt x="13" y="5"/>
                  <a:pt x="13" y="5"/>
                </a:cubicBezTo>
                <a:cubicBezTo>
                  <a:pt x="17" y="6"/>
                  <a:pt x="21" y="7"/>
                  <a:pt x="25" y="8"/>
                </a:cubicBezTo>
                <a:cubicBezTo>
                  <a:pt x="21" y="8"/>
                  <a:pt x="17" y="9"/>
                  <a:pt x="13" y="10"/>
                </a:cubicBezTo>
                <a:cubicBezTo>
                  <a:pt x="1" y="15"/>
                  <a:pt x="1" y="15"/>
                  <a:pt x="1" y="15"/>
                </a:cubicBezTo>
                <a:cubicBezTo>
                  <a:pt x="0" y="15"/>
                  <a:pt x="0" y="15"/>
                  <a:pt x="0" y="15"/>
                </a:cubicBezTo>
                <a:lnTo>
                  <a:pt x="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73" name="Freeform 18"/>
          <p:cNvSpPr>
            <a:spLocks/>
          </p:cNvSpPr>
          <p:nvPr/>
        </p:nvSpPr>
        <p:spPr bwMode="auto">
          <a:xfrm>
            <a:off x="1646238" y="6118225"/>
            <a:ext cx="125412" cy="74613"/>
          </a:xfrm>
          <a:custGeom>
            <a:avLst/>
            <a:gdLst>
              <a:gd name="T0" fmla="*/ 2147483647 w 25"/>
              <a:gd name="T1" fmla="*/ 2147483647 h 15"/>
              <a:gd name="T2" fmla="*/ 2147483647 w 25"/>
              <a:gd name="T3" fmla="*/ 2147483647 h 15"/>
              <a:gd name="T4" fmla="*/ 2147483647 w 25"/>
              <a:gd name="T5" fmla="*/ 2147483647 h 15"/>
              <a:gd name="T6" fmla="*/ 2147483647 w 25"/>
              <a:gd name="T7" fmla="*/ 2147483647 h 15"/>
              <a:gd name="T8" fmla="*/ 0 w 25"/>
              <a:gd name="T9" fmla="*/ 2147483647 h 15"/>
              <a:gd name="T10" fmla="*/ 2147483647 w 25"/>
              <a:gd name="T11" fmla="*/ 2147483647 h 15"/>
              <a:gd name="T12" fmla="*/ 2147483647 w 25"/>
              <a:gd name="T13" fmla="*/ 0 h 15"/>
              <a:gd name="T14" fmla="*/ 2147483647 w 25"/>
              <a:gd name="T15" fmla="*/ 0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a:moveTo>
                  <a:pt x="21" y="8"/>
                </a:moveTo>
                <a:cubicBezTo>
                  <a:pt x="25" y="15"/>
                  <a:pt x="25" y="15"/>
                  <a:pt x="25" y="15"/>
                </a:cubicBezTo>
                <a:cubicBezTo>
                  <a:pt x="25" y="15"/>
                  <a:pt x="25" y="15"/>
                  <a:pt x="25" y="15"/>
                </a:cubicBezTo>
                <a:cubicBezTo>
                  <a:pt x="13" y="10"/>
                  <a:pt x="13" y="10"/>
                  <a:pt x="13" y="10"/>
                </a:cubicBezTo>
                <a:cubicBezTo>
                  <a:pt x="9" y="9"/>
                  <a:pt x="4" y="8"/>
                  <a:pt x="0" y="8"/>
                </a:cubicBezTo>
                <a:cubicBezTo>
                  <a:pt x="4" y="7"/>
                  <a:pt x="9" y="6"/>
                  <a:pt x="13" y="5"/>
                </a:cubicBezTo>
                <a:cubicBezTo>
                  <a:pt x="25" y="0"/>
                  <a:pt x="25" y="0"/>
                  <a:pt x="25" y="0"/>
                </a:cubicBezTo>
                <a:cubicBezTo>
                  <a:pt x="25" y="0"/>
                  <a:pt x="25" y="0"/>
                  <a:pt x="25" y="0"/>
                </a:cubicBezTo>
                <a:lnTo>
                  <a:pt x="2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74" name="Freeform 19"/>
          <p:cNvSpPr>
            <a:spLocks/>
          </p:cNvSpPr>
          <p:nvPr/>
        </p:nvSpPr>
        <p:spPr bwMode="auto">
          <a:xfrm>
            <a:off x="2274888" y="1328738"/>
            <a:ext cx="433387" cy="180975"/>
          </a:xfrm>
          <a:custGeom>
            <a:avLst/>
            <a:gdLst>
              <a:gd name="T0" fmla="*/ 2147483647 w 273"/>
              <a:gd name="T1" fmla="*/ 0 h 114"/>
              <a:gd name="T2" fmla="*/ 0 w 273"/>
              <a:gd name="T3" fmla="*/ 0 h 114"/>
              <a:gd name="T4" fmla="*/ 0 w 273"/>
              <a:gd name="T5" fmla="*/ 2147483647 h 114"/>
              <a:gd name="T6" fmla="*/ 2147483647 w 273"/>
              <a:gd name="T7" fmla="*/ 2147483647 h 114"/>
              <a:gd name="T8" fmla="*/ 2147483647 w 273"/>
              <a:gd name="T9" fmla="*/ 0 h 114"/>
              <a:gd name="T10" fmla="*/ 2147483647 w 273"/>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3" h="114">
                <a:moveTo>
                  <a:pt x="273" y="0"/>
                </a:moveTo>
                <a:lnTo>
                  <a:pt x="0" y="0"/>
                </a:lnTo>
                <a:lnTo>
                  <a:pt x="0" y="114"/>
                </a:lnTo>
                <a:lnTo>
                  <a:pt x="273" y="114"/>
                </a:lnTo>
                <a:lnTo>
                  <a:pt x="27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75" name="Rectangle 20"/>
          <p:cNvSpPr>
            <a:spLocks noChangeArrowheads="1"/>
          </p:cNvSpPr>
          <p:nvPr/>
        </p:nvSpPr>
        <p:spPr bwMode="auto">
          <a:xfrm>
            <a:off x="2273300" y="1292225"/>
            <a:ext cx="3905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20 ns</a:t>
            </a:r>
            <a:endParaRPr lang="en-US" altLang="en-US"/>
          </a:p>
        </p:txBody>
      </p:sp>
      <p:sp>
        <p:nvSpPr>
          <p:cNvPr id="70676" name="Rectangle 21"/>
          <p:cNvSpPr>
            <a:spLocks noChangeArrowheads="1"/>
          </p:cNvSpPr>
          <p:nvPr/>
        </p:nvSpPr>
        <p:spPr bwMode="auto">
          <a:xfrm>
            <a:off x="2024063" y="1741488"/>
            <a:ext cx="2079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T1</a:t>
            </a:r>
            <a:endParaRPr lang="en-US" altLang="en-US"/>
          </a:p>
        </p:txBody>
      </p:sp>
      <p:sp>
        <p:nvSpPr>
          <p:cNvPr id="70677" name="Rectangle 22"/>
          <p:cNvSpPr>
            <a:spLocks noChangeArrowheads="1"/>
          </p:cNvSpPr>
          <p:nvPr/>
        </p:nvSpPr>
        <p:spPr bwMode="auto">
          <a:xfrm>
            <a:off x="3498850" y="1741488"/>
            <a:ext cx="2079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T2</a:t>
            </a:r>
            <a:endParaRPr lang="en-US" altLang="en-US"/>
          </a:p>
        </p:txBody>
      </p:sp>
      <p:sp>
        <p:nvSpPr>
          <p:cNvPr id="70678" name="Rectangle 23"/>
          <p:cNvSpPr>
            <a:spLocks noChangeArrowheads="1"/>
          </p:cNvSpPr>
          <p:nvPr/>
        </p:nvSpPr>
        <p:spPr bwMode="auto">
          <a:xfrm>
            <a:off x="4975225" y="1741488"/>
            <a:ext cx="2079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T3</a:t>
            </a:r>
            <a:endParaRPr lang="en-US" altLang="en-US"/>
          </a:p>
        </p:txBody>
      </p:sp>
      <p:sp>
        <p:nvSpPr>
          <p:cNvPr id="70679" name="Rectangle 24"/>
          <p:cNvSpPr>
            <a:spLocks noChangeArrowheads="1"/>
          </p:cNvSpPr>
          <p:nvPr/>
        </p:nvSpPr>
        <p:spPr bwMode="auto">
          <a:xfrm>
            <a:off x="6450013" y="1741488"/>
            <a:ext cx="2079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T4</a:t>
            </a:r>
            <a:endParaRPr lang="en-US" altLang="en-US"/>
          </a:p>
        </p:txBody>
      </p:sp>
      <p:sp>
        <p:nvSpPr>
          <p:cNvPr id="70680" name="Rectangle 25"/>
          <p:cNvSpPr>
            <a:spLocks noChangeArrowheads="1"/>
          </p:cNvSpPr>
          <p:nvPr/>
        </p:nvSpPr>
        <p:spPr bwMode="auto">
          <a:xfrm>
            <a:off x="7926388" y="1741488"/>
            <a:ext cx="2079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T1</a:t>
            </a:r>
            <a:endParaRPr lang="en-US" altLang="en-US"/>
          </a:p>
        </p:txBody>
      </p:sp>
      <p:sp>
        <p:nvSpPr>
          <p:cNvPr id="70681" name="Rectangle 26"/>
          <p:cNvSpPr>
            <a:spLocks noChangeArrowheads="1"/>
          </p:cNvSpPr>
          <p:nvPr/>
        </p:nvSpPr>
        <p:spPr bwMode="auto">
          <a:xfrm>
            <a:off x="6648450" y="5676900"/>
            <a:ext cx="7842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Data valid</a:t>
            </a:r>
            <a:endParaRPr lang="en-US" altLang="en-US"/>
          </a:p>
        </p:txBody>
      </p:sp>
      <p:sp>
        <p:nvSpPr>
          <p:cNvPr id="70682" name="Freeform 27"/>
          <p:cNvSpPr>
            <a:spLocks/>
          </p:cNvSpPr>
          <p:nvPr/>
        </p:nvSpPr>
        <p:spPr bwMode="auto">
          <a:xfrm>
            <a:off x="3803650" y="6072188"/>
            <a:ext cx="438150" cy="180975"/>
          </a:xfrm>
          <a:custGeom>
            <a:avLst/>
            <a:gdLst>
              <a:gd name="T0" fmla="*/ 2147483647 w 276"/>
              <a:gd name="T1" fmla="*/ 0 h 114"/>
              <a:gd name="T2" fmla="*/ 0 w 276"/>
              <a:gd name="T3" fmla="*/ 0 h 114"/>
              <a:gd name="T4" fmla="*/ 0 w 276"/>
              <a:gd name="T5" fmla="*/ 2147483647 h 114"/>
              <a:gd name="T6" fmla="*/ 2147483647 w 276"/>
              <a:gd name="T7" fmla="*/ 2147483647 h 114"/>
              <a:gd name="T8" fmla="*/ 2147483647 w 276"/>
              <a:gd name="T9" fmla="*/ 0 h 114"/>
              <a:gd name="T10" fmla="*/ 2147483647 w 276"/>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6" h="114">
                <a:moveTo>
                  <a:pt x="276" y="0"/>
                </a:moveTo>
                <a:lnTo>
                  <a:pt x="0" y="0"/>
                </a:lnTo>
                <a:lnTo>
                  <a:pt x="0" y="114"/>
                </a:lnTo>
                <a:lnTo>
                  <a:pt x="276" y="114"/>
                </a:lnTo>
                <a:lnTo>
                  <a:pt x="27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83" name="Rectangle 28"/>
          <p:cNvSpPr>
            <a:spLocks noChangeArrowheads="1"/>
          </p:cNvSpPr>
          <p:nvPr/>
        </p:nvSpPr>
        <p:spPr bwMode="auto">
          <a:xfrm>
            <a:off x="3825875" y="6038850"/>
            <a:ext cx="3905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65 ns</a:t>
            </a:r>
            <a:endParaRPr lang="en-US" altLang="en-US"/>
          </a:p>
        </p:txBody>
      </p:sp>
      <p:sp>
        <p:nvSpPr>
          <p:cNvPr id="70684" name="Freeform 29"/>
          <p:cNvSpPr>
            <a:spLocks/>
          </p:cNvSpPr>
          <p:nvPr/>
        </p:nvSpPr>
        <p:spPr bwMode="auto">
          <a:xfrm>
            <a:off x="1323975" y="3019425"/>
            <a:ext cx="7097713" cy="377825"/>
          </a:xfrm>
          <a:custGeom>
            <a:avLst/>
            <a:gdLst>
              <a:gd name="T0" fmla="*/ 0 w 4471"/>
              <a:gd name="T1" fmla="*/ 0 h 238"/>
              <a:gd name="T2" fmla="*/ 2147483647 w 4471"/>
              <a:gd name="T3" fmla="*/ 0 h 238"/>
              <a:gd name="T4" fmla="*/ 2147483647 w 4471"/>
              <a:gd name="T5" fmla="*/ 2147483647 h 238"/>
              <a:gd name="T6" fmla="*/ 2147483647 w 4471"/>
              <a:gd name="T7" fmla="*/ 2147483647 h 238"/>
              <a:gd name="T8" fmla="*/ 2147483647 w 4471"/>
              <a:gd name="T9" fmla="*/ 0 h 238"/>
              <a:gd name="T10" fmla="*/ 2147483647 w 4471"/>
              <a:gd name="T11" fmla="*/ 0 h 2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71" h="238">
                <a:moveTo>
                  <a:pt x="0" y="0"/>
                </a:moveTo>
                <a:lnTo>
                  <a:pt x="843" y="0"/>
                </a:lnTo>
                <a:lnTo>
                  <a:pt x="1005" y="238"/>
                </a:lnTo>
                <a:lnTo>
                  <a:pt x="4068" y="238"/>
                </a:lnTo>
                <a:lnTo>
                  <a:pt x="4170" y="0"/>
                </a:lnTo>
                <a:lnTo>
                  <a:pt x="4471"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70685" name="Freeform 30"/>
          <p:cNvSpPr>
            <a:spLocks/>
          </p:cNvSpPr>
          <p:nvPr/>
        </p:nvSpPr>
        <p:spPr bwMode="auto">
          <a:xfrm>
            <a:off x="1323975" y="3668713"/>
            <a:ext cx="7067550" cy="306387"/>
          </a:xfrm>
          <a:custGeom>
            <a:avLst/>
            <a:gdLst>
              <a:gd name="T0" fmla="*/ 0 w 4452"/>
              <a:gd name="T1" fmla="*/ 0 h 193"/>
              <a:gd name="T2" fmla="*/ 2147483647 w 4452"/>
              <a:gd name="T3" fmla="*/ 0 h 193"/>
              <a:gd name="T4" fmla="*/ 2147483647 w 4452"/>
              <a:gd name="T5" fmla="*/ 2147483647 h 193"/>
              <a:gd name="T6" fmla="*/ 2147483647 w 4452"/>
              <a:gd name="T7" fmla="*/ 2147483647 h 193"/>
              <a:gd name="T8" fmla="*/ 2147483647 w 4452"/>
              <a:gd name="T9" fmla="*/ 2147483647 h 193"/>
              <a:gd name="T10" fmla="*/ 2147483647 w 4452"/>
              <a:gd name="T11" fmla="*/ 2147483647 h 19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52" h="193">
                <a:moveTo>
                  <a:pt x="0" y="0"/>
                </a:moveTo>
                <a:lnTo>
                  <a:pt x="1654" y="0"/>
                </a:lnTo>
                <a:lnTo>
                  <a:pt x="1765" y="193"/>
                </a:lnTo>
                <a:lnTo>
                  <a:pt x="3790" y="193"/>
                </a:lnTo>
                <a:lnTo>
                  <a:pt x="3878" y="6"/>
                </a:lnTo>
                <a:lnTo>
                  <a:pt x="4452" y="6"/>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70686" name="Freeform 31"/>
          <p:cNvSpPr>
            <a:spLocks/>
          </p:cNvSpPr>
          <p:nvPr/>
        </p:nvSpPr>
        <p:spPr bwMode="auto">
          <a:xfrm>
            <a:off x="1727200" y="2319338"/>
            <a:ext cx="2962275" cy="387350"/>
          </a:xfrm>
          <a:custGeom>
            <a:avLst/>
            <a:gdLst>
              <a:gd name="T0" fmla="*/ 2147483647 w 1866"/>
              <a:gd name="T1" fmla="*/ 2147483647 h 244"/>
              <a:gd name="T2" fmla="*/ 2147483647 w 1866"/>
              <a:gd name="T3" fmla="*/ 2147483647 h 244"/>
              <a:gd name="T4" fmla="*/ 2147483647 w 1866"/>
              <a:gd name="T5" fmla="*/ 0 h 244"/>
              <a:gd name="T6" fmla="*/ 2147483647 w 1866"/>
              <a:gd name="T7" fmla="*/ 0 h 244"/>
              <a:gd name="T8" fmla="*/ 0 w 1866"/>
              <a:gd name="T9" fmla="*/ 2147483647 h 244"/>
              <a:gd name="T10" fmla="*/ 2147483647 w 1866"/>
              <a:gd name="T11" fmla="*/ 2147483647 h 244"/>
              <a:gd name="T12" fmla="*/ 2147483647 w 1866"/>
              <a:gd name="T13" fmla="*/ 2147483647 h 244"/>
              <a:gd name="T14" fmla="*/ 2147483647 w 1866"/>
              <a:gd name="T15" fmla="*/ 0 h 244"/>
              <a:gd name="T16" fmla="*/ 2147483647 w 1866"/>
              <a:gd name="T17" fmla="*/ 0 h 244"/>
              <a:gd name="T18" fmla="*/ 2147483647 w 1866"/>
              <a:gd name="T19" fmla="*/ 0 h 244"/>
              <a:gd name="T20" fmla="*/ 2147483647 w 1866"/>
              <a:gd name="T21" fmla="*/ 2147483647 h 244"/>
              <a:gd name="T22" fmla="*/ 2147483647 w 1866"/>
              <a:gd name="T23" fmla="*/ 2147483647 h 244"/>
              <a:gd name="T24" fmla="*/ 2147483647 w 1866"/>
              <a:gd name="T25" fmla="*/ 2147483647 h 2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66" h="244">
                <a:moveTo>
                  <a:pt x="1714" y="244"/>
                </a:moveTo>
                <a:lnTo>
                  <a:pt x="995" y="244"/>
                </a:lnTo>
                <a:lnTo>
                  <a:pt x="890" y="0"/>
                </a:lnTo>
                <a:lnTo>
                  <a:pt x="54" y="0"/>
                </a:lnTo>
                <a:lnTo>
                  <a:pt x="0" y="111"/>
                </a:lnTo>
                <a:lnTo>
                  <a:pt x="50" y="244"/>
                </a:lnTo>
                <a:lnTo>
                  <a:pt x="887" y="244"/>
                </a:lnTo>
                <a:lnTo>
                  <a:pt x="991" y="0"/>
                </a:lnTo>
                <a:lnTo>
                  <a:pt x="1711" y="0"/>
                </a:lnTo>
                <a:lnTo>
                  <a:pt x="1818" y="0"/>
                </a:lnTo>
                <a:lnTo>
                  <a:pt x="1866" y="118"/>
                </a:lnTo>
                <a:lnTo>
                  <a:pt x="1818" y="244"/>
                </a:lnTo>
                <a:lnTo>
                  <a:pt x="1714" y="244"/>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ar-EG"/>
          </a:p>
        </p:txBody>
      </p:sp>
      <p:sp>
        <p:nvSpPr>
          <p:cNvPr id="70687" name="Rectangle 32"/>
          <p:cNvSpPr>
            <a:spLocks noChangeArrowheads="1"/>
          </p:cNvSpPr>
          <p:nvPr/>
        </p:nvSpPr>
        <p:spPr bwMode="auto">
          <a:xfrm>
            <a:off x="2847975" y="5584825"/>
            <a:ext cx="365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Hi-Z</a:t>
            </a:r>
            <a:endParaRPr lang="en-US" altLang="en-US"/>
          </a:p>
        </p:txBody>
      </p:sp>
      <p:sp>
        <p:nvSpPr>
          <p:cNvPr id="70688" name="Freeform 33"/>
          <p:cNvSpPr>
            <a:spLocks/>
          </p:cNvSpPr>
          <p:nvPr/>
        </p:nvSpPr>
        <p:spPr bwMode="auto">
          <a:xfrm>
            <a:off x="1314450" y="2319338"/>
            <a:ext cx="412750" cy="403225"/>
          </a:xfrm>
          <a:custGeom>
            <a:avLst/>
            <a:gdLst>
              <a:gd name="T0" fmla="*/ 0 w 260"/>
              <a:gd name="T1" fmla="*/ 0 h 254"/>
              <a:gd name="T2" fmla="*/ 2147483647 w 260"/>
              <a:gd name="T3" fmla="*/ 0 h 254"/>
              <a:gd name="T4" fmla="*/ 2147483647 w 260"/>
              <a:gd name="T5" fmla="*/ 2147483647 h 254"/>
              <a:gd name="T6" fmla="*/ 2147483647 w 260"/>
              <a:gd name="T7" fmla="*/ 2147483647 h 254"/>
              <a:gd name="T8" fmla="*/ 0 w 260"/>
              <a:gd name="T9" fmla="*/ 2147483647 h 254"/>
              <a:gd name="T10" fmla="*/ 0 w 260"/>
              <a:gd name="T11" fmla="*/ 0 h 2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0" h="254">
                <a:moveTo>
                  <a:pt x="0" y="0"/>
                </a:moveTo>
                <a:lnTo>
                  <a:pt x="206" y="0"/>
                </a:lnTo>
                <a:lnTo>
                  <a:pt x="260" y="115"/>
                </a:lnTo>
                <a:lnTo>
                  <a:pt x="206" y="254"/>
                </a:lnTo>
                <a:lnTo>
                  <a:pt x="0" y="254"/>
                </a:lnTo>
                <a:lnTo>
                  <a:pt x="0" y="0"/>
                </a:lnTo>
                <a:close/>
              </a:path>
            </a:pathLst>
          </a:custGeom>
          <a:solidFill>
            <a:schemeClr val="hlink"/>
          </a:solidFill>
          <a:ln w="11113" cap="flat">
            <a:solidFill>
              <a:srgbClr val="000000"/>
            </a:solidFill>
            <a:prstDash val="solid"/>
            <a:miter lim="800000"/>
            <a:headEnd/>
            <a:tailEnd/>
          </a:ln>
        </p:spPr>
        <p:txBody>
          <a:bodyPr/>
          <a:lstStyle/>
          <a:p>
            <a:endParaRPr lang="ar-EG"/>
          </a:p>
        </p:txBody>
      </p:sp>
      <p:sp>
        <p:nvSpPr>
          <p:cNvPr id="70689" name="Freeform 34"/>
          <p:cNvSpPr>
            <a:spLocks/>
          </p:cNvSpPr>
          <p:nvPr/>
        </p:nvSpPr>
        <p:spPr bwMode="auto">
          <a:xfrm>
            <a:off x="1314450" y="5594350"/>
            <a:ext cx="5105400" cy="387350"/>
          </a:xfrm>
          <a:custGeom>
            <a:avLst/>
            <a:gdLst>
              <a:gd name="T0" fmla="*/ 0 w 3216"/>
              <a:gd name="T1" fmla="*/ 2147483647 h 244"/>
              <a:gd name="T2" fmla="*/ 2147483647 w 3216"/>
              <a:gd name="T3" fmla="*/ 2147483647 h 244"/>
              <a:gd name="T4" fmla="*/ 2147483647 w 3216"/>
              <a:gd name="T5" fmla="*/ 0 h 244"/>
              <a:gd name="T6" fmla="*/ 2147483647 w 3216"/>
              <a:gd name="T7" fmla="*/ 0 h 244"/>
              <a:gd name="T8" fmla="*/ 2147483647 w 3216"/>
              <a:gd name="T9" fmla="*/ 2147483647 h 244"/>
              <a:gd name="T10" fmla="*/ 2147483647 w 3216"/>
              <a:gd name="T11" fmla="*/ 2147483647 h 244"/>
              <a:gd name="T12" fmla="*/ 2147483647 w 3216"/>
              <a:gd name="T13" fmla="*/ 2147483647 h 244"/>
              <a:gd name="T14" fmla="*/ 2147483647 w 3216"/>
              <a:gd name="T15" fmla="*/ 2147483647 h 244"/>
              <a:gd name="T16" fmla="*/ 0 w 3216"/>
              <a:gd name="T17" fmla="*/ 2147483647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16" h="244">
                <a:moveTo>
                  <a:pt x="0" y="114"/>
                </a:moveTo>
                <a:lnTo>
                  <a:pt x="2490" y="114"/>
                </a:lnTo>
                <a:lnTo>
                  <a:pt x="2544" y="0"/>
                </a:lnTo>
                <a:lnTo>
                  <a:pt x="3165" y="0"/>
                </a:lnTo>
                <a:lnTo>
                  <a:pt x="3216" y="130"/>
                </a:lnTo>
                <a:lnTo>
                  <a:pt x="3165" y="244"/>
                </a:lnTo>
                <a:lnTo>
                  <a:pt x="2544" y="244"/>
                </a:lnTo>
                <a:lnTo>
                  <a:pt x="2490" y="114"/>
                </a:lnTo>
                <a:lnTo>
                  <a:pt x="0" y="114"/>
                </a:lnTo>
                <a:close/>
              </a:path>
            </a:pathLst>
          </a:custGeom>
          <a:solidFill>
            <a:srgbClr val="B2E2E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690" name="Freeform 35"/>
          <p:cNvSpPr>
            <a:spLocks/>
          </p:cNvSpPr>
          <p:nvPr/>
        </p:nvSpPr>
        <p:spPr bwMode="auto">
          <a:xfrm>
            <a:off x="1314450" y="5594350"/>
            <a:ext cx="5105400" cy="387350"/>
          </a:xfrm>
          <a:custGeom>
            <a:avLst/>
            <a:gdLst>
              <a:gd name="T0" fmla="*/ 0 w 3216"/>
              <a:gd name="T1" fmla="*/ 2147483647 h 244"/>
              <a:gd name="T2" fmla="*/ 2147483647 w 3216"/>
              <a:gd name="T3" fmla="*/ 2147483647 h 244"/>
              <a:gd name="T4" fmla="*/ 2147483647 w 3216"/>
              <a:gd name="T5" fmla="*/ 0 h 244"/>
              <a:gd name="T6" fmla="*/ 2147483647 w 3216"/>
              <a:gd name="T7" fmla="*/ 0 h 244"/>
              <a:gd name="T8" fmla="*/ 2147483647 w 3216"/>
              <a:gd name="T9" fmla="*/ 2147483647 h 244"/>
              <a:gd name="T10" fmla="*/ 2147483647 w 3216"/>
              <a:gd name="T11" fmla="*/ 2147483647 h 244"/>
              <a:gd name="T12" fmla="*/ 2147483647 w 3216"/>
              <a:gd name="T13" fmla="*/ 2147483647 h 244"/>
              <a:gd name="T14" fmla="*/ 2147483647 w 3216"/>
              <a:gd name="T15" fmla="*/ 2147483647 h 2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16" h="244">
                <a:moveTo>
                  <a:pt x="0" y="114"/>
                </a:moveTo>
                <a:lnTo>
                  <a:pt x="2490" y="114"/>
                </a:lnTo>
                <a:lnTo>
                  <a:pt x="2544" y="0"/>
                </a:lnTo>
                <a:lnTo>
                  <a:pt x="3165" y="0"/>
                </a:lnTo>
                <a:lnTo>
                  <a:pt x="3216" y="130"/>
                </a:lnTo>
                <a:lnTo>
                  <a:pt x="3165" y="244"/>
                </a:lnTo>
                <a:lnTo>
                  <a:pt x="2544" y="244"/>
                </a:lnTo>
                <a:lnTo>
                  <a:pt x="2490" y="114"/>
                </a:lnTo>
              </a:path>
            </a:pathLst>
          </a:custGeom>
          <a:solidFill>
            <a:schemeClr val="hlink"/>
          </a:solidFill>
          <a:ln w="11113" cap="flat">
            <a:solidFill>
              <a:srgbClr val="000000"/>
            </a:solidFill>
            <a:prstDash val="solid"/>
            <a:miter lim="800000"/>
            <a:headEnd/>
            <a:tailEnd/>
          </a:ln>
        </p:spPr>
        <p:txBody>
          <a:bodyPr/>
          <a:lstStyle/>
          <a:p>
            <a:endParaRPr lang="ar-EG"/>
          </a:p>
        </p:txBody>
      </p:sp>
      <p:sp>
        <p:nvSpPr>
          <p:cNvPr id="70691" name="Line 36"/>
          <p:cNvSpPr>
            <a:spLocks noChangeShapeType="1"/>
          </p:cNvSpPr>
          <p:nvPr/>
        </p:nvSpPr>
        <p:spPr bwMode="auto">
          <a:xfrm>
            <a:off x="846138" y="4956175"/>
            <a:ext cx="398462" cy="1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70692" name="Rectangle 37"/>
          <p:cNvSpPr>
            <a:spLocks noChangeArrowheads="1"/>
          </p:cNvSpPr>
          <p:nvPr/>
        </p:nvSpPr>
        <p:spPr bwMode="auto">
          <a:xfrm>
            <a:off x="801688" y="4743450"/>
            <a:ext cx="4445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Read/</a:t>
            </a:r>
            <a:endParaRPr lang="en-US" altLang="en-US"/>
          </a:p>
        </p:txBody>
      </p:sp>
      <p:sp>
        <p:nvSpPr>
          <p:cNvPr id="70693" name="Rectangle 38"/>
          <p:cNvSpPr>
            <a:spLocks noChangeArrowheads="1"/>
          </p:cNvSpPr>
          <p:nvPr/>
        </p:nvSpPr>
        <p:spPr bwMode="auto">
          <a:xfrm>
            <a:off x="793750" y="4938713"/>
            <a:ext cx="4445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Write</a:t>
            </a:r>
            <a:endParaRPr lang="en-US" altLang="en-US"/>
          </a:p>
        </p:txBody>
      </p:sp>
      <p:sp>
        <p:nvSpPr>
          <p:cNvPr id="70694" name="Rectangle 39"/>
          <p:cNvSpPr>
            <a:spLocks noChangeArrowheads="1"/>
          </p:cNvSpPr>
          <p:nvPr/>
        </p:nvSpPr>
        <p:spPr bwMode="auto">
          <a:xfrm>
            <a:off x="823913" y="5564188"/>
            <a:ext cx="365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Data</a:t>
            </a:r>
            <a:endParaRPr lang="en-US" altLang="en-US"/>
          </a:p>
        </p:txBody>
      </p:sp>
      <p:sp>
        <p:nvSpPr>
          <p:cNvPr id="70695" name="Rectangle 40"/>
          <p:cNvSpPr>
            <a:spLocks noChangeArrowheads="1"/>
          </p:cNvSpPr>
          <p:nvPr/>
        </p:nvSpPr>
        <p:spPr bwMode="auto">
          <a:xfrm>
            <a:off x="760413" y="5765800"/>
            <a:ext cx="5016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output</a:t>
            </a:r>
            <a:endParaRPr lang="en-US" altLang="en-US"/>
          </a:p>
        </p:txBody>
      </p:sp>
      <p:sp>
        <p:nvSpPr>
          <p:cNvPr id="70696" name="Rectangle 41"/>
          <p:cNvSpPr>
            <a:spLocks noChangeArrowheads="1"/>
          </p:cNvSpPr>
          <p:nvPr/>
        </p:nvSpPr>
        <p:spPr bwMode="auto">
          <a:xfrm>
            <a:off x="811213" y="1708150"/>
            <a:ext cx="4445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Clock</a:t>
            </a:r>
            <a:endParaRPr lang="en-US" altLang="en-US"/>
          </a:p>
        </p:txBody>
      </p:sp>
      <p:sp>
        <p:nvSpPr>
          <p:cNvPr id="70697" name="Rectangle 42"/>
          <p:cNvSpPr>
            <a:spLocks noChangeArrowheads="1"/>
          </p:cNvSpPr>
          <p:nvPr/>
        </p:nvSpPr>
        <p:spPr bwMode="auto">
          <a:xfrm>
            <a:off x="2239963" y="2306638"/>
            <a:ext cx="3460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Row</a:t>
            </a:r>
            <a:endParaRPr lang="en-US" altLang="en-US"/>
          </a:p>
        </p:txBody>
      </p:sp>
      <p:sp>
        <p:nvSpPr>
          <p:cNvPr id="70698" name="Rectangle 43"/>
          <p:cNvSpPr>
            <a:spLocks noChangeArrowheads="1"/>
          </p:cNvSpPr>
          <p:nvPr/>
        </p:nvSpPr>
        <p:spPr bwMode="auto">
          <a:xfrm>
            <a:off x="2101850" y="2506663"/>
            <a:ext cx="6238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Address</a:t>
            </a:r>
            <a:endParaRPr lang="en-US" altLang="en-US"/>
          </a:p>
        </p:txBody>
      </p:sp>
      <p:sp>
        <p:nvSpPr>
          <p:cNvPr id="70699" name="Rectangle 44"/>
          <p:cNvSpPr>
            <a:spLocks noChangeArrowheads="1"/>
          </p:cNvSpPr>
          <p:nvPr/>
        </p:nvSpPr>
        <p:spPr bwMode="auto">
          <a:xfrm>
            <a:off x="3660775" y="2300288"/>
            <a:ext cx="6111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Column</a:t>
            </a:r>
            <a:endParaRPr lang="en-US" altLang="en-US"/>
          </a:p>
        </p:txBody>
      </p:sp>
      <p:sp>
        <p:nvSpPr>
          <p:cNvPr id="70700" name="Rectangle 45"/>
          <p:cNvSpPr>
            <a:spLocks noChangeArrowheads="1"/>
          </p:cNvSpPr>
          <p:nvPr/>
        </p:nvSpPr>
        <p:spPr bwMode="auto">
          <a:xfrm>
            <a:off x="3649663" y="2500313"/>
            <a:ext cx="6238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Address</a:t>
            </a:r>
            <a:endParaRPr lang="en-US" altLang="en-US"/>
          </a:p>
        </p:txBody>
      </p:sp>
      <p:sp>
        <p:nvSpPr>
          <p:cNvPr id="70701" name="Rectangle 46"/>
          <p:cNvSpPr>
            <a:spLocks noChangeArrowheads="1"/>
          </p:cNvSpPr>
          <p:nvPr/>
        </p:nvSpPr>
        <p:spPr bwMode="auto">
          <a:xfrm>
            <a:off x="879475" y="3014663"/>
            <a:ext cx="355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RAS</a:t>
            </a:r>
            <a:endParaRPr lang="en-US" altLang="en-US"/>
          </a:p>
        </p:txBody>
      </p:sp>
      <p:sp>
        <p:nvSpPr>
          <p:cNvPr id="70702" name="Freeform 47"/>
          <p:cNvSpPr>
            <a:spLocks/>
          </p:cNvSpPr>
          <p:nvPr/>
        </p:nvSpPr>
        <p:spPr bwMode="auto">
          <a:xfrm>
            <a:off x="927100" y="3028950"/>
            <a:ext cx="322263" cy="1588"/>
          </a:xfrm>
          <a:custGeom>
            <a:avLst/>
            <a:gdLst>
              <a:gd name="T0" fmla="*/ 0 w 203"/>
              <a:gd name="T1" fmla="*/ 0 h 1588"/>
              <a:gd name="T2" fmla="*/ 2147483647 w 203"/>
              <a:gd name="T3" fmla="*/ 0 h 1588"/>
              <a:gd name="T4" fmla="*/ 0 w 203"/>
              <a:gd name="T5" fmla="*/ 0 h 1588"/>
              <a:gd name="T6" fmla="*/ 0 60000 65536"/>
              <a:gd name="T7" fmla="*/ 0 60000 65536"/>
              <a:gd name="T8" fmla="*/ 0 60000 65536"/>
            </a:gdLst>
            <a:ahLst/>
            <a:cxnLst>
              <a:cxn ang="T6">
                <a:pos x="T0" y="T1"/>
              </a:cxn>
              <a:cxn ang="T7">
                <a:pos x="T2" y="T3"/>
              </a:cxn>
              <a:cxn ang="T8">
                <a:pos x="T4" y="T5"/>
              </a:cxn>
            </a:cxnLst>
            <a:rect l="0" t="0" r="r" b="b"/>
            <a:pathLst>
              <a:path w="203" h="1588">
                <a:moveTo>
                  <a:pt x="0" y="0"/>
                </a:moveTo>
                <a:lnTo>
                  <a:pt x="2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703" name="Line 48"/>
          <p:cNvSpPr>
            <a:spLocks noChangeShapeType="1"/>
          </p:cNvSpPr>
          <p:nvPr/>
        </p:nvSpPr>
        <p:spPr bwMode="auto">
          <a:xfrm>
            <a:off x="927100" y="3028950"/>
            <a:ext cx="322263" cy="1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70704" name="Rectangle 49"/>
          <p:cNvSpPr>
            <a:spLocks noChangeArrowheads="1"/>
          </p:cNvSpPr>
          <p:nvPr/>
        </p:nvSpPr>
        <p:spPr bwMode="auto">
          <a:xfrm>
            <a:off x="893763" y="3676650"/>
            <a:ext cx="355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CAS</a:t>
            </a:r>
            <a:endParaRPr lang="en-US" altLang="en-US"/>
          </a:p>
        </p:txBody>
      </p:sp>
      <p:sp>
        <p:nvSpPr>
          <p:cNvPr id="70705" name="Freeform 50"/>
          <p:cNvSpPr>
            <a:spLocks/>
          </p:cNvSpPr>
          <p:nvPr/>
        </p:nvSpPr>
        <p:spPr bwMode="auto">
          <a:xfrm>
            <a:off x="927100" y="3687763"/>
            <a:ext cx="322263" cy="1587"/>
          </a:xfrm>
          <a:custGeom>
            <a:avLst/>
            <a:gdLst>
              <a:gd name="T0" fmla="*/ 0 w 203"/>
              <a:gd name="T1" fmla="*/ 0 h 1587"/>
              <a:gd name="T2" fmla="*/ 2147483647 w 203"/>
              <a:gd name="T3" fmla="*/ 0 h 1587"/>
              <a:gd name="T4" fmla="*/ 0 w 203"/>
              <a:gd name="T5" fmla="*/ 0 h 1587"/>
              <a:gd name="T6" fmla="*/ 0 60000 65536"/>
              <a:gd name="T7" fmla="*/ 0 60000 65536"/>
              <a:gd name="T8" fmla="*/ 0 60000 65536"/>
            </a:gdLst>
            <a:ahLst/>
            <a:cxnLst>
              <a:cxn ang="T6">
                <a:pos x="T0" y="T1"/>
              </a:cxn>
              <a:cxn ang="T7">
                <a:pos x="T2" y="T3"/>
              </a:cxn>
              <a:cxn ang="T8">
                <a:pos x="T4" y="T5"/>
              </a:cxn>
            </a:cxnLst>
            <a:rect l="0" t="0" r="r" b="b"/>
            <a:pathLst>
              <a:path w="203" h="1587">
                <a:moveTo>
                  <a:pt x="0" y="0"/>
                </a:moveTo>
                <a:lnTo>
                  <a:pt x="20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706" name="Line 51"/>
          <p:cNvSpPr>
            <a:spLocks noChangeShapeType="1"/>
          </p:cNvSpPr>
          <p:nvPr/>
        </p:nvSpPr>
        <p:spPr bwMode="auto">
          <a:xfrm>
            <a:off x="927100" y="3687763"/>
            <a:ext cx="322263" cy="158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
        <p:nvSpPr>
          <p:cNvPr id="70707" name="Rectangle 52"/>
          <p:cNvSpPr>
            <a:spLocks noChangeArrowheads="1"/>
          </p:cNvSpPr>
          <p:nvPr/>
        </p:nvSpPr>
        <p:spPr bwMode="auto">
          <a:xfrm>
            <a:off x="623888" y="2355850"/>
            <a:ext cx="6238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Address</a:t>
            </a:r>
            <a:endParaRPr lang="en-US" altLang="en-US"/>
          </a:p>
        </p:txBody>
      </p:sp>
      <p:sp>
        <p:nvSpPr>
          <p:cNvPr id="70708" name="Rectangle 53"/>
          <p:cNvSpPr>
            <a:spLocks noChangeArrowheads="1"/>
          </p:cNvSpPr>
          <p:nvPr/>
        </p:nvSpPr>
        <p:spPr bwMode="auto">
          <a:xfrm>
            <a:off x="650875" y="4281488"/>
            <a:ext cx="5508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Output</a:t>
            </a:r>
            <a:endParaRPr lang="en-US" altLang="en-US"/>
          </a:p>
        </p:txBody>
      </p:sp>
      <p:sp>
        <p:nvSpPr>
          <p:cNvPr id="70709" name="Rectangle 54"/>
          <p:cNvSpPr>
            <a:spLocks noChangeArrowheads="1"/>
          </p:cNvSpPr>
          <p:nvPr/>
        </p:nvSpPr>
        <p:spPr bwMode="auto">
          <a:xfrm>
            <a:off x="700088" y="4478338"/>
            <a:ext cx="4937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rPr>
              <a:t>enable</a:t>
            </a:r>
            <a:endParaRPr lang="en-US" altLang="en-US"/>
          </a:p>
        </p:txBody>
      </p:sp>
      <p:sp>
        <p:nvSpPr>
          <p:cNvPr id="70710" name="Freeform 55"/>
          <p:cNvSpPr>
            <a:spLocks/>
          </p:cNvSpPr>
          <p:nvPr/>
        </p:nvSpPr>
        <p:spPr bwMode="auto">
          <a:xfrm>
            <a:off x="655638" y="4286250"/>
            <a:ext cx="558800" cy="1588"/>
          </a:xfrm>
          <a:custGeom>
            <a:avLst/>
            <a:gdLst>
              <a:gd name="T0" fmla="*/ 0 w 352"/>
              <a:gd name="T1" fmla="*/ 0 h 1588"/>
              <a:gd name="T2" fmla="*/ 2147483647 w 352"/>
              <a:gd name="T3" fmla="*/ 0 h 1588"/>
              <a:gd name="T4" fmla="*/ 0 w 352"/>
              <a:gd name="T5" fmla="*/ 0 h 1588"/>
              <a:gd name="T6" fmla="*/ 0 60000 65536"/>
              <a:gd name="T7" fmla="*/ 0 60000 65536"/>
              <a:gd name="T8" fmla="*/ 0 60000 65536"/>
            </a:gdLst>
            <a:ahLst/>
            <a:cxnLst>
              <a:cxn ang="T6">
                <a:pos x="T0" y="T1"/>
              </a:cxn>
              <a:cxn ang="T7">
                <a:pos x="T2" y="T3"/>
              </a:cxn>
              <a:cxn ang="T8">
                <a:pos x="T4" y="T5"/>
              </a:cxn>
            </a:cxnLst>
            <a:rect l="0" t="0" r="r" b="b"/>
            <a:pathLst>
              <a:path w="352" h="1588">
                <a:moveTo>
                  <a:pt x="0" y="0"/>
                </a:moveTo>
                <a:lnTo>
                  <a:pt x="35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EG"/>
          </a:p>
        </p:txBody>
      </p:sp>
      <p:sp>
        <p:nvSpPr>
          <p:cNvPr id="70711" name="Line 56"/>
          <p:cNvSpPr>
            <a:spLocks noChangeShapeType="1"/>
          </p:cNvSpPr>
          <p:nvPr/>
        </p:nvSpPr>
        <p:spPr bwMode="auto">
          <a:xfrm>
            <a:off x="655638" y="4286250"/>
            <a:ext cx="558800" cy="1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ar-EG"/>
          </a:p>
        </p:txBody>
      </p:sp>
    </p:spTree>
    <p:extLst>
      <p:ext uri="{BB962C8B-B14F-4D97-AF65-F5344CB8AC3E}">
        <p14:creationId xmlns:p14="http://schemas.microsoft.com/office/powerpoint/2010/main" val="111285607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0"/>
            <a:r>
              <a:rPr lang="en-US" b="1" dirty="0"/>
              <a:t>Memory Refresh</a:t>
            </a:r>
            <a:endParaRPr lang="ar-EG" b="1" dirty="0"/>
          </a:p>
        </p:txBody>
      </p:sp>
      <p:sp>
        <p:nvSpPr>
          <p:cNvPr id="4" name="Content Placeholder 3"/>
          <p:cNvSpPr>
            <a:spLocks noGrp="1"/>
          </p:cNvSpPr>
          <p:nvPr>
            <p:ph idx="1"/>
          </p:nvPr>
        </p:nvSpPr>
        <p:spPr/>
        <p:txBody>
          <a:bodyPr>
            <a:normAutofit/>
          </a:bodyPr>
          <a:lstStyle/>
          <a:p>
            <a:pPr algn="l" rtl="0"/>
            <a:r>
              <a:rPr lang="en-US" dirty="0">
                <a:latin typeface="Comic Sans MS" panose="030F0702030302020204" pitchFamily="66" charset="0"/>
              </a:rPr>
              <a:t>Is the process of periodically reading information from an area of computer memory and immediately rewriting it to the same area without modification.</a:t>
            </a:r>
          </a:p>
          <a:p>
            <a:pPr algn="l" rtl="0"/>
            <a:r>
              <a:rPr lang="en-US" dirty="0">
                <a:latin typeface="Comic Sans MS" panose="030F0702030302020204" pitchFamily="66" charset="0"/>
              </a:rPr>
              <a:t>Each memory refresh cycle refreshes a succeeding area of memory cells, and repeatedly refreshing all the cells in a consecutive cycles.</a:t>
            </a:r>
          </a:p>
          <a:p>
            <a:pPr algn="l" rtl="0"/>
            <a:r>
              <a:rPr lang="en-US" dirty="0">
                <a:latin typeface="Comic Sans MS" panose="030F0702030302020204" pitchFamily="66" charset="0"/>
              </a:rPr>
              <a:t>The refreshment process is conducted automatically.</a:t>
            </a:r>
            <a:endParaRPr lang="ar-EG" dirty="0">
              <a:latin typeface="Comic Sans MS" panose="030F0702030302020204" pitchFamily="66" charset="0"/>
            </a:endParaRPr>
          </a:p>
          <a:p>
            <a:pPr algn="l" rtl="0"/>
            <a:endParaRPr lang="ar-EG" dirty="0">
              <a:latin typeface="Comic Sans MS" panose="030F0702030302020204" pitchFamily="66" charset="0"/>
            </a:endParaRPr>
          </a:p>
        </p:txBody>
      </p:sp>
    </p:spTree>
    <p:extLst>
      <p:ext uri="{BB962C8B-B14F-4D97-AF65-F5344CB8AC3E}">
        <p14:creationId xmlns:p14="http://schemas.microsoft.com/office/powerpoint/2010/main" val="164997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0"/>
            <a:r>
              <a:rPr lang="en-US" b="1" dirty="0"/>
              <a:t>Cont.,</a:t>
            </a:r>
            <a:endParaRPr lang="ar-EG" b="1" dirty="0"/>
          </a:p>
        </p:txBody>
      </p:sp>
      <p:sp>
        <p:nvSpPr>
          <p:cNvPr id="3" name="Content Placeholder 2"/>
          <p:cNvSpPr>
            <a:spLocks noGrp="1"/>
          </p:cNvSpPr>
          <p:nvPr>
            <p:ph idx="1"/>
          </p:nvPr>
        </p:nvSpPr>
        <p:spPr/>
        <p:txBody>
          <a:bodyPr>
            <a:normAutofit/>
          </a:bodyPr>
          <a:lstStyle/>
          <a:p>
            <a:pPr algn="l" rtl="0"/>
            <a:r>
              <a:rPr lang="en-US" dirty="0">
                <a:latin typeface="Comic Sans MS" panose="030F0702030302020204" pitchFamily="66" charset="0"/>
              </a:rPr>
              <a:t>While a refresh cycle is occurring, the memory is not available for normal READ &amp; WRITE operations.</a:t>
            </a:r>
          </a:p>
          <a:p>
            <a:pPr algn="l" rtl="0"/>
            <a:r>
              <a:rPr lang="en-US" dirty="0">
                <a:latin typeface="Comic Sans MS" panose="030F0702030302020204" pitchFamily="66" charset="0"/>
              </a:rPr>
              <a:t>In modern memories, this overhead time is not large enough.</a:t>
            </a:r>
          </a:p>
          <a:p>
            <a:pPr algn="l" rtl="0"/>
            <a:r>
              <a:rPr lang="en-US" b="1" dirty="0">
                <a:solidFill>
                  <a:srgbClr val="FF0000"/>
                </a:solidFill>
                <a:latin typeface="Comic Sans MS" panose="030F0702030302020204" pitchFamily="66" charset="0"/>
              </a:rPr>
              <a:t>Conclusion</a:t>
            </a:r>
            <a:r>
              <a:rPr lang="en-US" dirty="0">
                <a:latin typeface="Comic Sans MS" panose="030F0702030302020204" pitchFamily="66" charset="0"/>
              </a:rPr>
              <a:t>: each memory cell must be refreshed repetitively within a maximum interval between refreshes specified by the manufacture.</a:t>
            </a:r>
            <a:endParaRPr lang="ar-EG" dirty="0">
              <a:latin typeface="Comic Sans MS" panose="030F0702030302020204" pitchFamily="66" charset="0"/>
            </a:endParaRPr>
          </a:p>
        </p:txBody>
      </p:sp>
    </p:spTree>
    <p:extLst>
      <p:ext uri="{BB962C8B-B14F-4D97-AF65-F5344CB8AC3E}">
        <p14:creationId xmlns:p14="http://schemas.microsoft.com/office/powerpoint/2010/main" val="2806111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0"/>
            <a:r>
              <a:rPr lang="en-US" b="1" dirty="0"/>
              <a:t>Block Diagram of a DRAM Including Refresh Logic</a:t>
            </a:r>
            <a:endParaRPr lang="ar-EG" b="1" dirty="0"/>
          </a:p>
        </p:txBody>
      </p:sp>
      <p:pic>
        <p:nvPicPr>
          <p:cNvPr id="4" name="Content Placeholder 3"/>
          <p:cNvPicPr>
            <a:picLocks noGrp="1" noChangeAspect="1"/>
          </p:cNvPicPr>
          <p:nvPr>
            <p:ph idx="1"/>
          </p:nvPr>
        </p:nvPicPr>
        <p:blipFill>
          <a:blip r:embed="rId2"/>
          <a:stretch>
            <a:fillRect/>
          </a:stretch>
        </p:blipFill>
        <p:spPr>
          <a:xfrm>
            <a:off x="837126" y="1825624"/>
            <a:ext cx="7547019" cy="4600933"/>
          </a:xfrm>
          <a:prstGeom prst="rect">
            <a:avLst/>
          </a:prstGeom>
        </p:spPr>
      </p:pic>
    </p:spTree>
    <p:extLst>
      <p:ext uri="{BB962C8B-B14F-4D97-AF65-F5344CB8AC3E}">
        <p14:creationId xmlns:p14="http://schemas.microsoft.com/office/powerpoint/2010/main" val="1683948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0"/>
            <a:r>
              <a:rPr lang="en-US" sz="4000" b="1" dirty="0"/>
              <a:t>How Refresh Works?</a:t>
            </a:r>
            <a:endParaRPr lang="ar-EG" sz="4000" b="1" dirty="0"/>
          </a:p>
        </p:txBody>
      </p:sp>
      <p:sp>
        <p:nvSpPr>
          <p:cNvPr id="3" name="Content Placeholder 2"/>
          <p:cNvSpPr>
            <a:spLocks noGrp="1"/>
          </p:cNvSpPr>
          <p:nvPr>
            <p:ph idx="1"/>
          </p:nvPr>
        </p:nvSpPr>
        <p:spPr>
          <a:xfrm>
            <a:off x="628650" y="1825624"/>
            <a:ext cx="7886700" cy="4544695"/>
          </a:xfrm>
        </p:spPr>
        <p:txBody>
          <a:bodyPr>
            <a:normAutofit fontScale="92500" lnSpcReduction="10000"/>
          </a:bodyPr>
          <a:lstStyle/>
          <a:p>
            <a:pPr marL="0" indent="0" algn="l" rtl="0">
              <a:lnSpc>
                <a:spcPct val="110000"/>
              </a:lnSpc>
              <a:buNone/>
            </a:pPr>
            <a:r>
              <a:rPr lang="en-US" dirty="0">
                <a:latin typeface="Comic Sans MS" panose="030F0702030302020204" pitchFamily="66" charset="0"/>
              </a:rPr>
              <a:t>1- Refresh cycles are generated by refresh counter( either a refresh counter; as a part of the memory </a:t>
            </a:r>
            <a:r>
              <a:rPr lang="en-US" b="1" dirty="0">
                <a:solidFill>
                  <a:srgbClr val="FF0000"/>
                </a:solidFill>
                <a:latin typeface="Comic Sans MS" panose="030F0702030302020204" pitchFamily="66" charset="0"/>
              </a:rPr>
              <a:t>or</a:t>
            </a:r>
            <a:r>
              <a:rPr lang="en-US" dirty="0">
                <a:latin typeface="Comic Sans MS" panose="030F0702030302020204" pitchFamily="66" charset="0"/>
              </a:rPr>
              <a:t> external counter as a part of DRAM controller), which contains the address of the row to be refreshed.</a:t>
            </a:r>
          </a:p>
          <a:p>
            <a:pPr marL="0" indent="0" algn="l" rtl="0">
              <a:lnSpc>
                <a:spcPct val="110000"/>
              </a:lnSpc>
              <a:buNone/>
            </a:pPr>
            <a:r>
              <a:rPr lang="en-US" dirty="0">
                <a:latin typeface="Comic Sans MS" panose="030F0702030302020204" pitchFamily="66" charset="0"/>
              </a:rPr>
              <a:t>2- The row address is applied to the row address lines.</a:t>
            </a:r>
          </a:p>
          <a:p>
            <a:pPr marL="0" indent="0" algn="l" rtl="0">
              <a:lnSpc>
                <a:spcPct val="110000"/>
              </a:lnSpc>
              <a:buNone/>
            </a:pPr>
            <a:r>
              <a:rPr lang="en-US" dirty="0">
                <a:latin typeface="Comic Sans MS" panose="030F0702030302020204" pitchFamily="66" charset="0"/>
              </a:rPr>
              <a:t>3- The refresh cycle can be triggered by one of the following ways: </a:t>
            </a:r>
            <a:r>
              <a:rPr lang="en-US" b="1" dirty="0">
                <a:highlight>
                  <a:srgbClr val="FFFF00"/>
                </a:highlight>
                <a:latin typeface="Comic Sans MS" panose="030F0702030302020204" pitchFamily="66" charset="0"/>
              </a:rPr>
              <a:t>RAS-only</a:t>
            </a:r>
            <a:r>
              <a:rPr lang="en-US" b="1" dirty="0">
                <a:latin typeface="Comic Sans MS" panose="030F0702030302020204" pitchFamily="66" charset="0"/>
              </a:rPr>
              <a:t> refresh, </a:t>
            </a:r>
            <a:r>
              <a:rPr lang="en-US" b="1" dirty="0">
                <a:highlight>
                  <a:srgbClr val="FFFF00"/>
                </a:highlight>
                <a:latin typeface="Comic Sans MS" panose="030F0702030302020204" pitchFamily="66" charset="0"/>
              </a:rPr>
              <a:t>CAS-before-RAS</a:t>
            </a:r>
            <a:r>
              <a:rPr lang="en-US" b="1" dirty="0">
                <a:latin typeface="Comic Sans MS" panose="030F0702030302020204" pitchFamily="66" charset="0"/>
              </a:rPr>
              <a:t> refresh, or </a:t>
            </a:r>
            <a:r>
              <a:rPr lang="en-US" b="1" dirty="0">
                <a:highlight>
                  <a:srgbClr val="FFFF00"/>
                </a:highlight>
                <a:latin typeface="Comic Sans MS" panose="030F0702030302020204" pitchFamily="66" charset="0"/>
              </a:rPr>
              <a:t>Hidden</a:t>
            </a:r>
            <a:r>
              <a:rPr lang="en-US" b="1" dirty="0">
                <a:latin typeface="Comic Sans MS" panose="030F0702030302020204" pitchFamily="66" charset="0"/>
              </a:rPr>
              <a:t> refresh.</a:t>
            </a:r>
            <a:endParaRPr lang="ar-EG" dirty="0">
              <a:latin typeface="Comic Sans MS" panose="030F0702030302020204" pitchFamily="66" charset="0"/>
            </a:endParaRPr>
          </a:p>
        </p:txBody>
      </p:sp>
    </p:spTree>
    <p:extLst>
      <p:ext uri="{BB962C8B-B14F-4D97-AF65-F5344CB8AC3E}">
        <p14:creationId xmlns:p14="http://schemas.microsoft.com/office/powerpoint/2010/main" val="318767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37581"/>
          </a:xfrm>
        </p:spPr>
        <p:txBody>
          <a:bodyPr>
            <a:normAutofit/>
          </a:bodyPr>
          <a:lstStyle/>
          <a:p>
            <a:pPr algn="ctr" rtl="0"/>
            <a:r>
              <a:rPr lang="en-US" sz="4000" b="1" dirty="0"/>
              <a:t>The standard triggering ways</a:t>
            </a:r>
            <a:endParaRPr lang="ar-EG" sz="4000" b="1" dirty="0"/>
          </a:p>
        </p:txBody>
      </p:sp>
      <p:sp>
        <p:nvSpPr>
          <p:cNvPr id="3" name="Content Placeholder 2"/>
          <p:cNvSpPr>
            <a:spLocks noGrp="1"/>
          </p:cNvSpPr>
          <p:nvPr>
            <p:ph idx="1"/>
          </p:nvPr>
        </p:nvSpPr>
        <p:spPr>
          <a:xfrm>
            <a:off x="628650" y="1440493"/>
            <a:ext cx="7886700" cy="4736470"/>
          </a:xfrm>
        </p:spPr>
        <p:txBody>
          <a:bodyPr>
            <a:normAutofit fontScale="85000" lnSpcReduction="20000"/>
          </a:bodyPr>
          <a:lstStyle/>
          <a:p>
            <a:pPr algn="l" rtl="0"/>
            <a:r>
              <a:rPr lang="en-US" b="1" dirty="0">
                <a:latin typeface="Comic Sans MS" panose="030F0702030302020204" pitchFamily="66" charset="0"/>
              </a:rPr>
              <a:t>RAS-only refresh. </a:t>
            </a:r>
            <a:r>
              <a:rPr lang="en-US" dirty="0">
                <a:latin typeface="Comic Sans MS" panose="030F0702030302020204" pitchFamily="66" charset="0"/>
              </a:rPr>
              <a:t>A row address is placed on the address lines and RAS is changed to 0. In this case, the refresh addresses must be applied from outside the DRAM chip, typically by an IC called a DRAM controller.</a:t>
            </a:r>
          </a:p>
          <a:p>
            <a:pPr marL="0" indent="0" algn="l" rtl="0">
              <a:buNone/>
            </a:pPr>
            <a:endParaRPr lang="en-US" dirty="0">
              <a:latin typeface="Comic Sans MS" panose="030F0702030302020204" pitchFamily="66" charset="0"/>
            </a:endParaRPr>
          </a:p>
          <a:p>
            <a:pPr algn="l" rtl="0"/>
            <a:r>
              <a:rPr lang="en-US" b="1" dirty="0">
                <a:latin typeface="Comic Sans MS" panose="030F0702030302020204" pitchFamily="66" charset="0"/>
              </a:rPr>
              <a:t>CAS-before-RAS refresh. </a:t>
            </a:r>
            <a:r>
              <a:rPr lang="en-US" dirty="0">
                <a:latin typeface="Comic Sans MS" panose="030F0702030302020204" pitchFamily="66" charset="0"/>
              </a:rPr>
              <a:t>The CAS is changed from 1 to 0 followed by a change from 1 to 0 on RAS. </a:t>
            </a:r>
          </a:p>
          <a:p>
            <a:pPr algn="l" rtl="0"/>
            <a:r>
              <a:rPr lang="en-US" dirty="0">
                <a:latin typeface="Comic Sans MS" panose="030F0702030302020204" pitchFamily="66" charset="0"/>
              </a:rPr>
              <a:t>It appears as an illegal operation. In this  case, the incoming external row address will be discard , and the memory will use its internal refresh counter. </a:t>
            </a:r>
          </a:p>
          <a:p>
            <a:pPr algn="l" rtl="0"/>
            <a:r>
              <a:rPr lang="en-US" dirty="0">
                <a:latin typeface="Comic Sans MS" panose="030F0702030302020204" pitchFamily="66" charset="0"/>
              </a:rPr>
              <a:t>Additional refresh cycles can be performed by changing RAS by the internal counter without changing CAS. </a:t>
            </a:r>
          </a:p>
        </p:txBody>
      </p:sp>
    </p:spTree>
    <p:extLst>
      <p:ext uri="{BB962C8B-B14F-4D97-AF65-F5344CB8AC3E}">
        <p14:creationId xmlns:p14="http://schemas.microsoft.com/office/powerpoint/2010/main" val="2137894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0"/>
            <a:r>
              <a:rPr lang="en-US" dirty="0"/>
              <a:t>Cont.,</a:t>
            </a:r>
            <a:endParaRPr lang="ar-EG" dirty="0"/>
          </a:p>
        </p:txBody>
      </p:sp>
      <p:sp>
        <p:nvSpPr>
          <p:cNvPr id="3" name="Content Placeholder 2"/>
          <p:cNvSpPr>
            <a:spLocks noGrp="1"/>
          </p:cNvSpPr>
          <p:nvPr>
            <p:ph idx="1"/>
          </p:nvPr>
        </p:nvSpPr>
        <p:spPr/>
        <p:txBody>
          <a:bodyPr>
            <a:normAutofit lnSpcReduction="10000"/>
          </a:bodyPr>
          <a:lstStyle/>
          <a:p>
            <a:pPr algn="l" rtl="0"/>
            <a:r>
              <a:rPr lang="en-US" b="1" dirty="0">
                <a:latin typeface="Comic Sans MS" panose="030F0702030302020204" pitchFamily="66" charset="0"/>
              </a:rPr>
              <a:t>Hidden refresh. </a:t>
            </a:r>
            <a:r>
              <a:rPr lang="en-US" dirty="0">
                <a:latin typeface="Comic Sans MS" panose="030F0702030302020204" pitchFamily="66" charset="0"/>
              </a:rPr>
              <a:t>Following a normal read or write, CAS is left at 0 and RAS is cycled, effectively performing a CAS-before-RAS refresh. During a hidden refresh, the output data from the prior read remains valid. Thus, the refresh is hidden. Unfortunately, the time taken by the hidden refresh is significant, so a subsequent read or write operation is delayed.</a:t>
            </a:r>
          </a:p>
          <a:p>
            <a:pPr algn="l" rtl="0"/>
            <a:r>
              <a:rPr lang="en-US" dirty="0">
                <a:latin typeface="Comic Sans MS" panose="030F0702030302020204" pitchFamily="66" charset="0"/>
              </a:rPr>
              <a:t>In all cases, note that the initiation of a refresh is controlled externally by using the RAS and CAS signals.</a:t>
            </a:r>
            <a:endParaRPr lang="ar-EG" dirty="0">
              <a:latin typeface="Comic Sans MS" panose="030F0702030302020204" pitchFamily="66" charset="0"/>
            </a:endParaRPr>
          </a:p>
        </p:txBody>
      </p:sp>
    </p:spTree>
    <p:extLst>
      <p:ext uri="{BB962C8B-B14F-4D97-AF65-F5344CB8AC3E}">
        <p14:creationId xmlns:p14="http://schemas.microsoft.com/office/powerpoint/2010/main" val="1394389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0"/>
            <a:r>
              <a:rPr lang="en-US" b="1" dirty="0"/>
              <a:t>Refreshing Types</a:t>
            </a:r>
            <a:endParaRPr lang="ar-EG" b="1" dirty="0"/>
          </a:p>
        </p:txBody>
      </p:sp>
      <p:sp>
        <p:nvSpPr>
          <p:cNvPr id="3" name="Content Placeholder 2"/>
          <p:cNvSpPr>
            <a:spLocks noGrp="1"/>
          </p:cNvSpPr>
          <p:nvPr>
            <p:ph idx="1"/>
          </p:nvPr>
        </p:nvSpPr>
        <p:spPr/>
        <p:txBody>
          <a:bodyPr>
            <a:normAutofit lnSpcReduction="10000"/>
          </a:bodyPr>
          <a:lstStyle/>
          <a:p>
            <a:pPr algn="l" rtl="0">
              <a:lnSpc>
                <a:spcPct val="150000"/>
              </a:lnSpc>
            </a:pPr>
            <a:r>
              <a:rPr lang="en-US" sz="3200" dirty="0">
                <a:latin typeface="Comic Sans MS" panose="030F0702030302020204" pitchFamily="66" charset="0"/>
              </a:rPr>
              <a:t>Refreshes may be </a:t>
            </a:r>
            <a:r>
              <a:rPr lang="en-US" sz="3200" dirty="0">
                <a:highlight>
                  <a:srgbClr val="FFFF00"/>
                </a:highlight>
                <a:latin typeface="Comic Sans MS" panose="030F0702030302020204" pitchFamily="66" charset="0"/>
              </a:rPr>
              <a:t>performed at evenly spaced points in time</a:t>
            </a:r>
            <a:r>
              <a:rPr lang="en-US" sz="3200" dirty="0">
                <a:latin typeface="Comic Sans MS" panose="030F0702030302020204" pitchFamily="66" charset="0"/>
              </a:rPr>
              <a:t>, an approach called </a:t>
            </a:r>
            <a:r>
              <a:rPr lang="en-US" sz="3200" b="1" dirty="0">
                <a:solidFill>
                  <a:srgbClr val="FF0000"/>
                </a:solidFill>
                <a:latin typeface="Comic Sans MS" panose="030F0702030302020204" pitchFamily="66" charset="0"/>
              </a:rPr>
              <a:t>distributed refresh.</a:t>
            </a:r>
          </a:p>
          <a:p>
            <a:pPr algn="l" rtl="0">
              <a:lnSpc>
                <a:spcPct val="150000"/>
              </a:lnSpc>
            </a:pPr>
            <a:r>
              <a:rPr lang="en-US" sz="3200" dirty="0">
                <a:latin typeface="Comic Sans MS" panose="030F0702030302020204" pitchFamily="66" charset="0"/>
              </a:rPr>
              <a:t>Alternatively, </a:t>
            </a:r>
            <a:r>
              <a:rPr lang="en-US" sz="3200" dirty="0">
                <a:highlight>
                  <a:srgbClr val="FFFF00"/>
                </a:highlight>
                <a:latin typeface="Comic Sans MS" panose="030F0702030302020204" pitchFamily="66" charset="0"/>
              </a:rPr>
              <a:t>all refreshes may be performed one after the other</a:t>
            </a:r>
            <a:r>
              <a:rPr lang="en-US" sz="3200" dirty="0">
                <a:latin typeface="Comic Sans MS" panose="030F0702030302020204" pitchFamily="66" charset="0"/>
              </a:rPr>
              <a:t>, an approach called </a:t>
            </a:r>
            <a:r>
              <a:rPr lang="en-US" sz="3200" b="1" dirty="0">
                <a:solidFill>
                  <a:srgbClr val="FF0000"/>
                </a:solidFill>
                <a:latin typeface="Comic Sans MS" panose="030F0702030302020204" pitchFamily="66" charset="0"/>
              </a:rPr>
              <a:t>burst refresh</a:t>
            </a:r>
            <a:endParaRPr lang="ar-EG" sz="3200" b="1"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155240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01065"/>
          </a:xfrm>
        </p:spPr>
        <p:txBody>
          <a:bodyPr/>
          <a:lstStyle/>
          <a:p>
            <a:pPr rtl="0"/>
            <a:r>
              <a:rPr lang="en-US" b="1" dirty="0"/>
              <a:t>Example</a:t>
            </a:r>
            <a:endParaRPr lang="ar-EG" b="1" dirty="0"/>
          </a:p>
        </p:txBody>
      </p:sp>
      <p:sp>
        <p:nvSpPr>
          <p:cNvPr id="3" name="Content Placeholder 2"/>
          <p:cNvSpPr>
            <a:spLocks noGrp="1"/>
          </p:cNvSpPr>
          <p:nvPr>
            <p:ph idx="1"/>
          </p:nvPr>
        </p:nvSpPr>
        <p:spPr>
          <a:xfrm>
            <a:off x="628650" y="1166191"/>
            <a:ext cx="7886700" cy="4864998"/>
          </a:xfrm>
        </p:spPr>
        <p:txBody>
          <a:bodyPr>
            <a:noAutofit/>
          </a:bodyPr>
          <a:lstStyle/>
          <a:p>
            <a:pPr algn="l" rtl="0"/>
            <a:r>
              <a:rPr lang="en-US" sz="2000" dirty="0">
                <a:latin typeface="Comic Sans MS" panose="030F0702030302020204" pitchFamily="66" charset="0"/>
              </a:rPr>
              <a:t> A 4M × 4 DRAM has a refresh time of 64 </a:t>
            </a:r>
            <a:r>
              <a:rPr lang="en-US" sz="2000" dirty="0" err="1">
                <a:latin typeface="Comic Sans MS" panose="030F0702030302020204" pitchFamily="66" charset="0"/>
              </a:rPr>
              <a:t>ms</a:t>
            </a:r>
            <a:r>
              <a:rPr lang="en-US" sz="2000" dirty="0">
                <a:latin typeface="Comic Sans MS" panose="030F0702030302020204" pitchFamily="66" charset="0"/>
              </a:rPr>
              <a:t> and the length of time to perform a single refresh per row is 60 ns?</a:t>
            </a:r>
          </a:p>
          <a:p>
            <a:pPr algn="l" rtl="0"/>
            <a:r>
              <a:rPr lang="en-US" sz="2000" dirty="0">
                <a:latin typeface="Comic Sans MS" panose="030F0702030302020204" pitchFamily="66" charset="0"/>
              </a:rPr>
              <a:t>What is the refreshment time in case of distributed or burst refreshment.</a:t>
            </a:r>
          </a:p>
          <a:p>
            <a:pPr algn="l" rtl="0"/>
            <a:r>
              <a:rPr lang="en-US" sz="2000" dirty="0">
                <a:latin typeface="Comic Sans MS" panose="030F0702030302020204" pitchFamily="66" charset="0"/>
              </a:rPr>
              <a:t>What is the time for Read &amp; Write.</a:t>
            </a:r>
          </a:p>
          <a:p>
            <a:pPr algn="l" rtl="0"/>
            <a:r>
              <a:rPr lang="en-US" sz="2000" b="1" dirty="0">
                <a:solidFill>
                  <a:srgbClr val="FF0000"/>
                </a:solidFill>
                <a:latin typeface="Comic Sans MS" panose="030F0702030302020204" pitchFamily="66" charset="0"/>
              </a:rPr>
              <a:t>Solution:</a:t>
            </a:r>
          </a:p>
          <a:p>
            <a:pPr marL="0" indent="0" algn="l" rtl="0">
              <a:buNone/>
            </a:pPr>
            <a:r>
              <a:rPr lang="en-US" sz="2000" dirty="0">
                <a:latin typeface="Comic Sans MS" panose="030F0702030302020204" pitchFamily="66" charset="0"/>
              </a:rPr>
              <a:t>- no. of rows =  4096 rows to be refreshed.</a:t>
            </a:r>
          </a:p>
          <a:p>
            <a:pPr marL="0" indent="0" algn="l" rtl="0">
              <a:buNone/>
            </a:pPr>
            <a:r>
              <a:rPr lang="en-US" sz="2000" dirty="0">
                <a:solidFill>
                  <a:schemeClr val="accent1"/>
                </a:solidFill>
                <a:latin typeface="Comic Sans MS" panose="030F0702030302020204" pitchFamily="66" charset="0"/>
              </a:rPr>
              <a:t>A- Burst Refreshment:	</a:t>
            </a:r>
          </a:p>
          <a:p>
            <a:pPr marL="0" indent="0" algn="l" rtl="0">
              <a:buNone/>
            </a:pPr>
            <a:r>
              <a:rPr lang="en-US" sz="2000" dirty="0">
                <a:latin typeface="Comic Sans MS" panose="030F0702030302020204" pitchFamily="66" charset="0"/>
              </a:rPr>
              <a:t>- A total time out for refresh = 4096 x 60 ns = 0.25 </a:t>
            </a:r>
            <a:r>
              <a:rPr lang="en-US" sz="2000" dirty="0" err="1">
                <a:latin typeface="Comic Sans MS" panose="030F0702030302020204" pitchFamily="66" charset="0"/>
              </a:rPr>
              <a:t>ms</a:t>
            </a:r>
            <a:endParaRPr lang="en-US" sz="2000" dirty="0">
              <a:latin typeface="Comic Sans MS" panose="030F0702030302020204" pitchFamily="66" charset="0"/>
            </a:endParaRPr>
          </a:p>
          <a:p>
            <a:pPr marL="0" indent="0" algn="l" rtl="0">
              <a:buNone/>
            </a:pPr>
            <a:r>
              <a:rPr lang="en-US" sz="2000" dirty="0">
                <a:latin typeface="Comic Sans MS" panose="030F0702030302020204" pitchFamily="66" charset="0"/>
              </a:rPr>
              <a:t>- The rest time for R/W = 64ms – 0.25 </a:t>
            </a:r>
            <a:r>
              <a:rPr lang="en-US" sz="2000" dirty="0" err="1">
                <a:latin typeface="Comic Sans MS" panose="030F0702030302020204" pitchFamily="66" charset="0"/>
              </a:rPr>
              <a:t>ms</a:t>
            </a:r>
            <a:r>
              <a:rPr lang="en-US" sz="2000" dirty="0">
                <a:latin typeface="Comic Sans MS" panose="030F0702030302020204" pitchFamily="66" charset="0"/>
              </a:rPr>
              <a:t> = 63.75 </a:t>
            </a:r>
            <a:r>
              <a:rPr lang="en-US" sz="2000" dirty="0" err="1">
                <a:latin typeface="Comic Sans MS" panose="030F0702030302020204" pitchFamily="66" charset="0"/>
              </a:rPr>
              <a:t>ms</a:t>
            </a:r>
            <a:endParaRPr lang="en-US" sz="2000" dirty="0">
              <a:latin typeface="Comic Sans MS" panose="030F0702030302020204" pitchFamily="66" charset="0"/>
            </a:endParaRPr>
          </a:p>
          <a:p>
            <a:pPr marL="0" indent="0">
              <a:buNone/>
            </a:pPr>
            <a:r>
              <a:rPr lang="en-US" sz="2000" dirty="0">
                <a:latin typeface="Comic Sans MS" panose="030F0702030302020204" pitchFamily="66" charset="0"/>
              </a:rPr>
              <a:t>The DRAM controller must initiate 4096 refreshes sequentially every 64 </a:t>
            </a:r>
            <a:r>
              <a:rPr lang="en-US" sz="2000" dirty="0" err="1">
                <a:latin typeface="Comic Sans MS" panose="030F0702030302020204" pitchFamily="66" charset="0"/>
              </a:rPr>
              <a:t>ms</a:t>
            </a:r>
            <a:r>
              <a:rPr lang="en-US" sz="2000" dirty="0">
                <a:latin typeface="Comic Sans MS" panose="030F0702030302020204" pitchFamily="66" charset="0"/>
              </a:rPr>
              <a:t> for burst refresh.</a:t>
            </a:r>
          </a:p>
          <a:p>
            <a:pPr marL="0" indent="0" algn="l" rtl="0">
              <a:buNone/>
            </a:pPr>
            <a:endParaRPr lang="en-US" sz="2000" dirty="0">
              <a:latin typeface="Comic Sans MS" panose="030F0702030302020204" pitchFamily="66" charset="0"/>
            </a:endParaRPr>
          </a:p>
          <a:p>
            <a:pPr marL="0" indent="0" algn="l" rtl="0">
              <a:buNone/>
            </a:pPr>
            <a:r>
              <a:rPr lang="en-US" sz="2000" dirty="0">
                <a:latin typeface="Comic Sans MS" panose="030F0702030302020204" pitchFamily="66" charset="0"/>
              </a:rPr>
              <a:t>	</a:t>
            </a:r>
            <a:endParaRPr lang="ar-EG" sz="2000" dirty="0">
              <a:latin typeface="Comic Sans MS" panose="030F0702030302020204" pitchFamily="66" charset="0"/>
            </a:endParaRPr>
          </a:p>
        </p:txBody>
      </p:sp>
      <p:sp>
        <p:nvSpPr>
          <p:cNvPr id="5" name="TextBox 4">
            <a:extLst>
              <a:ext uri="{FF2B5EF4-FFF2-40B4-BE49-F238E27FC236}">
                <a16:creationId xmlns:a16="http://schemas.microsoft.com/office/drawing/2014/main" id="{598E1718-84D3-66A4-E163-3710F3A43397}"/>
              </a:ext>
            </a:extLst>
          </p:cNvPr>
          <p:cNvSpPr txBox="1"/>
          <p:nvPr/>
        </p:nvSpPr>
        <p:spPr>
          <a:xfrm>
            <a:off x="2065020" y="2947154"/>
            <a:ext cx="3486852" cy="338554"/>
          </a:xfrm>
          <a:prstGeom prst="rect">
            <a:avLst/>
          </a:prstGeom>
          <a:noFill/>
        </p:spPr>
        <p:txBody>
          <a:bodyPr wrap="none" rtlCol="0">
            <a:spAutoFit/>
          </a:bodyPr>
          <a:lstStyle/>
          <a:p>
            <a:r>
              <a:rPr lang="en-US" sz="1600" dirty="0">
                <a:solidFill>
                  <a:schemeClr val="accent2"/>
                </a:solidFill>
                <a:latin typeface="Baguet Script" panose="00000500000000000000" pitchFamily="2" charset="0"/>
              </a:rPr>
              <a:t>4M × 4  = 2^24 &gt;&gt;</a:t>
            </a:r>
            <a:r>
              <a:rPr lang="en-US" sz="1600" dirty="0" err="1">
                <a:solidFill>
                  <a:schemeClr val="accent2"/>
                </a:solidFill>
                <a:latin typeface="Baguet Script" panose="00000500000000000000" pitchFamily="2" charset="0"/>
              </a:rPr>
              <a:t>sqr</a:t>
            </a:r>
            <a:r>
              <a:rPr lang="en-US" sz="1600" dirty="0">
                <a:solidFill>
                  <a:schemeClr val="accent2"/>
                </a:solidFill>
                <a:latin typeface="Baguet Script" panose="00000500000000000000" pitchFamily="2" charset="0"/>
              </a:rPr>
              <a:t>(ANS)&gt;&gt;/2&gt;&gt; rows</a:t>
            </a:r>
          </a:p>
        </p:txBody>
      </p:sp>
    </p:spTree>
    <p:extLst>
      <p:ext uri="{BB962C8B-B14F-4D97-AF65-F5344CB8AC3E}">
        <p14:creationId xmlns:p14="http://schemas.microsoft.com/office/powerpoint/2010/main" val="2920532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48C1-FE2D-4888-8A09-277A2D18EEC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321907CD-9E0C-45AB-9FF7-74D2EB862269}"/>
              </a:ext>
            </a:extLst>
          </p:cNvPr>
          <p:cNvSpPr>
            <a:spLocks noGrp="1"/>
          </p:cNvSpPr>
          <p:nvPr>
            <p:ph idx="1"/>
          </p:nvPr>
        </p:nvSpPr>
        <p:spPr/>
        <p:txBody>
          <a:bodyPr>
            <a:normAutofit fontScale="92500"/>
          </a:bodyPr>
          <a:lstStyle/>
          <a:p>
            <a:pPr marL="0" indent="0" algn="l" rtl="0">
              <a:buNone/>
            </a:pPr>
            <a:r>
              <a:rPr lang="en-US" dirty="0">
                <a:solidFill>
                  <a:schemeClr val="accent1"/>
                </a:solidFill>
                <a:latin typeface="Comic Sans MS" panose="030F0702030302020204" pitchFamily="66" charset="0"/>
              </a:rPr>
              <a:t>B- Distributed Refreshment</a:t>
            </a:r>
          </a:p>
          <a:p>
            <a:pPr algn="l" rtl="0">
              <a:buFontTx/>
              <a:buChar char="-"/>
            </a:pPr>
            <a:r>
              <a:rPr lang="en-US" dirty="0">
                <a:latin typeface="Comic Sans MS" panose="030F0702030302020204" pitchFamily="66" charset="0"/>
              </a:rPr>
              <a:t>the refresh interval for distributed refresh = 64 </a:t>
            </a:r>
            <a:r>
              <a:rPr lang="en-US" dirty="0" err="1">
                <a:latin typeface="Comic Sans MS" panose="030F0702030302020204" pitchFamily="66" charset="0"/>
              </a:rPr>
              <a:t>ms</a:t>
            </a:r>
            <a:r>
              <a:rPr lang="en-US" dirty="0">
                <a:latin typeface="Comic Sans MS" panose="030F0702030302020204" pitchFamily="66" charset="0"/>
              </a:rPr>
              <a:t>/4096 = 15.6 microseconds (</a:t>
            </a:r>
            <a:r>
              <a:rPr lang="en-US" dirty="0" err="1">
                <a:latin typeface="Comic Sans MS" panose="030F0702030302020204" pitchFamily="66" charset="0"/>
              </a:rPr>
              <a:t>μs</a:t>
            </a:r>
            <a:r>
              <a:rPr lang="en-US" dirty="0">
                <a:latin typeface="Comic Sans MS" panose="030F0702030302020204" pitchFamily="66" charset="0"/>
              </a:rPr>
              <a:t>).</a:t>
            </a:r>
          </a:p>
          <a:p>
            <a:pPr algn="l" rtl="0">
              <a:buFontTx/>
              <a:buChar char="-"/>
            </a:pPr>
            <a:r>
              <a:rPr lang="en-US" dirty="0">
                <a:latin typeface="Comic Sans MS" panose="030F0702030302020204" pitchFamily="66" charset="0"/>
              </a:rPr>
              <a:t>Time R/W = 15.6 </a:t>
            </a:r>
            <a:r>
              <a:rPr lang="en-US" dirty="0" err="1">
                <a:latin typeface="Comic Sans MS" panose="030F0702030302020204" pitchFamily="66" charset="0"/>
              </a:rPr>
              <a:t>μs</a:t>
            </a:r>
            <a:r>
              <a:rPr lang="en-US" dirty="0">
                <a:latin typeface="Comic Sans MS" panose="030F0702030302020204" pitchFamily="66" charset="0"/>
              </a:rPr>
              <a:t> – 60 ns</a:t>
            </a:r>
          </a:p>
          <a:p>
            <a:pPr marL="0" indent="0" algn="l" rtl="0">
              <a:buNone/>
            </a:pPr>
            <a:r>
              <a:rPr lang="en-US" dirty="0">
                <a:latin typeface="Comic Sans MS" panose="030F0702030302020204" pitchFamily="66" charset="0"/>
              </a:rPr>
              <a:t>- The DRAM controller must initiate a refresh every 15.6 </a:t>
            </a:r>
            <a:r>
              <a:rPr lang="en-US" dirty="0" err="1">
                <a:latin typeface="Comic Sans MS" panose="030F0702030302020204" pitchFamily="66" charset="0"/>
              </a:rPr>
              <a:t>μs</a:t>
            </a:r>
            <a:r>
              <a:rPr lang="en-US" dirty="0">
                <a:latin typeface="Comic Sans MS" panose="030F0702030302020204" pitchFamily="66" charset="0"/>
              </a:rPr>
              <a:t> for 	distributed refresh </a:t>
            </a:r>
          </a:p>
          <a:p>
            <a:pPr marL="0" indent="0" algn="l" rtl="0">
              <a:buNone/>
            </a:pPr>
            <a:endParaRPr lang="en-US" dirty="0">
              <a:latin typeface="Comic Sans MS" panose="030F0702030302020204" pitchFamily="66" charset="0"/>
            </a:endParaRPr>
          </a:p>
          <a:p>
            <a:pPr marL="0" indent="0" algn="l" rtl="0">
              <a:buNone/>
            </a:pPr>
            <a:r>
              <a:rPr lang="en-US" dirty="0">
                <a:latin typeface="Comic Sans MS" panose="030F0702030302020204" pitchFamily="66" charset="0"/>
              </a:rPr>
              <a:t>Since use of burst refresh would halt computer operation for a fairly long period, distributed refresh is more commonly used.</a:t>
            </a:r>
            <a:endParaRPr lang="ar-EG" dirty="0">
              <a:latin typeface="Comic Sans MS" panose="030F0702030302020204" pitchFamily="66" charset="0"/>
            </a:endParaRPr>
          </a:p>
          <a:p>
            <a:pPr algn="l" rtl="0"/>
            <a:endParaRPr lang="en-US" dirty="0"/>
          </a:p>
        </p:txBody>
      </p:sp>
    </p:spTree>
    <p:extLst>
      <p:ext uri="{BB962C8B-B14F-4D97-AF65-F5344CB8AC3E}">
        <p14:creationId xmlns:p14="http://schemas.microsoft.com/office/powerpoint/2010/main" val="103310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rtl="0"/>
            <a:r>
              <a:rPr lang="en-US" b="1" dirty="0"/>
              <a:t>Assignment</a:t>
            </a:r>
            <a:endParaRPr lang="ar-EG" b="1" dirty="0"/>
          </a:p>
        </p:txBody>
      </p:sp>
      <p:sp>
        <p:nvSpPr>
          <p:cNvPr id="3" name="Content Placeholder 2"/>
          <p:cNvSpPr>
            <a:spLocks noGrp="1"/>
          </p:cNvSpPr>
          <p:nvPr>
            <p:ph idx="1"/>
          </p:nvPr>
        </p:nvSpPr>
        <p:spPr/>
        <p:txBody>
          <a:bodyPr>
            <a:normAutofit/>
          </a:bodyPr>
          <a:lstStyle/>
          <a:p>
            <a:pPr algn="l" rtl="0"/>
            <a:r>
              <a:rPr lang="en-US" sz="3200" dirty="0"/>
              <a:t>The refresh cycle is similar to READ cycle, but executing faster, Why?</a:t>
            </a:r>
            <a:endParaRPr lang="ar-EG" sz="3200" dirty="0"/>
          </a:p>
        </p:txBody>
      </p:sp>
    </p:spTree>
    <p:extLst>
      <p:ext uri="{BB962C8B-B14F-4D97-AF65-F5344CB8AC3E}">
        <p14:creationId xmlns:p14="http://schemas.microsoft.com/office/powerpoint/2010/main" val="3316491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b="1" dirty="0"/>
              <a:t>Sheet</a:t>
            </a:r>
            <a:endParaRPr lang="ar-EG" b="1" dirty="0"/>
          </a:p>
        </p:txBody>
      </p:sp>
      <p:sp>
        <p:nvSpPr>
          <p:cNvPr id="3" name="Content Placeholder 2"/>
          <p:cNvSpPr>
            <a:spLocks noGrp="1"/>
          </p:cNvSpPr>
          <p:nvPr>
            <p:ph idx="1"/>
          </p:nvPr>
        </p:nvSpPr>
        <p:spPr/>
        <p:txBody>
          <a:bodyPr/>
          <a:lstStyle/>
          <a:p>
            <a:pPr algn="l" rtl="0"/>
            <a:r>
              <a:rPr lang="en-US" dirty="0"/>
              <a:t>Text book</a:t>
            </a:r>
            <a:endParaRPr lang="ar-EG" dirty="0"/>
          </a:p>
        </p:txBody>
      </p:sp>
    </p:spTree>
    <p:extLst>
      <p:ext uri="{BB962C8B-B14F-4D97-AF65-F5344CB8AC3E}">
        <p14:creationId xmlns:p14="http://schemas.microsoft.com/office/powerpoint/2010/main" val="20062078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808</TotalTime>
  <Words>1791</Words>
  <Application>Microsoft Office PowerPoint</Application>
  <PresentationFormat>On-screen Show (4:3)</PresentationFormat>
  <Paragraphs>201</Paragraphs>
  <Slides>28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ADLaM Display</vt:lpstr>
      <vt:lpstr>Algerian</vt:lpstr>
      <vt:lpstr>Arial</vt:lpstr>
      <vt:lpstr>Baguet Script</vt:lpstr>
      <vt:lpstr>Calibri</vt:lpstr>
      <vt:lpstr>Calibri Light</vt:lpstr>
      <vt:lpstr>Cambria Math</vt:lpstr>
      <vt:lpstr>Comic Sans MS</vt:lpstr>
      <vt:lpstr>MathematicalPi 1</vt:lpstr>
      <vt:lpstr>TimesTen</vt:lpstr>
      <vt:lpstr>Wingdings</vt:lpstr>
      <vt:lpstr>Office Theme</vt:lpstr>
      <vt:lpstr>Lecture 3 </vt:lpstr>
      <vt:lpstr>Introduction</vt:lpstr>
      <vt:lpstr>DRAM Cell</vt:lpstr>
      <vt:lpstr>Cont.,</vt:lpstr>
      <vt:lpstr>Cont.,</vt:lpstr>
      <vt:lpstr>Destructive &amp; Non Destructive Memory Readout</vt:lpstr>
      <vt:lpstr>Dynamic RAM - Bit Slice Model</vt:lpstr>
      <vt:lpstr>Block Diagram of a DRAM</vt:lpstr>
      <vt:lpstr>How to handle addressing in DRAMs</vt:lpstr>
      <vt:lpstr>Cont.,</vt:lpstr>
      <vt:lpstr>Control signals</vt:lpstr>
      <vt:lpstr>Handle Row Address</vt:lpstr>
      <vt:lpstr>Handle Column Address</vt:lpstr>
      <vt:lpstr>For Write Operation</vt:lpstr>
      <vt:lpstr>PowerPoint Presentation</vt:lpstr>
      <vt:lpstr>For READ Operation</vt:lpstr>
      <vt:lpstr>Dynamic RAM Read Timing </vt:lpstr>
      <vt:lpstr>Memory Refresh</vt:lpstr>
      <vt:lpstr>Cont.,</vt:lpstr>
      <vt:lpstr>Block Diagram of a DRAM Including Refresh Logic</vt:lpstr>
      <vt:lpstr>How Refresh Works?</vt:lpstr>
      <vt:lpstr>The standard triggering ways</vt:lpstr>
      <vt:lpstr>Cont.,</vt:lpstr>
      <vt:lpstr>Refreshing Types</vt:lpstr>
      <vt:lpstr>Example</vt:lpstr>
      <vt:lpstr>Cont.,</vt:lpstr>
      <vt:lpstr>Assignment</vt:lpstr>
      <vt:lpstr>Sheet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Diaa Ali Mohammed</cp:lastModifiedBy>
  <cp:revision>87</cp:revision>
  <dcterms:created xsi:type="dcterms:W3CDTF">2019-10-14T22:00:45Z</dcterms:created>
  <dcterms:modified xsi:type="dcterms:W3CDTF">2024-11-14T21:44:30Z</dcterms:modified>
</cp:coreProperties>
</file>