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6" r:id="rId2"/>
    <p:sldId id="287" r:id="rId3"/>
    <p:sldId id="288" r:id="rId4"/>
    <p:sldId id="307" r:id="rId5"/>
    <p:sldId id="309" r:id="rId6"/>
    <p:sldId id="310"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289" r:id="rId21"/>
    <p:sldId id="290" r:id="rId22"/>
    <p:sldId id="259" r:id="rId23"/>
    <p:sldId id="260" r:id="rId24"/>
    <p:sldId id="262" r:id="rId25"/>
    <p:sldId id="258" r:id="rId26"/>
    <p:sldId id="263" r:id="rId27"/>
    <p:sldId id="269" r:id="rId28"/>
    <p:sldId id="265" r:id="rId29"/>
    <p:sldId id="264" r:id="rId30"/>
    <p:sldId id="268" r:id="rId31"/>
    <p:sldId id="266" r:id="rId32"/>
    <p:sldId id="267" r:id="rId33"/>
    <p:sldId id="270" r:id="rId34"/>
    <p:sldId id="271" r:id="rId35"/>
    <p:sldId id="272" r:id="rId36"/>
    <p:sldId id="273" r:id="rId37"/>
    <p:sldId id="274" r:id="rId38"/>
    <p:sldId id="275" r:id="rId39"/>
    <p:sldId id="291" r:id="rId40"/>
    <p:sldId id="292" r:id="rId41"/>
    <p:sldId id="297" r:id="rId42"/>
    <p:sldId id="276" r:id="rId43"/>
    <p:sldId id="277" r:id="rId44"/>
    <p:sldId id="298" r:id="rId45"/>
    <p:sldId id="299" r:id="rId46"/>
    <p:sldId id="300" r:id="rId47"/>
    <p:sldId id="279" r:id="rId48"/>
    <p:sldId id="293" r:id="rId49"/>
    <p:sldId id="281" r:id="rId50"/>
    <p:sldId id="282" r:id="rId51"/>
    <p:sldId id="283" r:id="rId52"/>
    <p:sldId id="284" r:id="rId53"/>
    <p:sldId id="294" r:id="rId54"/>
    <p:sldId id="295" r:id="rId55"/>
    <p:sldId id="296" r:id="rId56"/>
    <p:sldId id="286"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123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0327C-4C5B-4AF7-831D-A334084DB4D3}" type="datetimeFigureOut">
              <a:rPr lang="en-US" smtClean="0"/>
              <a:t>11/2/2024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01DDC-C37C-472A-A92E-45CFB210CEA7}" type="slidenum">
              <a:rPr lang="en-US" smtClean="0"/>
              <a:t>‹#›</a:t>
            </a:fld>
            <a:endParaRPr lang="en-US"/>
          </a:p>
        </p:txBody>
      </p:sp>
    </p:spTree>
    <p:extLst>
      <p:ext uri="{BB962C8B-B14F-4D97-AF65-F5344CB8AC3E}">
        <p14:creationId xmlns:p14="http://schemas.microsoft.com/office/powerpoint/2010/main" val="253901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x =0, when A changed to 1 in the next state, also at x =1.</a:t>
            </a:r>
          </a:p>
        </p:txBody>
      </p:sp>
      <p:sp>
        <p:nvSpPr>
          <p:cNvPr id="4" name="Slide Number Placeholder 3"/>
          <p:cNvSpPr>
            <a:spLocks noGrp="1"/>
          </p:cNvSpPr>
          <p:nvPr>
            <p:ph type="sldNum" sz="quarter" idx="5"/>
          </p:nvPr>
        </p:nvSpPr>
        <p:spPr/>
        <p:txBody>
          <a:bodyPr/>
          <a:lstStyle/>
          <a:p>
            <a:fld id="{4D56EEF6-CAA0-4B8D-AC3A-78C7CD7314D8}" type="slidenum">
              <a:rPr lang="en-US" smtClean="0"/>
              <a:t>17</a:t>
            </a:fld>
            <a:endParaRPr lang="en-US"/>
          </a:p>
        </p:txBody>
      </p:sp>
    </p:spTree>
    <p:extLst>
      <p:ext uri="{BB962C8B-B14F-4D97-AF65-F5344CB8AC3E}">
        <p14:creationId xmlns:p14="http://schemas.microsoft.com/office/powerpoint/2010/main" val="4047766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EF9CD9-EA22-487B-B3DD-448F05918370}"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700122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EF9CD9-EA22-487B-B3DD-448F05918370}"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3336263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EF9CD9-EA22-487B-B3DD-448F05918370}"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3718507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EF9CD9-EA22-487B-B3DD-448F05918370}" type="datetimeFigureOut">
              <a:rPr lang="en-US" smtClean="0"/>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2909978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EF9CD9-EA22-487B-B3DD-448F05918370}" type="datetimeFigureOut">
              <a:rPr lang="en-US" smtClean="0"/>
              <a:t>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17936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EF9CD9-EA22-487B-B3DD-448F05918370}" type="datetimeFigureOut">
              <a:rPr lang="en-US" smtClean="0"/>
              <a:t>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3648294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EF9CD9-EA22-487B-B3DD-448F05918370}" type="datetimeFigureOut">
              <a:rPr lang="en-US" smtClean="0"/>
              <a:t>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3149663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EF9CD9-EA22-487B-B3DD-448F05918370}" type="datetimeFigureOut">
              <a:rPr lang="en-US" smtClean="0"/>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912154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EF9CD9-EA22-487B-B3DD-448F05918370}" type="datetimeFigureOut">
              <a:rPr lang="en-US" smtClean="0"/>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94628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EF9CD9-EA22-487B-B3DD-448F05918370}"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415481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EF9CD9-EA22-487B-B3DD-448F05918370}"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762792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F9CD9-EA22-487B-B3DD-448F05918370}" type="datetimeFigureOut">
              <a:rPr lang="en-US" smtClean="0"/>
              <a:t>11/2/2024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CBCA81-F5A0-488E-B0EE-741131F719EB}" type="slidenum">
              <a:rPr lang="en-US" smtClean="0"/>
              <a:t>‹#›</a:t>
            </a:fld>
            <a:endParaRPr lang="en-US"/>
          </a:p>
        </p:txBody>
      </p:sp>
    </p:spTree>
    <p:extLst>
      <p:ext uri="{BB962C8B-B14F-4D97-AF65-F5344CB8AC3E}">
        <p14:creationId xmlns:p14="http://schemas.microsoft.com/office/powerpoint/2010/main" val="22789906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1.emf"/><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447824-E423-4A48-80CB-DFBD6B2AE6D7}"/>
              </a:ext>
            </a:extLst>
          </p:cNvPr>
          <p:cNvSpPr>
            <a:spLocks noGrp="1"/>
          </p:cNvSpPr>
          <p:nvPr>
            <p:ph type="ctrTitle"/>
          </p:nvPr>
        </p:nvSpPr>
        <p:spPr/>
        <p:txBody>
          <a:bodyPr/>
          <a:lstStyle/>
          <a:p>
            <a:r>
              <a:rPr lang="en-US" b="1" dirty="0"/>
              <a:t>Lecture</a:t>
            </a:r>
            <a:r>
              <a:rPr lang="en-US" dirty="0"/>
              <a:t> </a:t>
            </a:r>
            <a:r>
              <a:rPr lang="en-US" b="1" dirty="0"/>
              <a:t>6</a:t>
            </a:r>
          </a:p>
        </p:txBody>
      </p:sp>
      <p:sp>
        <p:nvSpPr>
          <p:cNvPr id="3" name="Subtitle 2">
            <a:extLst>
              <a:ext uri="{FF2B5EF4-FFF2-40B4-BE49-F238E27FC236}">
                <a16:creationId xmlns:a16="http://schemas.microsoft.com/office/drawing/2014/main" xmlns="" id="{3AEE22BD-1334-48F2-8F24-B7774B2DBFF5}"/>
              </a:ext>
            </a:extLst>
          </p:cNvPr>
          <p:cNvSpPr>
            <a:spLocks noGrp="1"/>
          </p:cNvSpPr>
          <p:nvPr>
            <p:ph type="subTitle" idx="1"/>
          </p:nvPr>
        </p:nvSpPr>
        <p:spPr/>
        <p:txBody>
          <a:bodyPr>
            <a:normAutofit/>
          </a:bodyPr>
          <a:lstStyle/>
          <a:p>
            <a:r>
              <a:rPr lang="en-US" sz="3600" dirty="0">
                <a:solidFill>
                  <a:srgbClr val="FF0000"/>
                </a:solidFill>
              </a:rPr>
              <a:t>Register Transfers </a:t>
            </a:r>
          </a:p>
        </p:txBody>
      </p:sp>
    </p:spTree>
    <p:extLst>
      <p:ext uri="{BB962C8B-B14F-4D97-AF65-F5344CB8AC3E}">
        <p14:creationId xmlns:p14="http://schemas.microsoft.com/office/powerpoint/2010/main" val="3798683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B01163-BDEB-4A28-A1D1-08F4AD715828}"/>
              </a:ext>
            </a:extLst>
          </p:cNvPr>
          <p:cNvSpPr>
            <a:spLocks noGrp="1"/>
          </p:cNvSpPr>
          <p:nvPr>
            <p:ph type="title"/>
          </p:nvPr>
        </p:nvSpPr>
        <p:spPr/>
        <p:txBody>
          <a:bodyPr/>
          <a:lstStyle/>
          <a:p>
            <a:r>
              <a:rPr lang="en-US" b="1" dirty="0" smtClean="0">
                <a:solidFill>
                  <a:srgbClr val="FF0000"/>
                </a:solidFill>
              </a:rPr>
              <a:t>Background</a:t>
            </a:r>
            <a:endParaRPr lang="en-US" b="1" dirty="0">
              <a:solidFill>
                <a:srgbClr val="FF0000"/>
              </a:solidFill>
            </a:endParaRPr>
          </a:p>
        </p:txBody>
      </p:sp>
      <p:sp>
        <p:nvSpPr>
          <p:cNvPr id="3" name="Content Placeholder 2">
            <a:extLst>
              <a:ext uri="{FF2B5EF4-FFF2-40B4-BE49-F238E27FC236}">
                <a16:creationId xmlns:a16="http://schemas.microsoft.com/office/drawing/2014/main" xmlns="" id="{1BA3D22C-589E-4BE3-BEFE-5867BB98DC6C}"/>
              </a:ext>
            </a:extLst>
          </p:cNvPr>
          <p:cNvSpPr>
            <a:spLocks noGrp="1"/>
          </p:cNvSpPr>
          <p:nvPr>
            <p:ph idx="1"/>
          </p:nvPr>
        </p:nvSpPr>
        <p:spPr/>
        <p:txBody>
          <a:bodyPr>
            <a:normAutofit/>
          </a:bodyPr>
          <a:lstStyle/>
          <a:p>
            <a:r>
              <a:rPr lang="en-US" sz="2400" dirty="0" smtClean="0"/>
              <a:t>The </a:t>
            </a:r>
            <a:r>
              <a:rPr lang="en-US" sz="2400" dirty="0"/>
              <a:t>term </a:t>
            </a:r>
            <a:r>
              <a:rPr lang="en-US" sz="2400" i="1" dirty="0"/>
              <a:t>register </a:t>
            </a:r>
            <a:r>
              <a:rPr lang="en-US" sz="2400" dirty="0"/>
              <a:t>is applied to a set of flip-flops, possibly with added combinational gates, that perform data-processing tasks. </a:t>
            </a:r>
            <a:endParaRPr lang="en-US" sz="2400" b="0" i="0" u="none" strike="noStrike" baseline="0" dirty="0" smtClean="0"/>
          </a:p>
          <a:p>
            <a:pPr algn="l"/>
            <a:r>
              <a:rPr lang="en-US" sz="2400" b="0" i="0" u="none" strike="noStrike" baseline="0" dirty="0" smtClean="0"/>
              <a:t>Since </a:t>
            </a:r>
            <a:r>
              <a:rPr lang="en-US" sz="2400" b="0" i="0" u="none" strike="noStrike" baseline="0" dirty="0"/>
              <a:t>each flip-flop is capable of storing one bit of information, an </a:t>
            </a:r>
            <a:r>
              <a:rPr lang="en-US" sz="2400" b="0" i="1" u="none" strike="noStrike" baseline="0" dirty="0"/>
              <a:t>n</a:t>
            </a:r>
            <a:r>
              <a:rPr lang="en-US" sz="2400" b="0" i="0" u="none" strike="noStrike" baseline="0" dirty="0"/>
              <a:t>-bit register, composed of </a:t>
            </a:r>
            <a:r>
              <a:rPr lang="en-US" sz="2400" b="0" i="1" u="none" strike="noStrike" baseline="0" dirty="0"/>
              <a:t>n </a:t>
            </a:r>
            <a:r>
              <a:rPr lang="en-US" sz="2400" b="0" i="0" u="none" strike="noStrike" baseline="0" dirty="0"/>
              <a:t>flip-flops, is capable of storing </a:t>
            </a:r>
            <a:r>
              <a:rPr lang="en-US" sz="2400" b="0" i="1" u="none" strike="noStrike" baseline="0" dirty="0"/>
              <a:t>n </a:t>
            </a:r>
            <a:r>
              <a:rPr lang="en-US" sz="2400" b="0" i="0" u="none" strike="noStrike" baseline="0" dirty="0"/>
              <a:t>bits of binary information.</a:t>
            </a:r>
          </a:p>
          <a:p>
            <a:pPr algn="l"/>
            <a:r>
              <a:rPr lang="en-US" sz="2400" b="0" i="0" u="none" strike="noStrike" baseline="0" dirty="0" smtClean="0"/>
              <a:t>The </a:t>
            </a:r>
            <a:r>
              <a:rPr lang="en-US" sz="2400" b="0" i="0" u="none" strike="noStrike" baseline="0" dirty="0"/>
              <a:t>flip-flops hold data, and the gates determine the new or transformed data to be transferred into the flip-flops.</a:t>
            </a:r>
          </a:p>
          <a:p>
            <a:pPr algn="l"/>
            <a:endParaRPr lang="en-US" sz="2400" b="0" i="0" u="none" strike="noStrike" baseline="0" dirty="0"/>
          </a:p>
          <a:p>
            <a:pPr algn="l"/>
            <a:endParaRPr lang="en-US" sz="2400" dirty="0"/>
          </a:p>
        </p:txBody>
      </p:sp>
    </p:spTree>
    <p:extLst>
      <p:ext uri="{BB962C8B-B14F-4D97-AF65-F5344CB8AC3E}">
        <p14:creationId xmlns:p14="http://schemas.microsoft.com/office/powerpoint/2010/main" val="845458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DA466B-043B-4C00-82CE-ED073C05484C}"/>
              </a:ext>
            </a:extLst>
          </p:cNvPr>
          <p:cNvSpPr>
            <a:spLocks noGrp="1"/>
          </p:cNvSpPr>
          <p:nvPr>
            <p:ph type="title"/>
          </p:nvPr>
        </p:nvSpPr>
        <p:spPr>
          <a:xfrm>
            <a:off x="628650" y="365126"/>
            <a:ext cx="7886700" cy="814317"/>
          </a:xfrm>
        </p:spPr>
        <p:txBody>
          <a:bodyPr/>
          <a:lstStyle/>
          <a:p>
            <a:r>
              <a:rPr lang="en-US" dirty="0"/>
              <a:t>Cont.,</a:t>
            </a:r>
          </a:p>
        </p:txBody>
      </p:sp>
      <p:sp>
        <p:nvSpPr>
          <p:cNvPr id="3" name="Content Placeholder 2">
            <a:extLst>
              <a:ext uri="{FF2B5EF4-FFF2-40B4-BE49-F238E27FC236}">
                <a16:creationId xmlns:a16="http://schemas.microsoft.com/office/drawing/2014/main" xmlns="" id="{3C80C476-F7E7-45F3-B995-E023B0B1BAB4}"/>
              </a:ext>
            </a:extLst>
          </p:cNvPr>
          <p:cNvSpPr>
            <a:spLocks noGrp="1"/>
          </p:cNvSpPr>
          <p:nvPr>
            <p:ph idx="1"/>
          </p:nvPr>
        </p:nvSpPr>
        <p:spPr>
          <a:xfrm>
            <a:off x="628650" y="1364974"/>
            <a:ext cx="7886700" cy="4811989"/>
          </a:xfrm>
        </p:spPr>
        <p:txBody>
          <a:bodyPr>
            <a:noAutofit/>
          </a:bodyPr>
          <a:lstStyle/>
          <a:p>
            <a:pPr algn="l"/>
            <a:r>
              <a:rPr lang="en-US" sz="2400" b="0" i="0" u="none" strike="noStrike" baseline="0" dirty="0"/>
              <a:t>A </a:t>
            </a:r>
            <a:r>
              <a:rPr lang="en-US" sz="2400" b="0" i="1" u="none" strike="noStrike" baseline="0" dirty="0"/>
              <a:t>counter </a:t>
            </a:r>
            <a:r>
              <a:rPr lang="en-US" sz="2400" b="0" i="0" u="none" strike="noStrike" baseline="0" dirty="0"/>
              <a:t>is a register that goes through a predetermined sequence of states upon the application of clock pulses. </a:t>
            </a:r>
          </a:p>
          <a:p>
            <a:pPr algn="l"/>
            <a:r>
              <a:rPr lang="en-US" sz="2400" b="0" i="0" u="none" strike="noStrike" baseline="0" dirty="0"/>
              <a:t>The gates in the counter are connected in a way that produces the prescribed sequence of binary states. </a:t>
            </a:r>
          </a:p>
          <a:p>
            <a:pPr algn="l"/>
            <a:r>
              <a:rPr lang="en-US" sz="2400" b="0" i="0" u="none" strike="noStrike" baseline="0" dirty="0"/>
              <a:t>Although counters are a special type of registers, it is common to differentiate them from registers.</a:t>
            </a:r>
          </a:p>
          <a:p>
            <a:pPr algn="l"/>
            <a:r>
              <a:rPr lang="en-US" sz="2400" b="0" i="0" u="none" strike="noStrike" baseline="0" dirty="0"/>
              <a:t>Registers and counters are sequential functional blocks that are used extensively in the design of digital systems in general and in digital computers in particular.</a:t>
            </a:r>
          </a:p>
        </p:txBody>
      </p:sp>
    </p:spTree>
    <p:extLst>
      <p:ext uri="{BB962C8B-B14F-4D97-AF65-F5344CB8AC3E}">
        <p14:creationId xmlns:p14="http://schemas.microsoft.com/office/powerpoint/2010/main" val="3530789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3074FF-B487-4335-8F4B-F62B875693CA}"/>
              </a:ext>
            </a:extLst>
          </p:cNvPr>
          <p:cNvSpPr>
            <a:spLocks noGrp="1"/>
          </p:cNvSpPr>
          <p:nvPr>
            <p:ph type="title"/>
          </p:nvPr>
        </p:nvSpPr>
        <p:spPr/>
        <p:txBody>
          <a:bodyPr/>
          <a:lstStyle/>
          <a:p>
            <a:r>
              <a:rPr lang="en-US" b="1" i="1" dirty="0">
                <a:solidFill>
                  <a:schemeClr val="tx2"/>
                </a:solidFill>
              </a:rPr>
              <a:t>SR  </a:t>
            </a:r>
            <a:r>
              <a:rPr lang="en-US" b="1" dirty="0">
                <a:solidFill>
                  <a:schemeClr val="tx2"/>
                </a:solidFill>
              </a:rPr>
              <a:t>Latch</a:t>
            </a:r>
            <a:endParaRPr lang="en-US" dirty="0">
              <a:solidFill>
                <a:schemeClr val="tx2"/>
              </a:solidFill>
            </a:endParaRPr>
          </a:p>
        </p:txBody>
      </p:sp>
      <p:sp>
        <p:nvSpPr>
          <p:cNvPr id="3" name="Content Placeholder 2">
            <a:extLst>
              <a:ext uri="{FF2B5EF4-FFF2-40B4-BE49-F238E27FC236}">
                <a16:creationId xmlns:a16="http://schemas.microsoft.com/office/drawing/2014/main" xmlns="" id="{33F84430-9AAF-4561-859A-0ADF80824BAD}"/>
              </a:ext>
            </a:extLst>
          </p:cNvPr>
          <p:cNvSpPr>
            <a:spLocks noGrp="1"/>
          </p:cNvSpPr>
          <p:nvPr>
            <p:ph idx="1"/>
          </p:nvPr>
        </p:nvSpPr>
        <p:spPr/>
        <p:txBody>
          <a:bodyPr/>
          <a:lstStyle/>
          <a:p>
            <a:r>
              <a:rPr lang="en-US" dirty="0"/>
              <a:t>The </a:t>
            </a:r>
            <a:r>
              <a:rPr lang="en-US" i="1" dirty="0"/>
              <a:t>SR </a:t>
            </a:r>
            <a:r>
              <a:rPr lang="en-US" dirty="0"/>
              <a:t>latch is a circuit constructed from two cross-coupled NOR gates.</a:t>
            </a:r>
          </a:p>
          <a:p>
            <a:endParaRPr lang="en-US" dirty="0"/>
          </a:p>
        </p:txBody>
      </p:sp>
      <p:pic>
        <p:nvPicPr>
          <p:cNvPr id="4" name="Picture 3">
            <a:extLst>
              <a:ext uri="{FF2B5EF4-FFF2-40B4-BE49-F238E27FC236}">
                <a16:creationId xmlns:a16="http://schemas.microsoft.com/office/drawing/2014/main" xmlns="" id="{9E3713CA-4BCB-4745-AA0E-A2B11ACD01DC}"/>
              </a:ext>
            </a:extLst>
          </p:cNvPr>
          <p:cNvPicPr>
            <a:picLocks noChangeAspect="1"/>
          </p:cNvPicPr>
          <p:nvPr/>
        </p:nvPicPr>
        <p:blipFill>
          <a:blip r:embed="rId2"/>
          <a:stretch>
            <a:fillRect/>
          </a:stretch>
        </p:blipFill>
        <p:spPr>
          <a:xfrm>
            <a:off x="482876" y="2919265"/>
            <a:ext cx="7886700" cy="3392634"/>
          </a:xfrm>
          <a:prstGeom prst="rect">
            <a:avLst/>
          </a:prstGeom>
        </p:spPr>
      </p:pic>
    </p:spTree>
    <p:extLst>
      <p:ext uri="{BB962C8B-B14F-4D97-AF65-F5344CB8AC3E}">
        <p14:creationId xmlns:p14="http://schemas.microsoft.com/office/powerpoint/2010/main" val="3589986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E5EC46-4ABB-48DC-8677-0ECC6D60943C}"/>
              </a:ext>
            </a:extLst>
          </p:cNvPr>
          <p:cNvSpPr>
            <a:spLocks noGrp="1"/>
          </p:cNvSpPr>
          <p:nvPr>
            <p:ph type="title"/>
          </p:nvPr>
        </p:nvSpPr>
        <p:spPr/>
        <p:txBody>
          <a:bodyPr/>
          <a:lstStyle/>
          <a:p>
            <a:r>
              <a:rPr lang="en-US" i="1" dirty="0">
                <a:solidFill>
                  <a:schemeClr val="tx2"/>
                </a:solidFill>
              </a:rPr>
              <a:t>SR </a:t>
            </a:r>
            <a:r>
              <a:rPr lang="en-US" dirty="0">
                <a:solidFill>
                  <a:schemeClr val="tx2"/>
                </a:solidFill>
              </a:rPr>
              <a:t>latch with a control input</a:t>
            </a:r>
          </a:p>
        </p:txBody>
      </p:sp>
      <p:sp>
        <p:nvSpPr>
          <p:cNvPr id="7" name="Content Placeholder 6">
            <a:extLst>
              <a:ext uri="{FF2B5EF4-FFF2-40B4-BE49-F238E27FC236}">
                <a16:creationId xmlns:a16="http://schemas.microsoft.com/office/drawing/2014/main" xmlns="" id="{8F8A7996-DE69-444F-BC3B-5E893E4DE11B}"/>
              </a:ext>
            </a:extLst>
          </p:cNvPr>
          <p:cNvSpPr>
            <a:spLocks noGrp="1"/>
          </p:cNvSpPr>
          <p:nvPr>
            <p:ph idx="1"/>
          </p:nvPr>
        </p:nvSpPr>
        <p:spPr/>
        <p:txBody>
          <a:bodyPr/>
          <a:lstStyle/>
          <a:p>
            <a:r>
              <a:rPr lang="en-US" dirty="0"/>
              <a:t>The operation of the basic NOR and NAND latches can be modified by providing an additional control input that determines when the state of the latch can be changed. The control input </a:t>
            </a:r>
            <a:r>
              <a:rPr lang="en-US" i="1" dirty="0"/>
              <a:t>C </a:t>
            </a:r>
            <a:r>
              <a:rPr lang="en-US" dirty="0"/>
              <a:t>acts as an enable signal for the other two inputs.</a:t>
            </a:r>
          </a:p>
        </p:txBody>
      </p:sp>
      <p:pic>
        <p:nvPicPr>
          <p:cNvPr id="8" name="Picture 7">
            <a:extLst>
              <a:ext uri="{FF2B5EF4-FFF2-40B4-BE49-F238E27FC236}">
                <a16:creationId xmlns:a16="http://schemas.microsoft.com/office/drawing/2014/main" xmlns="" id="{5C31309B-2869-41C1-8EFE-CD88A6096BCE}"/>
              </a:ext>
            </a:extLst>
          </p:cNvPr>
          <p:cNvPicPr>
            <a:picLocks noChangeAspect="1"/>
          </p:cNvPicPr>
          <p:nvPr/>
        </p:nvPicPr>
        <p:blipFill>
          <a:blip r:embed="rId2"/>
          <a:stretch>
            <a:fillRect/>
          </a:stretch>
        </p:blipFill>
        <p:spPr>
          <a:xfrm>
            <a:off x="861391" y="3935895"/>
            <a:ext cx="7341705" cy="2556979"/>
          </a:xfrm>
          <a:prstGeom prst="rect">
            <a:avLst/>
          </a:prstGeom>
        </p:spPr>
      </p:pic>
    </p:spTree>
    <p:extLst>
      <p:ext uri="{BB962C8B-B14F-4D97-AF65-F5344CB8AC3E}">
        <p14:creationId xmlns:p14="http://schemas.microsoft.com/office/powerpoint/2010/main" val="2056900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EBD2FB-31D7-4C4B-9935-CEE10FB4C58A}"/>
              </a:ext>
            </a:extLst>
          </p:cNvPr>
          <p:cNvSpPr>
            <a:spLocks noGrp="1"/>
          </p:cNvSpPr>
          <p:nvPr>
            <p:ph type="title"/>
          </p:nvPr>
        </p:nvSpPr>
        <p:spPr/>
        <p:txBody>
          <a:bodyPr/>
          <a:lstStyle/>
          <a:p>
            <a:r>
              <a:rPr lang="en-US" b="1" i="1" dirty="0">
                <a:solidFill>
                  <a:schemeClr val="tx2"/>
                </a:solidFill>
              </a:rPr>
              <a:t>D </a:t>
            </a:r>
            <a:r>
              <a:rPr lang="en-US" b="1" dirty="0">
                <a:solidFill>
                  <a:schemeClr val="tx2"/>
                </a:solidFill>
              </a:rPr>
              <a:t>Latch</a:t>
            </a:r>
            <a:endParaRPr lang="en-US" dirty="0">
              <a:solidFill>
                <a:schemeClr val="tx2"/>
              </a:solidFill>
            </a:endParaRPr>
          </a:p>
        </p:txBody>
      </p:sp>
      <p:sp>
        <p:nvSpPr>
          <p:cNvPr id="3" name="Content Placeholder 2">
            <a:extLst>
              <a:ext uri="{FF2B5EF4-FFF2-40B4-BE49-F238E27FC236}">
                <a16:creationId xmlns:a16="http://schemas.microsoft.com/office/drawing/2014/main" xmlns="" id="{360BAF6A-44FC-48CE-BE22-0A4CCB3A4C27}"/>
              </a:ext>
            </a:extLst>
          </p:cNvPr>
          <p:cNvSpPr>
            <a:spLocks noGrp="1"/>
          </p:cNvSpPr>
          <p:nvPr>
            <p:ph idx="1"/>
          </p:nvPr>
        </p:nvSpPr>
        <p:spPr/>
        <p:txBody>
          <a:bodyPr/>
          <a:lstStyle/>
          <a:p>
            <a:r>
              <a:rPr lang="en-US" dirty="0"/>
              <a:t>One way to eliminate the undesirable undefined state in the </a:t>
            </a:r>
            <a:r>
              <a:rPr lang="en-US" i="1" dirty="0"/>
              <a:t>SR </a:t>
            </a:r>
            <a:r>
              <a:rPr lang="en-US" dirty="0"/>
              <a:t>latch is to ensure that inputs </a:t>
            </a:r>
            <a:r>
              <a:rPr lang="en-US" i="1" dirty="0"/>
              <a:t>S </a:t>
            </a:r>
            <a:r>
              <a:rPr lang="en-US" dirty="0"/>
              <a:t>and </a:t>
            </a:r>
            <a:r>
              <a:rPr lang="en-US" i="1" dirty="0"/>
              <a:t>R </a:t>
            </a:r>
            <a:r>
              <a:rPr lang="en-US" dirty="0"/>
              <a:t>are never equal to 1 at the same time. </a:t>
            </a:r>
          </a:p>
        </p:txBody>
      </p:sp>
      <p:pic>
        <p:nvPicPr>
          <p:cNvPr id="4" name="Picture 3">
            <a:extLst>
              <a:ext uri="{FF2B5EF4-FFF2-40B4-BE49-F238E27FC236}">
                <a16:creationId xmlns:a16="http://schemas.microsoft.com/office/drawing/2014/main" xmlns="" id="{5FE7AA42-3E38-4991-88F4-42248A89908A}"/>
              </a:ext>
            </a:extLst>
          </p:cNvPr>
          <p:cNvPicPr>
            <a:picLocks noChangeAspect="1"/>
          </p:cNvPicPr>
          <p:nvPr/>
        </p:nvPicPr>
        <p:blipFill>
          <a:blip r:embed="rId2"/>
          <a:stretch>
            <a:fillRect/>
          </a:stretch>
        </p:blipFill>
        <p:spPr>
          <a:xfrm>
            <a:off x="628650" y="3127513"/>
            <a:ext cx="8038272" cy="3365361"/>
          </a:xfrm>
          <a:prstGeom prst="rect">
            <a:avLst/>
          </a:prstGeom>
        </p:spPr>
      </p:pic>
    </p:spTree>
    <p:extLst>
      <p:ext uri="{BB962C8B-B14F-4D97-AF65-F5344CB8AC3E}">
        <p14:creationId xmlns:p14="http://schemas.microsoft.com/office/powerpoint/2010/main" val="2213447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E3CDFA-C0A4-4A0D-8ABE-65F8BE3EE5CC}"/>
              </a:ext>
            </a:extLst>
          </p:cNvPr>
          <p:cNvSpPr>
            <a:spLocks noGrp="1"/>
          </p:cNvSpPr>
          <p:nvPr>
            <p:ph type="title"/>
          </p:nvPr>
        </p:nvSpPr>
        <p:spPr/>
        <p:txBody>
          <a:bodyPr/>
          <a:lstStyle/>
          <a:p>
            <a:r>
              <a:rPr lang="en-US" b="1" dirty="0">
                <a:solidFill>
                  <a:schemeClr val="tx2"/>
                </a:solidFill>
              </a:rPr>
              <a:t>FLIP-FLOPS</a:t>
            </a:r>
            <a:endParaRPr lang="en-US" dirty="0">
              <a:solidFill>
                <a:schemeClr val="tx2"/>
              </a:solidFill>
            </a:endParaRPr>
          </a:p>
        </p:txBody>
      </p:sp>
      <p:sp>
        <p:nvSpPr>
          <p:cNvPr id="3" name="Content Placeholder 2">
            <a:extLst>
              <a:ext uri="{FF2B5EF4-FFF2-40B4-BE49-F238E27FC236}">
                <a16:creationId xmlns:a16="http://schemas.microsoft.com/office/drawing/2014/main" xmlns="" id="{BCF8038E-0BAF-4889-B322-F74D33026B64}"/>
              </a:ext>
            </a:extLst>
          </p:cNvPr>
          <p:cNvSpPr>
            <a:spLocks noGrp="1"/>
          </p:cNvSpPr>
          <p:nvPr>
            <p:ph idx="1"/>
          </p:nvPr>
        </p:nvSpPr>
        <p:spPr/>
        <p:txBody>
          <a:bodyPr/>
          <a:lstStyle/>
          <a:p>
            <a:r>
              <a:rPr lang="en-US" dirty="0"/>
              <a:t>Flip-flop circuits are constructed in such a way as to make them operate properly when they are part of a sequential circuit that employs a single clock.</a:t>
            </a:r>
          </a:p>
          <a:p>
            <a:r>
              <a:rPr lang="en-US" dirty="0"/>
              <a:t>The key to the proper operation of flip-flops is to prevent them from being transparent.</a:t>
            </a:r>
          </a:p>
          <a:p>
            <a:r>
              <a:rPr lang="en-US" dirty="0"/>
              <a:t>There are two ways that latches are combined to form a flip-flop.</a:t>
            </a:r>
          </a:p>
          <a:p>
            <a:endParaRPr lang="en-US" dirty="0"/>
          </a:p>
        </p:txBody>
      </p:sp>
    </p:spTree>
    <p:extLst>
      <p:ext uri="{BB962C8B-B14F-4D97-AF65-F5344CB8AC3E}">
        <p14:creationId xmlns:p14="http://schemas.microsoft.com/office/powerpoint/2010/main" val="2323586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97752-29E7-44B5-9876-4831F44D43B7}"/>
              </a:ext>
            </a:extLst>
          </p:cNvPr>
          <p:cNvSpPr>
            <a:spLocks noGrp="1"/>
          </p:cNvSpPr>
          <p:nvPr>
            <p:ph type="title"/>
          </p:nvPr>
        </p:nvSpPr>
        <p:spPr/>
        <p:txBody>
          <a:bodyPr/>
          <a:lstStyle/>
          <a:p>
            <a:r>
              <a:rPr lang="en-US" b="1" dirty="0">
                <a:solidFill>
                  <a:schemeClr val="tx2"/>
                </a:solidFill>
              </a:rPr>
              <a:t>Master–Slave Flip-Flops</a:t>
            </a:r>
            <a:endParaRPr lang="en-US" dirty="0">
              <a:solidFill>
                <a:schemeClr val="tx2"/>
              </a:solidFill>
            </a:endParaRPr>
          </a:p>
        </p:txBody>
      </p:sp>
      <p:sp>
        <p:nvSpPr>
          <p:cNvPr id="3" name="Content Placeholder 2">
            <a:extLst>
              <a:ext uri="{FF2B5EF4-FFF2-40B4-BE49-F238E27FC236}">
                <a16:creationId xmlns:a16="http://schemas.microsoft.com/office/drawing/2014/main" xmlns="" id="{83807780-A2B3-42CB-85C7-6126CFD10B49}"/>
              </a:ext>
            </a:extLst>
          </p:cNvPr>
          <p:cNvSpPr>
            <a:spLocks noGrp="1"/>
          </p:cNvSpPr>
          <p:nvPr>
            <p:ph idx="1"/>
          </p:nvPr>
        </p:nvSpPr>
        <p:spPr/>
        <p:txBody>
          <a:bodyPr/>
          <a:lstStyle/>
          <a:p>
            <a:r>
              <a:rPr lang="en-US" dirty="0"/>
              <a:t>The master–slave </a:t>
            </a:r>
            <a:r>
              <a:rPr lang="en-US" i="1" dirty="0"/>
              <a:t>SR </a:t>
            </a:r>
            <a:r>
              <a:rPr lang="en-US" dirty="0"/>
              <a:t>flip-flop, consisting of two latches and an inverter.</a:t>
            </a:r>
          </a:p>
          <a:p>
            <a:endParaRPr lang="en-US" dirty="0"/>
          </a:p>
        </p:txBody>
      </p:sp>
      <p:pic>
        <p:nvPicPr>
          <p:cNvPr id="4" name="Picture 3">
            <a:extLst>
              <a:ext uri="{FF2B5EF4-FFF2-40B4-BE49-F238E27FC236}">
                <a16:creationId xmlns:a16="http://schemas.microsoft.com/office/drawing/2014/main" xmlns="" id="{AE6E438A-BC67-475A-8D55-D742987918C2}"/>
              </a:ext>
            </a:extLst>
          </p:cNvPr>
          <p:cNvPicPr>
            <a:picLocks noChangeAspect="1"/>
          </p:cNvPicPr>
          <p:nvPr/>
        </p:nvPicPr>
        <p:blipFill>
          <a:blip r:embed="rId2"/>
          <a:stretch>
            <a:fillRect/>
          </a:stretch>
        </p:blipFill>
        <p:spPr>
          <a:xfrm>
            <a:off x="927653" y="3049952"/>
            <a:ext cx="7381460" cy="2887022"/>
          </a:xfrm>
          <a:prstGeom prst="rect">
            <a:avLst/>
          </a:prstGeom>
        </p:spPr>
      </p:pic>
    </p:spTree>
    <p:extLst>
      <p:ext uri="{BB962C8B-B14F-4D97-AF65-F5344CB8AC3E}">
        <p14:creationId xmlns:p14="http://schemas.microsoft.com/office/powerpoint/2010/main" val="2325181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44D2E2-9FF4-45AC-A492-A4568BD1D5B2}"/>
              </a:ext>
            </a:extLst>
          </p:cNvPr>
          <p:cNvSpPr>
            <a:spLocks noGrp="1"/>
          </p:cNvSpPr>
          <p:nvPr>
            <p:ph type="title"/>
          </p:nvPr>
        </p:nvSpPr>
        <p:spPr/>
        <p:txBody>
          <a:bodyPr/>
          <a:lstStyle/>
          <a:p>
            <a:r>
              <a:rPr lang="en-US" dirty="0">
                <a:solidFill>
                  <a:schemeClr val="tx2"/>
                </a:solidFill>
              </a:rPr>
              <a:t>Cont.,</a:t>
            </a:r>
          </a:p>
        </p:txBody>
      </p:sp>
      <p:sp>
        <p:nvSpPr>
          <p:cNvPr id="3" name="Content Placeholder 2">
            <a:extLst>
              <a:ext uri="{FF2B5EF4-FFF2-40B4-BE49-F238E27FC236}">
                <a16:creationId xmlns:a16="http://schemas.microsoft.com/office/drawing/2014/main" xmlns="" id="{14C53A1A-3BBC-4A9C-8C2B-207CC31AF426}"/>
              </a:ext>
            </a:extLst>
          </p:cNvPr>
          <p:cNvSpPr>
            <a:spLocks noGrp="1"/>
          </p:cNvSpPr>
          <p:nvPr>
            <p:ph idx="1"/>
          </p:nvPr>
        </p:nvSpPr>
        <p:spPr/>
        <p:txBody>
          <a:bodyPr>
            <a:normAutofit fontScale="92500" lnSpcReduction="10000"/>
          </a:bodyPr>
          <a:lstStyle/>
          <a:p>
            <a:r>
              <a:rPr lang="en-US" dirty="0"/>
              <a:t>When the clock input </a:t>
            </a:r>
            <a:r>
              <a:rPr lang="en-US" i="1" dirty="0"/>
              <a:t>C </a:t>
            </a:r>
            <a:r>
              <a:rPr lang="en-US" dirty="0"/>
              <a:t>is 0, the output of the inverter is 1. </a:t>
            </a:r>
          </a:p>
          <a:p>
            <a:r>
              <a:rPr lang="en-US" dirty="0"/>
              <a:t>The slave latch is then enabled, and its output </a:t>
            </a:r>
            <a:r>
              <a:rPr lang="en-US" i="1" dirty="0"/>
              <a:t>Q </a:t>
            </a:r>
            <a:r>
              <a:rPr lang="en-US" dirty="0"/>
              <a:t>is equal to the master output </a:t>
            </a:r>
            <a:r>
              <a:rPr lang="en-US" i="1" dirty="0"/>
              <a:t>Y</a:t>
            </a:r>
            <a:r>
              <a:rPr lang="en-US" dirty="0"/>
              <a:t>.</a:t>
            </a:r>
          </a:p>
          <a:p>
            <a:r>
              <a:rPr lang="en-US" dirty="0" smtClean="0"/>
              <a:t>When </a:t>
            </a:r>
            <a:r>
              <a:rPr lang="en-US" dirty="0"/>
              <a:t>a logic-1 clock pulse is applied ( C = 1), the values on </a:t>
            </a:r>
            <a:r>
              <a:rPr lang="en-US" i="1" dirty="0"/>
              <a:t>S </a:t>
            </a:r>
            <a:r>
              <a:rPr lang="en-US" dirty="0"/>
              <a:t>and </a:t>
            </a:r>
            <a:r>
              <a:rPr lang="en-US" i="1" dirty="0"/>
              <a:t>R </a:t>
            </a:r>
            <a:r>
              <a:rPr lang="en-US" dirty="0"/>
              <a:t>control the value stored in the master latch </a:t>
            </a:r>
            <a:r>
              <a:rPr lang="en-US" i="1" dirty="0"/>
              <a:t>Y</a:t>
            </a:r>
            <a:r>
              <a:rPr lang="en-US" dirty="0"/>
              <a:t>.</a:t>
            </a:r>
          </a:p>
          <a:p>
            <a:r>
              <a:rPr lang="en-US" dirty="0"/>
              <a:t> The slave, however, is disabled as long as the pulse remains at the 1 level, because its </a:t>
            </a:r>
            <a:r>
              <a:rPr lang="en-US" i="1" dirty="0"/>
              <a:t>C </a:t>
            </a:r>
            <a:r>
              <a:rPr lang="en-US" dirty="0"/>
              <a:t>input is equal to 0.</a:t>
            </a:r>
          </a:p>
          <a:p>
            <a:r>
              <a:rPr lang="en-US" dirty="0"/>
              <a:t> Any changes in the external </a:t>
            </a:r>
            <a:r>
              <a:rPr lang="en-US" i="1" dirty="0"/>
              <a:t>S </a:t>
            </a:r>
            <a:r>
              <a:rPr lang="en-US" dirty="0"/>
              <a:t>and </a:t>
            </a:r>
            <a:r>
              <a:rPr lang="en-US" i="1" dirty="0"/>
              <a:t>R </a:t>
            </a:r>
            <a:r>
              <a:rPr lang="en-US" dirty="0"/>
              <a:t>inputs change the master output </a:t>
            </a:r>
            <a:r>
              <a:rPr lang="en-US" i="1" dirty="0"/>
              <a:t>Y, </a:t>
            </a:r>
            <a:r>
              <a:rPr lang="en-US" dirty="0"/>
              <a:t>but cannot affect the slave output </a:t>
            </a:r>
            <a:r>
              <a:rPr lang="en-US" i="1" dirty="0"/>
              <a:t>Q</a:t>
            </a:r>
            <a:r>
              <a:rPr lang="en-US" dirty="0"/>
              <a:t>.</a:t>
            </a:r>
          </a:p>
        </p:txBody>
      </p:sp>
    </p:spTree>
    <p:extLst>
      <p:ext uri="{BB962C8B-B14F-4D97-AF65-F5344CB8AC3E}">
        <p14:creationId xmlns:p14="http://schemas.microsoft.com/office/powerpoint/2010/main" val="1061875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7F6312-0247-410B-B022-87BDDC92E01F}"/>
              </a:ext>
            </a:extLst>
          </p:cNvPr>
          <p:cNvSpPr>
            <a:spLocks noGrp="1"/>
          </p:cNvSpPr>
          <p:nvPr>
            <p:ph type="title"/>
          </p:nvPr>
        </p:nvSpPr>
        <p:spPr/>
        <p:txBody>
          <a:bodyPr/>
          <a:lstStyle/>
          <a:p>
            <a:r>
              <a:rPr lang="en-US" b="1" dirty="0">
                <a:solidFill>
                  <a:schemeClr val="tx2"/>
                </a:solidFill>
              </a:rPr>
              <a:t>Edge-Triggered Flip-Flop</a:t>
            </a:r>
            <a:endParaRPr lang="en-US" dirty="0">
              <a:solidFill>
                <a:schemeClr val="tx2"/>
              </a:solidFill>
            </a:endParaRPr>
          </a:p>
        </p:txBody>
      </p:sp>
      <p:sp>
        <p:nvSpPr>
          <p:cNvPr id="3" name="Content Placeholder 2">
            <a:extLst>
              <a:ext uri="{FF2B5EF4-FFF2-40B4-BE49-F238E27FC236}">
                <a16:creationId xmlns:a16="http://schemas.microsoft.com/office/drawing/2014/main" xmlns="" id="{322655D0-2F15-4310-9E04-3035FC8A61F4}"/>
              </a:ext>
            </a:extLst>
          </p:cNvPr>
          <p:cNvSpPr>
            <a:spLocks noGrp="1"/>
          </p:cNvSpPr>
          <p:nvPr>
            <p:ph idx="1"/>
          </p:nvPr>
        </p:nvSpPr>
        <p:spPr/>
        <p:txBody>
          <a:bodyPr/>
          <a:lstStyle/>
          <a:p>
            <a:r>
              <a:rPr lang="en-US" dirty="0"/>
              <a:t>An </a:t>
            </a:r>
            <a:r>
              <a:rPr lang="en-US" i="1" dirty="0"/>
              <a:t>edge-triggered </a:t>
            </a:r>
            <a:r>
              <a:rPr lang="en-US" dirty="0"/>
              <a:t>flip-flop ignores the pulse while it is at a constant level and triggers only during a </a:t>
            </a:r>
            <a:r>
              <a:rPr lang="en-US" i="1" dirty="0"/>
              <a:t>transition </a:t>
            </a:r>
            <a:r>
              <a:rPr lang="en-US" dirty="0"/>
              <a:t>of the clock signal.</a:t>
            </a:r>
          </a:p>
          <a:p>
            <a:r>
              <a:rPr lang="en-US" dirty="0"/>
              <a:t> Some edge-triggered flip-flops trigger on the positive edge (0-to-1 transition), whereas others trigger on the negative edge (1-to- 0 transition).</a:t>
            </a:r>
          </a:p>
          <a:p>
            <a:endParaRPr lang="en-US" dirty="0"/>
          </a:p>
        </p:txBody>
      </p:sp>
    </p:spTree>
    <p:extLst>
      <p:ext uri="{BB962C8B-B14F-4D97-AF65-F5344CB8AC3E}">
        <p14:creationId xmlns:p14="http://schemas.microsoft.com/office/powerpoint/2010/main" val="1915557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22625870-7BEA-48BA-90C6-2030DC9EC54B}"/>
              </a:ext>
            </a:extLst>
          </p:cNvPr>
          <p:cNvPicPr>
            <a:picLocks noChangeAspect="1"/>
          </p:cNvPicPr>
          <p:nvPr/>
        </p:nvPicPr>
        <p:blipFill>
          <a:blip r:embed="rId2"/>
          <a:stretch>
            <a:fillRect/>
          </a:stretch>
        </p:blipFill>
        <p:spPr>
          <a:xfrm>
            <a:off x="198783" y="516835"/>
            <a:ext cx="8706678" cy="2584173"/>
          </a:xfrm>
          <a:prstGeom prst="rect">
            <a:avLst/>
          </a:prstGeom>
        </p:spPr>
      </p:pic>
      <p:pic>
        <p:nvPicPr>
          <p:cNvPr id="3" name="Picture 2">
            <a:extLst>
              <a:ext uri="{FF2B5EF4-FFF2-40B4-BE49-F238E27FC236}">
                <a16:creationId xmlns:a16="http://schemas.microsoft.com/office/drawing/2014/main" xmlns="" id="{034F35AC-B333-413D-83BB-F353EDA6E6F2}"/>
              </a:ext>
            </a:extLst>
          </p:cNvPr>
          <p:cNvPicPr>
            <a:picLocks noChangeAspect="1"/>
          </p:cNvPicPr>
          <p:nvPr/>
        </p:nvPicPr>
        <p:blipFill>
          <a:blip r:embed="rId3"/>
          <a:stretch>
            <a:fillRect/>
          </a:stretch>
        </p:blipFill>
        <p:spPr>
          <a:xfrm>
            <a:off x="198783" y="3429001"/>
            <a:ext cx="8706678" cy="2693504"/>
          </a:xfrm>
          <a:prstGeom prst="rect">
            <a:avLst/>
          </a:prstGeom>
        </p:spPr>
      </p:pic>
    </p:spTree>
    <p:extLst>
      <p:ext uri="{BB962C8B-B14F-4D97-AF65-F5344CB8AC3E}">
        <p14:creationId xmlns:p14="http://schemas.microsoft.com/office/powerpoint/2010/main" val="1352292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0C0735-5DA2-4D52-A1D5-04631D64FA76}"/>
              </a:ext>
            </a:extLst>
          </p:cNvPr>
          <p:cNvSpPr>
            <a:spLocks noGrp="1"/>
          </p:cNvSpPr>
          <p:nvPr>
            <p:ph type="title"/>
          </p:nvPr>
        </p:nvSpPr>
        <p:spPr/>
        <p:txBody>
          <a:bodyPr/>
          <a:lstStyle/>
          <a:p>
            <a:r>
              <a:rPr lang="en-US" b="1" dirty="0"/>
              <a:t>SEQUENTIAL CIRCUIT DESIGN</a:t>
            </a:r>
            <a:endParaRPr lang="en-US" dirty="0"/>
          </a:p>
        </p:txBody>
      </p:sp>
      <p:sp>
        <p:nvSpPr>
          <p:cNvPr id="3" name="Content Placeholder 2">
            <a:extLst>
              <a:ext uri="{FF2B5EF4-FFF2-40B4-BE49-F238E27FC236}">
                <a16:creationId xmlns:a16="http://schemas.microsoft.com/office/drawing/2014/main" xmlns="" id="{5A51E6A6-B5D3-4ED6-9B80-D24FA7E88E43}"/>
              </a:ext>
            </a:extLst>
          </p:cNvPr>
          <p:cNvSpPr>
            <a:spLocks noGrp="1"/>
          </p:cNvSpPr>
          <p:nvPr>
            <p:ph idx="1"/>
          </p:nvPr>
        </p:nvSpPr>
        <p:spPr/>
        <p:txBody>
          <a:bodyPr/>
          <a:lstStyle/>
          <a:p>
            <a:r>
              <a:rPr lang="en-US" dirty="0"/>
              <a:t>The outputs and the next state are a function of the inputs and the present state.</a:t>
            </a:r>
          </a:p>
          <a:p>
            <a:r>
              <a:rPr lang="en-US" dirty="0"/>
              <a:t>The logic diagram of a sequential circuit consists of flip-flops and, usually, combinational gates.</a:t>
            </a:r>
          </a:p>
          <a:p>
            <a:r>
              <a:rPr lang="en-US" dirty="0"/>
              <a:t>The part of the combinational circuit that generates the signals for the inputs of flip-flops can be described by a set of Boolean functions called </a:t>
            </a:r>
            <a:r>
              <a:rPr lang="en-US" i="1" dirty="0"/>
              <a:t>flip-flop input equations</a:t>
            </a:r>
            <a:r>
              <a:rPr lang="en-US" dirty="0"/>
              <a:t>.</a:t>
            </a:r>
          </a:p>
          <a:p>
            <a:endParaRPr lang="en-US" dirty="0"/>
          </a:p>
          <a:p>
            <a:endParaRPr lang="en-US" dirty="0"/>
          </a:p>
        </p:txBody>
      </p:sp>
    </p:spTree>
    <p:extLst>
      <p:ext uri="{BB962C8B-B14F-4D97-AF65-F5344CB8AC3E}">
        <p14:creationId xmlns:p14="http://schemas.microsoft.com/office/powerpoint/2010/main" val="1441133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06BF60-4637-438E-B877-5B08563F26FE}"/>
              </a:ext>
            </a:extLst>
          </p:cNvPr>
          <p:cNvSpPr>
            <a:spLocks noGrp="1"/>
          </p:cNvSpPr>
          <p:nvPr>
            <p:ph type="title"/>
          </p:nvPr>
        </p:nvSpPr>
        <p:spPr/>
        <p:txBody>
          <a:bodyPr/>
          <a:lstStyle/>
          <a:p>
            <a:r>
              <a:rPr lang="en-US" dirty="0"/>
              <a:t>Design Procedure</a:t>
            </a:r>
          </a:p>
        </p:txBody>
      </p:sp>
      <p:sp>
        <p:nvSpPr>
          <p:cNvPr id="3" name="Content Placeholder 2">
            <a:extLst>
              <a:ext uri="{FF2B5EF4-FFF2-40B4-BE49-F238E27FC236}">
                <a16:creationId xmlns:a16="http://schemas.microsoft.com/office/drawing/2014/main" xmlns="" id="{FEF4E90E-A843-47E8-A904-DDBE9BA08A7C}"/>
              </a:ext>
            </a:extLst>
          </p:cNvPr>
          <p:cNvSpPr>
            <a:spLocks noGrp="1"/>
          </p:cNvSpPr>
          <p:nvPr>
            <p:ph idx="1"/>
          </p:nvPr>
        </p:nvSpPr>
        <p:spPr/>
        <p:txBody>
          <a:bodyPr>
            <a:normAutofit lnSpcReduction="10000"/>
          </a:bodyPr>
          <a:lstStyle/>
          <a:p>
            <a:r>
              <a:rPr lang="en-US" b="1" dirty="0"/>
              <a:t>Specification: </a:t>
            </a:r>
            <a:r>
              <a:rPr lang="en-US" dirty="0"/>
              <a:t>Write a specification for the circuit, if not already available.</a:t>
            </a:r>
          </a:p>
          <a:p>
            <a:r>
              <a:rPr lang="en-US" b="1" dirty="0"/>
              <a:t>Formulation: </a:t>
            </a:r>
            <a:r>
              <a:rPr lang="en-US" dirty="0"/>
              <a:t>Obtain either a state diagram or a state table from the statement of the problem.</a:t>
            </a:r>
          </a:p>
          <a:p>
            <a:r>
              <a:rPr lang="en-US" b="1" dirty="0"/>
              <a:t>State Assignment: </a:t>
            </a:r>
            <a:r>
              <a:rPr lang="en-US" dirty="0"/>
              <a:t>If only a state diagram is available from step 2, obtain the state </a:t>
            </a:r>
            <a:r>
              <a:rPr lang="en-US" dirty="0" smtClean="0"/>
              <a:t>table by assigning </a:t>
            </a:r>
            <a:r>
              <a:rPr lang="en-US" dirty="0"/>
              <a:t>binary codes to the </a:t>
            </a:r>
            <a:r>
              <a:rPr lang="en-US" dirty="0" smtClean="0"/>
              <a:t>states.</a:t>
            </a:r>
            <a:endParaRPr lang="en-US" dirty="0"/>
          </a:p>
          <a:p>
            <a:r>
              <a:rPr lang="en-US" b="1" dirty="0"/>
              <a:t>Flip-Flop Input Equation Determination: </a:t>
            </a:r>
            <a:r>
              <a:rPr lang="en-US" dirty="0"/>
              <a:t>Select the flip-flop type or types. Derive the flip-flop input equations from the next-state entries in the encoded state table.</a:t>
            </a:r>
          </a:p>
        </p:txBody>
      </p:sp>
    </p:spTree>
    <p:extLst>
      <p:ext uri="{BB962C8B-B14F-4D97-AF65-F5344CB8AC3E}">
        <p14:creationId xmlns:p14="http://schemas.microsoft.com/office/powerpoint/2010/main" val="1983972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F824C2-FF68-40C6-80A5-B17C2729E67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71B3F8A0-08DB-4D0E-AAAA-85CF7C86FD95}"/>
              </a:ext>
            </a:extLst>
          </p:cNvPr>
          <p:cNvSpPr>
            <a:spLocks noGrp="1"/>
          </p:cNvSpPr>
          <p:nvPr>
            <p:ph idx="1"/>
          </p:nvPr>
        </p:nvSpPr>
        <p:spPr/>
        <p:txBody>
          <a:bodyPr/>
          <a:lstStyle/>
          <a:p>
            <a:r>
              <a:rPr lang="en-US" b="1" dirty="0"/>
              <a:t>Output Equation Determination: </a:t>
            </a:r>
            <a:r>
              <a:rPr lang="en-US" dirty="0"/>
              <a:t>Derive output equations from the output entries in the state table.</a:t>
            </a:r>
          </a:p>
          <a:p>
            <a:r>
              <a:rPr lang="en-US" b="1" dirty="0"/>
              <a:t>Optimization: </a:t>
            </a:r>
            <a:r>
              <a:rPr lang="en-US" dirty="0"/>
              <a:t>Optimize the flip-flop input and output equations.</a:t>
            </a:r>
          </a:p>
          <a:p>
            <a:r>
              <a:rPr lang="en-US" b="1" dirty="0"/>
              <a:t>Technology Mapping: </a:t>
            </a:r>
            <a:r>
              <a:rPr lang="en-US" dirty="0"/>
              <a:t>Draw a logic diagram of the circuit.</a:t>
            </a:r>
          </a:p>
          <a:p>
            <a:r>
              <a:rPr lang="en-US" b="1" dirty="0"/>
              <a:t>Verification: </a:t>
            </a:r>
            <a:r>
              <a:rPr lang="en-US" dirty="0"/>
              <a:t>Verify the correctness of the final design.</a:t>
            </a:r>
          </a:p>
        </p:txBody>
      </p:sp>
    </p:spTree>
    <p:extLst>
      <p:ext uri="{BB962C8B-B14F-4D97-AF65-F5344CB8AC3E}">
        <p14:creationId xmlns:p14="http://schemas.microsoft.com/office/powerpoint/2010/main" val="372185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DD7C44-47C8-4262-9BCC-5E221D45B6E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xmlns="" id="{1864D8DE-2A44-478B-B2AA-29940343AFEA}"/>
              </a:ext>
            </a:extLst>
          </p:cNvPr>
          <p:cNvSpPr>
            <a:spLocks noGrp="1"/>
          </p:cNvSpPr>
          <p:nvPr>
            <p:ph idx="1"/>
          </p:nvPr>
        </p:nvSpPr>
        <p:spPr/>
        <p:txBody>
          <a:bodyPr/>
          <a:lstStyle/>
          <a:p>
            <a:r>
              <a:rPr lang="en-US" b="1" dirty="0"/>
              <a:t>Finding a State Diagram for a Sequence Recognizer</a:t>
            </a:r>
          </a:p>
          <a:p>
            <a:r>
              <a:rPr lang="en-US" dirty="0"/>
              <a:t>This “sequence recognizer” has one input </a:t>
            </a:r>
            <a:r>
              <a:rPr lang="en-US" i="1" dirty="0"/>
              <a:t>X </a:t>
            </a:r>
            <a:r>
              <a:rPr lang="en-US" dirty="0"/>
              <a:t>and one output </a:t>
            </a:r>
            <a:r>
              <a:rPr lang="en-US" i="1" dirty="0"/>
              <a:t>Z</a:t>
            </a:r>
            <a:r>
              <a:rPr lang="en-US" dirty="0"/>
              <a:t>.</a:t>
            </a:r>
          </a:p>
          <a:p>
            <a:r>
              <a:rPr lang="en-US" dirty="0"/>
              <a:t>The circuit is to recognize the occurrence of the sequence of bits 1101 on </a:t>
            </a:r>
            <a:r>
              <a:rPr lang="en-US" i="1" dirty="0"/>
              <a:t>X </a:t>
            </a:r>
            <a:r>
              <a:rPr lang="en-US" dirty="0"/>
              <a:t>by making </a:t>
            </a:r>
            <a:r>
              <a:rPr lang="en-US" i="1" dirty="0"/>
              <a:t>Z </a:t>
            </a:r>
            <a:r>
              <a:rPr lang="en-US" dirty="0"/>
              <a:t>equal to 1 when the previous three inputs to the circuit were 110 and current input is a 1. </a:t>
            </a:r>
          </a:p>
          <a:p>
            <a:r>
              <a:rPr lang="en-US" dirty="0"/>
              <a:t>Otherwise, </a:t>
            </a:r>
            <a:r>
              <a:rPr lang="en-US" i="1" dirty="0"/>
              <a:t>Z </a:t>
            </a:r>
            <a:r>
              <a:rPr lang="en-US" dirty="0"/>
              <a:t>equals 0.</a:t>
            </a:r>
          </a:p>
        </p:txBody>
      </p:sp>
    </p:spTree>
    <p:extLst>
      <p:ext uri="{BB962C8B-B14F-4D97-AF65-F5344CB8AC3E}">
        <p14:creationId xmlns:p14="http://schemas.microsoft.com/office/powerpoint/2010/main" val="720890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33F75750-2B55-4A18-A444-34BD27C0E5C4}"/>
              </a:ext>
            </a:extLst>
          </p:cNvPr>
          <p:cNvPicPr>
            <a:picLocks noChangeAspect="1"/>
          </p:cNvPicPr>
          <p:nvPr/>
        </p:nvPicPr>
        <p:blipFill>
          <a:blip r:embed="rId2"/>
          <a:stretch>
            <a:fillRect/>
          </a:stretch>
        </p:blipFill>
        <p:spPr>
          <a:xfrm>
            <a:off x="543339" y="563218"/>
            <a:ext cx="7991060" cy="2456917"/>
          </a:xfrm>
          <a:prstGeom prst="rect">
            <a:avLst/>
          </a:prstGeom>
        </p:spPr>
      </p:pic>
      <p:pic>
        <p:nvPicPr>
          <p:cNvPr id="3" name="Picture 2">
            <a:extLst>
              <a:ext uri="{FF2B5EF4-FFF2-40B4-BE49-F238E27FC236}">
                <a16:creationId xmlns:a16="http://schemas.microsoft.com/office/drawing/2014/main" xmlns="" id="{BB6E18F3-52AE-48B8-AEC3-D724F80A1FD1}"/>
              </a:ext>
            </a:extLst>
          </p:cNvPr>
          <p:cNvPicPr>
            <a:picLocks noChangeAspect="1"/>
          </p:cNvPicPr>
          <p:nvPr/>
        </p:nvPicPr>
        <p:blipFill>
          <a:blip r:embed="rId3"/>
          <a:stretch>
            <a:fillRect/>
          </a:stretch>
        </p:blipFill>
        <p:spPr>
          <a:xfrm>
            <a:off x="543338" y="3837865"/>
            <a:ext cx="7991061" cy="2456917"/>
          </a:xfrm>
          <a:prstGeom prst="rect">
            <a:avLst/>
          </a:prstGeom>
        </p:spPr>
      </p:pic>
    </p:spTree>
    <p:extLst>
      <p:ext uri="{BB962C8B-B14F-4D97-AF65-F5344CB8AC3E}">
        <p14:creationId xmlns:p14="http://schemas.microsoft.com/office/powerpoint/2010/main" val="3355787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A0E13E01-1ED8-4426-A9AA-6FD0D3AADFA2}"/>
              </a:ext>
            </a:extLst>
          </p:cNvPr>
          <p:cNvPicPr>
            <a:picLocks noChangeAspect="1"/>
          </p:cNvPicPr>
          <p:nvPr/>
        </p:nvPicPr>
        <p:blipFill>
          <a:blip r:embed="rId3"/>
          <a:stretch>
            <a:fillRect/>
          </a:stretch>
        </p:blipFill>
        <p:spPr>
          <a:xfrm>
            <a:off x="503583" y="278296"/>
            <a:ext cx="8282607" cy="2628781"/>
          </a:xfrm>
          <a:prstGeom prst="rect">
            <a:avLst/>
          </a:prstGeom>
        </p:spPr>
      </p:pic>
      <p:pic>
        <p:nvPicPr>
          <p:cNvPr id="3" name="Picture 2">
            <a:extLst>
              <a:ext uri="{FF2B5EF4-FFF2-40B4-BE49-F238E27FC236}">
                <a16:creationId xmlns:a16="http://schemas.microsoft.com/office/drawing/2014/main" xmlns="" id="{218FAB26-1773-4969-9067-2AB3A7FC8597}"/>
              </a:ext>
            </a:extLst>
          </p:cNvPr>
          <p:cNvPicPr>
            <a:picLocks noChangeAspect="1"/>
          </p:cNvPicPr>
          <p:nvPr/>
        </p:nvPicPr>
        <p:blipFill>
          <a:blip r:embed="rId4"/>
          <a:stretch>
            <a:fillRect/>
          </a:stretch>
        </p:blipFill>
        <p:spPr>
          <a:xfrm>
            <a:off x="1232452" y="3143249"/>
            <a:ext cx="7089913" cy="1163707"/>
          </a:xfrm>
          <a:prstGeom prst="rect">
            <a:avLst/>
          </a:prstGeom>
        </p:spPr>
      </p:pic>
      <p:pic>
        <p:nvPicPr>
          <p:cNvPr id="4" name="Picture 3">
            <a:extLst>
              <a:ext uri="{FF2B5EF4-FFF2-40B4-BE49-F238E27FC236}">
                <a16:creationId xmlns:a16="http://schemas.microsoft.com/office/drawing/2014/main" xmlns="" id="{ACA46A43-B86D-48E9-A821-A80954C47041}"/>
              </a:ext>
            </a:extLst>
          </p:cNvPr>
          <p:cNvPicPr>
            <a:picLocks noChangeAspect="1"/>
          </p:cNvPicPr>
          <p:nvPr/>
        </p:nvPicPr>
        <p:blipFill>
          <a:blip r:embed="rId5"/>
          <a:stretch>
            <a:fillRect/>
          </a:stretch>
        </p:blipFill>
        <p:spPr>
          <a:xfrm>
            <a:off x="1351723" y="4672515"/>
            <a:ext cx="4532242" cy="57534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1044651" y="5386192"/>
                <a:ext cx="7465513" cy="1323439"/>
              </a:xfrm>
              <a:prstGeom prst="rect">
                <a:avLst/>
              </a:prstGeom>
              <a:noFill/>
            </p:spPr>
            <p:txBody>
              <a:bodyPr wrap="square" rtlCol="0">
                <a:spAutoFit/>
              </a:bodyPr>
              <a:lstStyle/>
              <a:p>
                <a:r>
                  <a:rPr lang="en-US" sz="2000" b="1" dirty="0" smtClean="0">
                    <a:solidFill>
                      <a:srgbClr val="FF0000"/>
                    </a:solidFill>
                  </a:rPr>
                  <a:t>Where</a:t>
                </a:r>
                <a:r>
                  <a:rPr lang="en-US" sz="2000" dirty="0" smtClean="0">
                    <a:solidFill>
                      <a:srgbClr val="FF0000"/>
                    </a:solidFill>
                  </a:rPr>
                  <a:t>, the input of the F.F  </a:t>
                </a:r>
                <a14:m>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𝐷</m:t>
                        </m:r>
                      </m:e>
                      <m:sub>
                        <m:r>
                          <a:rPr lang="en-US" sz="2000" b="0" i="1" smtClean="0">
                            <a:solidFill>
                              <a:srgbClr val="FF0000"/>
                            </a:solidFill>
                            <a:latin typeface="Cambria Math" panose="02040503050406030204" pitchFamily="18" charset="0"/>
                          </a:rPr>
                          <m:t>𝐴</m:t>
                        </m:r>
                      </m:sub>
                    </m:sSub>
                  </m:oMath>
                </a14:m>
                <a:r>
                  <a:rPr lang="en-US" sz="2000" dirty="0" smtClean="0">
                    <a:solidFill>
                      <a:srgbClr val="FF0000"/>
                    </a:solidFill>
                  </a:rPr>
                  <a:t> can be calculated as follows:</a:t>
                </a:r>
              </a:p>
              <a:p>
                <a:pPr marL="285750" indent="-285750">
                  <a:buFont typeface="Arial" panose="020B0604020202020204" pitchFamily="34" charset="0"/>
                  <a:buChar char="•"/>
                </a:pPr>
                <a:r>
                  <a:rPr lang="en-US" sz="2000" dirty="0" smtClean="0">
                    <a:solidFill>
                      <a:srgbClr val="FF0000"/>
                    </a:solidFill>
                  </a:rPr>
                  <a:t> looking for where its next state equals 1.  </a:t>
                </a:r>
              </a:p>
              <a:p>
                <a:pPr marL="285750" indent="-285750">
                  <a:buFont typeface="Arial" panose="020B0604020202020204" pitchFamily="34" charset="0"/>
                  <a:buChar char="•"/>
                </a:pPr>
                <a:r>
                  <a:rPr lang="en-US" sz="2000" dirty="0" smtClean="0">
                    <a:solidFill>
                      <a:srgbClr val="FF0000"/>
                    </a:solidFill>
                  </a:rPr>
                  <a:t>Then find the value of the related PS and external input : (110), (011), and (111).</a:t>
                </a:r>
              </a:p>
            </p:txBody>
          </p:sp>
        </mc:Choice>
        <mc:Fallback xmlns="">
          <p:sp>
            <p:nvSpPr>
              <p:cNvPr id="5" name="TextBox 4"/>
              <p:cNvSpPr txBox="1">
                <a:spLocks noRot="1" noChangeAspect="1" noMove="1" noResize="1" noEditPoints="1" noAdjustHandles="1" noChangeArrowheads="1" noChangeShapeType="1" noTextEdit="1"/>
              </p:cNvSpPr>
              <p:nvPr/>
            </p:nvSpPr>
            <p:spPr>
              <a:xfrm>
                <a:off x="1044651" y="5386192"/>
                <a:ext cx="7465513" cy="1323439"/>
              </a:xfrm>
              <a:prstGeom prst="rect">
                <a:avLst/>
              </a:prstGeom>
              <a:blipFill rotWithShape="0">
                <a:blip r:embed="rId6"/>
                <a:stretch>
                  <a:fillRect l="-816" t="-2765" b="-7373"/>
                </a:stretch>
              </a:blipFill>
            </p:spPr>
            <p:txBody>
              <a:bodyPr/>
              <a:lstStyle/>
              <a:p>
                <a:r>
                  <a:rPr lang="en-US">
                    <a:noFill/>
                  </a:rPr>
                  <a:t> </a:t>
                </a:r>
              </a:p>
            </p:txBody>
          </p:sp>
        </mc:Fallback>
      </mc:AlternateContent>
    </p:spTree>
    <p:extLst>
      <p:ext uri="{BB962C8B-B14F-4D97-AF65-F5344CB8AC3E}">
        <p14:creationId xmlns:p14="http://schemas.microsoft.com/office/powerpoint/2010/main" val="2754136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6C2777A2-EEE1-41D5-8350-63C95CC6130B}"/>
              </a:ext>
            </a:extLst>
          </p:cNvPr>
          <p:cNvPicPr>
            <a:picLocks noChangeAspect="1"/>
          </p:cNvPicPr>
          <p:nvPr/>
        </p:nvPicPr>
        <p:blipFill>
          <a:blip r:embed="rId2"/>
          <a:stretch>
            <a:fillRect/>
          </a:stretch>
        </p:blipFill>
        <p:spPr>
          <a:xfrm>
            <a:off x="225083" y="309490"/>
            <a:ext cx="8454683" cy="5725550"/>
          </a:xfrm>
          <a:prstGeom prst="rect">
            <a:avLst/>
          </a:prstGeom>
        </p:spPr>
      </p:pic>
    </p:spTree>
    <p:extLst>
      <p:ext uri="{BB962C8B-B14F-4D97-AF65-F5344CB8AC3E}">
        <p14:creationId xmlns:p14="http://schemas.microsoft.com/office/powerpoint/2010/main" val="3444305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C2CA5236-ECFF-4877-BF91-AC0FD4B9D67F}"/>
              </a:ext>
            </a:extLst>
          </p:cNvPr>
          <p:cNvPicPr>
            <a:picLocks noChangeAspect="1"/>
          </p:cNvPicPr>
          <p:nvPr/>
        </p:nvPicPr>
        <p:blipFill>
          <a:blip r:embed="rId2"/>
          <a:stretch>
            <a:fillRect/>
          </a:stretch>
        </p:blipFill>
        <p:spPr>
          <a:xfrm>
            <a:off x="703384" y="478302"/>
            <a:ext cx="7962313" cy="5753686"/>
          </a:xfrm>
          <a:prstGeom prst="rect">
            <a:avLst/>
          </a:prstGeom>
        </p:spPr>
      </p:pic>
    </p:spTree>
    <p:extLst>
      <p:ext uri="{BB962C8B-B14F-4D97-AF65-F5344CB8AC3E}">
        <p14:creationId xmlns:p14="http://schemas.microsoft.com/office/powerpoint/2010/main" val="3257281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0C403F-A6CE-43DD-ADCF-BA6C2BBDFBD7}"/>
              </a:ext>
            </a:extLst>
          </p:cNvPr>
          <p:cNvSpPr>
            <a:spLocks noGrp="1"/>
          </p:cNvSpPr>
          <p:nvPr>
            <p:ph type="title"/>
          </p:nvPr>
        </p:nvSpPr>
        <p:spPr/>
        <p:txBody>
          <a:bodyPr>
            <a:normAutofit/>
          </a:bodyPr>
          <a:lstStyle/>
          <a:p>
            <a:r>
              <a:rPr lang="en-US" b="1" dirty="0">
                <a:solidFill>
                  <a:srgbClr val="FF0000"/>
                </a:solidFill>
              </a:rPr>
              <a:t>Register with Parallel Load</a:t>
            </a:r>
          </a:p>
        </p:txBody>
      </p:sp>
      <p:sp>
        <p:nvSpPr>
          <p:cNvPr id="3" name="Content Placeholder 2">
            <a:extLst>
              <a:ext uri="{FF2B5EF4-FFF2-40B4-BE49-F238E27FC236}">
                <a16:creationId xmlns:a16="http://schemas.microsoft.com/office/drawing/2014/main" xmlns="" id="{E37CDCE1-64D8-4259-9E92-B257FF1799C5}"/>
              </a:ext>
            </a:extLst>
          </p:cNvPr>
          <p:cNvSpPr>
            <a:spLocks noGrp="1"/>
          </p:cNvSpPr>
          <p:nvPr>
            <p:ph idx="1"/>
          </p:nvPr>
        </p:nvSpPr>
        <p:spPr/>
        <p:txBody>
          <a:bodyPr>
            <a:normAutofit/>
          </a:bodyPr>
          <a:lstStyle/>
          <a:p>
            <a:r>
              <a:rPr lang="en-US" sz="2400" b="0" i="0" u="none" strike="noStrike" baseline="0" dirty="0"/>
              <a:t>Registers are useful for storing and manipulating </a:t>
            </a:r>
            <a:r>
              <a:rPr lang="en-US" sz="2400" b="0" i="0" u="none" strike="noStrike" baseline="0" dirty="0" smtClean="0"/>
              <a:t>information.</a:t>
            </a:r>
            <a:endParaRPr lang="en-US" sz="2400" b="0" i="0" u="none" strike="noStrike" baseline="0" dirty="0"/>
          </a:p>
          <a:p>
            <a:pPr algn="l"/>
            <a:r>
              <a:rPr lang="en-US" sz="2400" b="0" i="0" u="none" strike="noStrike" baseline="0" dirty="0"/>
              <a:t>The transfer of new information into a register is referred to as </a:t>
            </a:r>
            <a:r>
              <a:rPr lang="en-US" sz="2400" b="0" i="1" u="none" strike="noStrike" baseline="0" dirty="0"/>
              <a:t>loading </a:t>
            </a:r>
            <a:r>
              <a:rPr lang="en-US" sz="2400" b="0" i="0" u="none" strike="noStrike" baseline="0" dirty="0"/>
              <a:t>the register.</a:t>
            </a:r>
          </a:p>
          <a:p>
            <a:pPr algn="l"/>
            <a:r>
              <a:rPr lang="en-US" sz="2400" b="0" i="0" u="none" strike="noStrike" baseline="0" dirty="0"/>
              <a:t>If all the bits of the register are loaded simultaneously with a common clock pulse, we say that the loading is done in parallel.</a:t>
            </a:r>
            <a:endParaRPr lang="en-US" sz="2400" dirty="0"/>
          </a:p>
        </p:txBody>
      </p:sp>
    </p:spTree>
    <p:extLst>
      <p:ext uri="{BB962C8B-B14F-4D97-AF65-F5344CB8AC3E}">
        <p14:creationId xmlns:p14="http://schemas.microsoft.com/office/powerpoint/2010/main" val="661312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1ED5DCFC-C3BF-4806-913F-65C341E5FAB8}"/>
              </a:ext>
            </a:extLst>
          </p:cNvPr>
          <p:cNvPicPr>
            <a:picLocks noChangeAspect="1"/>
          </p:cNvPicPr>
          <p:nvPr/>
        </p:nvPicPr>
        <p:blipFill>
          <a:blip r:embed="rId2"/>
          <a:stretch>
            <a:fillRect/>
          </a:stretch>
        </p:blipFill>
        <p:spPr>
          <a:xfrm>
            <a:off x="874643" y="414131"/>
            <a:ext cx="7394713" cy="6029738"/>
          </a:xfrm>
          <a:prstGeom prst="rect">
            <a:avLst/>
          </a:prstGeom>
        </p:spPr>
      </p:pic>
    </p:spTree>
    <p:extLst>
      <p:ext uri="{BB962C8B-B14F-4D97-AF65-F5344CB8AC3E}">
        <p14:creationId xmlns:p14="http://schemas.microsoft.com/office/powerpoint/2010/main" val="3781341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66EEEE-487F-4EAE-85E7-1BFCDE4E8F80}"/>
              </a:ext>
            </a:extLst>
          </p:cNvPr>
          <p:cNvSpPr>
            <a:spLocks noGrp="1"/>
          </p:cNvSpPr>
          <p:nvPr>
            <p:ph type="title"/>
          </p:nvPr>
        </p:nvSpPr>
        <p:spPr/>
        <p:txBody>
          <a:bodyPr/>
          <a:lstStyle/>
          <a:p>
            <a:r>
              <a:rPr lang="en-US" b="1" dirty="0">
                <a:solidFill>
                  <a:srgbClr val="FF0000"/>
                </a:solidFill>
              </a:rPr>
              <a:t>Digital System</a:t>
            </a:r>
          </a:p>
        </p:txBody>
      </p:sp>
      <p:sp>
        <p:nvSpPr>
          <p:cNvPr id="3" name="Content Placeholder 2">
            <a:extLst>
              <a:ext uri="{FF2B5EF4-FFF2-40B4-BE49-F238E27FC236}">
                <a16:creationId xmlns:a16="http://schemas.microsoft.com/office/drawing/2014/main" xmlns="" id="{C9A58B0C-E30A-4681-9ED7-0016E639826B}"/>
              </a:ext>
            </a:extLst>
          </p:cNvPr>
          <p:cNvSpPr>
            <a:spLocks noGrp="1"/>
          </p:cNvSpPr>
          <p:nvPr>
            <p:ph idx="1"/>
          </p:nvPr>
        </p:nvSpPr>
        <p:spPr/>
        <p:txBody>
          <a:bodyPr>
            <a:normAutofit/>
          </a:bodyPr>
          <a:lstStyle/>
          <a:p>
            <a:r>
              <a:rPr lang="en-US" dirty="0"/>
              <a:t>A digital system is a sequential circuit made up of interconnected flip-flops and gates.</a:t>
            </a:r>
          </a:p>
          <a:p>
            <a:r>
              <a:rPr lang="en-US" dirty="0"/>
              <a:t> Sequential circuits can be specified by means of state tables.</a:t>
            </a:r>
          </a:p>
          <a:p>
            <a:r>
              <a:rPr lang="en-US" dirty="0"/>
              <a:t> To specify a large digital system with state tables is very difficult, if not impossible, because the number of states is prohibitively large.</a:t>
            </a:r>
          </a:p>
          <a:p>
            <a:r>
              <a:rPr lang="en-US" dirty="0"/>
              <a:t> To overcome this difficulty, digital systems are designed using a modular, hierarchical approach.</a:t>
            </a:r>
          </a:p>
        </p:txBody>
      </p:sp>
    </p:spTree>
    <p:extLst>
      <p:ext uri="{BB962C8B-B14F-4D97-AF65-F5344CB8AC3E}">
        <p14:creationId xmlns:p14="http://schemas.microsoft.com/office/powerpoint/2010/main" val="2121087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178FE8-4ECC-4851-8F00-BD4EB66EE44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04D2A977-CA5E-4004-AD64-BFEEBF9D8C8E}"/>
              </a:ext>
            </a:extLst>
          </p:cNvPr>
          <p:cNvSpPr>
            <a:spLocks noGrp="1"/>
          </p:cNvSpPr>
          <p:nvPr>
            <p:ph idx="1"/>
          </p:nvPr>
        </p:nvSpPr>
        <p:spPr/>
        <p:txBody>
          <a:bodyPr/>
          <a:lstStyle/>
          <a:p>
            <a:r>
              <a:rPr lang="en-US" dirty="0"/>
              <a:t>In most digital system designs, we partition the system into two types of modules:</a:t>
            </a:r>
          </a:p>
          <a:p>
            <a:r>
              <a:rPr lang="en-US" dirty="0"/>
              <a:t>a </a:t>
            </a:r>
            <a:r>
              <a:rPr lang="en-US" i="1" dirty="0"/>
              <a:t>datapath</a:t>
            </a:r>
            <a:r>
              <a:rPr lang="en-US" dirty="0"/>
              <a:t>, which performs data-processing operations,</a:t>
            </a:r>
          </a:p>
          <a:p>
            <a:r>
              <a:rPr lang="en-US" dirty="0"/>
              <a:t> and a </a:t>
            </a:r>
            <a:r>
              <a:rPr lang="en-US" i="1" dirty="0"/>
              <a:t>control unit</a:t>
            </a:r>
            <a:r>
              <a:rPr lang="en-US" dirty="0"/>
              <a:t>, which determines the sequence of those operations.</a:t>
            </a:r>
          </a:p>
        </p:txBody>
      </p:sp>
    </p:spTree>
    <p:extLst>
      <p:ext uri="{BB962C8B-B14F-4D97-AF65-F5344CB8AC3E}">
        <p14:creationId xmlns:p14="http://schemas.microsoft.com/office/powerpoint/2010/main" val="1354244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E5DC93-D881-4E62-9D67-8E8735F5631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B113A797-8991-485F-94AC-42AF5C20A33C}"/>
              </a:ext>
            </a:extLst>
          </p:cNvPr>
          <p:cNvSpPr>
            <a:spLocks noGrp="1"/>
          </p:cNvSpPr>
          <p:nvPr>
            <p:ph idx="1"/>
          </p:nvPr>
        </p:nvSpPr>
        <p:spPr/>
        <p:txBody>
          <a:bodyPr/>
          <a:lstStyle/>
          <a:p>
            <a:r>
              <a:rPr lang="en-US" dirty="0"/>
              <a:t>Datapaths are defined by their registers and the operations performed on binary data stored in the registers.</a:t>
            </a:r>
          </a:p>
          <a:p>
            <a:r>
              <a:rPr lang="en-US" dirty="0"/>
              <a:t>Examples of register operations are load, clear, shift, and count. </a:t>
            </a:r>
          </a:p>
          <a:p>
            <a:r>
              <a:rPr lang="en-US" dirty="0"/>
              <a:t>The registers are assumed to be basic components of the digital system</a:t>
            </a:r>
          </a:p>
        </p:txBody>
      </p:sp>
    </p:spTree>
    <p:extLst>
      <p:ext uri="{BB962C8B-B14F-4D97-AF65-F5344CB8AC3E}">
        <p14:creationId xmlns:p14="http://schemas.microsoft.com/office/powerpoint/2010/main" val="3353079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617E07-A07E-4186-B76B-780CFB145E5A}"/>
              </a:ext>
            </a:extLst>
          </p:cNvPr>
          <p:cNvSpPr>
            <a:spLocks noGrp="1"/>
          </p:cNvSpPr>
          <p:nvPr>
            <p:ph type="title"/>
          </p:nvPr>
        </p:nvSpPr>
        <p:spPr/>
        <p:txBody>
          <a:bodyPr/>
          <a:lstStyle/>
          <a:p>
            <a:r>
              <a:rPr lang="en-US" b="1" dirty="0">
                <a:solidFill>
                  <a:srgbClr val="FF0000"/>
                </a:solidFill>
              </a:rPr>
              <a:t>Register Transfer Operations</a:t>
            </a:r>
            <a:endParaRPr lang="en-US" dirty="0">
              <a:solidFill>
                <a:srgbClr val="FF0000"/>
              </a:solidFill>
            </a:endParaRPr>
          </a:p>
        </p:txBody>
      </p:sp>
      <p:sp>
        <p:nvSpPr>
          <p:cNvPr id="3" name="Content Placeholder 2">
            <a:extLst>
              <a:ext uri="{FF2B5EF4-FFF2-40B4-BE49-F238E27FC236}">
                <a16:creationId xmlns:a16="http://schemas.microsoft.com/office/drawing/2014/main" xmlns="" id="{01289FE7-8BCA-4BF1-A8E8-050B31A62E59}"/>
              </a:ext>
            </a:extLst>
          </p:cNvPr>
          <p:cNvSpPr>
            <a:spLocks noGrp="1"/>
          </p:cNvSpPr>
          <p:nvPr>
            <p:ph idx="1"/>
          </p:nvPr>
        </p:nvSpPr>
        <p:spPr/>
        <p:txBody>
          <a:bodyPr>
            <a:normAutofit fontScale="92500"/>
          </a:bodyPr>
          <a:lstStyle/>
          <a:p>
            <a:r>
              <a:rPr lang="en-US" dirty="0"/>
              <a:t>The movement of the data stored in registers and the processing performed on the data are referred to as </a:t>
            </a:r>
            <a:r>
              <a:rPr lang="en-US" i="1" dirty="0"/>
              <a:t>register transfer operations</a:t>
            </a:r>
            <a:r>
              <a:rPr lang="en-US" dirty="0"/>
              <a:t>.</a:t>
            </a:r>
          </a:p>
          <a:p>
            <a:r>
              <a:rPr lang="en-US" dirty="0"/>
              <a:t>The register transfer operations of digital systems are specified by the following three basic components:</a:t>
            </a:r>
          </a:p>
          <a:p>
            <a:pPr marL="0" indent="0">
              <a:buNone/>
            </a:pPr>
            <a:r>
              <a:rPr lang="en-US" b="1" dirty="0"/>
              <a:t>	1. </a:t>
            </a:r>
            <a:r>
              <a:rPr lang="en-US" dirty="0"/>
              <a:t>T</a:t>
            </a:r>
            <a:r>
              <a:rPr lang="en-US" dirty="0" smtClean="0"/>
              <a:t>he </a:t>
            </a:r>
            <a:r>
              <a:rPr lang="en-US" dirty="0"/>
              <a:t>set of registers in the system,</a:t>
            </a:r>
          </a:p>
          <a:p>
            <a:pPr marL="0" indent="0">
              <a:buNone/>
            </a:pPr>
            <a:r>
              <a:rPr lang="en-US" b="1" dirty="0"/>
              <a:t>	2. </a:t>
            </a:r>
            <a:r>
              <a:rPr lang="en-US" b="1" dirty="0" smtClean="0"/>
              <a:t>T</a:t>
            </a:r>
            <a:r>
              <a:rPr lang="en-US" dirty="0" smtClean="0"/>
              <a:t>he </a:t>
            </a:r>
            <a:r>
              <a:rPr lang="en-US" dirty="0"/>
              <a:t>operations that are performed on the data 	stored in the registers, and</a:t>
            </a:r>
          </a:p>
          <a:p>
            <a:pPr marL="0" indent="0">
              <a:buNone/>
            </a:pPr>
            <a:r>
              <a:rPr lang="en-US" b="1" dirty="0"/>
              <a:t>	3. </a:t>
            </a:r>
            <a:r>
              <a:rPr lang="en-US" b="1" dirty="0" smtClean="0"/>
              <a:t>T</a:t>
            </a:r>
            <a:r>
              <a:rPr lang="en-US" dirty="0" smtClean="0"/>
              <a:t>he </a:t>
            </a:r>
            <a:r>
              <a:rPr lang="en-US" dirty="0"/>
              <a:t>control that supervises the sequence of 	operations in the system.</a:t>
            </a:r>
          </a:p>
        </p:txBody>
      </p:sp>
    </p:spTree>
    <p:extLst>
      <p:ext uri="{BB962C8B-B14F-4D97-AF65-F5344CB8AC3E}">
        <p14:creationId xmlns:p14="http://schemas.microsoft.com/office/powerpoint/2010/main" val="3070110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9AB4BA-201D-4C29-8695-C41370F5B997}"/>
              </a:ext>
            </a:extLst>
          </p:cNvPr>
          <p:cNvSpPr>
            <a:spLocks noGrp="1"/>
          </p:cNvSpPr>
          <p:nvPr>
            <p:ph type="title"/>
          </p:nvPr>
        </p:nvSpPr>
        <p:spPr/>
        <p:txBody>
          <a:bodyPr/>
          <a:lstStyle/>
          <a:p>
            <a:r>
              <a:rPr lang="en-US" b="1" i="1" dirty="0">
                <a:solidFill>
                  <a:srgbClr val="FF0000"/>
                </a:solidFill>
              </a:rPr>
              <a:t>Microoperation</a:t>
            </a:r>
            <a:endParaRPr lang="en-US" b="1" dirty="0">
              <a:solidFill>
                <a:srgbClr val="FF0000"/>
              </a:solidFill>
            </a:endParaRPr>
          </a:p>
        </p:txBody>
      </p:sp>
      <p:sp>
        <p:nvSpPr>
          <p:cNvPr id="3" name="Content Placeholder 2">
            <a:extLst>
              <a:ext uri="{FF2B5EF4-FFF2-40B4-BE49-F238E27FC236}">
                <a16:creationId xmlns:a16="http://schemas.microsoft.com/office/drawing/2014/main" xmlns="" id="{FDB5444B-BEB6-402B-A1F8-E77207E216BE}"/>
              </a:ext>
            </a:extLst>
          </p:cNvPr>
          <p:cNvSpPr>
            <a:spLocks noGrp="1"/>
          </p:cNvSpPr>
          <p:nvPr>
            <p:ph idx="1"/>
          </p:nvPr>
        </p:nvSpPr>
        <p:spPr/>
        <p:txBody>
          <a:bodyPr>
            <a:normAutofit/>
          </a:bodyPr>
          <a:lstStyle/>
          <a:p>
            <a:r>
              <a:rPr lang="en-US" dirty="0"/>
              <a:t>An elementary operation performed on data stored in registers is called a </a:t>
            </a:r>
            <a:r>
              <a:rPr lang="en-US" i="1" dirty="0"/>
              <a:t>microoperation.</a:t>
            </a:r>
          </a:p>
          <a:p>
            <a:r>
              <a:rPr lang="en-US" dirty="0"/>
              <a:t>A microoperation is usually, but not always, performed in parallel on a vector of bits during one clock cycle.</a:t>
            </a:r>
          </a:p>
          <a:p>
            <a:r>
              <a:rPr lang="en-US" dirty="0"/>
              <a:t>Examples of microoperations are:</a:t>
            </a:r>
          </a:p>
          <a:p>
            <a:pPr marL="0" indent="0">
              <a:buNone/>
            </a:pPr>
            <a:r>
              <a:rPr lang="en-US" dirty="0"/>
              <a:t>	 loading the contents of one register into 	another, adding the contents of two registers, 	and incrementing the contents of a register.</a:t>
            </a:r>
          </a:p>
        </p:txBody>
      </p:sp>
    </p:spTree>
    <p:extLst>
      <p:ext uri="{BB962C8B-B14F-4D97-AF65-F5344CB8AC3E}">
        <p14:creationId xmlns:p14="http://schemas.microsoft.com/office/powerpoint/2010/main" val="87552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F00C86-D56B-4F96-9195-9226F1C7FAD1}"/>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8DDB437A-8766-471F-BA94-4152963621E5}"/>
              </a:ext>
            </a:extLst>
          </p:cNvPr>
          <p:cNvSpPr>
            <a:spLocks noGrp="1"/>
          </p:cNvSpPr>
          <p:nvPr>
            <p:ph idx="1"/>
          </p:nvPr>
        </p:nvSpPr>
        <p:spPr/>
        <p:txBody>
          <a:bodyPr>
            <a:normAutofit lnSpcReduction="10000"/>
          </a:bodyPr>
          <a:lstStyle/>
          <a:p>
            <a:r>
              <a:rPr lang="en-US" dirty="0"/>
              <a:t>The microoperations most often encountered in digital systems are of four types:</a:t>
            </a:r>
          </a:p>
          <a:p>
            <a:pPr marL="0" indent="0">
              <a:buNone/>
            </a:pPr>
            <a:r>
              <a:rPr lang="en-US" dirty="0"/>
              <a:t>	1. </a:t>
            </a:r>
            <a:r>
              <a:rPr lang="en-US" i="1" dirty="0">
                <a:solidFill>
                  <a:srgbClr val="FF0000"/>
                </a:solidFill>
              </a:rPr>
              <a:t>Transfer </a:t>
            </a:r>
            <a:r>
              <a:rPr lang="en-US" dirty="0">
                <a:solidFill>
                  <a:srgbClr val="FF0000"/>
                </a:solidFill>
              </a:rPr>
              <a:t>microoperations</a:t>
            </a:r>
            <a:r>
              <a:rPr lang="en-US" dirty="0"/>
              <a:t>, which transfer 	binary data from one register to another.</a:t>
            </a:r>
          </a:p>
          <a:p>
            <a:pPr marL="0" indent="0">
              <a:buNone/>
            </a:pPr>
            <a:r>
              <a:rPr lang="en-US" dirty="0"/>
              <a:t>	2. </a:t>
            </a:r>
            <a:r>
              <a:rPr lang="en-US" i="1" dirty="0">
                <a:solidFill>
                  <a:srgbClr val="FF0000"/>
                </a:solidFill>
              </a:rPr>
              <a:t>Arithmetic </a:t>
            </a:r>
            <a:r>
              <a:rPr lang="en-US" dirty="0">
                <a:solidFill>
                  <a:srgbClr val="FF0000"/>
                </a:solidFill>
              </a:rPr>
              <a:t>microoperations</a:t>
            </a:r>
            <a:r>
              <a:rPr lang="en-US" dirty="0"/>
              <a:t>, which perform 	arithmetic on data in registers.</a:t>
            </a:r>
          </a:p>
          <a:p>
            <a:pPr marL="0" indent="0">
              <a:buNone/>
            </a:pPr>
            <a:r>
              <a:rPr lang="en-US" dirty="0"/>
              <a:t>	3. </a:t>
            </a:r>
            <a:r>
              <a:rPr lang="en-US" i="1" dirty="0">
                <a:solidFill>
                  <a:srgbClr val="FF0000"/>
                </a:solidFill>
              </a:rPr>
              <a:t>Logic </a:t>
            </a:r>
            <a:r>
              <a:rPr lang="en-US" dirty="0">
                <a:solidFill>
                  <a:srgbClr val="FF0000"/>
                </a:solidFill>
              </a:rPr>
              <a:t>microoperations</a:t>
            </a:r>
            <a:r>
              <a:rPr lang="en-US" dirty="0"/>
              <a:t>, which perform bit 	manipulation on data in registers.</a:t>
            </a:r>
          </a:p>
          <a:p>
            <a:pPr marL="0" indent="0">
              <a:buNone/>
            </a:pPr>
            <a:r>
              <a:rPr lang="en-US" dirty="0"/>
              <a:t>	4. </a:t>
            </a:r>
            <a:r>
              <a:rPr lang="en-US" i="1" dirty="0">
                <a:solidFill>
                  <a:srgbClr val="FF0000"/>
                </a:solidFill>
              </a:rPr>
              <a:t>Shift </a:t>
            </a:r>
            <a:r>
              <a:rPr lang="en-US" dirty="0">
                <a:solidFill>
                  <a:srgbClr val="FF0000"/>
                </a:solidFill>
              </a:rPr>
              <a:t>microoperations</a:t>
            </a:r>
            <a:r>
              <a:rPr lang="en-US" dirty="0"/>
              <a:t>, which shift data in 	registers.</a:t>
            </a:r>
          </a:p>
        </p:txBody>
      </p:sp>
    </p:spTree>
    <p:extLst>
      <p:ext uri="{BB962C8B-B14F-4D97-AF65-F5344CB8AC3E}">
        <p14:creationId xmlns:p14="http://schemas.microsoft.com/office/powerpoint/2010/main" val="2480588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2C0BD2-4A8E-411B-8D9A-F5F1D2D5464C}"/>
              </a:ext>
            </a:extLst>
          </p:cNvPr>
          <p:cNvSpPr>
            <a:spLocks noGrp="1"/>
          </p:cNvSpPr>
          <p:nvPr>
            <p:ph type="title"/>
          </p:nvPr>
        </p:nvSpPr>
        <p:spPr/>
        <p:txBody>
          <a:bodyPr/>
          <a:lstStyle/>
          <a:p>
            <a:r>
              <a:rPr lang="en-US" b="1" dirty="0">
                <a:solidFill>
                  <a:srgbClr val="FF0000"/>
                </a:solidFill>
              </a:rPr>
              <a:t>Register Transfer Language (RTL)</a:t>
            </a:r>
          </a:p>
        </p:txBody>
      </p:sp>
      <p:sp>
        <p:nvSpPr>
          <p:cNvPr id="3" name="Content Placeholder 2">
            <a:extLst>
              <a:ext uri="{FF2B5EF4-FFF2-40B4-BE49-F238E27FC236}">
                <a16:creationId xmlns:a16="http://schemas.microsoft.com/office/drawing/2014/main" xmlns="" id="{E6BD8A4B-E1A7-4AB3-BBEC-BC24EB6FE29A}"/>
              </a:ext>
            </a:extLst>
          </p:cNvPr>
          <p:cNvSpPr>
            <a:spLocks noGrp="1"/>
          </p:cNvSpPr>
          <p:nvPr>
            <p:ph idx="1"/>
          </p:nvPr>
        </p:nvSpPr>
        <p:spPr/>
        <p:txBody>
          <a:bodyPr/>
          <a:lstStyle/>
          <a:p>
            <a:r>
              <a:rPr lang="en-US" dirty="0"/>
              <a:t>RTL represent registers and specify the operations on their contents. </a:t>
            </a:r>
          </a:p>
          <a:p>
            <a:pPr algn="just"/>
            <a:r>
              <a:rPr lang="en-US" dirty="0"/>
              <a:t>The register transfer language uses a set of expressions and statements that resemble statements used in HDLs and programming languages.</a:t>
            </a:r>
          </a:p>
          <a:p>
            <a:pPr algn="just"/>
            <a:r>
              <a:rPr lang="en-US" dirty="0"/>
              <a:t>We denote the registers in a digital system by uppercase letters.</a:t>
            </a:r>
          </a:p>
          <a:p>
            <a:pPr marL="0" indent="0" algn="just">
              <a:buNone/>
            </a:pPr>
            <a:endParaRPr lang="en-US" dirty="0"/>
          </a:p>
        </p:txBody>
      </p:sp>
    </p:spTree>
    <p:extLst>
      <p:ext uri="{BB962C8B-B14F-4D97-AF65-F5344CB8AC3E}">
        <p14:creationId xmlns:p14="http://schemas.microsoft.com/office/powerpoint/2010/main" val="1910012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91F163-FCB1-470B-A080-D4C5A707318A}"/>
              </a:ext>
            </a:extLst>
          </p:cNvPr>
          <p:cNvSpPr>
            <a:spLocks noGrp="1"/>
          </p:cNvSpPr>
          <p:nvPr>
            <p:ph type="title"/>
          </p:nvPr>
        </p:nvSpPr>
        <p:spPr/>
        <p:txBody>
          <a:bodyPr/>
          <a:lstStyle/>
          <a:p>
            <a:r>
              <a:rPr lang="en-US" b="1" dirty="0">
                <a:solidFill>
                  <a:srgbClr val="FF0000"/>
                </a:solidFill>
              </a:rPr>
              <a:t>RTL Basic Symbols</a:t>
            </a:r>
          </a:p>
        </p:txBody>
      </p:sp>
      <p:pic>
        <p:nvPicPr>
          <p:cNvPr id="4" name="Content Placeholder 3">
            <a:extLst>
              <a:ext uri="{FF2B5EF4-FFF2-40B4-BE49-F238E27FC236}">
                <a16:creationId xmlns:a16="http://schemas.microsoft.com/office/drawing/2014/main" xmlns="" id="{55B58304-B6CA-42D2-A070-9EA7B279D71F}"/>
              </a:ext>
            </a:extLst>
          </p:cNvPr>
          <p:cNvPicPr>
            <a:picLocks noGrp="1" noChangeAspect="1"/>
          </p:cNvPicPr>
          <p:nvPr>
            <p:ph idx="1"/>
          </p:nvPr>
        </p:nvPicPr>
        <p:blipFill>
          <a:blip r:embed="rId2"/>
          <a:stretch>
            <a:fillRect/>
          </a:stretch>
        </p:blipFill>
        <p:spPr>
          <a:xfrm>
            <a:off x="628650" y="1690689"/>
            <a:ext cx="7886700" cy="4802185"/>
          </a:xfrm>
          <a:prstGeom prst="rect">
            <a:avLst/>
          </a:prstGeom>
        </p:spPr>
      </p:pic>
    </p:spTree>
    <p:extLst>
      <p:ext uri="{BB962C8B-B14F-4D97-AF65-F5344CB8AC3E}">
        <p14:creationId xmlns:p14="http://schemas.microsoft.com/office/powerpoint/2010/main" val="3205533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B964CE-9D11-413D-9A79-C414F3B973E5}"/>
              </a:ext>
            </a:extLst>
          </p:cNvPr>
          <p:cNvSpPr>
            <a:spLocks noGrp="1"/>
          </p:cNvSpPr>
          <p:nvPr>
            <p:ph type="title"/>
          </p:nvPr>
        </p:nvSpPr>
        <p:spPr/>
        <p:txBody>
          <a:bodyPr/>
          <a:lstStyle/>
          <a:p>
            <a:r>
              <a:rPr lang="en-US" dirty="0"/>
              <a:t>Cont.,</a:t>
            </a:r>
          </a:p>
        </p:txBody>
      </p:sp>
      <p:pic>
        <p:nvPicPr>
          <p:cNvPr id="4" name="Content Placeholder 3">
            <a:extLst>
              <a:ext uri="{FF2B5EF4-FFF2-40B4-BE49-F238E27FC236}">
                <a16:creationId xmlns:a16="http://schemas.microsoft.com/office/drawing/2014/main" xmlns="" id="{8482DD23-DEF7-4F63-BE5B-E862EF5EAC82}"/>
              </a:ext>
            </a:extLst>
          </p:cNvPr>
          <p:cNvPicPr>
            <a:picLocks noGrp="1" noChangeAspect="1"/>
          </p:cNvPicPr>
          <p:nvPr>
            <p:ph idx="1"/>
          </p:nvPr>
        </p:nvPicPr>
        <p:blipFill>
          <a:blip r:embed="rId2"/>
          <a:stretch>
            <a:fillRect/>
          </a:stretch>
        </p:blipFill>
        <p:spPr>
          <a:xfrm>
            <a:off x="628650" y="1690688"/>
            <a:ext cx="7886700" cy="4802185"/>
          </a:xfrm>
          <a:prstGeom prst="rect">
            <a:avLst/>
          </a:prstGeom>
        </p:spPr>
      </p:pic>
    </p:spTree>
    <p:extLst>
      <p:ext uri="{BB962C8B-B14F-4D97-AF65-F5344CB8AC3E}">
        <p14:creationId xmlns:p14="http://schemas.microsoft.com/office/powerpoint/2010/main" val="2228185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9606C9-877E-4449-9B44-B2DA3A616D77}"/>
              </a:ext>
            </a:extLst>
          </p:cNvPr>
          <p:cNvSpPr>
            <a:spLocks noGrp="1"/>
          </p:cNvSpPr>
          <p:nvPr>
            <p:ph type="title"/>
          </p:nvPr>
        </p:nvSpPr>
        <p:spPr/>
        <p:txBody>
          <a:bodyPr/>
          <a:lstStyle/>
          <a:p>
            <a:r>
              <a:rPr lang="en-US" b="1" dirty="0">
                <a:solidFill>
                  <a:srgbClr val="FF0000"/>
                </a:solidFill>
              </a:rPr>
              <a:t>Conditional statement</a:t>
            </a:r>
          </a:p>
        </p:txBody>
      </p:sp>
      <p:sp>
        <p:nvSpPr>
          <p:cNvPr id="3" name="Content Placeholder 2">
            <a:extLst>
              <a:ext uri="{FF2B5EF4-FFF2-40B4-BE49-F238E27FC236}">
                <a16:creationId xmlns:a16="http://schemas.microsoft.com/office/drawing/2014/main" xmlns="" id="{335CB54A-CE05-4871-947C-9414A2DFD495}"/>
              </a:ext>
            </a:extLst>
          </p:cNvPr>
          <p:cNvSpPr>
            <a:spLocks noGrp="1"/>
          </p:cNvSpPr>
          <p:nvPr>
            <p:ph idx="1"/>
          </p:nvPr>
        </p:nvSpPr>
        <p:spPr/>
        <p:txBody>
          <a:bodyPr/>
          <a:lstStyle/>
          <a:p>
            <a:r>
              <a:rPr lang="en-US" dirty="0"/>
              <a:t>A </a:t>
            </a:r>
            <a:r>
              <a:rPr lang="en-US" i="1" dirty="0"/>
              <a:t>conditional statement</a:t>
            </a:r>
            <a:r>
              <a:rPr lang="en-US" dirty="0"/>
              <a:t>, </a:t>
            </a:r>
            <a:r>
              <a:rPr lang="en-US" dirty="0" smtClean="0"/>
              <a:t>symbolized by </a:t>
            </a:r>
            <a:r>
              <a:rPr lang="en-US" dirty="0"/>
              <a:t>the </a:t>
            </a:r>
            <a:r>
              <a:rPr lang="en-US" i="1" dirty="0"/>
              <a:t>if-then </a:t>
            </a:r>
            <a:r>
              <a:rPr lang="en-US" dirty="0"/>
              <a:t>form:</a:t>
            </a:r>
          </a:p>
          <a:p>
            <a:pPr marL="0" indent="0">
              <a:buNone/>
            </a:pPr>
            <a:r>
              <a:rPr lang="en-US" dirty="0"/>
              <a:t>	if (</a:t>
            </a:r>
            <a:r>
              <a:rPr lang="en-US" i="1" dirty="0"/>
              <a:t>K</a:t>
            </a:r>
            <a:r>
              <a:rPr lang="en-US" dirty="0"/>
              <a:t>1  = 1) then (</a:t>
            </a:r>
            <a:r>
              <a:rPr lang="en-US" i="1" dirty="0"/>
              <a:t>R</a:t>
            </a:r>
            <a:r>
              <a:rPr lang="en-US" dirty="0"/>
              <a:t>2 ← </a:t>
            </a:r>
            <a:r>
              <a:rPr lang="en-US" i="1" dirty="0"/>
              <a:t>R</a:t>
            </a:r>
            <a:r>
              <a:rPr lang="en-US" dirty="0"/>
              <a:t>1)</a:t>
            </a:r>
          </a:p>
          <a:p>
            <a:pPr marL="0" indent="0">
              <a:buNone/>
            </a:pPr>
            <a:r>
              <a:rPr lang="en-US" sz="2400" i="1" dirty="0" smtClean="0"/>
              <a:t>	where </a:t>
            </a:r>
            <a:r>
              <a:rPr lang="en-US" sz="2400" i="1" dirty="0"/>
              <a:t>K1 is a control signal generated in the </a:t>
            </a:r>
            <a:r>
              <a:rPr lang="en-US" sz="2400" i="1" dirty="0" smtClean="0"/>
              <a:t>	control </a:t>
            </a:r>
            <a:r>
              <a:rPr lang="en-US" sz="2400" i="1" dirty="0"/>
              <a:t>unit.</a:t>
            </a:r>
          </a:p>
          <a:p>
            <a:r>
              <a:rPr lang="en-US" dirty="0"/>
              <a:t>A more concise way of writing the I</a:t>
            </a:r>
            <a:r>
              <a:rPr lang="en-US" dirty="0" smtClean="0"/>
              <a:t>f -Then is</a:t>
            </a:r>
            <a:r>
              <a:rPr lang="en-US" dirty="0"/>
              <a:t>:</a:t>
            </a:r>
          </a:p>
          <a:p>
            <a:pPr marL="0" indent="0">
              <a:buNone/>
            </a:pPr>
            <a:r>
              <a:rPr lang="en-US" i="1" dirty="0"/>
              <a:t>	K</a:t>
            </a:r>
            <a:r>
              <a:rPr lang="en-US" dirty="0"/>
              <a:t>1: </a:t>
            </a:r>
            <a:r>
              <a:rPr lang="en-US" i="1" dirty="0"/>
              <a:t>R</a:t>
            </a:r>
            <a:r>
              <a:rPr lang="en-US" dirty="0"/>
              <a:t>2 ← </a:t>
            </a:r>
            <a:r>
              <a:rPr lang="en-US" i="1" dirty="0" smtClean="0"/>
              <a:t>R</a:t>
            </a:r>
            <a:r>
              <a:rPr lang="en-US" dirty="0" smtClean="0"/>
              <a:t>1</a:t>
            </a:r>
          </a:p>
          <a:p>
            <a:r>
              <a:rPr lang="en-US" dirty="0" smtClean="0"/>
              <a:t>The HW implementation is shown in the following slide.</a:t>
            </a:r>
            <a:endParaRPr lang="en-US" dirty="0"/>
          </a:p>
        </p:txBody>
      </p:sp>
    </p:spTree>
    <p:extLst>
      <p:ext uri="{BB962C8B-B14F-4D97-AF65-F5344CB8AC3E}">
        <p14:creationId xmlns:p14="http://schemas.microsoft.com/office/powerpoint/2010/main" val="3688166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9184CB-9431-42FF-A077-647E3665005B}"/>
              </a:ext>
            </a:extLst>
          </p:cNvPr>
          <p:cNvSpPr>
            <a:spLocks noGrp="1"/>
          </p:cNvSpPr>
          <p:nvPr>
            <p:ph type="title"/>
          </p:nvPr>
        </p:nvSpPr>
        <p:spPr/>
        <p:txBody>
          <a:bodyPr/>
          <a:lstStyle/>
          <a:p>
            <a:r>
              <a:rPr lang="en-US" b="1" dirty="0" smtClean="0"/>
              <a:t>Cont.,</a:t>
            </a:r>
            <a:endParaRPr lang="en-US" b="1" dirty="0"/>
          </a:p>
        </p:txBody>
      </p:sp>
      <p:pic>
        <p:nvPicPr>
          <p:cNvPr id="4" name="Content Placeholder 3">
            <a:extLst>
              <a:ext uri="{FF2B5EF4-FFF2-40B4-BE49-F238E27FC236}">
                <a16:creationId xmlns:a16="http://schemas.microsoft.com/office/drawing/2014/main" xmlns="" id="{326E40F2-E9B7-49F3-A26C-AB7686E321CE}"/>
              </a:ext>
            </a:extLst>
          </p:cNvPr>
          <p:cNvPicPr>
            <a:picLocks noGrp="1" noChangeAspect="1"/>
          </p:cNvPicPr>
          <p:nvPr>
            <p:ph idx="1"/>
          </p:nvPr>
        </p:nvPicPr>
        <p:blipFill>
          <a:blip r:embed="rId2"/>
          <a:stretch>
            <a:fillRect/>
          </a:stretch>
        </p:blipFill>
        <p:spPr>
          <a:xfrm>
            <a:off x="1046922" y="1690690"/>
            <a:ext cx="6970643" cy="3371640"/>
          </a:xfrm>
          <a:prstGeom prst="rect">
            <a:avLst/>
          </a:prstGeom>
        </p:spPr>
      </p:pic>
    </p:spTree>
    <p:extLst>
      <p:ext uri="{BB962C8B-B14F-4D97-AF65-F5344CB8AC3E}">
        <p14:creationId xmlns:p14="http://schemas.microsoft.com/office/powerpoint/2010/main" val="958781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763831-FBE0-4C10-A345-322DC52AF4E1}"/>
              </a:ext>
            </a:extLst>
          </p:cNvPr>
          <p:cNvSpPr>
            <a:spLocks noGrp="1"/>
          </p:cNvSpPr>
          <p:nvPr>
            <p:ph type="title"/>
          </p:nvPr>
        </p:nvSpPr>
        <p:spPr/>
        <p:txBody>
          <a:bodyPr/>
          <a:lstStyle/>
          <a:p>
            <a:r>
              <a:rPr lang="en-US" b="1" dirty="0">
                <a:solidFill>
                  <a:srgbClr val="FF0000"/>
                </a:solidFill>
              </a:rPr>
              <a:t>Arithmetic Microoperations</a:t>
            </a:r>
            <a:endParaRPr lang="en-US" dirty="0">
              <a:solidFill>
                <a:srgbClr val="FF0000"/>
              </a:solidFill>
            </a:endParaRPr>
          </a:p>
        </p:txBody>
      </p:sp>
      <p:sp>
        <p:nvSpPr>
          <p:cNvPr id="3" name="Content Placeholder 2">
            <a:extLst>
              <a:ext uri="{FF2B5EF4-FFF2-40B4-BE49-F238E27FC236}">
                <a16:creationId xmlns:a16="http://schemas.microsoft.com/office/drawing/2014/main" xmlns="" id="{C4AD2578-0B77-42B0-9167-6E471015703C}"/>
              </a:ext>
            </a:extLst>
          </p:cNvPr>
          <p:cNvSpPr>
            <a:spLocks noGrp="1"/>
          </p:cNvSpPr>
          <p:nvPr>
            <p:ph idx="1"/>
          </p:nvPr>
        </p:nvSpPr>
        <p:spPr/>
        <p:txBody>
          <a:bodyPr/>
          <a:lstStyle/>
          <a:p>
            <a:r>
              <a:rPr lang="en-US" dirty="0"/>
              <a:t>The basic arithmetic microoperations such as add, subtract, increment, decrement, and complement.</a:t>
            </a:r>
          </a:p>
          <a:p>
            <a:r>
              <a:rPr lang="en-US" dirty="0"/>
              <a:t>For example, To implement </a:t>
            </a:r>
            <a:r>
              <a:rPr lang="en-US" dirty="0" smtClean="0"/>
              <a:t>the following </a:t>
            </a:r>
            <a:r>
              <a:rPr lang="en-US" dirty="0"/>
              <a:t>statement with hardware, we need three registers and a combinational component that performs the addition, such as a parallel adder.</a:t>
            </a:r>
          </a:p>
          <a:p>
            <a:pPr marL="0" indent="0">
              <a:buNone/>
            </a:pPr>
            <a:r>
              <a:rPr lang="en-US" dirty="0" smtClean="0"/>
              <a:t>	</a:t>
            </a:r>
            <a:r>
              <a:rPr lang="en-US" dirty="0"/>
              <a:t>	</a:t>
            </a:r>
            <a:r>
              <a:rPr lang="en-US" i="1" dirty="0"/>
              <a:t> </a:t>
            </a:r>
            <a:r>
              <a:rPr lang="en-US" i="1" dirty="0">
                <a:solidFill>
                  <a:schemeClr val="accent1"/>
                </a:solidFill>
              </a:rPr>
              <a:t>R</a:t>
            </a:r>
            <a:r>
              <a:rPr lang="en-US" dirty="0">
                <a:solidFill>
                  <a:schemeClr val="accent1"/>
                </a:solidFill>
              </a:rPr>
              <a:t>0 ← </a:t>
            </a:r>
            <a:r>
              <a:rPr lang="en-US" i="1" dirty="0">
                <a:solidFill>
                  <a:schemeClr val="accent1"/>
                </a:solidFill>
              </a:rPr>
              <a:t>R</a:t>
            </a:r>
            <a:r>
              <a:rPr lang="en-US" dirty="0">
                <a:solidFill>
                  <a:schemeClr val="accent1"/>
                </a:solidFill>
              </a:rPr>
              <a:t>1 + </a:t>
            </a:r>
            <a:r>
              <a:rPr lang="en-US" i="1" dirty="0" smtClean="0">
                <a:solidFill>
                  <a:schemeClr val="accent1"/>
                </a:solidFill>
              </a:rPr>
              <a:t>R</a:t>
            </a:r>
            <a:r>
              <a:rPr lang="en-US" dirty="0" smtClean="0">
                <a:solidFill>
                  <a:schemeClr val="accent1"/>
                </a:solidFill>
              </a:rPr>
              <a:t>2</a:t>
            </a:r>
            <a:endParaRPr lang="en-US" dirty="0">
              <a:solidFill>
                <a:schemeClr val="accent1"/>
              </a:solidFill>
            </a:endParaRPr>
          </a:p>
        </p:txBody>
      </p:sp>
    </p:spTree>
    <p:extLst>
      <p:ext uri="{BB962C8B-B14F-4D97-AF65-F5344CB8AC3E}">
        <p14:creationId xmlns:p14="http://schemas.microsoft.com/office/powerpoint/2010/main" val="39977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8BB4B3-120D-4F44-A282-D9CE112CC4D4}"/>
              </a:ext>
            </a:extLst>
          </p:cNvPr>
          <p:cNvSpPr>
            <a:spLocks noGrp="1"/>
          </p:cNvSpPr>
          <p:nvPr>
            <p:ph type="title"/>
          </p:nvPr>
        </p:nvSpPr>
        <p:spPr/>
        <p:txBody>
          <a:bodyPr/>
          <a:lstStyle/>
          <a:p>
            <a:r>
              <a:rPr lang="en-US" dirty="0"/>
              <a:t>Cont.,</a:t>
            </a:r>
          </a:p>
        </p:txBody>
      </p:sp>
      <p:pic>
        <p:nvPicPr>
          <p:cNvPr id="4" name="Content Placeholder 3">
            <a:extLst>
              <a:ext uri="{FF2B5EF4-FFF2-40B4-BE49-F238E27FC236}">
                <a16:creationId xmlns:a16="http://schemas.microsoft.com/office/drawing/2014/main" xmlns="" id="{D5F201CE-9970-48A3-A33F-B1BB40AFF909}"/>
              </a:ext>
            </a:extLst>
          </p:cNvPr>
          <p:cNvPicPr>
            <a:picLocks noGrp="1" noChangeAspect="1"/>
          </p:cNvPicPr>
          <p:nvPr>
            <p:ph idx="1"/>
          </p:nvPr>
        </p:nvPicPr>
        <p:blipFill>
          <a:blip r:embed="rId2"/>
          <a:stretch>
            <a:fillRect/>
          </a:stretch>
        </p:blipFill>
        <p:spPr>
          <a:xfrm>
            <a:off x="628650" y="1690689"/>
            <a:ext cx="7886700" cy="4802185"/>
          </a:xfrm>
          <a:prstGeom prst="rect">
            <a:avLst/>
          </a:prstGeom>
        </p:spPr>
      </p:pic>
    </p:spTree>
    <p:extLst>
      <p:ext uri="{BB962C8B-B14F-4D97-AF65-F5344CB8AC3E}">
        <p14:creationId xmlns:p14="http://schemas.microsoft.com/office/powerpoint/2010/main" val="40436418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8DAC9A-0AB5-4F2C-A8FF-A139CA269773}"/>
              </a:ext>
            </a:extLst>
          </p:cNvPr>
          <p:cNvSpPr>
            <a:spLocks noGrp="1"/>
          </p:cNvSpPr>
          <p:nvPr>
            <p:ph type="title"/>
          </p:nvPr>
        </p:nvSpPr>
        <p:spPr/>
        <p:txBody>
          <a:bodyPr/>
          <a:lstStyle/>
          <a:p>
            <a:r>
              <a:rPr lang="en-US" b="1" dirty="0">
                <a:solidFill>
                  <a:srgbClr val="FF0000"/>
                </a:solidFill>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3DD6DF99-61E3-429C-AA3B-0084A19BE16E}"/>
                  </a:ext>
                </a:extLst>
              </p:cNvPr>
              <p:cNvSpPr>
                <a:spLocks noGrp="1"/>
              </p:cNvSpPr>
              <p:nvPr>
                <p:ph idx="1"/>
              </p:nvPr>
            </p:nvSpPr>
            <p:spPr/>
            <p:txBody>
              <a:bodyPr>
                <a:normAutofit lnSpcReduction="10000"/>
              </a:bodyPr>
              <a:lstStyle/>
              <a:p>
                <a:r>
                  <a:rPr lang="en-US" dirty="0"/>
                  <a:t>Consider the following two statements:</a:t>
                </a:r>
              </a:p>
              <a:p>
                <a:pPr marL="0" indent="0">
                  <a:buNone/>
                </a:pPr>
                <a:r>
                  <a:rPr lang="en-US" i="1"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i="1" dirty="0"/>
                  <a:t>. K</a:t>
                </a:r>
                <a:r>
                  <a:rPr lang="en-US" dirty="0"/>
                  <a:t>1 : </a:t>
                </a:r>
                <a:r>
                  <a:rPr lang="en-US" i="1" dirty="0"/>
                  <a:t>R</a:t>
                </a:r>
                <a:r>
                  <a:rPr lang="en-US" dirty="0"/>
                  <a:t>1 ← </a:t>
                </a:r>
                <a:r>
                  <a:rPr lang="en-US" i="1" dirty="0"/>
                  <a:t>R</a:t>
                </a:r>
                <a:r>
                  <a:rPr lang="en-US" dirty="0"/>
                  <a:t>1 + </a:t>
                </a:r>
                <a:r>
                  <a:rPr lang="en-US" i="1" dirty="0"/>
                  <a:t>R</a:t>
                </a:r>
                <a:r>
                  <a:rPr lang="en-US" dirty="0"/>
                  <a:t>2</a:t>
                </a:r>
              </a:p>
              <a:p>
                <a:pPr marL="0" indent="0">
                  <a:buNone/>
                </a:pPr>
                <a:r>
                  <a:rPr lang="en-US" i="1" dirty="0"/>
                  <a:t>	X   . K</a:t>
                </a:r>
                <a:r>
                  <a:rPr lang="en-US" dirty="0"/>
                  <a:t>1 : </a:t>
                </a:r>
                <a:r>
                  <a:rPr lang="en-US" i="1" dirty="0"/>
                  <a:t>R</a:t>
                </a:r>
                <a:r>
                  <a:rPr lang="en-US" dirty="0"/>
                  <a:t>1 ← </a:t>
                </a:r>
                <a:r>
                  <a:rPr lang="en-US" i="1" dirty="0"/>
                  <a:t>R</a:t>
                </a:r>
                <a:r>
                  <a:rPr lang="en-US" dirty="0"/>
                  <a:t>1+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𝑅</m:t>
                        </m:r>
                        <m:r>
                          <a:rPr lang="en-US" b="0" i="1" smtClean="0">
                            <a:latin typeface="Cambria Math" panose="02040503050406030204" pitchFamily="18" charset="0"/>
                          </a:rPr>
                          <m:t>2</m:t>
                        </m:r>
                      </m:e>
                      <m:sup>
                        <m:r>
                          <a:rPr lang="en-US" i="1">
                            <a:latin typeface="Cambria Math" panose="02040503050406030204" pitchFamily="18" charset="0"/>
                          </a:rPr>
                          <m:t>−</m:t>
                        </m:r>
                      </m:sup>
                    </m:sSup>
                  </m:oMath>
                </a14:m>
                <a:r>
                  <a:rPr lang="en-US" i="1" dirty="0"/>
                  <a:t> +</a:t>
                </a:r>
                <a:r>
                  <a:rPr lang="en-US" dirty="0"/>
                  <a:t> 1</a:t>
                </a:r>
              </a:p>
              <a:p>
                <a:pPr marL="0" indent="0">
                  <a:buNone/>
                </a:pPr>
                <a:r>
                  <a:rPr lang="en-US" dirty="0"/>
                  <a:t>Where,</a:t>
                </a:r>
              </a:p>
              <a:p>
                <a:pPr marL="0" indent="0">
                  <a:buNone/>
                </a:pPr>
                <a:r>
                  <a:rPr lang="en-US" dirty="0"/>
                  <a:t>	X denotes the selection, if x = 0, then the 	operation is add, else the operation is 	subtract.</a:t>
                </a:r>
              </a:p>
              <a:p>
                <a:pPr marL="0" indent="0">
                  <a:buNone/>
                </a:pPr>
                <a:r>
                  <a:rPr lang="en-US" dirty="0"/>
                  <a:t>	K denotes the load , if K1 = 0, no load, else the 	register R1 loaded the transferred value</a:t>
                </a:r>
                <a:r>
                  <a:rPr lang="en-US" dirty="0" smtClean="0"/>
                  <a:t>.</a:t>
                </a:r>
              </a:p>
              <a:p>
                <a:r>
                  <a:rPr lang="en-US" dirty="0" smtClean="0"/>
                  <a:t>The HW implementation is:</a:t>
                </a:r>
                <a:endParaRPr lang="en-US" dirty="0"/>
              </a:p>
            </p:txBody>
          </p:sp>
        </mc:Choice>
        <mc:Fallback xmlns="">
          <p:sp>
            <p:nvSpPr>
              <p:cNvPr id="3" name="Content Placeholder 2">
                <a:extLst>
                  <a:ext uri="{FF2B5EF4-FFF2-40B4-BE49-F238E27FC236}">
                    <a16:creationId xmlns:a16="http://schemas.microsoft.com/office/drawing/2014/main" xmlns:a14="http://schemas.microsoft.com/office/drawing/2010/main" xmlns="" id="{3DD6DF99-61E3-429C-AA3B-0084A19BE16E}"/>
                  </a:ext>
                </a:extLst>
              </p:cNvPr>
              <p:cNvSpPr>
                <a:spLocks noGrp="1" noRot="1" noChangeAspect="1" noMove="1" noResize="1" noEditPoints="1" noAdjustHandles="1" noChangeArrowheads="1" noChangeShapeType="1" noTextEdit="1"/>
              </p:cNvSpPr>
              <p:nvPr>
                <p:ph idx="1"/>
              </p:nvPr>
            </p:nvSpPr>
            <p:spPr>
              <a:blipFill rotWithShape="0">
                <a:blip r:embed="rId2"/>
                <a:stretch>
                  <a:fillRect l="-1546" t="-3081" r="-1082" b="-2241"/>
                </a:stretch>
              </a:blipFill>
            </p:spPr>
            <p:txBody>
              <a:bodyPr/>
              <a:lstStyle/>
              <a:p>
                <a:r>
                  <a:rPr lang="en-US">
                    <a:noFill/>
                  </a:rPr>
                  <a:t> </a:t>
                </a:r>
              </a:p>
            </p:txBody>
          </p:sp>
        </mc:Fallback>
      </mc:AlternateContent>
    </p:spTree>
    <p:extLst>
      <p:ext uri="{BB962C8B-B14F-4D97-AF65-F5344CB8AC3E}">
        <p14:creationId xmlns:p14="http://schemas.microsoft.com/office/powerpoint/2010/main" val="22747254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D257CD-6249-4441-AB46-2F728903D58E}"/>
              </a:ext>
            </a:extLst>
          </p:cNvPr>
          <p:cNvSpPr>
            <a:spLocks noGrp="1"/>
          </p:cNvSpPr>
          <p:nvPr>
            <p:ph type="title"/>
          </p:nvPr>
        </p:nvSpPr>
        <p:spPr/>
        <p:txBody>
          <a:bodyPr/>
          <a:lstStyle/>
          <a:p>
            <a:r>
              <a:rPr lang="en-US" b="1" dirty="0" smtClean="0"/>
              <a:t>Cont.,</a:t>
            </a:r>
            <a:endParaRPr lang="en-US" b="1" dirty="0"/>
          </a:p>
        </p:txBody>
      </p:sp>
      <p:pic>
        <p:nvPicPr>
          <p:cNvPr id="4" name="Content Placeholder 3">
            <a:extLst>
              <a:ext uri="{FF2B5EF4-FFF2-40B4-BE49-F238E27FC236}">
                <a16:creationId xmlns:a16="http://schemas.microsoft.com/office/drawing/2014/main" xmlns="" id="{4DD82401-8EC8-4A77-8C0B-40193F12C183}"/>
              </a:ext>
            </a:extLst>
          </p:cNvPr>
          <p:cNvPicPr>
            <a:picLocks noGrp="1" noChangeAspect="1"/>
          </p:cNvPicPr>
          <p:nvPr>
            <p:ph idx="1"/>
          </p:nvPr>
        </p:nvPicPr>
        <p:blipFill>
          <a:blip r:embed="rId2"/>
          <a:stretch>
            <a:fillRect/>
          </a:stretch>
        </p:blipFill>
        <p:spPr>
          <a:xfrm>
            <a:off x="628650" y="1690689"/>
            <a:ext cx="7886700" cy="4802185"/>
          </a:xfrm>
          <a:prstGeom prst="rect">
            <a:avLst/>
          </a:prstGeom>
        </p:spPr>
      </p:pic>
    </p:spTree>
    <p:extLst>
      <p:ext uri="{BB962C8B-B14F-4D97-AF65-F5344CB8AC3E}">
        <p14:creationId xmlns:p14="http://schemas.microsoft.com/office/powerpoint/2010/main" val="1264735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C6BF14-1938-40E0-9C1A-A39EB973F73B}"/>
              </a:ext>
            </a:extLst>
          </p:cNvPr>
          <p:cNvSpPr>
            <a:spLocks noGrp="1"/>
          </p:cNvSpPr>
          <p:nvPr>
            <p:ph type="title"/>
          </p:nvPr>
        </p:nvSpPr>
        <p:spPr/>
        <p:txBody>
          <a:bodyPr/>
          <a:lstStyle/>
          <a:p>
            <a:r>
              <a:rPr lang="en-US" b="1" dirty="0" smtClean="0">
                <a:solidFill>
                  <a:srgbClr val="FF0000"/>
                </a:solidFill>
              </a:rPr>
              <a:t>Logic Microoperations</a:t>
            </a:r>
            <a:endParaRPr lang="en-US" dirty="0">
              <a:solidFill>
                <a:srgbClr val="FF0000"/>
              </a:solidFill>
            </a:endParaRPr>
          </a:p>
        </p:txBody>
      </p:sp>
      <p:sp>
        <p:nvSpPr>
          <p:cNvPr id="3" name="Content Placeholder 2">
            <a:extLst>
              <a:ext uri="{FF2B5EF4-FFF2-40B4-BE49-F238E27FC236}">
                <a16:creationId xmlns:a16="http://schemas.microsoft.com/office/drawing/2014/main" xmlns="" id="{7F50B2B0-D98B-400A-A66F-76A59F4F8A84}"/>
              </a:ext>
            </a:extLst>
          </p:cNvPr>
          <p:cNvSpPr>
            <a:spLocks noGrp="1"/>
          </p:cNvSpPr>
          <p:nvPr>
            <p:ph idx="1"/>
          </p:nvPr>
        </p:nvSpPr>
        <p:spPr/>
        <p:txBody>
          <a:bodyPr/>
          <a:lstStyle/>
          <a:p>
            <a:r>
              <a:rPr lang="en-US" dirty="0"/>
              <a:t>Logic microoperations are useful in manipulating the bits stored in a register. </a:t>
            </a:r>
          </a:p>
          <a:p>
            <a:r>
              <a:rPr lang="en-US" dirty="0"/>
              <a:t>These operations consider each bit in the register separately and treat it as a binary variable.</a:t>
            </a:r>
          </a:p>
        </p:txBody>
      </p:sp>
      <p:pic>
        <p:nvPicPr>
          <p:cNvPr id="4" name="Picture 3">
            <a:extLst>
              <a:ext uri="{FF2B5EF4-FFF2-40B4-BE49-F238E27FC236}">
                <a16:creationId xmlns:a16="http://schemas.microsoft.com/office/drawing/2014/main" xmlns="" id="{3457D16C-6FD8-40CB-B282-24295E8EF93C}"/>
              </a:ext>
            </a:extLst>
          </p:cNvPr>
          <p:cNvPicPr>
            <a:picLocks noChangeAspect="1"/>
          </p:cNvPicPr>
          <p:nvPr/>
        </p:nvPicPr>
        <p:blipFill>
          <a:blip r:embed="rId2"/>
          <a:stretch>
            <a:fillRect/>
          </a:stretch>
        </p:blipFill>
        <p:spPr>
          <a:xfrm>
            <a:off x="628650" y="3544095"/>
            <a:ext cx="7886700" cy="2632868"/>
          </a:xfrm>
          <a:prstGeom prst="rect">
            <a:avLst/>
          </a:prstGeom>
        </p:spPr>
      </p:pic>
    </p:spTree>
    <p:extLst>
      <p:ext uri="{BB962C8B-B14F-4D97-AF65-F5344CB8AC3E}">
        <p14:creationId xmlns:p14="http://schemas.microsoft.com/office/powerpoint/2010/main" val="1214784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372E0C-4BB1-480B-86C0-892F7A7558D0}"/>
              </a:ext>
            </a:extLst>
          </p:cNvPr>
          <p:cNvSpPr>
            <a:spLocks noGrp="1"/>
          </p:cNvSpPr>
          <p:nvPr>
            <p:ph type="title"/>
          </p:nvPr>
        </p:nvSpPr>
        <p:spPr/>
        <p:txBody>
          <a:bodyPr/>
          <a:lstStyle/>
          <a:p>
            <a:r>
              <a:rPr lang="en-US" b="1" dirty="0">
                <a:solidFill>
                  <a:srgbClr val="FF0000"/>
                </a:solidFill>
              </a:rPr>
              <a:t>Example</a:t>
            </a:r>
          </a:p>
        </p:txBody>
      </p:sp>
      <p:sp>
        <p:nvSpPr>
          <p:cNvPr id="3" name="Content Placeholder 2">
            <a:extLst>
              <a:ext uri="{FF2B5EF4-FFF2-40B4-BE49-F238E27FC236}">
                <a16:creationId xmlns:a16="http://schemas.microsoft.com/office/drawing/2014/main" xmlns="" id="{5F892FF8-292B-4DC5-8713-60A2C0205D4B}"/>
              </a:ext>
            </a:extLst>
          </p:cNvPr>
          <p:cNvSpPr>
            <a:spLocks noGrp="1"/>
          </p:cNvSpPr>
          <p:nvPr>
            <p:ph idx="1"/>
          </p:nvPr>
        </p:nvSpPr>
        <p:spPr/>
        <p:txBody>
          <a:bodyPr/>
          <a:lstStyle/>
          <a:p>
            <a:r>
              <a:rPr lang="en-US" dirty="0" smtClean="0"/>
              <a:t>Let the following RTL statement: </a:t>
            </a:r>
          </a:p>
          <a:p>
            <a:pPr marL="0" indent="0">
              <a:buNone/>
            </a:pPr>
            <a:r>
              <a:rPr lang="en-US" dirty="0"/>
              <a:t>	</a:t>
            </a:r>
            <a:r>
              <a:rPr lang="en-US" dirty="0" smtClean="0">
                <a:solidFill>
                  <a:schemeClr val="accent1"/>
                </a:solidFill>
              </a:rPr>
              <a:t>(</a:t>
            </a:r>
            <a:r>
              <a:rPr lang="en-US" i="1" dirty="0" smtClean="0">
                <a:solidFill>
                  <a:schemeClr val="accent1"/>
                </a:solidFill>
              </a:rPr>
              <a:t>K</a:t>
            </a:r>
            <a:r>
              <a:rPr lang="en-US" dirty="0" smtClean="0">
                <a:solidFill>
                  <a:schemeClr val="accent1"/>
                </a:solidFill>
              </a:rPr>
              <a:t>1 </a:t>
            </a:r>
            <a:r>
              <a:rPr lang="en-US" dirty="0">
                <a:solidFill>
                  <a:schemeClr val="accent1"/>
                </a:solidFill>
              </a:rPr>
              <a:t>+</a:t>
            </a:r>
            <a:r>
              <a:rPr lang="en-US" i="1" dirty="0">
                <a:solidFill>
                  <a:schemeClr val="accent1"/>
                </a:solidFill>
              </a:rPr>
              <a:t>K</a:t>
            </a:r>
            <a:r>
              <a:rPr lang="en-US" dirty="0">
                <a:solidFill>
                  <a:schemeClr val="accent1"/>
                </a:solidFill>
              </a:rPr>
              <a:t>2): </a:t>
            </a:r>
            <a:r>
              <a:rPr lang="en-US" i="1" dirty="0">
                <a:solidFill>
                  <a:schemeClr val="accent1"/>
                </a:solidFill>
              </a:rPr>
              <a:t>R</a:t>
            </a:r>
            <a:r>
              <a:rPr lang="en-US" dirty="0">
                <a:solidFill>
                  <a:schemeClr val="accent1"/>
                </a:solidFill>
              </a:rPr>
              <a:t>1 ← </a:t>
            </a:r>
            <a:r>
              <a:rPr lang="en-US" i="1" dirty="0">
                <a:solidFill>
                  <a:schemeClr val="accent1"/>
                </a:solidFill>
              </a:rPr>
              <a:t>R</a:t>
            </a:r>
            <a:r>
              <a:rPr lang="en-US" dirty="0">
                <a:solidFill>
                  <a:schemeClr val="accent1"/>
                </a:solidFill>
              </a:rPr>
              <a:t>2+</a:t>
            </a:r>
            <a:r>
              <a:rPr lang="en-US" i="1" dirty="0">
                <a:solidFill>
                  <a:schemeClr val="accent1"/>
                </a:solidFill>
              </a:rPr>
              <a:t>R</a:t>
            </a:r>
            <a:r>
              <a:rPr lang="en-US" dirty="0">
                <a:solidFill>
                  <a:schemeClr val="accent1"/>
                </a:solidFill>
              </a:rPr>
              <a:t>3, </a:t>
            </a:r>
            <a:r>
              <a:rPr lang="en-US" i="1" dirty="0">
                <a:solidFill>
                  <a:schemeClr val="accent1"/>
                </a:solidFill>
              </a:rPr>
              <a:t>R</a:t>
            </a:r>
            <a:r>
              <a:rPr lang="en-US" dirty="0">
                <a:solidFill>
                  <a:schemeClr val="accent1"/>
                </a:solidFill>
              </a:rPr>
              <a:t>4 ← </a:t>
            </a:r>
            <a:r>
              <a:rPr lang="en-US" i="1" dirty="0">
                <a:solidFill>
                  <a:schemeClr val="accent1"/>
                </a:solidFill>
              </a:rPr>
              <a:t>R</a:t>
            </a:r>
            <a:r>
              <a:rPr lang="en-US" dirty="0">
                <a:solidFill>
                  <a:schemeClr val="accent1"/>
                </a:solidFill>
              </a:rPr>
              <a:t>5 V </a:t>
            </a:r>
            <a:r>
              <a:rPr lang="en-US" i="1" dirty="0">
                <a:solidFill>
                  <a:schemeClr val="accent1"/>
                </a:solidFill>
              </a:rPr>
              <a:t>R</a:t>
            </a:r>
            <a:r>
              <a:rPr lang="en-US" dirty="0">
                <a:solidFill>
                  <a:schemeClr val="accent1"/>
                </a:solidFill>
              </a:rPr>
              <a:t>6</a:t>
            </a:r>
          </a:p>
          <a:p>
            <a:pPr marL="0" indent="0">
              <a:buNone/>
            </a:pPr>
            <a:r>
              <a:rPr lang="en-US" dirty="0" smtClean="0"/>
              <a:t>Note</a:t>
            </a:r>
            <a:r>
              <a:rPr lang="en-US" dirty="0"/>
              <a:t>: (</a:t>
            </a:r>
            <a:r>
              <a:rPr lang="en-US" i="1" dirty="0"/>
              <a:t>K</a:t>
            </a:r>
            <a:r>
              <a:rPr lang="en-US" dirty="0"/>
              <a:t>1 +</a:t>
            </a:r>
            <a:r>
              <a:rPr lang="en-US" i="1" dirty="0" smtClean="0"/>
              <a:t>K</a:t>
            </a:r>
            <a:r>
              <a:rPr lang="en-US" dirty="0" smtClean="0"/>
              <a:t>2) , the operation is logical OR.</a:t>
            </a:r>
          </a:p>
          <a:p>
            <a:pPr marL="0" indent="0">
              <a:buNone/>
            </a:pPr>
            <a:r>
              <a:rPr lang="en-US" dirty="0"/>
              <a:t>	</a:t>
            </a:r>
            <a:r>
              <a:rPr lang="en-US" i="1" dirty="0"/>
              <a:t> R</a:t>
            </a:r>
            <a:r>
              <a:rPr lang="en-US" dirty="0"/>
              <a:t>2+</a:t>
            </a:r>
            <a:r>
              <a:rPr lang="en-US" i="1" dirty="0"/>
              <a:t>R</a:t>
            </a:r>
            <a:r>
              <a:rPr lang="en-US" dirty="0"/>
              <a:t>3</a:t>
            </a:r>
            <a:r>
              <a:rPr lang="en-US" dirty="0" smtClean="0"/>
              <a:t>, the operation is ADD.</a:t>
            </a:r>
          </a:p>
          <a:p>
            <a:pPr marL="0" indent="0">
              <a:buNone/>
            </a:pPr>
            <a:r>
              <a:rPr lang="en-US" dirty="0"/>
              <a:t>	</a:t>
            </a:r>
            <a:r>
              <a:rPr lang="en-US" i="1" dirty="0"/>
              <a:t> R</a:t>
            </a:r>
            <a:r>
              <a:rPr lang="en-US" dirty="0"/>
              <a:t>5 V </a:t>
            </a:r>
            <a:r>
              <a:rPr lang="en-US" i="1" dirty="0" smtClean="0"/>
              <a:t>R</a:t>
            </a:r>
            <a:r>
              <a:rPr lang="en-US" dirty="0" smtClean="0"/>
              <a:t>6, the operation is BitwiseOR.</a:t>
            </a:r>
            <a:endParaRPr lang="en-US" dirty="0"/>
          </a:p>
        </p:txBody>
      </p:sp>
    </p:spTree>
    <p:extLst>
      <p:ext uri="{BB962C8B-B14F-4D97-AF65-F5344CB8AC3E}">
        <p14:creationId xmlns:p14="http://schemas.microsoft.com/office/powerpoint/2010/main" val="2516436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6773F1-485E-462D-8FB1-2585F6A3E4AE}"/>
              </a:ext>
            </a:extLst>
          </p:cNvPr>
          <p:cNvSpPr>
            <a:spLocks noGrp="1"/>
          </p:cNvSpPr>
          <p:nvPr>
            <p:ph type="title"/>
          </p:nvPr>
        </p:nvSpPr>
        <p:spPr/>
        <p:txBody>
          <a:bodyPr/>
          <a:lstStyle/>
          <a:p>
            <a:r>
              <a:rPr lang="en-US" b="1" dirty="0">
                <a:solidFill>
                  <a:srgbClr val="FF0000"/>
                </a:solidFill>
              </a:rPr>
              <a:t>Shift Microoperations</a:t>
            </a:r>
          </a:p>
        </p:txBody>
      </p:sp>
      <p:sp>
        <p:nvSpPr>
          <p:cNvPr id="3" name="Content Placeholder 2">
            <a:extLst>
              <a:ext uri="{FF2B5EF4-FFF2-40B4-BE49-F238E27FC236}">
                <a16:creationId xmlns:a16="http://schemas.microsoft.com/office/drawing/2014/main" xmlns="" id="{97E6CEE4-2643-496E-93DA-F655B83710CD}"/>
              </a:ext>
            </a:extLst>
          </p:cNvPr>
          <p:cNvSpPr>
            <a:spLocks noGrp="1"/>
          </p:cNvSpPr>
          <p:nvPr>
            <p:ph idx="1"/>
          </p:nvPr>
        </p:nvSpPr>
        <p:spPr/>
        <p:txBody>
          <a:bodyPr>
            <a:normAutofit/>
          </a:bodyPr>
          <a:lstStyle/>
          <a:p>
            <a:r>
              <a:rPr lang="en-US" dirty="0"/>
              <a:t>Shift microoperations are used for lateral movement of data. </a:t>
            </a:r>
          </a:p>
          <a:p>
            <a:r>
              <a:rPr lang="en-US" dirty="0"/>
              <a:t>The contents of a source register can be shifted either right or left.</a:t>
            </a:r>
          </a:p>
          <a:p>
            <a:r>
              <a:rPr lang="en-US" dirty="0"/>
              <a:t>A </a:t>
            </a:r>
            <a:r>
              <a:rPr lang="en-US" i="1" dirty="0"/>
              <a:t>left shift </a:t>
            </a:r>
            <a:r>
              <a:rPr lang="en-US" dirty="0"/>
              <a:t>is toward the most significant bit, and a </a:t>
            </a:r>
            <a:r>
              <a:rPr lang="en-US" i="1" dirty="0"/>
              <a:t>right shift </a:t>
            </a:r>
            <a:r>
              <a:rPr lang="en-US" dirty="0"/>
              <a:t>is toward the least significant bit.</a:t>
            </a:r>
          </a:p>
          <a:p>
            <a:r>
              <a:rPr lang="en-US" dirty="0"/>
              <a:t> Shift microoperations are used in the serial transfer of data, and for manipulating the contents of registers in arithmetic, logical, and control operations.</a:t>
            </a:r>
          </a:p>
        </p:txBody>
      </p:sp>
    </p:spTree>
    <p:extLst>
      <p:ext uri="{BB962C8B-B14F-4D97-AF65-F5344CB8AC3E}">
        <p14:creationId xmlns:p14="http://schemas.microsoft.com/office/powerpoint/2010/main" val="3298772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A9B2495F-1456-496E-82A2-3C94EC6E5FCA}"/>
              </a:ext>
            </a:extLst>
          </p:cNvPr>
          <p:cNvPicPr>
            <a:picLocks noChangeAspect="1"/>
          </p:cNvPicPr>
          <p:nvPr/>
        </p:nvPicPr>
        <p:blipFill>
          <a:blip r:embed="rId2"/>
          <a:stretch>
            <a:fillRect/>
          </a:stretch>
        </p:blipFill>
        <p:spPr>
          <a:xfrm>
            <a:off x="318052" y="530087"/>
            <a:ext cx="8335618" cy="4333461"/>
          </a:xfrm>
          <a:prstGeom prst="rect">
            <a:avLst/>
          </a:prstGeom>
        </p:spPr>
      </p:pic>
    </p:spTree>
    <p:extLst>
      <p:ext uri="{BB962C8B-B14F-4D97-AF65-F5344CB8AC3E}">
        <p14:creationId xmlns:p14="http://schemas.microsoft.com/office/powerpoint/2010/main" val="41748980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372E0C-4BB1-480B-86C0-892F7A7558D0}"/>
              </a:ext>
            </a:extLst>
          </p:cNvPr>
          <p:cNvSpPr>
            <a:spLocks noGrp="1"/>
          </p:cNvSpPr>
          <p:nvPr>
            <p:ph type="title"/>
          </p:nvPr>
        </p:nvSpPr>
        <p:spPr/>
        <p:txBody>
          <a:bodyPr/>
          <a:lstStyle/>
          <a:p>
            <a:r>
              <a:rPr lang="en-US" dirty="0" smtClean="0"/>
              <a:t>Assignment 7-1</a:t>
            </a:r>
            <a:endParaRPr lang="en-US" dirty="0"/>
          </a:p>
        </p:txBody>
      </p:sp>
      <p:sp>
        <p:nvSpPr>
          <p:cNvPr id="3" name="Content Placeholder 2">
            <a:extLst>
              <a:ext uri="{FF2B5EF4-FFF2-40B4-BE49-F238E27FC236}">
                <a16:creationId xmlns:a16="http://schemas.microsoft.com/office/drawing/2014/main" xmlns="" id="{5F892FF8-292B-4DC5-8713-60A2C0205D4B}"/>
              </a:ext>
            </a:extLst>
          </p:cNvPr>
          <p:cNvSpPr>
            <a:spLocks noGrp="1"/>
          </p:cNvSpPr>
          <p:nvPr>
            <p:ph idx="1"/>
          </p:nvPr>
        </p:nvSpPr>
        <p:spPr/>
        <p:txBody>
          <a:bodyPr/>
          <a:lstStyle/>
          <a:p>
            <a:r>
              <a:rPr lang="en-US" dirty="0"/>
              <a:t>Design The Following RTL:</a:t>
            </a:r>
          </a:p>
          <a:p>
            <a:pPr marL="0" indent="0">
              <a:buNone/>
            </a:pPr>
            <a:r>
              <a:rPr lang="en-US" dirty="0"/>
              <a:t>	(</a:t>
            </a:r>
            <a:r>
              <a:rPr lang="en-US" i="1" dirty="0"/>
              <a:t>K</a:t>
            </a:r>
            <a:r>
              <a:rPr lang="en-US" dirty="0"/>
              <a:t>1 +</a:t>
            </a:r>
            <a:r>
              <a:rPr lang="en-US" i="1" dirty="0"/>
              <a:t>K</a:t>
            </a:r>
            <a:r>
              <a:rPr lang="en-US" dirty="0"/>
              <a:t>2) : </a:t>
            </a:r>
            <a:r>
              <a:rPr lang="en-US" i="1" dirty="0"/>
              <a:t>R</a:t>
            </a:r>
            <a:r>
              <a:rPr lang="en-US" dirty="0"/>
              <a:t>1 ← </a:t>
            </a:r>
            <a:r>
              <a:rPr lang="en-US" i="1" dirty="0"/>
              <a:t>R</a:t>
            </a:r>
            <a:r>
              <a:rPr lang="en-US" dirty="0"/>
              <a:t>2+</a:t>
            </a:r>
            <a:r>
              <a:rPr lang="en-US" i="1" dirty="0"/>
              <a:t>R</a:t>
            </a:r>
            <a:r>
              <a:rPr lang="en-US" dirty="0"/>
              <a:t>3, </a:t>
            </a:r>
            <a:r>
              <a:rPr lang="en-US" i="1" dirty="0"/>
              <a:t>R</a:t>
            </a:r>
            <a:r>
              <a:rPr lang="en-US" dirty="0"/>
              <a:t>4 ← </a:t>
            </a:r>
            <a:r>
              <a:rPr lang="en-US" i="1" dirty="0"/>
              <a:t>R</a:t>
            </a:r>
            <a:r>
              <a:rPr lang="en-US" dirty="0"/>
              <a:t>5 V </a:t>
            </a:r>
            <a:r>
              <a:rPr lang="en-US" i="1" dirty="0"/>
              <a:t>R</a:t>
            </a:r>
            <a:r>
              <a:rPr lang="en-US" dirty="0"/>
              <a:t>6</a:t>
            </a:r>
          </a:p>
          <a:p>
            <a:pPr marL="0" indent="0">
              <a:buNone/>
            </a:pPr>
            <a:endParaRPr lang="en-US" dirty="0"/>
          </a:p>
        </p:txBody>
      </p:sp>
    </p:spTree>
    <p:extLst>
      <p:ext uri="{BB962C8B-B14F-4D97-AF65-F5344CB8AC3E}">
        <p14:creationId xmlns:p14="http://schemas.microsoft.com/office/powerpoint/2010/main" val="30919481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BBCBC7-0C8A-42E2-AD34-4F7B9B27D074}"/>
              </a:ext>
            </a:extLst>
          </p:cNvPr>
          <p:cNvSpPr>
            <a:spLocks noGrp="1"/>
          </p:cNvSpPr>
          <p:nvPr>
            <p:ph type="title"/>
          </p:nvPr>
        </p:nvSpPr>
        <p:spPr/>
        <p:txBody>
          <a:bodyPr/>
          <a:lstStyle/>
          <a:p>
            <a:r>
              <a:rPr lang="en-US" b="1" dirty="0">
                <a:solidFill>
                  <a:srgbClr val="FF0000"/>
                </a:solidFill>
              </a:rPr>
              <a:t>Transfer Microoperations</a:t>
            </a:r>
          </a:p>
        </p:txBody>
      </p:sp>
      <p:sp>
        <p:nvSpPr>
          <p:cNvPr id="3" name="Content Placeholder 2">
            <a:extLst>
              <a:ext uri="{FF2B5EF4-FFF2-40B4-BE49-F238E27FC236}">
                <a16:creationId xmlns:a16="http://schemas.microsoft.com/office/drawing/2014/main" xmlns="" id="{BDFF4FDC-7C0E-43B8-8835-3C9DFD96A361}"/>
              </a:ext>
            </a:extLst>
          </p:cNvPr>
          <p:cNvSpPr>
            <a:spLocks noGrp="1"/>
          </p:cNvSpPr>
          <p:nvPr>
            <p:ph idx="1"/>
          </p:nvPr>
        </p:nvSpPr>
        <p:spPr/>
        <p:txBody>
          <a:bodyPr/>
          <a:lstStyle/>
          <a:p>
            <a:r>
              <a:rPr lang="en-US" dirty="0"/>
              <a:t>There are three techniques can be used to transfer data between registers:</a:t>
            </a:r>
          </a:p>
          <a:p>
            <a:pPr marL="0" indent="0">
              <a:buNone/>
            </a:pPr>
            <a:r>
              <a:rPr lang="en-US" dirty="0"/>
              <a:t>	</a:t>
            </a:r>
            <a:r>
              <a:rPr lang="en-US" dirty="0">
                <a:solidFill>
                  <a:schemeClr val="accent1"/>
                </a:solidFill>
              </a:rPr>
              <a:t>1- Multiplexer-Based Transfer for single 	destination register</a:t>
            </a:r>
          </a:p>
          <a:p>
            <a:pPr marL="0" indent="0">
              <a:buNone/>
            </a:pPr>
            <a:r>
              <a:rPr lang="en-US" dirty="0">
                <a:solidFill>
                  <a:schemeClr val="accent1"/>
                </a:solidFill>
              </a:rPr>
              <a:t>	2- Bus-Based Transfer for Multiple Registers</a:t>
            </a:r>
          </a:p>
          <a:p>
            <a:pPr marL="0" indent="0">
              <a:buNone/>
            </a:pPr>
            <a:r>
              <a:rPr lang="en-US" dirty="0">
                <a:solidFill>
                  <a:schemeClr val="accent1"/>
                </a:solidFill>
              </a:rPr>
              <a:t>	3- Memory Transfer</a:t>
            </a:r>
          </a:p>
        </p:txBody>
      </p:sp>
    </p:spTree>
    <p:extLst>
      <p:ext uri="{BB962C8B-B14F-4D97-AF65-F5344CB8AC3E}">
        <p14:creationId xmlns:p14="http://schemas.microsoft.com/office/powerpoint/2010/main" val="2773264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2D1A9D-6B3A-497A-9739-E8702B67FEB1}"/>
              </a:ext>
            </a:extLst>
          </p:cNvPr>
          <p:cNvSpPr>
            <a:spLocks noGrp="1"/>
          </p:cNvSpPr>
          <p:nvPr>
            <p:ph type="title"/>
          </p:nvPr>
        </p:nvSpPr>
        <p:spPr/>
        <p:txBody>
          <a:bodyPr/>
          <a:lstStyle/>
          <a:p>
            <a:r>
              <a:rPr lang="en-US" dirty="0" smtClean="0">
                <a:solidFill>
                  <a:schemeClr val="accent1"/>
                </a:solidFill>
              </a:rPr>
              <a:t>1- Multiplexer-Based </a:t>
            </a:r>
            <a:r>
              <a:rPr lang="en-US" dirty="0">
                <a:solidFill>
                  <a:schemeClr val="accent1"/>
                </a:solidFill>
              </a:rPr>
              <a:t>Transfer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6AE160DF-0551-4B46-A701-19C5ECE7F3D0}"/>
                  </a:ext>
                </a:extLst>
              </p:cNvPr>
              <p:cNvSpPr>
                <a:spLocks noGrp="1"/>
              </p:cNvSpPr>
              <p:nvPr>
                <p:ph idx="1"/>
              </p:nvPr>
            </p:nvSpPr>
            <p:spPr/>
            <p:txBody>
              <a:bodyPr/>
              <a:lstStyle/>
              <a:p>
                <a:r>
                  <a:rPr lang="en-US" dirty="0"/>
                  <a:t>When a register receives data from two or more different sources at different times.</a:t>
                </a:r>
              </a:p>
              <a:p>
                <a:r>
                  <a:rPr lang="en-US" dirty="0"/>
                  <a:t>Consider the following conditional statement having an </a:t>
                </a:r>
                <a:r>
                  <a:rPr lang="en-US" i="1" dirty="0"/>
                  <a:t>if-then-else </a:t>
                </a:r>
                <a:r>
                  <a:rPr lang="en-US" dirty="0"/>
                  <a:t>form:</a:t>
                </a:r>
              </a:p>
              <a:p>
                <a:pPr marL="0" indent="0">
                  <a:buNone/>
                </a:pPr>
                <a:r>
                  <a:rPr lang="en-US" dirty="0"/>
                  <a:t>	if (</a:t>
                </a:r>
                <a:r>
                  <a:rPr lang="en-US" i="1" dirty="0"/>
                  <a:t>K</a:t>
                </a:r>
                <a:r>
                  <a:rPr lang="en-US" dirty="0"/>
                  <a:t>1= 1) then (</a:t>
                </a:r>
                <a:r>
                  <a:rPr lang="en-US" i="1" dirty="0"/>
                  <a:t>R</a:t>
                </a:r>
                <a:r>
                  <a:rPr lang="en-US" dirty="0"/>
                  <a:t>0 ← </a:t>
                </a:r>
                <a:r>
                  <a:rPr lang="en-US" i="1" dirty="0"/>
                  <a:t>R</a:t>
                </a:r>
                <a:r>
                  <a:rPr lang="en-US" dirty="0"/>
                  <a:t>1)</a:t>
                </a:r>
              </a:p>
              <a:p>
                <a:pPr marL="0" indent="0">
                  <a:buNone/>
                </a:pPr>
                <a:r>
                  <a:rPr lang="en-US" dirty="0"/>
                  <a:t>	else if (</a:t>
                </a:r>
                <a:r>
                  <a:rPr lang="en-US" i="1" dirty="0"/>
                  <a:t>K</a:t>
                </a:r>
                <a:r>
                  <a:rPr lang="en-US" dirty="0"/>
                  <a:t>2 = 1) then (</a:t>
                </a:r>
                <a:r>
                  <a:rPr lang="en-US" i="1" dirty="0"/>
                  <a:t>R</a:t>
                </a:r>
                <a:r>
                  <a:rPr lang="en-US" dirty="0"/>
                  <a:t>0 ← </a:t>
                </a:r>
                <a:r>
                  <a:rPr lang="en-US" i="1" dirty="0"/>
                  <a:t>R</a:t>
                </a:r>
                <a:r>
                  <a:rPr lang="en-US" dirty="0"/>
                  <a:t>2)</a:t>
                </a:r>
              </a:p>
              <a:p>
                <a:r>
                  <a:rPr lang="en-US" dirty="0"/>
                  <a:t>The conditional statement may be broken into two parts using the following control conditions:</a:t>
                </a:r>
              </a:p>
              <a:p>
                <a:pPr marL="0" indent="0">
                  <a:buNone/>
                </a:pPr>
                <a:r>
                  <a:rPr lang="en-US" i="1" dirty="0"/>
                  <a:t>	K</a:t>
                </a:r>
                <a:r>
                  <a:rPr lang="en-US" dirty="0"/>
                  <a:t>1: </a:t>
                </a:r>
                <a:r>
                  <a:rPr lang="en-US" i="1" dirty="0"/>
                  <a:t>R</a:t>
                </a:r>
                <a:r>
                  <a:rPr lang="en-US" dirty="0"/>
                  <a:t>0 ← </a:t>
                </a:r>
                <a:r>
                  <a:rPr lang="en-US" i="1" dirty="0"/>
                  <a:t>R</a:t>
                </a:r>
                <a:r>
                  <a:rPr lang="en-US" dirty="0"/>
                  <a:t>1,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𝐾</m:t>
                        </m:r>
                        <m:r>
                          <a:rPr lang="en-US" b="0" i="1" smtClean="0">
                            <a:latin typeface="Cambria Math" panose="02040503050406030204" pitchFamily="18" charset="0"/>
                          </a:rPr>
                          <m:t>1</m:t>
                        </m:r>
                      </m:e>
                      <m:sup>
                        <m:r>
                          <a:rPr lang="en-US" i="1">
                            <a:latin typeface="Cambria Math" panose="02040503050406030204" pitchFamily="18" charset="0"/>
                          </a:rPr>
                          <m:t>−</m:t>
                        </m:r>
                      </m:sup>
                    </m:sSup>
                    <m:r>
                      <a:rPr lang="en-US" b="0" i="1" smtClean="0">
                        <a:latin typeface="Cambria Math" panose="02040503050406030204" pitchFamily="18" charset="0"/>
                      </a:rPr>
                      <m:t>. </m:t>
                    </m:r>
                  </m:oMath>
                </a14:m>
                <a:r>
                  <a:rPr lang="en-US" i="1" dirty="0"/>
                  <a:t>K</a:t>
                </a:r>
                <a:r>
                  <a:rPr lang="en-US" dirty="0"/>
                  <a:t>2: </a:t>
                </a:r>
                <a:r>
                  <a:rPr lang="en-US" i="1" dirty="0"/>
                  <a:t>R</a:t>
                </a:r>
                <a:r>
                  <a:rPr lang="en-US" dirty="0"/>
                  <a:t>0 ← </a:t>
                </a:r>
                <a:r>
                  <a:rPr lang="en-US" i="1" dirty="0"/>
                  <a:t>R</a:t>
                </a:r>
                <a:r>
                  <a:rPr lang="en-US" dirty="0"/>
                  <a:t>2</a:t>
                </a:r>
              </a:p>
            </p:txBody>
          </p:sp>
        </mc:Choice>
        <mc:Fallback xmlns="">
          <p:sp>
            <p:nvSpPr>
              <p:cNvPr id="3" name="Content Placeholder 2">
                <a:extLst>
                  <a:ext uri="{FF2B5EF4-FFF2-40B4-BE49-F238E27FC236}">
                    <a16:creationId xmlns:a16="http://schemas.microsoft.com/office/drawing/2014/main" id="{6AE160DF-0551-4B46-A701-19C5ECE7F3D0}"/>
                  </a:ext>
                </a:extLst>
              </p:cNvPr>
              <p:cNvSpPr>
                <a:spLocks noGrp="1" noRot="1" noChangeAspect="1" noMove="1" noResize="1" noEditPoints="1" noAdjustHandles="1" noChangeArrowheads="1" noChangeShapeType="1" noTextEdit="1"/>
              </p:cNvSpPr>
              <p:nvPr>
                <p:ph idx="1"/>
              </p:nvPr>
            </p:nvSpPr>
            <p:spPr>
              <a:blipFill>
                <a:blip r:embed="rId2"/>
                <a:stretch>
                  <a:fillRect l="-1391" t="-2241" r="-386" b="-140"/>
                </a:stretch>
              </a:blipFill>
            </p:spPr>
            <p:txBody>
              <a:bodyPr/>
              <a:lstStyle/>
              <a:p>
                <a:r>
                  <a:rPr lang="en-US">
                    <a:noFill/>
                  </a:rPr>
                  <a:t> </a:t>
                </a:r>
              </a:p>
            </p:txBody>
          </p:sp>
        </mc:Fallback>
      </mc:AlternateContent>
    </p:spTree>
    <p:extLst>
      <p:ext uri="{BB962C8B-B14F-4D97-AF65-F5344CB8AC3E}">
        <p14:creationId xmlns:p14="http://schemas.microsoft.com/office/powerpoint/2010/main" val="38376134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2D1A9D-6B3A-497A-9739-E8702B67FEB1}"/>
              </a:ext>
            </a:extLst>
          </p:cNvPr>
          <p:cNvSpPr>
            <a:spLocks noGrp="1"/>
          </p:cNvSpPr>
          <p:nvPr>
            <p:ph type="title"/>
          </p:nvPr>
        </p:nvSpPr>
        <p:spPr/>
        <p:txBody>
          <a:bodyPr/>
          <a:lstStyle/>
          <a:p>
            <a:r>
              <a:rPr lang="en-US" dirty="0"/>
              <a:t>3.1-Multiplexer-Based Transfer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6AE160DF-0551-4B46-A701-19C5ECE7F3D0}"/>
                  </a:ext>
                </a:extLst>
              </p:cNvPr>
              <p:cNvSpPr>
                <a:spLocks noGrp="1"/>
              </p:cNvSpPr>
              <p:nvPr>
                <p:ph idx="1"/>
              </p:nvPr>
            </p:nvSpPr>
            <p:spPr/>
            <p:txBody>
              <a:bodyPr>
                <a:normAutofit fontScale="77500" lnSpcReduction="20000"/>
              </a:bodyPr>
              <a:lstStyle/>
              <a:p>
                <a:r>
                  <a:rPr lang="en-US" dirty="0"/>
                  <a:t>When a register receives data from two or more different sources at different times.</a:t>
                </a:r>
              </a:p>
              <a:p>
                <a:r>
                  <a:rPr lang="en-US" dirty="0"/>
                  <a:t>Consider the following conditional statement having an </a:t>
                </a:r>
                <a:r>
                  <a:rPr lang="en-US" i="1" dirty="0"/>
                  <a:t>if-then-else </a:t>
                </a:r>
                <a:r>
                  <a:rPr lang="en-US" dirty="0"/>
                  <a:t>form:</a:t>
                </a:r>
              </a:p>
              <a:p>
                <a:pPr marL="0" indent="0">
                  <a:buNone/>
                </a:pPr>
                <a:r>
                  <a:rPr lang="en-US" dirty="0"/>
                  <a:t>	if (</a:t>
                </a:r>
                <a:r>
                  <a:rPr lang="en-US" i="1" dirty="0"/>
                  <a:t>K</a:t>
                </a:r>
                <a:r>
                  <a:rPr lang="en-US" dirty="0"/>
                  <a:t>1= 1) then (</a:t>
                </a:r>
                <a:r>
                  <a:rPr lang="en-US" i="1" dirty="0"/>
                  <a:t>R</a:t>
                </a:r>
                <a:r>
                  <a:rPr lang="en-US" dirty="0"/>
                  <a:t>0 ← </a:t>
                </a:r>
                <a:r>
                  <a:rPr lang="en-US" i="1" dirty="0"/>
                  <a:t>R</a:t>
                </a:r>
                <a:r>
                  <a:rPr lang="en-US" dirty="0"/>
                  <a:t>1)</a:t>
                </a:r>
              </a:p>
              <a:p>
                <a:pPr marL="0" indent="0">
                  <a:buNone/>
                </a:pPr>
                <a:r>
                  <a:rPr lang="en-US" dirty="0"/>
                  <a:t>	else if (</a:t>
                </a:r>
                <a:r>
                  <a:rPr lang="en-US" i="1" dirty="0"/>
                  <a:t>K</a:t>
                </a:r>
                <a:r>
                  <a:rPr lang="en-US" dirty="0"/>
                  <a:t>2 = 1) then (</a:t>
                </a:r>
                <a:r>
                  <a:rPr lang="en-US" i="1" dirty="0"/>
                  <a:t>R</a:t>
                </a:r>
                <a:r>
                  <a:rPr lang="en-US" dirty="0"/>
                  <a:t>0 ← </a:t>
                </a:r>
                <a:r>
                  <a:rPr lang="en-US" i="1" dirty="0"/>
                  <a:t>R</a:t>
                </a:r>
                <a:r>
                  <a:rPr lang="en-US" dirty="0"/>
                  <a:t>2)</a:t>
                </a:r>
              </a:p>
              <a:p>
                <a:r>
                  <a:rPr lang="en-US" dirty="0"/>
                  <a:t>The conditional statement may be broken into two parts using the following control conditions:</a:t>
                </a:r>
              </a:p>
              <a:p>
                <a:pPr marL="0" indent="0">
                  <a:buNone/>
                </a:pPr>
                <a:r>
                  <a:rPr lang="en-US" i="1" dirty="0"/>
                  <a:t>	K</a:t>
                </a:r>
                <a:r>
                  <a:rPr lang="en-US" dirty="0"/>
                  <a:t>1: </a:t>
                </a:r>
                <a:r>
                  <a:rPr lang="en-US" i="1" dirty="0"/>
                  <a:t>R</a:t>
                </a:r>
                <a:r>
                  <a:rPr lang="en-US" dirty="0"/>
                  <a:t>0 ← </a:t>
                </a:r>
                <a:r>
                  <a:rPr lang="en-US" i="1" dirty="0"/>
                  <a:t>R</a:t>
                </a:r>
                <a:r>
                  <a:rPr lang="en-US" dirty="0"/>
                  <a:t>1,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e>
                      <m:sup>
                        <m:r>
                          <a:rPr lang="en-US" i="1">
                            <a:latin typeface="Cambria Math" panose="02040503050406030204" pitchFamily="18" charset="0"/>
                          </a:rPr>
                          <m:t>−</m:t>
                        </m:r>
                      </m:sup>
                    </m:sSup>
                    <m:r>
                      <a:rPr lang="en-US" b="0" i="1" smtClean="0">
                        <a:latin typeface="Cambria Math" panose="02040503050406030204" pitchFamily="18" charset="0"/>
                      </a:rPr>
                      <m:t>. </m:t>
                    </m:r>
                  </m:oMath>
                </a14:m>
                <a:r>
                  <a:rPr lang="en-US" i="1" dirty="0"/>
                  <a:t>K</a:t>
                </a:r>
                <a:r>
                  <a:rPr lang="en-US" dirty="0"/>
                  <a:t>2: </a:t>
                </a:r>
                <a:r>
                  <a:rPr lang="en-US" i="1" dirty="0"/>
                  <a:t>R</a:t>
                </a:r>
                <a:r>
                  <a:rPr lang="en-US" dirty="0"/>
                  <a:t>0 ← </a:t>
                </a:r>
                <a:r>
                  <a:rPr lang="en-US" i="1" dirty="0" smtClean="0"/>
                  <a:t>R</a:t>
                </a:r>
                <a:r>
                  <a:rPr lang="en-US" dirty="0" smtClean="0"/>
                  <a:t>2</a:t>
                </a:r>
              </a:p>
              <a:p>
                <a:pPr marL="0" indent="0">
                  <a:buNone/>
                </a:pPr>
                <a:r>
                  <a:rPr lang="en-US" dirty="0" smtClean="0">
                    <a:solidFill>
                      <a:srgbClr val="FF0000"/>
                    </a:solidFill>
                  </a:rPr>
                  <a:t>Solution:</a:t>
                </a:r>
              </a:p>
              <a:p>
                <a:r>
                  <a:rPr lang="en-US" dirty="0">
                    <a:solidFill>
                      <a:schemeClr val="accent1"/>
                    </a:solidFill>
                  </a:rPr>
                  <a:t>Set of input </a:t>
                </a:r>
                <a:r>
                  <a:rPr lang="en-US" dirty="0" smtClean="0">
                    <a:solidFill>
                      <a:schemeClr val="accent1"/>
                    </a:solidFill>
                  </a:rPr>
                  <a:t>registers determines the size of MUX = {R1, R2}, therefore we need MUX 2 x 1.</a:t>
                </a:r>
              </a:p>
              <a:p>
                <a:r>
                  <a:rPr lang="en-US" dirty="0">
                    <a:solidFill>
                      <a:schemeClr val="accent1"/>
                    </a:solidFill>
                  </a:rPr>
                  <a:t>Set of output registers = {</a:t>
                </a:r>
                <a:r>
                  <a:rPr lang="en-US" dirty="0" smtClean="0">
                    <a:solidFill>
                      <a:schemeClr val="accent1"/>
                    </a:solidFill>
                  </a:rPr>
                  <a:t>R0} </a:t>
                </a:r>
                <a:r>
                  <a:rPr lang="en-US" dirty="0">
                    <a:solidFill>
                      <a:schemeClr val="accent1"/>
                    </a:solidFill>
                  </a:rPr>
                  <a:t>-</a:t>
                </a:r>
                <a:r>
                  <a:rPr lang="en-US" dirty="0">
                    <a:solidFill>
                      <a:schemeClr val="accent1"/>
                    </a:solidFill>
                    <a:sym typeface="Wingdings" panose="05000000000000000000" pitchFamily="2" charset="2"/>
                  </a:rPr>
                  <a:t> we need </a:t>
                </a:r>
                <a:r>
                  <a:rPr lang="en-US" dirty="0" smtClean="0">
                    <a:solidFill>
                      <a:schemeClr val="accent1"/>
                    </a:solidFill>
                    <a:sym typeface="Wingdings" panose="05000000000000000000" pitchFamily="2" charset="2"/>
                  </a:rPr>
                  <a:t>one load signal.</a:t>
                </a:r>
                <a:endParaRPr lang="en-US" dirty="0" smtClean="0">
                  <a:solidFill>
                    <a:schemeClr val="accent1"/>
                  </a:solidFill>
                </a:endParaRPr>
              </a:p>
            </p:txBody>
          </p:sp>
        </mc:Choice>
        <mc:Fallback xmlns="">
          <p:sp>
            <p:nvSpPr>
              <p:cNvPr id="3" name="Content Placeholder 2">
                <a:extLst>
                  <a:ext uri="{FF2B5EF4-FFF2-40B4-BE49-F238E27FC236}">
                    <a16:creationId xmlns:a16="http://schemas.microsoft.com/office/drawing/2014/main" xmlns="" xmlns:a14="http://schemas.microsoft.com/office/drawing/2010/main" id="{6AE160DF-0551-4B46-A701-19C5ECE7F3D0}"/>
                  </a:ext>
                </a:extLst>
              </p:cNvPr>
              <p:cNvSpPr>
                <a:spLocks noGrp="1" noRot="1" noChangeAspect="1" noMove="1" noResize="1" noEditPoints="1" noAdjustHandles="1" noChangeArrowheads="1" noChangeShapeType="1" noTextEdit="1"/>
              </p:cNvSpPr>
              <p:nvPr>
                <p:ph idx="1"/>
              </p:nvPr>
            </p:nvSpPr>
            <p:spPr>
              <a:blipFill rotWithShape="0">
                <a:blip r:embed="rId2"/>
                <a:stretch>
                  <a:fillRect l="-1005" t="-2801" r="-1082"/>
                </a:stretch>
              </a:blipFill>
            </p:spPr>
            <p:txBody>
              <a:bodyPr/>
              <a:lstStyle/>
              <a:p>
                <a:r>
                  <a:rPr lang="en-US">
                    <a:noFill/>
                  </a:rPr>
                  <a:t> </a:t>
                </a:r>
              </a:p>
            </p:txBody>
          </p:sp>
        </mc:Fallback>
      </mc:AlternateContent>
    </p:spTree>
    <p:extLst>
      <p:ext uri="{BB962C8B-B14F-4D97-AF65-F5344CB8AC3E}">
        <p14:creationId xmlns:p14="http://schemas.microsoft.com/office/powerpoint/2010/main" val="3865664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1768D7-EF5C-46DC-9910-45719631C773}"/>
              </a:ext>
            </a:extLst>
          </p:cNvPr>
          <p:cNvSpPr>
            <a:spLocks noGrp="1"/>
          </p:cNvSpPr>
          <p:nvPr>
            <p:ph type="title"/>
          </p:nvPr>
        </p:nvSpPr>
        <p:spPr/>
        <p:txBody>
          <a:bodyPr/>
          <a:lstStyle/>
          <a:p>
            <a:r>
              <a:rPr lang="en-US" dirty="0"/>
              <a:t>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F0EBD67A-5E6E-4BA3-B9DA-858311C27B2C}"/>
                  </a:ext>
                </a:extLst>
              </p:cNvPr>
              <p:cNvSpPr>
                <a:spLocks noGrp="1"/>
              </p:cNvSpPr>
              <p:nvPr>
                <p:ph idx="1"/>
              </p:nvPr>
            </p:nvSpPr>
            <p:spPr>
              <a:xfrm>
                <a:off x="628650" y="1690688"/>
                <a:ext cx="7886700" cy="4802185"/>
              </a:xfrm>
            </p:spPr>
            <p:txBody>
              <a:bodyPr>
                <a:normAutofit fontScale="77500" lnSpcReduction="20000"/>
              </a:bodyPr>
              <a:lstStyle/>
              <a:p>
                <a:r>
                  <a:rPr lang="en-US" i="1" dirty="0"/>
                  <a:t>K</a:t>
                </a:r>
                <a:r>
                  <a:rPr lang="en-US" dirty="0"/>
                  <a:t>1: </a:t>
                </a:r>
                <a:r>
                  <a:rPr lang="en-US" i="1" dirty="0"/>
                  <a:t>R</a:t>
                </a:r>
                <a:r>
                  <a:rPr lang="en-US" dirty="0"/>
                  <a:t>0 ← </a:t>
                </a:r>
                <a:r>
                  <a:rPr lang="en-US" i="1" dirty="0"/>
                  <a:t>R</a:t>
                </a:r>
                <a:r>
                  <a:rPr lang="en-US" dirty="0"/>
                  <a:t>1,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e>
                      <m:sup>
                        <m:r>
                          <a:rPr lang="en-US" i="1">
                            <a:latin typeface="Cambria Math" panose="02040503050406030204" pitchFamily="18" charset="0"/>
                          </a:rPr>
                          <m:t>−</m:t>
                        </m:r>
                      </m:sup>
                    </m:sSup>
                    <m:r>
                      <a:rPr lang="en-US" b="0" i="1" smtClean="0">
                        <a:latin typeface="Cambria Math" panose="02040503050406030204" pitchFamily="18" charset="0"/>
                      </a:rPr>
                      <m:t>. </m:t>
                    </m:r>
                  </m:oMath>
                </a14:m>
                <a:r>
                  <a:rPr lang="en-US" i="1" dirty="0"/>
                  <a:t>K</a:t>
                </a:r>
                <a:r>
                  <a:rPr lang="en-US" dirty="0"/>
                  <a:t>2: </a:t>
                </a:r>
                <a:r>
                  <a:rPr lang="en-US" i="1" dirty="0"/>
                  <a:t>R</a:t>
                </a:r>
                <a:r>
                  <a:rPr lang="en-US" dirty="0"/>
                  <a:t>0 ← </a:t>
                </a:r>
                <a:r>
                  <a:rPr lang="en-US" i="1" dirty="0"/>
                  <a:t>R</a:t>
                </a:r>
                <a:r>
                  <a:rPr lang="en-US" dirty="0"/>
                  <a:t>2</a:t>
                </a:r>
              </a:p>
              <a:p>
                <a:r>
                  <a:rPr lang="en-US" dirty="0"/>
                  <a:t> Inputs are: K1, K2. 	Outputs are: S, and L</a:t>
                </a:r>
              </a:p>
              <a:p>
                <a:r>
                  <a:rPr lang="en-US" dirty="0"/>
                  <a:t>Mux size is 2 x 1 -</a:t>
                </a:r>
                <a:r>
                  <a:rPr lang="en-US" dirty="0">
                    <a:sym typeface="Wingdings" panose="05000000000000000000" pitchFamily="2" charset="2"/>
                  </a:rPr>
                  <a:t> one bit selection</a:t>
                </a:r>
                <a:endParaRPr lang="en-US" dirty="0"/>
              </a:p>
              <a:p>
                <a:r>
                  <a:rPr lang="en-US" dirty="0"/>
                  <a:t>By design the Truth table:</a:t>
                </a:r>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When k1 = k2 = 0, MUX select R2, but no load.</a:t>
                </a:r>
              </a:p>
              <a:p>
                <a:pPr marL="0" indent="0">
                  <a:buNone/>
                </a:pPr>
                <a:r>
                  <a:rPr lang="en-US" dirty="0"/>
                  <a:t>S= K1, and L = K1 OR K2</a:t>
                </a:r>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xmlns="" xmlns:a14="http://schemas.microsoft.com/office/drawing/2010/main" id="{F0EBD67A-5E6E-4BA3-B9DA-858311C27B2C}"/>
                  </a:ext>
                </a:extLst>
              </p:cNvPr>
              <p:cNvSpPr>
                <a:spLocks noGrp="1" noRot="1" noChangeAspect="1" noMove="1" noResize="1" noEditPoints="1" noAdjustHandles="1" noChangeArrowheads="1" noChangeShapeType="1" noTextEdit="1"/>
              </p:cNvSpPr>
              <p:nvPr>
                <p:ph idx="1"/>
              </p:nvPr>
            </p:nvSpPr>
            <p:spPr>
              <a:xfrm>
                <a:off x="628650" y="1690688"/>
                <a:ext cx="7886700" cy="4802185"/>
              </a:xfrm>
              <a:blipFill rotWithShape="0">
                <a:blip r:embed="rId2"/>
                <a:stretch>
                  <a:fillRect l="-1005" t="-2538" b="-127"/>
                </a:stretch>
              </a:blipFill>
            </p:spPr>
            <p:txBody>
              <a:bodyPr/>
              <a:lstStyle/>
              <a:p>
                <a:r>
                  <a:rPr lang="en-US">
                    <a:noFill/>
                  </a:rPr>
                  <a:t> </a:t>
                </a:r>
              </a:p>
            </p:txBody>
          </p:sp>
        </mc:Fallback>
      </mc:AlternateContent>
      <p:graphicFrame>
        <p:nvGraphicFramePr>
          <p:cNvPr id="5" name="Table 5">
            <a:extLst>
              <a:ext uri="{FF2B5EF4-FFF2-40B4-BE49-F238E27FC236}">
                <a16:creationId xmlns:a16="http://schemas.microsoft.com/office/drawing/2014/main" xmlns="" id="{E2CC6CB0-0033-4F51-A6AD-FAB37C16D440}"/>
              </a:ext>
            </a:extLst>
          </p:cNvPr>
          <p:cNvGraphicFramePr>
            <a:graphicFrameLocks noGrp="1"/>
          </p:cNvGraphicFramePr>
          <p:nvPr>
            <p:extLst/>
          </p:nvPr>
        </p:nvGraphicFramePr>
        <p:xfrm>
          <a:off x="1033669" y="3133035"/>
          <a:ext cx="6096000" cy="2123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959323841"/>
                    </a:ext>
                  </a:extLst>
                </a:gridCol>
                <a:gridCol w="1524000">
                  <a:extLst>
                    <a:ext uri="{9D8B030D-6E8A-4147-A177-3AD203B41FA5}">
                      <a16:colId xmlns:a16="http://schemas.microsoft.com/office/drawing/2014/main" xmlns="" val="239784533"/>
                    </a:ext>
                  </a:extLst>
                </a:gridCol>
                <a:gridCol w="1524000">
                  <a:extLst>
                    <a:ext uri="{9D8B030D-6E8A-4147-A177-3AD203B41FA5}">
                      <a16:colId xmlns:a16="http://schemas.microsoft.com/office/drawing/2014/main" xmlns="" val="1093351343"/>
                    </a:ext>
                  </a:extLst>
                </a:gridCol>
                <a:gridCol w="1524000">
                  <a:extLst>
                    <a:ext uri="{9D8B030D-6E8A-4147-A177-3AD203B41FA5}">
                      <a16:colId xmlns:a16="http://schemas.microsoft.com/office/drawing/2014/main" xmlns="" val="1298883067"/>
                    </a:ext>
                  </a:extLst>
                </a:gridCol>
              </a:tblGrid>
              <a:tr h="370840">
                <a:tc>
                  <a:txBody>
                    <a:bodyPr/>
                    <a:lstStyle/>
                    <a:p>
                      <a:r>
                        <a:rPr lang="en-US" dirty="0"/>
                        <a:t>K1</a:t>
                      </a:r>
                    </a:p>
                  </a:txBody>
                  <a:tcPr/>
                </a:tc>
                <a:tc>
                  <a:txBody>
                    <a:bodyPr/>
                    <a:lstStyle/>
                    <a:p>
                      <a:r>
                        <a:rPr lang="en-US" dirty="0"/>
                        <a:t>K2</a:t>
                      </a:r>
                    </a:p>
                  </a:txBody>
                  <a:tcPr/>
                </a:tc>
                <a:tc>
                  <a:txBody>
                    <a:bodyPr/>
                    <a:lstStyle/>
                    <a:p>
                      <a:r>
                        <a:rPr lang="en-US" dirty="0"/>
                        <a:t>Selection MUX</a:t>
                      </a:r>
                    </a:p>
                  </a:txBody>
                  <a:tcPr/>
                </a:tc>
                <a:tc>
                  <a:txBody>
                    <a:bodyPr/>
                    <a:lstStyle/>
                    <a:p>
                      <a:r>
                        <a:rPr lang="en-US" dirty="0"/>
                        <a:t>Load of R0</a:t>
                      </a:r>
                    </a:p>
                  </a:txBody>
                  <a:tcPr/>
                </a:tc>
                <a:extLst>
                  <a:ext uri="{0D108BD9-81ED-4DB2-BD59-A6C34878D82A}">
                    <a16:rowId xmlns:a16="http://schemas.microsoft.com/office/drawing/2014/main" xmlns="" val="3612286381"/>
                  </a:ext>
                </a:extLst>
              </a:tr>
              <a:tr h="370840">
                <a:tc>
                  <a:txBody>
                    <a:bodyPr/>
                    <a:lstStyle/>
                    <a:p>
                      <a:r>
                        <a:rPr lang="en-US" dirty="0"/>
                        <a:t>0</a:t>
                      </a:r>
                    </a:p>
                  </a:txBody>
                  <a:tcPr/>
                </a:tc>
                <a:tc>
                  <a:txBody>
                    <a:bodyPr/>
                    <a:lstStyle/>
                    <a:p>
                      <a:r>
                        <a:rPr lang="en-US" dirty="0"/>
                        <a:t>0</a:t>
                      </a:r>
                    </a:p>
                  </a:txBody>
                  <a:tcPr/>
                </a:tc>
                <a:tc>
                  <a:txBody>
                    <a:bodyPr/>
                    <a:lstStyle/>
                    <a:p>
                      <a:r>
                        <a:rPr lang="en-US" dirty="0"/>
                        <a:t>R2 -&gt; 0</a:t>
                      </a:r>
                    </a:p>
                  </a:txBody>
                  <a:tcPr/>
                </a:tc>
                <a:tc>
                  <a:txBody>
                    <a:bodyPr/>
                    <a:lstStyle/>
                    <a:p>
                      <a:r>
                        <a:rPr lang="en-US" dirty="0"/>
                        <a:t>0</a:t>
                      </a:r>
                    </a:p>
                  </a:txBody>
                  <a:tcPr/>
                </a:tc>
                <a:extLst>
                  <a:ext uri="{0D108BD9-81ED-4DB2-BD59-A6C34878D82A}">
                    <a16:rowId xmlns:a16="http://schemas.microsoft.com/office/drawing/2014/main" xmlns="" val="2253683356"/>
                  </a:ext>
                </a:extLst>
              </a:tr>
              <a:tr h="370840">
                <a:tc>
                  <a:txBody>
                    <a:bodyPr/>
                    <a:lstStyle/>
                    <a:p>
                      <a:r>
                        <a:rPr lang="en-US" dirty="0"/>
                        <a:t>0</a:t>
                      </a:r>
                    </a:p>
                  </a:txBody>
                  <a:tcPr/>
                </a:tc>
                <a:tc>
                  <a:txBody>
                    <a:bodyPr/>
                    <a:lstStyle/>
                    <a:p>
                      <a:r>
                        <a:rPr lang="en-US" dirty="0"/>
                        <a:t>1</a:t>
                      </a:r>
                    </a:p>
                  </a:txBody>
                  <a:tcPr/>
                </a:tc>
                <a:tc>
                  <a:txBody>
                    <a:bodyPr/>
                    <a:lstStyle/>
                    <a:p>
                      <a:r>
                        <a:rPr lang="en-US" dirty="0"/>
                        <a:t>R2 -&gt; 0</a:t>
                      </a:r>
                    </a:p>
                  </a:txBody>
                  <a:tcPr/>
                </a:tc>
                <a:tc>
                  <a:txBody>
                    <a:bodyPr/>
                    <a:lstStyle/>
                    <a:p>
                      <a:r>
                        <a:rPr lang="en-US" dirty="0"/>
                        <a:t>1</a:t>
                      </a:r>
                    </a:p>
                  </a:txBody>
                  <a:tcPr/>
                </a:tc>
                <a:extLst>
                  <a:ext uri="{0D108BD9-81ED-4DB2-BD59-A6C34878D82A}">
                    <a16:rowId xmlns:a16="http://schemas.microsoft.com/office/drawing/2014/main" xmlns="" val="3902766701"/>
                  </a:ext>
                </a:extLst>
              </a:tr>
              <a:tr h="370840">
                <a:tc>
                  <a:txBody>
                    <a:bodyPr/>
                    <a:lstStyle/>
                    <a:p>
                      <a:r>
                        <a:rPr lang="en-US" dirty="0"/>
                        <a:t>1</a:t>
                      </a:r>
                    </a:p>
                  </a:txBody>
                  <a:tcPr/>
                </a:tc>
                <a:tc>
                  <a:txBody>
                    <a:bodyPr/>
                    <a:lstStyle/>
                    <a:p>
                      <a:r>
                        <a:rPr lang="en-US" dirty="0"/>
                        <a:t>0</a:t>
                      </a:r>
                    </a:p>
                  </a:txBody>
                  <a:tcPr/>
                </a:tc>
                <a:tc>
                  <a:txBody>
                    <a:bodyPr/>
                    <a:lstStyle/>
                    <a:p>
                      <a:r>
                        <a:rPr lang="en-US" dirty="0"/>
                        <a:t>R1 -&gt; 1</a:t>
                      </a:r>
                    </a:p>
                  </a:txBody>
                  <a:tcPr/>
                </a:tc>
                <a:tc>
                  <a:txBody>
                    <a:bodyPr/>
                    <a:lstStyle/>
                    <a:p>
                      <a:r>
                        <a:rPr lang="en-US" dirty="0"/>
                        <a:t>1</a:t>
                      </a:r>
                    </a:p>
                  </a:txBody>
                  <a:tcPr/>
                </a:tc>
                <a:extLst>
                  <a:ext uri="{0D108BD9-81ED-4DB2-BD59-A6C34878D82A}">
                    <a16:rowId xmlns:a16="http://schemas.microsoft.com/office/drawing/2014/main" xmlns="" val="3325562378"/>
                  </a:ext>
                </a:extLst>
              </a:tr>
              <a:tr h="370840">
                <a:tc>
                  <a:txBody>
                    <a:bodyPr/>
                    <a:lstStyle/>
                    <a:p>
                      <a:r>
                        <a:rPr lang="en-US" dirty="0"/>
                        <a:t>1</a:t>
                      </a:r>
                    </a:p>
                  </a:txBody>
                  <a:tcPr/>
                </a:tc>
                <a:tc>
                  <a:txBody>
                    <a:bodyPr/>
                    <a:lstStyle/>
                    <a:p>
                      <a:r>
                        <a:rPr lang="en-US" dirty="0"/>
                        <a:t>1</a:t>
                      </a:r>
                    </a:p>
                  </a:txBody>
                  <a:tcPr/>
                </a:tc>
                <a:tc>
                  <a:txBody>
                    <a:bodyPr/>
                    <a:lstStyle/>
                    <a:p>
                      <a:r>
                        <a:rPr lang="en-US" dirty="0"/>
                        <a:t>R1-&gt; 1</a:t>
                      </a:r>
                    </a:p>
                  </a:txBody>
                  <a:tcPr/>
                </a:tc>
                <a:tc>
                  <a:txBody>
                    <a:bodyPr/>
                    <a:lstStyle/>
                    <a:p>
                      <a:r>
                        <a:rPr lang="en-US" dirty="0"/>
                        <a:t>1</a:t>
                      </a:r>
                    </a:p>
                  </a:txBody>
                  <a:tcPr/>
                </a:tc>
                <a:extLst>
                  <a:ext uri="{0D108BD9-81ED-4DB2-BD59-A6C34878D82A}">
                    <a16:rowId xmlns:a16="http://schemas.microsoft.com/office/drawing/2014/main" xmlns="" val="2911905268"/>
                  </a:ext>
                </a:extLst>
              </a:tr>
            </a:tbl>
          </a:graphicData>
        </a:graphic>
      </p:graphicFrame>
    </p:spTree>
    <p:extLst>
      <p:ext uri="{BB962C8B-B14F-4D97-AF65-F5344CB8AC3E}">
        <p14:creationId xmlns:p14="http://schemas.microsoft.com/office/powerpoint/2010/main" val="16078090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2483BD-6903-48EA-9837-138DAC46B1A2}"/>
              </a:ext>
            </a:extLst>
          </p:cNvPr>
          <p:cNvSpPr>
            <a:spLocks noGrp="1"/>
          </p:cNvSpPr>
          <p:nvPr>
            <p:ph type="title"/>
          </p:nvPr>
        </p:nvSpPr>
        <p:spPr/>
        <p:txBody>
          <a:bodyPr/>
          <a:lstStyle/>
          <a:p>
            <a:r>
              <a:rPr lang="en-US" b="1" dirty="0"/>
              <a:t>HW Implementation</a:t>
            </a:r>
          </a:p>
        </p:txBody>
      </p:sp>
      <p:sp>
        <p:nvSpPr>
          <p:cNvPr id="3" name="Content Placeholder 2">
            <a:extLst>
              <a:ext uri="{FF2B5EF4-FFF2-40B4-BE49-F238E27FC236}">
                <a16:creationId xmlns:a16="http://schemas.microsoft.com/office/drawing/2014/main" xmlns="" id="{5944A6A0-6336-4261-B8C0-70475612805F}"/>
              </a:ext>
            </a:extLst>
          </p:cNvPr>
          <p:cNvSpPr>
            <a:spLocks noGrp="1"/>
          </p:cNvSpPr>
          <p:nvPr>
            <p:ph idx="1"/>
          </p:nvPr>
        </p:nvSpPr>
        <p:spPr/>
        <p:txBody>
          <a:bodyPr/>
          <a:lstStyle/>
          <a:p>
            <a:r>
              <a:rPr lang="en-US" dirty="0"/>
              <a:t>The HW will be as follows:</a:t>
            </a:r>
          </a:p>
        </p:txBody>
      </p:sp>
      <p:pic>
        <p:nvPicPr>
          <p:cNvPr id="4" name="Picture 3">
            <a:extLst>
              <a:ext uri="{FF2B5EF4-FFF2-40B4-BE49-F238E27FC236}">
                <a16:creationId xmlns:a16="http://schemas.microsoft.com/office/drawing/2014/main" xmlns="" id="{3CA6CC51-EEC1-45FC-9C8D-1B1C7C75BBA5}"/>
              </a:ext>
            </a:extLst>
          </p:cNvPr>
          <p:cNvPicPr>
            <a:picLocks noChangeAspect="1"/>
          </p:cNvPicPr>
          <p:nvPr/>
        </p:nvPicPr>
        <p:blipFill>
          <a:blip r:embed="rId2"/>
          <a:stretch>
            <a:fillRect/>
          </a:stretch>
        </p:blipFill>
        <p:spPr>
          <a:xfrm>
            <a:off x="443119" y="2551768"/>
            <a:ext cx="7886700" cy="2214563"/>
          </a:xfrm>
          <a:prstGeom prst="rect">
            <a:avLst/>
          </a:prstGeom>
        </p:spPr>
      </p:pic>
    </p:spTree>
    <p:extLst>
      <p:ext uri="{BB962C8B-B14F-4D97-AF65-F5344CB8AC3E}">
        <p14:creationId xmlns:p14="http://schemas.microsoft.com/office/powerpoint/2010/main" val="6024642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1CE317-1504-46B1-9DBB-C681290E6241}"/>
              </a:ext>
            </a:extLst>
          </p:cNvPr>
          <p:cNvSpPr>
            <a:spLocks noGrp="1"/>
          </p:cNvSpPr>
          <p:nvPr>
            <p:ph type="title"/>
          </p:nvPr>
        </p:nvSpPr>
        <p:spPr/>
        <p:txBody>
          <a:bodyPr>
            <a:normAutofit/>
          </a:bodyPr>
          <a:lstStyle/>
          <a:p>
            <a:r>
              <a:rPr lang="en-US" dirty="0"/>
              <a:t>2- Bus-Based Transfer for Multiple Registers</a:t>
            </a:r>
          </a:p>
        </p:txBody>
      </p:sp>
      <p:sp>
        <p:nvSpPr>
          <p:cNvPr id="3" name="Content Placeholder 2">
            <a:extLst>
              <a:ext uri="{FF2B5EF4-FFF2-40B4-BE49-F238E27FC236}">
                <a16:creationId xmlns:a16="http://schemas.microsoft.com/office/drawing/2014/main" xmlns="" id="{71DF50B8-70D0-4A2B-BCE7-CCE2FAAA8D5F}"/>
              </a:ext>
            </a:extLst>
          </p:cNvPr>
          <p:cNvSpPr>
            <a:spLocks noGrp="1"/>
          </p:cNvSpPr>
          <p:nvPr>
            <p:ph idx="1"/>
          </p:nvPr>
        </p:nvSpPr>
        <p:spPr/>
        <p:txBody>
          <a:bodyPr>
            <a:normAutofit fontScale="92500" lnSpcReduction="10000"/>
          </a:bodyPr>
          <a:lstStyle/>
          <a:p>
            <a:r>
              <a:rPr lang="en-US" dirty="0"/>
              <a:t>A typical digital system has many registers.</a:t>
            </a:r>
          </a:p>
          <a:p>
            <a:r>
              <a:rPr lang="en-US" dirty="0"/>
              <a:t> Paths must be provided to transfer data from one register to another.</a:t>
            </a:r>
          </a:p>
          <a:p>
            <a:r>
              <a:rPr lang="en-US" dirty="0"/>
              <a:t>A more efficient scheme for transferring data between registers is a system that uses a shared transfer path called a </a:t>
            </a:r>
            <a:r>
              <a:rPr lang="en-US" b="1" i="1" dirty="0">
                <a:solidFill>
                  <a:srgbClr val="FF0000"/>
                </a:solidFill>
              </a:rPr>
              <a:t>bus</a:t>
            </a:r>
            <a:r>
              <a:rPr lang="en-US" dirty="0"/>
              <a:t>.</a:t>
            </a:r>
          </a:p>
          <a:p>
            <a:r>
              <a:rPr lang="en-US" dirty="0"/>
              <a:t>A bus is characterized by a set of common lines, with each line driven by selection logic.</a:t>
            </a:r>
          </a:p>
          <a:p>
            <a:r>
              <a:rPr lang="en-US" dirty="0"/>
              <a:t>Control signals for the logic select </a:t>
            </a:r>
            <a:r>
              <a:rPr lang="en-US" dirty="0">
                <a:solidFill>
                  <a:srgbClr val="FF0000"/>
                </a:solidFill>
              </a:rPr>
              <a:t>a single source </a:t>
            </a:r>
            <a:r>
              <a:rPr lang="en-US" dirty="0"/>
              <a:t>and </a:t>
            </a:r>
            <a:r>
              <a:rPr lang="en-US" dirty="0">
                <a:solidFill>
                  <a:srgbClr val="FF0000"/>
                </a:solidFill>
              </a:rPr>
              <a:t>one or more destinations </a:t>
            </a:r>
            <a:r>
              <a:rPr lang="en-US" dirty="0"/>
              <a:t>on any clock cycle for which a transfer occurs.</a:t>
            </a:r>
          </a:p>
          <a:p>
            <a:endParaRPr lang="en-US" dirty="0"/>
          </a:p>
        </p:txBody>
      </p:sp>
    </p:spTree>
    <p:extLst>
      <p:ext uri="{BB962C8B-B14F-4D97-AF65-F5344CB8AC3E}">
        <p14:creationId xmlns:p14="http://schemas.microsoft.com/office/powerpoint/2010/main" val="25665431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C01F27-25FB-4A05-82B7-CF9911A3A32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xmlns="" id="{965C7D08-65CC-4DC4-A533-860CD4BDF349}"/>
              </a:ext>
            </a:extLst>
          </p:cNvPr>
          <p:cNvSpPr>
            <a:spLocks noGrp="1"/>
          </p:cNvSpPr>
          <p:nvPr>
            <p:ph idx="1"/>
          </p:nvPr>
        </p:nvSpPr>
        <p:spPr/>
        <p:txBody>
          <a:bodyPr/>
          <a:lstStyle/>
          <a:p>
            <a:r>
              <a:rPr lang="en-US" dirty="0"/>
              <a:t>Implement the following RTL using Bus-based :</a:t>
            </a:r>
          </a:p>
          <a:p>
            <a:endParaRPr lang="en-US" dirty="0"/>
          </a:p>
          <a:p>
            <a:endParaRPr lang="en-US" dirty="0"/>
          </a:p>
          <a:p>
            <a:endParaRPr lang="en-US" dirty="0"/>
          </a:p>
          <a:p>
            <a:r>
              <a:rPr lang="en-US" u="sng" dirty="0">
                <a:solidFill>
                  <a:srgbClr val="FF0000"/>
                </a:solidFill>
              </a:rPr>
              <a:t>Solution</a:t>
            </a:r>
            <a:r>
              <a:rPr lang="en-US" dirty="0"/>
              <a:t>:</a:t>
            </a:r>
          </a:p>
          <a:p>
            <a:pPr marL="0" indent="0">
              <a:buNone/>
            </a:pPr>
            <a:r>
              <a:rPr lang="en-US" dirty="0"/>
              <a:t>1- Set of input registers ={ R0, R1, R2} -</a:t>
            </a:r>
            <a:r>
              <a:rPr lang="en-US" dirty="0">
                <a:sym typeface="Wingdings" panose="05000000000000000000" pitchFamily="2" charset="2"/>
              </a:rPr>
              <a:t> we need MUX with 4 inputs , i.e., two selection inputs S0, S1.</a:t>
            </a:r>
            <a:endParaRPr lang="en-US" dirty="0"/>
          </a:p>
          <a:p>
            <a:pPr marL="0" indent="0">
              <a:buNone/>
            </a:pPr>
            <a:r>
              <a:rPr lang="en-US" dirty="0"/>
              <a:t>2- Set of output registers = {R0, R1, R2} -</a:t>
            </a:r>
            <a:r>
              <a:rPr lang="en-US" dirty="0">
                <a:sym typeface="Wingdings" panose="05000000000000000000" pitchFamily="2" charset="2"/>
              </a:rPr>
              <a:t> we need three load signals  L0, L1, L2.</a:t>
            </a:r>
            <a:endParaRPr lang="en-US" dirty="0"/>
          </a:p>
          <a:p>
            <a:pPr marL="0" indent="0">
              <a:buNone/>
            </a:pPr>
            <a:endParaRPr lang="en-US" dirty="0"/>
          </a:p>
        </p:txBody>
      </p:sp>
      <p:pic>
        <p:nvPicPr>
          <p:cNvPr id="4" name="Picture 3">
            <a:extLst>
              <a:ext uri="{FF2B5EF4-FFF2-40B4-BE49-F238E27FC236}">
                <a16:creationId xmlns:a16="http://schemas.microsoft.com/office/drawing/2014/main" xmlns="" id="{3DF9FFF0-1262-4560-9B62-BAB503C1C715}"/>
              </a:ext>
            </a:extLst>
          </p:cNvPr>
          <p:cNvPicPr>
            <a:picLocks noChangeAspect="1"/>
          </p:cNvPicPr>
          <p:nvPr/>
        </p:nvPicPr>
        <p:blipFill>
          <a:blip r:embed="rId2"/>
          <a:stretch>
            <a:fillRect/>
          </a:stretch>
        </p:blipFill>
        <p:spPr>
          <a:xfrm>
            <a:off x="628650" y="2425149"/>
            <a:ext cx="5255315" cy="1301848"/>
          </a:xfrm>
          <a:prstGeom prst="rect">
            <a:avLst/>
          </a:prstGeom>
        </p:spPr>
      </p:pic>
    </p:spTree>
    <p:extLst>
      <p:ext uri="{BB962C8B-B14F-4D97-AF65-F5344CB8AC3E}">
        <p14:creationId xmlns:p14="http://schemas.microsoft.com/office/powerpoint/2010/main" val="21542174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126ED5-FC86-455E-85D1-3EB000A2BB9A}"/>
              </a:ext>
            </a:extLst>
          </p:cNvPr>
          <p:cNvSpPr>
            <a:spLocks noGrp="1"/>
          </p:cNvSpPr>
          <p:nvPr>
            <p:ph type="title"/>
          </p:nvPr>
        </p:nvSpPr>
        <p:spPr/>
        <p:txBody>
          <a:bodyPr/>
          <a:lstStyle/>
          <a:p>
            <a:r>
              <a:rPr lang="en-US" dirty="0" smtClean="0"/>
              <a:t>Cont.,</a:t>
            </a:r>
            <a:endParaRPr lang="en-US" dirty="0"/>
          </a:p>
        </p:txBody>
      </p:sp>
      <p:pic>
        <p:nvPicPr>
          <p:cNvPr id="4" name="Content Placeholder 3">
            <a:extLst>
              <a:ext uri="{FF2B5EF4-FFF2-40B4-BE49-F238E27FC236}">
                <a16:creationId xmlns:a16="http://schemas.microsoft.com/office/drawing/2014/main" xmlns="" id="{D17C567D-CBE1-4734-8918-02163D4657BD}"/>
              </a:ext>
            </a:extLst>
          </p:cNvPr>
          <p:cNvPicPr>
            <a:picLocks noGrp="1" noChangeAspect="1"/>
          </p:cNvPicPr>
          <p:nvPr>
            <p:ph idx="1"/>
          </p:nvPr>
        </p:nvPicPr>
        <p:blipFill>
          <a:blip r:embed="rId2"/>
          <a:stretch>
            <a:fillRect/>
          </a:stretch>
        </p:blipFill>
        <p:spPr>
          <a:xfrm>
            <a:off x="628650" y="1690690"/>
            <a:ext cx="7886700" cy="4802184"/>
          </a:xfrm>
          <a:prstGeom prst="rect">
            <a:avLst/>
          </a:prstGeom>
        </p:spPr>
      </p:pic>
    </p:spTree>
    <p:extLst>
      <p:ext uri="{BB962C8B-B14F-4D97-AF65-F5344CB8AC3E}">
        <p14:creationId xmlns:p14="http://schemas.microsoft.com/office/powerpoint/2010/main" val="1877210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CFBD447B-3EDA-46C7-BBC1-D7E8796F294D}"/>
              </a:ext>
            </a:extLst>
          </p:cNvPr>
          <p:cNvPicPr>
            <a:picLocks noChangeAspect="1"/>
          </p:cNvPicPr>
          <p:nvPr/>
        </p:nvPicPr>
        <p:blipFill>
          <a:blip r:embed="rId2"/>
          <a:stretch>
            <a:fillRect/>
          </a:stretch>
        </p:blipFill>
        <p:spPr>
          <a:xfrm>
            <a:off x="628650" y="622852"/>
            <a:ext cx="7886700" cy="5870022"/>
          </a:xfrm>
          <a:prstGeom prst="rect">
            <a:avLst/>
          </a:prstGeom>
        </p:spPr>
      </p:pic>
    </p:spTree>
    <p:extLst>
      <p:ext uri="{BB962C8B-B14F-4D97-AF65-F5344CB8AC3E}">
        <p14:creationId xmlns:p14="http://schemas.microsoft.com/office/powerpoint/2010/main" val="17969130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AA7A0-4356-43E6-8598-D0D00E33310D}"/>
              </a:ext>
            </a:extLst>
          </p:cNvPr>
          <p:cNvSpPr>
            <a:spLocks noGrp="1"/>
          </p:cNvSpPr>
          <p:nvPr>
            <p:ph type="title"/>
          </p:nvPr>
        </p:nvSpPr>
        <p:spPr/>
        <p:txBody>
          <a:bodyPr/>
          <a:lstStyle/>
          <a:p>
            <a:r>
              <a:rPr lang="en-US" b="1" dirty="0"/>
              <a:t>Three-State Bus</a:t>
            </a:r>
            <a:endParaRPr lang="en-US" dirty="0"/>
          </a:p>
        </p:txBody>
      </p:sp>
      <p:sp>
        <p:nvSpPr>
          <p:cNvPr id="3" name="Content Placeholder 2">
            <a:extLst>
              <a:ext uri="{FF2B5EF4-FFF2-40B4-BE49-F238E27FC236}">
                <a16:creationId xmlns:a16="http://schemas.microsoft.com/office/drawing/2014/main" xmlns="" id="{AFE2C214-D7E6-4ED4-8F6C-AC78393436D9}"/>
              </a:ext>
            </a:extLst>
          </p:cNvPr>
          <p:cNvSpPr>
            <a:spLocks noGrp="1"/>
          </p:cNvSpPr>
          <p:nvPr>
            <p:ph idx="1"/>
          </p:nvPr>
        </p:nvSpPr>
        <p:spPr/>
        <p:txBody>
          <a:bodyPr>
            <a:normAutofit lnSpcReduction="10000"/>
          </a:bodyPr>
          <a:lstStyle/>
          <a:p>
            <a:r>
              <a:rPr lang="en-US" dirty="0"/>
              <a:t>A bus can be constructed with three-state buffers instead of multiplexers.</a:t>
            </a:r>
          </a:p>
          <a:p>
            <a:r>
              <a:rPr lang="en-US" dirty="0"/>
              <a:t>The reason is that many three-state buffer outputs can be connected together to form a bit line of a bus, and this bus is implemented using only one level of logic gates. (MUX has two levels)</a:t>
            </a:r>
          </a:p>
          <a:p>
            <a:r>
              <a:rPr lang="en-US" dirty="0"/>
              <a:t>More important, however, is the fact that signals can travel in two directions on a three-state bus. Thus, the three-state bus can use the same interconnection to carry signals into and out of a logic circuit.</a:t>
            </a:r>
          </a:p>
        </p:txBody>
      </p:sp>
    </p:spTree>
    <p:extLst>
      <p:ext uri="{BB962C8B-B14F-4D97-AF65-F5344CB8AC3E}">
        <p14:creationId xmlns:p14="http://schemas.microsoft.com/office/powerpoint/2010/main" val="2691458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339C3513-0EDF-427B-9BC0-C46C6E628D99}"/>
              </a:ext>
            </a:extLst>
          </p:cNvPr>
          <p:cNvPicPr>
            <a:picLocks noChangeAspect="1"/>
          </p:cNvPicPr>
          <p:nvPr/>
        </p:nvPicPr>
        <p:blipFill>
          <a:blip r:embed="rId2"/>
          <a:stretch>
            <a:fillRect/>
          </a:stretch>
        </p:blipFill>
        <p:spPr>
          <a:xfrm>
            <a:off x="530087" y="689113"/>
            <a:ext cx="7938052" cy="5618922"/>
          </a:xfrm>
          <a:prstGeom prst="rect">
            <a:avLst/>
          </a:prstGeom>
        </p:spPr>
      </p:pic>
    </p:spTree>
    <p:extLst>
      <p:ext uri="{BB962C8B-B14F-4D97-AF65-F5344CB8AC3E}">
        <p14:creationId xmlns:p14="http://schemas.microsoft.com/office/powerpoint/2010/main" val="2308721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047062-07D3-47B1-B548-4F1F02194F2A}"/>
              </a:ext>
            </a:extLst>
          </p:cNvPr>
          <p:cNvSpPr>
            <a:spLocks noGrp="1"/>
          </p:cNvSpPr>
          <p:nvPr>
            <p:ph type="title"/>
          </p:nvPr>
        </p:nvSpPr>
        <p:spPr/>
        <p:txBody>
          <a:bodyPr/>
          <a:lstStyle/>
          <a:p>
            <a:r>
              <a:rPr lang="en-US" dirty="0"/>
              <a:t>3- Memory Transfer</a:t>
            </a:r>
          </a:p>
        </p:txBody>
      </p:sp>
      <p:sp>
        <p:nvSpPr>
          <p:cNvPr id="3" name="Content Placeholder 2">
            <a:extLst>
              <a:ext uri="{FF2B5EF4-FFF2-40B4-BE49-F238E27FC236}">
                <a16:creationId xmlns:a16="http://schemas.microsoft.com/office/drawing/2014/main" xmlns="" id="{9756E509-C9BC-451C-B114-E9CC17CE907A}"/>
              </a:ext>
            </a:extLst>
          </p:cNvPr>
          <p:cNvSpPr>
            <a:spLocks noGrp="1"/>
          </p:cNvSpPr>
          <p:nvPr>
            <p:ph idx="1"/>
          </p:nvPr>
        </p:nvSpPr>
        <p:spPr/>
        <p:txBody>
          <a:bodyPr/>
          <a:lstStyle/>
          <a:p>
            <a:r>
              <a:rPr lang="en-US" u="sng" dirty="0">
                <a:solidFill>
                  <a:srgbClr val="FF0000"/>
                </a:solidFill>
              </a:rPr>
              <a:t>Read operation:</a:t>
            </a:r>
          </a:p>
          <a:p>
            <a:pPr marL="0" indent="0">
              <a:buNone/>
            </a:pPr>
            <a:r>
              <a:rPr lang="en-US" dirty="0"/>
              <a:t>	DR ← M [AR]</a:t>
            </a:r>
          </a:p>
          <a:p>
            <a:r>
              <a:rPr lang="en-US" dirty="0"/>
              <a:t>Where, an address decoder is needed to select the contents of address register AR to be loaded onto address bus.</a:t>
            </a:r>
          </a:p>
          <a:p>
            <a:r>
              <a:rPr lang="en-US" dirty="0"/>
              <a:t>Also a data destination decoder will send the Load signal to the data register DR to load data from memory on data bus.</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7633913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03B221-C234-40DB-938F-D876454C3CA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D79AAC2B-CE07-46EA-8C37-2C8969B7F299}"/>
              </a:ext>
            </a:extLst>
          </p:cNvPr>
          <p:cNvSpPr>
            <a:spLocks noGrp="1"/>
          </p:cNvSpPr>
          <p:nvPr>
            <p:ph idx="1"/>
          </p:nvPr>
        </p:nvSpPr>
        <p:spPr/>
        <p:txBody>
          <a:bodyPr/>
          <a:lstStyle/>
          <a:p>
            <a:r>
              <a:rPr lang="en-US" u="sng" dirty="0">
                <a:solidFill>
                  <a:srgbClr val="FF0000"/>
                </a:solidFill>
              </a:rPr>
              <a:t>Write operation:</a:t>
            </a:r>
          </a:p>
          <a:p>
            <a:pPr marL="0" indent="0">
              <a:buNone/>
            </a:pPr>
            <a:r>
              <a:rPr lang="en-US" dirty="0"/>
              <a:t>	M [AR] ← DR</a:t>
            </a:r>
          </a:p>
          <a:p>
            <a:r>
              <a:rPr lang="en-US" dirty="0"/>
              <a:t>Where, an address decoder is needed to select the contents of address register AR to be loaded onto address bus.</a:t>
            </a:r>
          </a:p>
          <a:p>
            <a:r>
              <a:rPr lang="en-US" dirty="0"/>
              <a:t>Also a data source decoder will send an enable signal to the data register DR to transfer its contents through data bus to the memory address denoted by AR.</a:t>
            </a:r>
          </a:p>
          <a:p>
            <a:pPr marL="0" indent="0">
              <a:buNone/>
            </a:pPr>
            <a:endParaRPr lang="en-US" dirty="0"/>
          </a:p>
          <a:p>
            <a:endParaRPr lang="en-US" dirty="0"/>
          </a:p>
        </p:txBody>
      </p:sp>
    </p:spTree>
    <p:extLst>
      <p:ext uri="{BB962C8B-B14F-4D97-AF65-F5344CB8AC3E}">
        <p14:creationId xmlns:p14="http://schemas.microsoft.com/office/powerpoint/2010/main" val="4258609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E6DAC7-D19E-49E4-8363-FD9E3923C25D}"/>
              </a:ext>
            </a:extLst>
          </p:cNvPr>
          <p:cNvSpPr>
            <a:spLocks noGrp="1"/>
          </p:cNvSpPr>
          <p:nvPr>
            <p:ph type="title"/>
          </p:nvPr>
        </p:nvSpPr>
        <p:spPr/>
        <p:txBody>
          <a:bodyPr/>
          <a:lstStyle/>
          <a:p>
            <a:r>
              <a:rPr lang="en-US" dirty="0" smtClean="0"/>
              <a:t>Assignment #7-2</a:t>
            </a:r>
            <a:endParaRPr lang="en-US" dirty="0"/>
          </a:p>
        </p:txBody>
      </p:sp>
      <p:sp>
        <p:nvSpPr>
          <p:cNvPr id="3" name="Content Placeholder 2">
            <a:extLst>
              <a:ext uri="{FF2B5EF4-FFF2-40B4-BE49-F238E27FC236}">
                <a16:creationId xmlns:a16="http://schemas.microsoft.com/office/drawing/2014/main" xmlns="" id="{462B1978-6B47-4A42-B865-4A79D1B8FE28}"/>
              </a:ext>
            </a:extLst>
          </p:cNvPr>
          <p:cNvSpPr>
            <a:spLocks noGrp="1"/>
          </p:cNvSpPr>
          <p:nvPr>
            <p:ph idx="1"/>
          </p:nvPr>
        </p:nvSpPr>
        <p:spPr/>
        <p:txBody>
          <a:bodyPr/>
          <a:lstStyle/>
          <a:p>
            <a:r>
              <a:rPr lang="en-US" dirty="0"/>
              <a:t>Show the diagram of the hardware that implements the register transfer statements:</a:t>
            </a:r>
          </a:p>
          <a:p>
            <a:pPr marL="0" indent="0">
              <a:buNone/>
            </a:pPr>
            <a:endParaRPr lang="en-US" dirty="0"/>
          </a:p>
        </p:txBody>
      </p:sp>
      <p:pic>
        <p:nvPicPr>
          <p:cNvPr id="4" name="Picture 3">
            <a:extLst>
              <a:ext uri="{FF2B5EF4-FFF2-40B4-BE49-F238E27FC236}">
                <a16:creationId xmlns:a16="http://schemas.microsoft.com/office/drawing/2014/main" xmlns="" id="{BBB30F8E-A92F-4DDA-B55A-9AEC9723CF4D}"/>
              </a:ext>
            </a:extLst>
          </p:cNvPr>
          <p:cNvPicPr>
            <a:picLocks noChangeAspect="1"/>
          </p:cNvPicPr>
          <p:nvPr/>
        </p:nvPicPr>
        <p:blipFill>
          <a:blip r:embed="rId2"/>
          <a:stretch>
            <a:fillRect/>
          </a:stretch>
        </p:blipFill>
        <p:spPr>
          <a:xfrm>
            <a:off x="1457739" y="2769704"/>
            <a:ext cx="5526157" cy="1484244"/>
          </a:xfrm>
          <a:prstGeom prst="rect">
            <a:avLst/>
          </a:prstGeom>
        </p:spPr>
      </p:pic>
    </p:spTree>
    <p:extLst>
      <p:ext uri="{BB962C8B-B14F-4D97-AF65-F5344CB8AC3E}">
        <p14:creationId xmlns:p14="http://schemas.microsoft.com/office/powerpoint/2010/main" val="30553229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E6DAC7-D19E-49E4-8363-FD9E3923C25D}"/>
              </a:ext>
            </a:extLst>
          </p:cNvPr>
          <p:cNvSpPr>
            <a:spLocks noGrp="1"/>
          </p:cNvSpPr>
          <p:nvPr>
            <p:ph type="title"/>
          </p:nvPr>
        </p:nvSpPr>
        <p:spPr/>
        <p:txBody>
          <a:bodyPr/>
          <a:lstStyle/>
          <a:p>
            <a:r>
              <a:rPr lang="en-US" dirty="0" smtClean="0"/>
              <a:t>Assignment # </a:t>
            </a:r>
            <a:r>
              <a:rPr lang="en-US" dirty="0"/>
              <a:t>7</a:t>
            </a:r>
            <a:r>
              <a:rPr lang="en-US" dirty="0" smtClean="0"/>
              <a:t>-3</a:t>
            </a:r>
            <a:endParaRPr lang="en-US" dirty="0"/>
          </a:p>
        </p:txBody>
      </p:sp>
      <p:sp>
        <p:nvSpPr>
          <p:cNvPr id="3" name="Content Placeholder 2">
            <a:extLst>
              <a:ext uri="{FF2B5EF4-FFF2-40B4-BE49-F238E27FC236}">
                <a16:creationId xmlns:a16="http://schemas.microsoft.com/office/drawing/2014/main" xmlns="" id="{462B1978-6B47-4A42-B865-4A79D1B8FE28}"/>
              </a:ext>
            </a:extLst>
          </p:cNvPr>
          <p:cNvSpPr>
            <a:spLocks noGrp="1"/>
          </p:cNvSpPr>
          <p:nvPr>
            <p:ph idx="1"/>
          </p:nvPr>
        </p:nvSpPr>
        <p:spPr/>
        <p:txBody>
          <a:bodyPr/>
          <a:lstStyle/>
          <a:p>
            <a:r>
              <a:rPr lang="en-US" dirty="0"/>
              <a:t>Design a memory transfer system that has three address registers, three data registers, address bus , data bidirectional bus, Decoders, and implement the following statements:</a:t>
            </a:r>
          </a:p>
          <a:p>
            <a:pPr marL="0" indent="0">
              <a:buNone/>
            </a:pPr>
            <a:r>
              <a:rPr lang="en-US" dirty="0"/>
              <a:t>	 DR1← M [AR2], M [AR1] ← DR2</a:t>
            </a:r>
          </a:p>
          <a:p>
            <a:endParaRPr lang="en-US" dirty="0"/>
          </a:p>
        </p:txBody>
      </p:sp>
    </p:spTree>
    <p:extLst>
      <p:ext uri="{BB962C8B-B14F-4D97-AF65-F5344CB8AC3E}">
        <p14:creationId xmlns:p14="http://schemas.microsoft.com/office/powerpoint/2010/main" val="29919526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339</TotalTime>
  <Words>1798</Words>
  <Application>Microsoft Office PowerPoint</Application>
  <PresentationFormat>On-screen Show (4:3)</PresentationFormat>
  <Paragraphs>230</Paragraphs>
  <Slides>56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Calibri Light</vt:lpstr>
      <vt:lpstr>Cambria Math</vt:lpstr>
      <vt:lpstr>Wingdings</vt:lpstr>
      <vt:lpstr>Office Theme</vt:lpstr>
      <vt:lpstr>Lecture 6</vt:lpstr>
      <vt:lpstr>Background</vt:lpstr>
      <vt:lpstr>Cont.,</vt:lpstr>
      <vt:lpstr>SR  Latch</vt:lpstr>
      <vt:lpstr>SR latch with a control input</vt:lpstr>
      <vt:lpstr>D Latch</vt:lpstr>
      <vt:lpstr>FLIP-FLOPS</vt:lpstr>
      <vt:lpstr>Master–Slave Flip-Flops</vt:lpstr>
      <vt:lpstr>Cont.,</vt:lpstr>
      <vt:lpstr>Edge-Triggered Flip-Flop</vt:lpstr>
      <vt:lpstr>PowerPoint Presentation</vt:lpstr>
      <vt:lpstr>SEQUENTIAL CIRCUIT DESIGN</vt:lpstr>
      <vt:lpstr>Design Procedure</vt:lpstr>
      <vt:lpstr>Cont.,</vt:lpstr>
      <vt:lpstr>Example</vt:lpstr>
      <vt:lpstr>PowerPoint Presentation</vt:lpstr>
      <vt:lpstr>PowerPoint Presentation</vt:lpstr>
      <vt:lpstr>PowerPoint Presentation</vt:lpstr>
      <vt:lpstr>PowerPoint Presentation</vt:lpstr>
      <vt:lpstr>Register with Parallel Load</vt:lpstr>
      <vt:lpstr>PowerPoint Presentation</vt:lpstr>
      <vt:lpstr>Digital System</vt:lpstr>
      <vt:lpstr>Cont.,</vt:lpstr>
      <vt:lpstr>Cont.,</vt:lpstr>
      <vt:lpstr>Register Transfer Operations</vt:lpstr>
      <vt:lpstr>Microoperation</vt:lpstr>
      <vt:lpstr>Cont.,</vt:lpstr>
      <vt:lpstr>Register Transfer Language (RTL)</vt:lpstr>
      <vt:lpstr>RTL Basic Symbols</vt:lpstr>
      <vt:lpstr>Cont.,</vt:lpstr>
      <vt:lpstr>Conditional statement</vt:lpstr>
      <vt:lpstr>Cont.,</vt:lpstr>
      <vt:lpstr>Arithmetic Microoperations</vt:lpstr>
      <vt:lpstr>Cont.,</vt:lpstr>
      <vt:lpstr>Example</vt:lpstr>
      <vt:lpstr>Cont.,</vt:lpstr>
      <vt:lpstr>Logic Microoperations</vt:lpstr>
      <vt:lpstr>Example</vt:lpstr>
      <vt:lpstr>Shift Microoperations</vt:lpstr>
      <vt:lpstr>PowerPoint Presentation</vt:lpstr>
      <vt:lpstr>Assignment 7-1</vt:lpstr>
      <vt:lpstr>Transfer Microoperations</vt:lpstr>
      <vt:lpstr>1- Multiplexer-Based Transfer</vt:lpstr>
      <vt:lpstr>3.1-Multiplexer-Based Transfer</vt:lpstr>
      <vt:lpstr>Cont.,</vt:lpstr>
      <vt:lpstr>HW Implementation</vt:lpstr>
      <vt:lpstr>2- Bus-Based Transfer for Multiple Registers</vt:lpstr>
      <vt:lpstr>Example</vt:lpstr>
      <vt:lpstr>Cont.,</vt:lpstr>
      <vt:lpstr>PowerPoint Presentation</vt:lpstr>
      <vt:lpstr>Three-State Bus</vt:lpstr>
      <vt:lpstr>PowerPoint Presentation</vt:lpstr>
      <vt:lpstr>3- Memory Transfer</vt:lpstr>
      <vt:lpstr>Cont.,</vt:lpstr>
      <vt:lpstr>Assignment #7-2</vt:lpstr>
      <vt:lpstr>Assignment # 7-3</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 6</dc:title>
  <dc:creator>007</dc:creator>
  <cp:lastModifiedBy>Infinity</cp:lastModifiedBy>
  <cp:revision>60</cp:revision>
  <dcterms:created xsi:type="dcterms:W3CDTF">2019-11-02T19:01:33Z</dcterms:created>
  <dcterms:modified xsi:type="dcterms:W3CDTF">2024-11-02T10:35:03Z</dcterms:modified>
</cp:coreProperties>
</file>